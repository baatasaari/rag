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0" y="0"/>
            <a:ext cx="3959352" cy="685800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7589520" cy="256032"/>
          </a:xfrm>
          <a:prstGeom prst="rect">
            <a:avLst/>
          </a:prstGeom>
          <a:noFill/>
        </p:spPr>
        <p:txBody>
          <a:bodyPr wrap="square">
            <a:spAutoFit/>
          </a:bodyPr>
          <a:lstStyle/>
          <a:p>
            <a:pPr algn="l"/>
            <a:r>
              <a:rPr sz="800" b="1" i="0">
                <a:solidFill>
                  <a:srgbClr val="C9A84C"/>
                </a:solidFill>
                <a:latin typeface="Calibri"/>
              </a:rPr>
              <a:t>LLOYDS BANKING GROUP  |  GENERAL INSURANCE  |  COMPETITIVE INTELLIGENCE PROGRAMME</a:t>
            </a:r>
          </a:p>
        </p:txBody>
      </p:sp>
      <p:sp>
        <p:nvSpPr>
          <p:cNvPr id="7" name="TextBox 6"/>
          <p:cNvSpPr txBox="1"/>
          <p:nvPr/>
        </p:nvSpPr>
        <p:spPr>
          <a:xfrm>
            <a:off x="457200" y="1005840"/>
            <a:ext cx="7589520" cy="502920"/>
          </a:xfrm>
          <a:prstGeom prst="rect">
            <a:avLst/>
          </a:prstGeom>
          <a:noFill/>
        </p:spPr>
        <p:txBody>
          <a:bodyPr wrap="square">
            <a:spAutoFit/>
          </a:bodyPr>
          <a:lstStyle/>
          <a:p>
            <a:pPr algn="l"/>
            <a:r>
              <a:rPr sz="3200" b="1" i="0">
                <a:solidFill>
                  <a:srgbClr val="FFFFFF"/>
                </a:solidFill>
                <a:latin typeface="Calibri"/>
              </a:rPr>
              <a:t>PCW Competitive Intelligence</a:t>
            </a:r>
          </a:p>
        </p:txBody>
      </p:sp>
      <p:sp>
        <p:nvSpPr>
          <p:cNvPr id="8" name="TextBox 7"/>
          <p:cNvSpPr txBox="1"/>
          <p:nvPr/>
        </p:nvSpPr>
        <p:spPr>
          <a:xfrm>
            <a:off x="457200" y="1481328"/>
            <a:ext cx="7589520" cy="502920"/>
          </a:xfrm>
          <a:prstGeom prst="rect">
            <a:avLst/>
          </a:prstGeom>
          <a:noFill/>
        </p:spPr>
        <p:txBody>
          <a:bodyPr wrap="square">
            <a:spAutoFit/>
          </a:bodyPr>
          <a:lstStyle/>
          <a:p>
            <a:pPr algn="l"/>
            <a:r>
              <a:rPr sz="3200" b="1" i="0">
                <a:solidFill>
                  <a:srgbClr val="FFFFFF"/>
                </a:solidFill>
                <a:latin typeface="Calibri"/>
              </a:rPr>
              <a:t>&amp; Optimisation Platform</a:t>
            </a:r>
          </a:p>
        </p:txBody>
      </p:sp>
      <p:sp>
        <p:nvSpPr>
          <p:cNvPr id="9" name="Rectangle 8"/>
          <p:cNvSpPr/>
          <p:nvPr/>
        </p:nvSpPr>
        <p:spPr>
          <a:xfrm>
            <a:off x="457200" y="2084831"/>
            <a:ext cx="5486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94560"/>
            <a:ext cx="7589520" cy="320040"/>
          </a:xfrm>
          <a:prstGeom prst="rect">
            <a:avLst/>
          </a:prstGeom>
          <a:noFill/>
        </p:spPr>
        <p:txBody>
          <a:bodyPr wrap="square">
            <a:spAutoFit/>
          </a:bodyPr>
          <a:lstStyle/>
          <a:p>
            <a:pPr algn="l"/>
            <a:r>
              <a:rPr sz="1200" b="0" i="1">
                <a:solidFill>
                  <a:srgbClr val="94A3B8"/>
                </a:solidFill>
                <a:latin typeface="Calibri"/>
              </a:rPr>
              <a:t>Transforming Market Monitoring into Continuous Competitive Advantage Across All Price Comparison Website Channels</a:t>
            </a:r>
          </a:p>
        </p:txBody>
      </p:sp>
      <p:sp>
        <p:nvSpPr>
          <p:cNvPr id="11" name="TextBox 10"/>
          <p:cNvSpPr txBox="1"/>
          <p:nvPr/>
        </p:nvSpPr>
        <p:spPr>
          <a:xfrm>
            <a:off x="457200" y="2633472"/>
            <a:ext cx="7589520" cy="274320"/>
          </a:xfrm>
          <a:prstGeom prst="rect">
            <a:avLst/>
          </a:prstGeom>
          <a:noFill/>
        </p:spPr>
        <p:txBody>
          <a:bodyPr wrap="square">
            <a:spAutoFit/>
          </a:bodyPr>
          <a:lstStyle/>
          <a:p>
            <a:pPr algn="l"/>
            <a:r>
              <a:rPr sz="950" b="0" i="0">
                <a:solidFill>
                  <a:srgbClr val="94A3B8"/>
                </a:solidFill>
                <a:latin typeface="Calibri"/>
              </a:rPr>
              <a:t>Machine Learning  |  Gemini / Generative AI  |  ENVOY Agentic Platform  |  Google Cloud</a:t>
            </a:r>
          </a:p>
        </p:txBody>
      </p:sp>
      <p:sp>
        <p:nvSpPr>
          <p:cNvPr id="12" name="Rectangle 11"/>
          <p:cNvSpPr/>
          <p:nvPr/>
        </p:nvSpPr>
        <p:spPr>
          <a:xfrm>
            <a:off x="457200" y="3017520"/>
            <a:ext cx="7589520" cy="169164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17520"/>
            <a:ext cx="54864" cy="1691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090672"/>
            <a:ext cx="7315200" cy="1554480"/>
          </a:xfrm>
          <a:prstGeom prst="rect">
            <a:avLst/>
          </a:prstGeom>
          <a:noFill/>
        </p:spPr>
        <p:txBody>
          <a:bodyPr wrap="square">
            <a:spAutoFit/>
          </a:bodyPr>
          <a:lstStyle/>
          <a:p>
            <a:pPr algn="l"/>
            <a:r>
              <a:rPr sz="900" b="0" i="0">
                <a:solidFill>
                  <a:srgbClr val="FFFFFF"/>
                </a:solidFill>
                <a:latin typeface="Calibri"/>
              </a:rPr>
              <a:t>This platform harnesses the full spectrum of AI capability available within LBG's ENVOY Agentic Platform — combining traditional ML-driven pricing and ranking models running on Vertex AI, Gemini-powered competitive analysis and intelligence synthesis, and multi-agent Agentic automation orchestrated via the Agent Developer Kit (ADK) and Vertex AI Agent Engine — to deliver continuous, governed, explainable competitive intelligence and optimisation recommendations across all Price Comparison Website channels, with every AI output reviewed by authorised decision-makers before execution and every decision recorded in the ENVOY Audit Framework.</a:t>
            </a:r>
          </a:p>
        </p:txBody>
      </p:sp>
      <p:sp>
        <p:nvSpPr>
          <p:cNvPr id="15" name="TextBox 14"/>
          <p:cNvSpPr txBox="1"/>
          <p:nvPr/>
        </p:nvSpPr>
        <p:spPr>
          <a:xfrm>
            <a:off x="8412480" y="164592"/>
            <a:ext cx="3474720" cy="256032"/>
          </a:xfrm>
          <a:prstGeom prst="rect">
            <a:avLst/>
          </a:prstGeom>
          <a:noFill/>
        </p:spPr>
        <p:txBody>
          <a:bodyPr wrap="square">
            <a:spAutoFit/>
          </a:bodyPr>
          <a:lstStyle/>
          <a:p>
            <a:pPr algn="l"/>
            <a:r>
              <a:rPr sz="800" b="1" i="0">
                <a:solidFill>
                  <a:srgbClr val="C9A84C"/>
                </a:solidFill>
                <a:latin typeface="Calibri"/>
              </a:rPr>
              <a:t>POWERED BY ENVOY</a:t>
            </a:r>
          </a:p>
        </p:txBody>
      </p:sp>
      <p:sp>
        <p:nvSpPr>
          <p:cNvPr id="16" name="TextBox 15"/>
          <p:cNvSpPr txBox="1"/>
          <p:nvPr/>
        </p:nvSpPr>
        <p:spPr>
          <a:xfrm>
            <a:off x="8412480" y="411480"/>
            <a:ext cx="3474720" cy="320040"/>
          </a:xfrm>
          <a:prstGeom prst="rect">
            <a:avLst/>
          </a:prstGeom>
          <a:noFill/>
        </p:spPr>
        <p:txBody>
          <a:bodyPr wrap="square">
            <a:spAutoFit/>
          </a:bodyPr>
          <a:lstStyle/>
          <a:p>
            <a:pPr algn="l"/>
            <a:r>
              <a:rPr sz="900" b="0" i="1">
                <a:solidFill>
                  <a:srgbClr val="FFFFFF"/>
                </a:solidFill>
                <a:latin typeface="Calibri"/>
              </a:rPr>
              <a:t>Enterprise Agent Runtime &amp; Governance Platform — Google Cloud Native, FCA Aligned, Multi-Agent, Secure by Design</a:t>
            </a:r>
          </a:p>
        </p:txBody>
      </p:sp>
      <p:sp>
        <p:nvSpPr>
          <p:cNvPr id="17" name="Rectangle 16"/>
          <p:cNvSpPr/>
          <p:nvPr/>
        </p:nvSpPr>
        <p:spPr>
          <a:xfrm>
            <a:off x="8412480" y="804672"/>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0" y="804672"/>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2208" y="832104"/>
            <a:ext cx="3383280" cy="164592"/>
          </a:xfrm>
          <a:prstGeom prst="rect">
            <a:avLst/>
          </a:prstGeom>
          <a:noFill/>
        </p:spPr>
        <p:txBody>
          <a:bodyPr wrap="square">
            <a:spAutoFit/>
          </a:bodyPr>
          <a:lstStyle/>
          <a:p>
            <a:pPr algn="l"/>
            <a:r>
              <a:rPr sz="1000" b="1" i="0">
                <a:solidFill>
                  <a:srgbClr val="C9A84C"/>
                </a:solidFill>
                <a:latin typeface="Calibri"/>
              </a:rPr>
              <a:t>30–50%</a:t>
            </a:r>
          </a:p>
        </p:txBody>
      </p:sp>
      <p:sp>
        <p:nvSpPr>
          <p:cNvPr id="20" name="TextBox 19"/>
          <p:cNvSpPr txBox="1"/>
          <p:nvPr/>
        </p:nvSpPr>
        <p:spPr>
          <a:xfrm>
            <a:off x="8522208" y="996696"/>
            <a:ext cx="3383280" cy="219456"/>
          </a:xfrm>
          <a:prstGeom prst="rect">
            <a:avLst/>
          </a:prstGeom>
          <a:noFill/>
        </p:spPr>
        <p:txBody>
          <a:bodyPr wrap="square">
            <a:spAutoFit/>
          </a:bodyPr>
          <a:lstStyle/>
          <a:p>
            <a:pPr algn="l"/>
            <a:r>
              <a:rPr sz="750" b="0" i="0">
                <a:solidFill>
                  <a:srgbClr val="FFFFFF"/>
                </a:solidFill>
                <a:latin typeface="Calibri"/>
              </a:rPr>
              <a:t>Faster intelligence delivery vs current manual process — hours not days</a:t>
            </a:r>
          </a:p>
        </p:txBody>
      </p:sp>
      <p:sp>
        <p:nvSpPr>
          <p:cNvPr id="21" name="Rectangle 20"/>
          <p:cNvSpPr/>
          <p:nvPr/>
        </p:nvSpPr>
        <p:spPr>
          <a:xfrm>
            <a:off x="8412480" y="1280160"/>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1280160"/>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22208" y="1307592"/>
            <a:ext cx="3383280" cy="164592"/>
          </a:xfrm>
          <a:prstGeom prst="rect">
            <a:avLst/>
          </a:prstGeom>
          <a:noFill/>
        </p:spPr>
        <p:txBody>
          <a:bodyPr wrap="square">
            <a:spAutoFit/>
          </a:bodyPr>
          <a:lstStyle/>
          <a:p>
            <a:pPr algn="l"/>
            <a:r>
              <a:rPr sz="1000" b="1" i="0">
                <a:solidFill>
                  <a:srgbClr val="C9A84C"/>
                </a:solidFill>
                <a:latin typeface="Calibri"/>
              </a:rPr>
              <a:t>80%</a:t>
            </a:r>
          </a:p>
        </p:txBody>
      </p:sp>
      <p:sp>
        <p:nvSpPr>
          <p:cNvPr id="24" name="TextBox 23"/>
          <p:cNvSpPr txBox="1"/>
          <p:nvPr/>
        </p:nvSpPr>
        <p:spPr>
          <a:xfrm>
            <a:off x="8522208" y="1472184"/>
            <a:ext cx="3383280" cy="219456"/>
          </a:xfrm>
          <a:prstGeom prst="rect">
            <a:avLst/>
          </a:prstGeom>
          <a:noFill/>
        </p:spPr>
        <p:txBody>
          <a:bodyPr wrap="square">
            <a:spAutoFit/>
          </a:bodyPr>
          <a:lstStyle/>
          <a:p>
            <a:pPr algn="l"/>
            <a:r>
              <a:rPr sz="750" b="0" i="0">
                <a:solidFill>
                  <a:srgbClr val="FFFFFF"/>
                </a:solidFill>
                <a:latin typeface="Calibri"/>
              </a:rPr>
              <a:t>Reusable ENVOY agent components across BCB use cases — build once, deploy many</a:t>
            </a:r>
          </a:p>
        </p:txBody>
      </p:sp>
      <p:sp>
        <p:nvSpPr>
          <p:cNvPr id="25" name="Rectangle 24"/>
          <p:cNvSpPr/>
          <p:nvPr/>
        </p:nvSpPr>
        <p:spPr>
          <a:xfrm>
            <a:off x="8412480" y="1755648"/>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0" y="1755648"/>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8" y="1783080"/>
            <a:ext cx="3383280" cy="164592"/>
          </a:xfrm>
          <a:prstGeom prst="rect">
            <a:avLst/>
          </a:prstGeom>
          <a:noFill/>
        </p:spPr>
        <p:txBody>
          <a:bodyPr wrap="square">
            <a:spAutoFit/>
          </a:bodyPr>
          <a:lstStyle/>
          <a:p>
            <a:pPr algn="l"/>
            <a:r>
              <a:rPr sz="1000" b="1" i="0">
                <a:solidFill>
                  <a:srgbClr val="C9A84C"/>
                </a:solidFill>
                <a:latin typeface="Calibri"/>
              </a:rPr>
              <a:t>100%</a:t>
            </a:r>
          </a:p>
        </p:txBody>
      </p:sp>
      <p:sp>
        <p:nvSpPr>
          <p:cNvPr id="28" name="TextBox 27"/>
          <p:cNvSpPr txBox="1"/>
          <p:nvPr/>
        </p:nvSpPr>
        <p:spPr>
          <a:xfrm>
            <a:off x="8522208" y="1947672"/>
            <a:ext cx="3383280" cy="219456"/>
          </a:xfrm>
          <a:prstGeom prst="rect">
            <a:avLst/>
          </a:prstGeom>
          <a:noFill/>
        </p:spPr>
        <p:txBody>
          <a:bodyPr wrap="square">
            <a:spAutoFit/>
          </a:bodyPr>
          <a:lstStyle/>
          <a:p>
            <a:pPr algn="l"/>
            <a:r>
              <a:rPr sz="750" b="0" i="0">
                <a:solidFill>
                  <a:srgbClr val="FFFFFF"/>
                </a:solidFill>
                <a:latin typeface="Calibri"/>
              </a:rPr>
              <a:t>Agent calls governed via Cortex control plane — no ungoverned model access</a:t>
            </a:r>
          </a:p>
        </p:txBody>
      </p:sp>
      <p:sp>
        <p:nvSpPr>
          <p:cNvPr id="29" name="Rectangle 28"/>
          <p:cNvSpPr/>
          <p:nvPr/>
        </p:nvSpPr>
        <p:spPr>
          <a:xfrm>
            <a:off x="8412480" y="2231136"/>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0" y="2231136"/>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22208" y="2258568"/>
            <a:ext cx="3383280" cy="164592"/>
          </a:xfrm>
          <a:prstGeom prst="rect">
            <a:avLst/>
          </a:prstGeom>
          <a:noFill/>
        </p:spPr>
        <p:txBody>
          <a:bodyPr wrap="square">
            <a:spAutoFit/>
          </a:bodyPr>
          <a:lstStyle/>
          <a:p>
            <a:pPr algn="l"/>
            <a:r>
              <a:rPr sz="1000" b="1" i="0">
                <a:solidFill>
                  <a:srgbClr val="C9A84C"/>
                </a:solidFill>
                <a:latin typeface="Calibri"/>
              </a:rPr>
              <a:t>1 Platform</a:t>
            </a:r>
          </a:p>
        </p:txBody>
      </p:sp>
      <p:sp>
        <p:nvSpPr>
          <p:cNvPr id="32" name="TextBox 31"/>
          <p:cNvSpPr txBox="1"/>
          <p:nvPr/>
        </p:nvSpPr>
        <p:spPr>
          <a:xfrm>
            <a:off x="8522208" y="2423160"/>
            <a:ext cx="3383280" cy="219456"/>
          </a:xfrm>
          <a:prstGeom prst="rect">
            <a:avLst/>
          </a:prstGeom>
          <a:noFill/>
        </p:spPr>
        <p:txBody>
          <a:bodyPr wrap="square">
            <a:spAutoFit/>
          </a:bodyPr>
          <a:lstStyle/>
          <a:p>
            <a:pPr algn="l"/>
            <a:r>
              <a:rPr sz="750" b="0" i="0">
                <a:solidFill>
                  <a:srgbClr val="FFFFFF"/>
                </a:solidFill>
                <a:latin typeface="Calibri"/>
              </a:rPr>
              <a:t>Shared infrastructure across BCB General Insurance — no duplication</a:t>
            </a:r>
          </a:p>
        </p:txBody>
      </p:sp>
      <p:sp>
        <p:nvSpPr>
          <p:cNvPr id="33" name="Rectangle 32"/>
          <p:cNvSpPr/>
          <p:nvPr/>
        </p:nvSpPr>
        <p:spPr>
          <a:xfrm>
            <a:off x="8412480" y="2706624"/>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2706624"/>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22208" y="2734056"/>
            <a:ext cx="3383280" cy="164592"/>
          </a:xfrm>
          <a:prstGeom prst="rect">
            <a:avLst/>
          </a:prstGeom>
          <a:noFill/>
        </p:spPr>
        <p:txBody>
          <a:bodyPr wrap="square">
            <a:spAutoFit/>
          </a:bodyPr>
          <a:lstStyle/>
          <a:p>
            <a:pPr algn="l"/>
            <a:r>
              <a:rPr sz="1000" b="1" i="0">
                <a:solidFill>
                  <a:srgbClr val="C9A84C"/>
                </a:solidFill>
                <a:latin typeface="Calibri"/>
              </a:rPr>
              <a:t>Full</a:t>
            </a:r>
          </a:p>
        </p:txBody>
      </p:sp>
      <p:sp>
        <p:nvSpPr>
          <p:cNvPr id="36" name="TextBox 35"/>
          <p:cNvSpPr txBox="1"/>
          <p:nvPr/>
        </p:nvSpPr>
        <p:spPr>
          <a:xfrm>
            <a:off x="8522208" y="2898648"/>
            <a:ext cx="3383280" cy="219456"/>
          </a:xfrm>
          <a:prstGeom prst="rect">
            <a:avLst/>
          </a:prstGeom>
          <a:noFill/>
        </p:spPr>
        <p:txBody>
          <a:bodyPr wrap="square">
            <a:spAutoFit/>
          </a:bodyPr>
          <a:lstStyle/>
          <a:p>
            <a:pPr algn="l"/>
            <a:r>
              <a:rPr sz="750" b="0" i="0">
                <a:solidFill>
                  <a:srgbClr val="FFFFFF"/>
                </a:solidFill>
                <a:latin typeface="Calibri"/>
              </a:rPr>
              <a:t>Observability and traceability via ObserveAll and Dynatrace — every agent action visible</a:t>
            </a:r>
          </a:p>
        </p:txBody>
      </p:sp>
      <p:sp>
        <p:nvSpPr>
          <p:cNvPr id="37" name="TextBox 36"/>
          <p:cNvSpPr txBox="1"/>
          <p:nvPr/>
        </p:nvSpPr>
        <p:spPr>
          <a:xfrm>
            <a:off x="8412480" y="3227832"/>
            <a:ext cx="3474720" cy="201168"/>
          </a:xfrm>
          <a:prstGeom prst="rect">
            <a:avLst/>
          </a:prstGeom>
          <a:noFill/>
        </p:spPr>
        <p:txBody>
          <a:bodyPr wrap="square">
            <a:spAutoFit/>
          </a:bodyPr>
          <a:lstStyle/>
          <a:p>
            <a:pPr algn="l"/>
            <a:r>
              <a:rPr sz="800" b="1" i="0">
                <a:solidFill>
                  <a:srgbClr val="C9A84C"/>
                </a:solidFill>
                <a:latin typeface="Calibri"/>
              </a:rPr>
              <a:t>DELIVERY PHASES</a:t>
            </a:r>
          </a:p>
        </p:txBody>
      </p:sp>
      <p:sp>
        <p:nvSpPr>
          <p:cNvPr id="38" name="Rectangle 37"/>
          <p:cNvSpPr/>
          <p:nvPr/>
        </p:nvSpPr>
        <p:spPr>
          <a:xfrm>
            <a:off x="8412480" y="3456432"/>
            <a:ext cx="3566160" cy="347472"/>
          </a:xfrm>
          <a:prstGeom prst="rect">
            <a:avLst/>
          </a:prstGeom>
          <a:solidFill>
            <a:srgbClr val="12223F"/>
          </a:solidFill>
          <a:ln w="9525">
            <a:solidFill>
              <a:srgbClr val="0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3520440"/>
            <a:ext cx="3291840" cy="237744"/>
          </a:xfrm>
          <a:prstGeom prst="rect">
            <a:avLst/>
          </a:prstGeom>
          <a:noFill/>
        </p:spPr>
        <p:txBody>
          <a:bodyPr wrap="square">
            <a:spAutoFit/>
          </a:bodyPr>
          <a:lstStyle/>
          <a:p>
            <a:pPr algn="l"/>
            <a:r>
              <a:rPr sz="850" b="1" i="0">
                <a:solidFill>
                  <a:srgbClr val="0F7AC5"/>
                </a:solidFill>
                <a:latin typeface="Calibri"/>
              </a:rPr>
              <a:t>Wave 1 | Market Visibility | Months 1–3</a:t>
            </a:r>
          </a:p>
        </p:txBody>
      </p:sp>
      <p:sp>
        <p:nvSpPr>
          <p:cNvPr id="40" name="Rectangle 39"/>
          <p:cNvSpPr/>
          <p:nvPr/>
        </p:nvSpPr>
        <p:spPr>
          <a:xfrm>
            <a:off x="8412480" y="3858768"/>
            <a:ext cx="3566160" cy="347472"/>
          </a:xfrm>
          <a:prstGeom prst="rect">
            <a:avLst/>
          </a:prstGeom>
          <a:solidFill>
            <a:srgbClr val="12223F"/>
          </a:solidFill>
          <a:ln w="9525">
            <a:solidFill>
              <a:srgbClr val="2563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0" y="3922776"/>
            <a:ext cx="3291840" cy="237744"/>
          </a:xfrm>
          <a:prstGeom prst="rect">
            <a:avLst/>
          </a:prstGeom>
          <a:noFill/>
        </p:spPr>
        <p:txBody>
          <a:bodyPr wrap="square">
            <a:spAutoFit/>
          </a:bodyPr>
          <a:lstStyle/>
          <a:p>
            <a:pPr algn="l"/>
            <a:r>
              <a:rPr sz="850" b="1" i="0">
                <a:solidFill>
                  <a:srgbClr val="2563AB"/>
                </a:solidFill>
                <a:latin typeface="Calibri"/>
              </a:rPr>
              <a:t>Wave 2 | Intelligence &amp; Analysis | Months 4–6</a:t>
            </a:r>
          </a:p>
        </p:txBody>
      </p:sp>
      <p:sp>
        <p:nvSpPr>
          <p:cNvPr id="42" name="Rectangle 41"/>
          <p:cNvSpPr/>
          <p:nvPr/>
        </p:nvSpPr>
        <p:spPr>
          <a:xfrm>
            <a:off x="8412480" y="4261104"/>
            <a:ext cx="3566160" cy="347472"/>
          </a:xfrm>
          <a:prstGeom prst="rect">
            <a:avLst/>
          </a:prstGeom>
          <a:solidFill>
            <a:srgbClr val="12223F"/>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20" y="4325112"/>
            <a:ext cx="3291840" cy="237744"/>
          </a:xfrm>
          <a:prstGeom prst="rect">
            <a:avLst/>
          </a:prstGeom>
          <a:noFill/>
        </p:spPr>
        <p:txBody>
          <a:bodyPr wrap="square">
            <a:spAutoFit/>
          </a:bodyPr>
          <a:lstStyle/>
          <a:p>
            <a:pPr algn="l"/>
            <a:r>
              <a:rPr sz="850" b="1" i="0">
                <a:solidFill>
                  <a:srgbClr val="0D9488"/>
                </a:solidFill>
                <a:latin typeface="Calibri"/>
              </a:rPr>
              <a:t>Wave 3 | Decision Support | Months 7–9</a:t>
            </a:r>
          </a:p>
        </p:txBody>
      </p:sp>
      <p:sp>
        <p:nvSpPr>
          <p:cNvPr id="44" name="Rectangle 43"/>
          <p:cNvSpPr/>
          <p:nvPr/>
        </p:nvSpPr>
        <p:spPr>
          <a:xfrm>
            <a:off x="8412480" y="4663440"/>
            <a:ext cx="3566160" cy="347472"/>
          </a:xfrm>
          <a:prstGeom prst="rect">
            <a:avLst/>
          </a:prstGeom>
          <a:solidFill>
            <a:srgbClr val="12223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20" y="4727448"/>
            <a:ext cx="3291840" cy="237744"/>
          </a:xfrm>
          <a:prstGeom prst="rect">
            <a:avLst/>
          </a:prstGeom>
          <a:noFill/>
        </p:spPr>
        <p:txBody>
          <a:bodyPr wrap="square">
            <a:spAutoFit/>
          </a:bodyPr>
          <a:lstStyle/>
          <a:p>
            <a:pPr algn="l"/>
            <a:r>
              <a:rPr sz="850" b="1" i="0">
                <a:solidFill>
                  <a:srgbClr val="7C3AED"/>
                </a:solidFill>
                <a:latin typeface="Calibri"/>
              </a:rPr>
              <a:t>Wave 4 | Optimisation &amp; Scale | Months 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EXECUTIVE SUMMARY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Strategic Context, Challenge and Recommendation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02 / 20</a:t>
            </a:r>
          </a:p>
        </p:txBody>
      </p:sp>
      <p:sp>
        <p:nvSpPr>
          <p:cNvPr id="8" name="Rectangle 7"/>
          <p:cNvSpPr/>
          <p:nvPr/>
        </p:nvSpPr>
        <p:spPr>
          <a:xfrm>
            <a:off x="457200"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207008"/>
            <a:ext cx="3474720" cy="201168"/>
          </a:xfrm>
          <a:prstGeom prst="rect">
            <a:avLst/>
          </a:prstGeom>
          <a:noFill/>
        </p:spPr>
        <p:txBody>
          <a:bodyPr wrap="square">
            <a:spAutoFit/>
          </a:bodyPr>
          <a:lstStyle/>
          <a:p>
            <a:pPr algn="l"/>
            <a:r>
              <a:rPr sz="750" b="1" i="0">
                <a:solidFill>
                  <a:srgbClr val="0F7AC5"/>
                </a:solidFill>
                <a:latin typeface="Calibri"/>
              </a:rPr>
              <a:t>THE OPPORTUNITY</a:t>
            </a:r>
          </a:p>
        </p:txBody>
      </p:sp>
      <p:sp>
        <p:nvSpPr>
          <p:cNvPr id="11" name="TextBox 10"/>
          <p:cNvSpPr txBox="1"/>
          <p:nvPr/>
        </p:nvSpPr>
        <p:spPr>
          <a:xfrm>
            <a:off x="566928" y="1417320"/>
            <a:ext cx="3474720" cy="475488"/>
          </a:xfrm>
          <a:prstGeom prst="rect">
            <a:avLst/>
          </a:prstGeom>
          <a:noFill/>
        </p:spPr>
        <p:txBody>
          <a:bodyPr wrap="square">
            <a:spAutoFit/>
          </a:bodyPr>
          <a:lstStyle/>
          <a:p>
            <a:pPr algn="l"/>
            <a:r>
              <a:rPr sz="1100" b="1" i="0">
                <a:solidFill>
                  <a:srgbClr val="0A1628"/>
                </a:solidFill>
                <a:latin typeface="Calibri"/>
              </a:rPr>
              <a:t>PCWs are a primary and growing General Insurance acquisition channel under daily competitive pressure</a:t>
            </a:r>
          </a:p>
        </p:txBody>
      </p:sp>
      <p:sp>
        <p:nvSpPr>
          <p:cNvPr id="12" name="TextBox 11"/>
          <p:cNvSpPr txBox="1"/>
          <p:nvPr/>
        </p:nvSpPr>
        <p:spPr>
          <a:xfrm>
            <a:off x="566928" y="1938528"/>
            <a:ext cx="3474720" cy="2487168"/>
          </a:xfrm>
          <a:prstGeom prst="rect">
            <a:avLst/>
          </a:prstGeom>
          <a:noFill/>
        </p:spPr>
        <p:txBody>
          <a:bodyPr wrap="square">
            <a:spAutoFit/>
          </a:bodyPr>
          <a:lstStyle/>
          <a:p>
            <a:pPr algn="l"/>
            <a:r>
              <a:rPr sz="900" b="0" i="0">
                <a:solidFill>
                  <a:srgbClr val="475569"/>
                </a:solidFill>
                <a:latin typeface="Calibri"/>
              </a:rPr>
              <a:t>Price Comparison Websites now influence the majority of UK General Insurance new business, with over 80% of motor customers and a growing proportion of home customers using at least one PCW during their purchase journey. Customers simultaneously compare premium, excess levels, product features, optional add-on covers and brand reputation across ten or more competing providers in a single session. Small movements in PCW ranking position — even a shift from position four to position two — can drive material increases in quote volume and new business conversion, directly impacting LBG's top-line growth. The competitive intensity on PCWs continues to increase as more providers invest in dynamic pricing and real-time proposition management, raising the stakes for firms without equivalent capability.</a:t>
            </a:r>
          </a:p>
        </p:txBody>
      </p:sp>
      <p:sp>
        <p:nvSpPr>
          <p:cNvPr id="13" name="Rectangle 12"/>
          <p:cNvSpPr/>
          <p:nvPr/>
        </p:nvSpPr>
        <p:spPr>
          <a:xfrm>
            <a:off x="4270248"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097280"/>
            <a:ext cx="36576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207008"/>
            <a:ext cx="3474720" cy="201168"/>
          </a:xfrm>
          <a:prstGeom prst="rect">
            <a:avLst/>
          </a:prstGeom>
          <a:noFill/>
        </p:spPr>
        <p:txBody>
          <a:bodyPr wrap="square">
            <a:spAutoFit/>
          </a:bodyPr>
          <a:lstStyle/>
          <a:p>
            <a:pPr algn="l"/>
            <a:r>
              <a:rPr sz="750" b="1" i="0">
                <a:solidFill>
                  <a:srgbClr val="2563AB"/>
                </a:solidFill>
                <a:latin typeface="Calibri"/>
              </a:rPr>
              <a:t>THE CHALLENGE</a:t>
            </a:r>
          </a:p>
        </p:txBody>
      </p:sp>
      <p:sp>
        <p:nvSpPr>
          <p:cNvPr id="16" name="TextBox 15"/>
          <p:cNvSpPr txBox="1"/>
          <p:nvPr/>
        </p:nvSpPr>
        <p:spPr>
          <a:xfrm>
            <a:off x="4379976" y="1417320"/>
            <a:ext cx="3474720" cy="475488"/>
          </a:xfrm>
          <a:prstGeom prst="rect">
            <a:avLst/>
          </a:prstGeom>
          <a:noFill/>
        </p:spPr>
        <p:txBody>
          <a:bodyPr wrap="square">
            <a:spAutoFit/>
          </a:bodyPr>
          <a:lstStyle/>
          <a:p>
            <a:pPr algn="l"/>
            <a:r>
              <a:rPr sz="1100" b="1" i="0">
                <a:solidFill>
                  <a:srgbClr val="0A1628"/>
                </a:solidFill>
                <a:latin typeface="Calibri"/>
              </a:rPr>
              <a:t>Current monitoring is periodic, manual, siloed and unable to match the velocity of market change</a:t>
            </a:r>
          </a:p>
        </p:txBody>
      </p:sp>
      <p:sp>
        <p:nvSpPr>
          <p:cNvPr id="17" name="TextBox 16"/>
          <p:cNvSpPr txBox="1"/>
          <p:nvPr/>
        </p:nvSpPr>
        <p:spPr>
          <a:xfrm>
            <a:off x="4379976" y="1938528"/>
            <a:ext cx="3474720" cy="2487168"/>
          </a:xfrm>
          <a:prstGeom prst="rect">
            <a:avLst/>
          </a:prstGeom>
          <a:noFill/>
        </p:spPr>
        <p:txBody>
          <a:bodyPr wrap="square">
            <a:spAutoFit/>
          </a:bodyPr>
          <a:lstStyle/>
          <a:p>
            <a:pPr algn="l"/>
            <a:r>
              <a:rPr sz="900" b="0" i="0">
                <a:solidFill>
                  <a:srgbClr val="475569"/>
                </a:solidFill>
                <a:latin typeface="Calibri"/>
              </a:rPr>
              <a:t>LBG's existing approach to PCW competitive intelligence relies on scheduled manual reviews conducted at irregular intervals by individual analysts across pricing, product and proposition teams. Data is collected inconsistently, stored in disparate spreadsheets and interpreted independently by different functions without a common taxonomy or analytical framework. By the time competitive trends are identified, escalated and converted into actions, the market has typically already moved — leaving LBG responding to events that occurred days or weeks earlier. There is no simulation capability to model intervention impact, no continuous cross-channel tracking and no closed feedback loop to measure whether actions taken have achieved their intended commercial outcomes.</a:t>
            </a:r>
          </a:p>
        </p:txBody>
      </p:sp>
      <p:sp>
        <p:nvSpPr>
          <p:cNvPr id="18" name="Rectangle 17"/>
          <p:cNvSpPr/>
          <p:nvPr/>
        </p:nvSpPr>
        <p:spPr>
          <a:xfrm>
            <a:off x="8083296" y="1097280"/>
            <a:ext cx="3657600" cy="3474720"/>
          </a:xfrm>
          <a:prstGeom prst="rect">
            <a:avLst/>
          </a:prstGeom>
          <a:solidFill>
            <a:srgbClr val="0A1628"/>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097280"/>
            <a:ext cx="365760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097280"/>
            <a:ext cx="54864" cy="3474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1207008"/>
            <a:ext cx="3474720" cy="201168"/>
          </a:xfrm>
          <a:prstGeom prst="rect">
            <a:avLst/>
          </a:prstGeom>
          <a:noFill/>
        </p:spPr>
        <p:txBody>
          <a:bodyPr wrap="square">
            <a:spAutoFit/>
          </a:bodyPr>
          <a:lstStyle/>
          <a:p>
            <a:pPr algn="l"/>
            <a:r>
              <a:rPr sz="750" b="1" i="0">
                <a:solidFill>
                  <a:srgbClr val="C9A84C"/>
                </a:solidFill>
                <a:latin typeface="Calibri"/>
              </a:rPr>
              <a:t>THE RECOMMENDATION</a:t>
            </a:r>
          </a:p>
        </p:txBody>
      </p:sp>
      <p:sp>
        <p:nvSpPr>
          <p:cNvPr id="22" name="TextBox 21"/>
          <p:cNvSpPr txBox="1"/>
          <p:nvPr/>
        </p:nvSpPr>
        <p:spPr>
          <a:xfrm>
            <a:off x="8193024" y="1417320"/>
            <a:ext cx="3474720" cy="475488"/>
          </a:xfrm>
          <a:prstGeom prst="rect">
            <a:avLst/>
          </a:prstGeom>
          <a:noFill/>
        </p:spPr>
        <p:txBody>
          <a:bodyPr wrap="square">
            <a:spAutoFit/>
          </a:bodyPr>
          <a:lstStyle/>
          <a:p>
            <a:pPr algn="l"/>
            <a:r>
              <a:rPr sz="1100" b="1" i="0">
                <a:solidFill>
                  <a:srgbClr val="FFFFFF"/>
                </a:solidFill>
                <a:latin typeface="Calibri"/>
              </a:rPr>
              <a:t>Deploy an ENVOY-powered Competitive Intelligence &amp; Optimisation Platform</a:t>
            </a:r>
          </a:p>
        </p:txBody>
      </p:sp>
      <p:sp>
        <p:nvSpPr>
          <p:cNvPr id="23" name="TextBox 22"/>
          <p:cNvSpPr txBox="1"/>
          <p:nvPr/>
        </p:nvSpPr>
        <p:spPr>
          <a:xfrm>
            <a:off x="8193024" y="1938528"/>
            <a:ext cx="3474720" cy="2487168"/>
          </a:xfrm>
          <a:prstGeom prst="rect">
            <a:avLst/>
          </a:prstGeom>
          <a:noFill/>
        </p:spPr>
        <p:txBody>
          <a:bodyPr wrap="square">
            <a:spAutoFit/>
          </a:bodyPr>
          <a:lstStyle/>
          <a:p>
            <a:pPr algn="l"/>
            <a:r>
              <a:rPr sz="900" b="0" i="0">
                <a:solidFill>
                  <a:srgbClr val="CCD6E8"/>
                </a:solidFill>
                <a:latin typeface="Calibri"/>
              </a:rPr>
              <a:t>Leverage LBG's ENVOY Agentic Platform — combining ML models on Vertex AI evaluated through Pegasus, Gemini-powered Generative AI and ADK-orchestrated Agentic agents on Google Cloud — to establish a continuous, governed, end-to-end competitive intelligence and optimisation capability. The platform automatically collects PCW market data via intelligent agents, detects ranking and competitor behaviour changes using ML, synthesises actionable intelligence and recommendations using Gemini, routes all recommendations through Pega-governed human approval workflows, and executes approved changes via Apigee-managed integrations to AGGS, Duck Creek and Pricing Services — with every step observable through ObserveAll and auditable through the ENVOY Audit Framework.</a:t>
            </a:r>
          </a:p>
        </p:txBody>
      </p:sp>
      <p:sp>
        <p:nvSpPr>
          <p:cNvPr id="24" name="TextBox 23"/>
          <p:cNvSpPr txBox="1"/>
          <p:nvPr/>
        </p:nvSpPr>
        <p:spPr>
          <a:xfrm>
            <a:off x="457200" y="4709160"/>
            <a:ext cx="5486400" cy="201168"/>
          </a:xfrm>
          <a:prstGeom prst="rect">
            <a:avLst/>
          </a:prstGeom>
          <a:noFill/>
        </p:spPr>
        <p:txBody>
          <a:bodyPr wrap="square">
            <a:spAutoFit/>
          </a:bodyPr>
          <a:lstStyle/>
          <a:p>
            <a:pPr algn="l"/>
            <a:r>
              <a:rPr sz="750" b="1" i="0">
                <a:solidFill>
                  <a:srgbClr val="94A3B8"/>
                </a:solidFill>
                <a:latin typeface="Calibri"/>
              </a:rPr>
              <a:t>EXPECTED OUTCOMES</a:t>
            </a:r>
          </a:p>
        </p:txBody>
      </p:sp>
      <p:sp>
        <p:nvSpPr>
          <p:cNvPr id="25" name="Rectangle 24"/>
          <p:cNvSpPr/>
          <p:nvPr/>
        </p:nvSpPr>
        <p:spPr>
          <a:xfrm>
            <a:off x="457200"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965192"/>
            <a:ext cx="2103120" cy="566928"/>
          </a:xfrm>
          <a:prstGeom prst="rect">
            <a:avLst/>
          </a:prstGeom>
          <a:noFill/>
        </p:spPr>
        <p:txBody>
          <a:bodyPr wrap="square">
            <a:spAutoFit/>
          </a:bodyPr>
          <a:lstStyle/>
          <a:p>
            <a:pPr algn="l"/>
            <a:r>
              <a:rPr sz="800" b="0" i="0">
                <a:solidFill>
                  <a:srgbClr val="1E293B"/>
                </a:solidFill>
                <a:latin typeface="Calibri"/>
              </a:rPr>
              <a:t>Materially improved PCW ranking position across Motor, Home and GI product lines through evidence-based interventions</a:t>
            </a:r>
          </a:p>
        </p:txBody>
      </p:sp>
      <p:sp>
        <p:nvSpPr>
          <p:cNvPr id="28" name="Rectangle 27"/>
          <p:cNvSpPr/>
          <p:nvPr/>
        </p:nvSpPr>
        <p:spPr>
          <a:xfrm>
            <a:off x="2816352"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16352"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07792" y="4965192"/>
            <a:ext cx="2103120" cy="566928"/>
          </a:xfrm>
          <a:prstGeom prst="rect">
            <a:avLst/>
          </a:prstGeom>
          <a:noFill/>
        </p:spPr>
        <p:txBody>
          <a:bodyPr wrap="square">
            <a:spAutoFit/>
          </a:bodyPr>
          <a:lstStyle/>
          <a:p>
            <a:pPr algn="l"/>
            <a:r>
              <a:rPr sz="800" b="0" i="0">
                <a:solidFill>
                  <a:srgbClr val="1E293B"/>
                </a:solidFill>
                <a:latin typeface="Calibri"/>
              </a:rPr>
              <a:t>Competitor response time reduced from days to under two hours via continuous ENVOY agent monitoring and event-driven analysis</a:t>
            </a:r>
          </a:p>
        </p:txBody>
      </p:sp>
      <p:sp>
        <p:nvSpPr>
          <p:cNvPr id="31" name="Rectangle 30"/>
          <p:cNvSpPr/>
          <p:nvPr/>
        </p:nvSpPr>
        <p:spPr>
          <a:xfrm>
            <a:off x="5175504"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75504"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66944" y="4965192"/>
            <a:ext cx="2103120" cy="566928"/>
          </a:xfrm>
          <a:prstGeom prst="rect">
            <a:avLst/>
          </a:prstGeom>
          <a:noFill/>
        </p:spPr>
        <p:txBody>
          <a:bodyPr wrap="square">
            <a:spAutoFit/>
          </a:bodyPr>
          <a:lstStyle/>
          <a:p>
            <a:pPr algn="l"/>
            <a:r>
              <a:rPr sz="800" b="0" i="0">
                <a:solidFill>
                  <a:srgbClr val="1E293B"/>
                </a:solidFill>
                <a:latin typeface="Calibri"/>
              </a:rPr>
              <a:t>Simulation-backed, evidence-based pricing and proposition decisions replacing analyst judgement under uncertainty</a:t>
            </a:r>
          </a:p>
        </p:txBody>
      </p:sp>
      <p:sp>
        <p:nvSpPr>
          <p:cNvPr id="34" name="Rectangle 33"/>
          <p:cNvSpPr/>
          <p:nvPr/>
        </p:nvSpPr>
        <p:spPr>
          <a:xfrm>
            <a:off x="7534656"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34656"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26096" y="4965192"/>
            <a:ext cx="2103120" cy="566928"/>
          </a:xfrm>
          <a:prstGeom prst="rect">
            <a:avLst/>
          </a:prstGeom>
          <a:noFill/>
        </p:spPr>
        <p:txBody>
          <a:bodyPr wrap="square">
            <a:spAutoFit/>
          </a:bodyPr>
          <a:lstStyle/>
          <a:p>
            <a:pPr algn="l"/>
            <a:r>
              <a:rPr sz="800" b="0" i="0">
                <a:solidFill>
                  <a:srgbClr val="1E293B"/>
                </a:solidFill>
                <a:latin typeface="Calibri"/>
              </a:rPr>
              <a:t>Significant reduction in analyst FTE effort on low-value data collection, formatting and consolidation tasks</a:t>
            </a:r>
          </a:p>
        </p:txBody>
      </p:sp>
      <p:sp>
        <p:nvSpPr>
          <p:cNvPr id="37" name="Rectangle 36"/>
          <p:cNvSpPr/>
          <p:nvPr/>
        </p:nvSpPr>
        <p:spPr>
          <a:xfrm>
            <a:off x="9893808"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3808"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85248" y="4965192"/>
            <a:ext cx="2103120" cy="566928"/>
          </a:xfrm>
          <a:prstGeom prst="rect">
            <a:avLst/>
          </a:prstGeom>
          <a:noFill/>
        </p:spPr>
        <p:txBody>
          <a:bodyPr wrap="square">
            <a:spAutoFit/>
          </a:bodyPr>
          <a:lstStyle/>
          <a:p>
            <a:pPr algn="l"/>
            <a:r>
              <a:rPr sz="800" b="0" i="0">
                <a:solidFill>
                  <a:srgbClr val="1E293B"/>
                </a:solidFill>
                <a:latin typeface="Calibri"/>
              </a:rPr>
              <a:t>Reusable ENVOY platform capability extensible across broader BCB General Insurance use cases at lower incremental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MARKET CONTEXT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Why Price Comparison Websites Are Business-Critical for LBG General Insurance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03 / 20</a:t>
            </a:r>
          </a:p>
        </p:txBody>
      </p:sp>
      <p:sp>
        <p:nvSpPr>
          <p:cNvPr id="8" name="TextBox 7"/>
          <p:cNvSpPr txBox="1"/>
          <p:nvPr/>
        </p:nvSpPr>
        <p:spPr>
          <a:xfrm>
            <a:off x="457200" y="1051560"/>
            <a:ext cx="5486400" cy="274320"/>
          </a:xfrm>
          <a:prstGeom prst="rect">
            <a:avLst/>
          </a:prstGeom>
          <a:noFill/>
        </p:spPr>
        <p:txBody>
          <a:bodyPr wrap="square">
            <a:spAutoFit/>
          </a:bodyPr>
          <a:lstStyle/>
          <a:p>
            <a:pPr algn="l"/>
            <a:r>
              <a:rPr sz="1200" b="1" i="0">
                <a:solidFill>
                  <a:srgbClr val="0A1628"/>
                </a:solidFill>
                <a:latin typeface="Calibri"/>
              </a:rPr>
              <a:t>The PCW Landscape</a:t>
            </a:r>
          </a:p>
        </p:txBody>
      </p:sp>
      <p:sp>
        <p:nvSpPr>
          <p:cNvPr id="9" name="Rectangle 8"/>
          <p:cNvSpPr/>
          <p:nvPr/>
        </p:nvSpPr>
        <p:spPr>
          <a:xfrm>
            <a:off x="457200" y="137160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444752"/>
            <a:ext cx="5303520" cy="237744"/>
          </a:xfrm>
          <a:prstGeom prst="rect">
            <a:avLst/>
          </a:prstGeom>
          <a:noFill/>
        </p:spPr>
        <p:txBody>
          <a:bodyPr wrap="square">
            <a:spAutoFit/>
          </a:bodyPr>
          <a:lstStyle/>
          <a:p>
            <a:pPr algn="l"/>
            <a:r>
              <a:rPr sz="1050" b="1" i="0">
                <a:solidFill>
                  <a:srgbClr val="0A1628"/>
                </a:solidFill>
                <a:latin typeface="Calibri"/>
              </a:rPr>
              <a:t>Customer Behaviour &amp; Channel Influence</a:t>
            </a:r>
          </a:p>
        </p:txBody>
      </p:sp>
      <p:sp>
        <p:nvSpPr>
          <p:cNvPr id="12" name="TextBox 11"/>
          <p:cNvSpPr txBox="1"/>
          <p:nvPr/>
        </p:nvSpPr>
        <p:spPr>
          <a:xfrm>
            <a:off x="566928" y="1691640"/>
            <a:ext cx="5303520" cy="1298448"/>
          </a:xfrm>
          <a:prstGeom prst="rect">
            <a:avLst/>
          </a:prstGeom>
          <a:noFill/>
        </p:spPr>
        <p:txBody>
          <a:bodyPr wrap="square">
            <a:spAutoFit/>
          </a:bodyPr>
          <a:lstStyle/>
          <a:p>
            <a:pPr algn="l"/>
            <a:r>
              <a:rPr sz="900" b="0" i="0">
                <a:solidFill>
                  <a:srgbClr val="475569"/>
                </a:solidFill>
                <a:latin typeface="Calibri"/>
              </a:rPr>
              <a:t>Over 80% of UK motor insurance customers use at least one Price Comparison Website during their purchase journey, with multi-PCW behaviour — visiting two or more platforms before purchasing — increasingly common as customers maximise their comparison coverage. Home insurance PCW penetration continues to grow year-on-year as post-cost-of-living price sensitivity makes comparison shopping the default consumer behaviour rather than the exception for the majority of the UK insurance-buying population. Customers simultaneously evaluate ten or more competing providers on price, excess levels, optional cover inclusions, add-on packages, claims process ratings and brand trust scores, meaning LBG is competing on multiple dimensions in every single PCW session. Any sustained period of sub-optimal PCW positioning — whether caused by uncompetitive pricing, product feature gaps or PCW algorithm changes — translates directly and immediately into lost quote volume and reduced new business conversion across the affected product lines.</a:t>
            </a:r>
          </a:p>
        </p:txBody>
      </p:sp>
      <p:sp>
        <p:nvSpPr>
          <p:cNvPr id="13" name="Rectangle 12"/>
          <p:cNvSpPr/>
          <p:nvPr/>
        </p:nvSpPr>
        <p:spPr>
          <a:xfrm>
            <a:off x="457200" y="310896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10896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182112"/>
            <a:ext cx="5303520" cy="237744"/>
          </a:xfrm>
          <a:prstGeom prst="rect">
            <a:avLst/>
          </a:prstGeom>
          <a:noFill/>
        </p:spPr>
        <p:txBody>
          <a:bodyPr wrap="square">
            <a:spAutoFit/>
          </a:bodyPr>
          <a:lstStyle/>
          <a:p>
            <a:pPr algn="l"/>
            <a:r>
              <a:rPr sz="1050" b="1" i="0">
                <a:solidFill>
                  <a:srgbClr val="0A1628"/>
                </a:solidFill>
                <a:latin typeface="Calibri"/>
              </a:rPr>
              <a:t>Ranking Economics &amp; Volume Impact</a:t>
            </a:r>
          </a:p>
        </p:txBody>
      </p:sp>
      <p:sp>
        <p:nvSpPr>
          <p:cNvPr id="16" name="TextBox 15"/>
          <p:cNvSpPr txBox="1"/>
          <p:nvPr/>
        </p:nvSpPr>
        <p:spPr>
          <a:xfrm>
            <a:off x="566928" y="3429000"/>
            <a:ext cx="5303520" cy="1298448"/>
          </a:xfrm>
          <a:prstGeom prst="rect">
            <a:avLst/>
          </a:prstGeom>
          <a:noFill/>
        </p:spPr>
        <p:txBody>
          <a:bodyPr wrap="square">
            <a:spAutoFit/>
          </a:bodyPr>
          <a:lstStyle/>
          <a:p>
            <a:pPr algn="l"/>
            <a:r>
              <a:rPr sz="900" b="0" i="0">
                <a:solidFill>
                  <a:srgbClr val="475569"/>
                </a:solidFill>
                <a:latin typeface="Calibri"/>
              </a:rPr>
              <a:t>PCW results pages exhibit strong position bias: positions one to three capture a disproportionate share of customer clicks, quote completions and policy purchases compared to positions four and below, making rank position one of the single most commercially important variables in LBG's PCW performance. Empirical analysis across UK PCW markets indicates that moving from position five to position two can increase quote volume by 30–50% depending on the specific PCW, brand profile, product line and risk segment. The relationship between rank position and conversion is non-linear — the incremental value of moving from third to first significantly outweighs the value of moving from eighth to sixth. Rank position is determined by a combination of premium competitiveness, product feature scoring, excess structure alignment, PCW algorithm weighting and, increasingly, customer review scores — requiring competitive intelligence spanning both pricing and proposition in equal measure.</a:t>
            </a:r>
          </a:p>
        </p:txBody>
      </p:sp>
      <p:sp>
        <p:nvSpPr>
          <p:cNvPr id="17" name="Rectangle 16"/>
          <p:cNvSpPr/>
          <p:nvPr/>
        </p:nvSpPr>
        <p:spPr>
          <a:xfrm>
            <a:off x="457200" y="484632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84632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919472"/>
            <a:ext cx="5303520" cy="237744"/>
          </a:xfrm>
          <a:prstGeom prst="rect">
            <a:avLst/>
          </a:prstGeom>
          <a:noFill/>
        </p:spPr>
        <p:txBody>
          <a:bodyPr wrap="square">
            <a:spAutoFit/>
          </a:bodyPr>
          <a:lstStyle/>
          <a:p>
            <a:pPr algn="l"/>
            <a:r>
              <a:rPr sz="1050" b="1" i="0">
                <a:solidFill>
                  <a:srgbClr val="0A1628"/>
                </a:solidFill>
                <a:latin typeface="Calibri"/>
              </a:rPr>
              <a:t>Competitor Velocity &amp; Market Dynamics</a:t>
            </a:r>
          </a:p>
        </p:txBody>
      </p:sp>
      <p:sp>
        <p:nvSpPr>
          <p:cNvPr id="20" name="TextBox 19"/>
          <p:cNvSpPr txBox="1"/>
          <p:nvPr/>
        </p:nvSpPr>
        <p:spPr>
          <a:xfrm>
            <a:off x="566928" y="5166360"/>
            <a:ext cx="5303520" cy="1298448"/>
          </a:xfrm>
          <a:prstGeom prst="rect">
            <a:avLst/>
          </a:prstGeom>
          <a:noFill/>
        </p:spPr>
        <p:txBody>
          <a:bodyPr wrap="square">
            <a:spAutoFit/>
          </a:bodyPr>
          <a:lstStyle/>
          <a:p>
            <a:pPr algn="l"/>
            <a:r>
              <a:rPr sz="900" b="0" i="0">
                <a:solidFill>
                  <a:srgbClr val="475569"/>
                </a:solidFill>
                <a:latin typeface="Calibri"/>
              </a:rPr>
              <a:t>Analysis of UK PCW markets shows that leading competitors make pricing or proposition adjustments multiple times per week, with frequency increasing during peak periods — renewal windows, seasonal weather events and competitor campaign launches — creating sustained periods of market volatility that require continuous monitoring rather than periodic review. Regulatory changes such as the FCA's General Insurance pricing rules have intensified market dynamics, as competitors repriced portfolios and adjusted PCW strategies in response, creating periods of significant ranking volatility requiring rapid, informed responses from all market participants. Claims inflation cycles, reinsurance cost movements and weather events create market-wide pricing pressures that competitors respond to at different speeds, generating both risks — where competitors move before LBG — and opportunities where LBG can establish competitive advantage through faster, better-informed responses. Without continuous monitoring capability, LBG cannot reliably detect these movements until their impact on quote volumes is already being felt and the window for optimal response has narrowed.</a:t>
            </a:r>
          </a:p>
        </p:txBody>
      </p:sp>
      <p:sp>
        <p:nvSpPr>
          <p:cNvPr id="21" name="TextBox 20"/>
          <p:cNvSpPr txBox="1"/>
          <p:nvPr/>
        </p:nvSpPr>
        <p:spPr>
          <a:xfrm>
            <a:off x="6217920" y="1051560"/>
            <a:ext cx="5303520" cy="274320"/>
          </a:xfrm>
          <a:prstGeom prst="rect">
            <a:avLst/>
          </a:prstGeom>
          <a:noFill/>
        </p:spPr>
        <p:txBody>
          <a:bodyPr wrap="square">
            <a:spAutoFit/>
          </a:bodyPr>
          <a:lstStyle/>
          <a:p>
            <a:pPr algn="l"/>
            <a:r>
              <a:rPr sz="1200" b="1" i="0">
                <a:solidFill>
                  <a:srgbClr val="0A1628"/>
                </a:solidFill>
                <a:latin typeface="Calibri"/>
              </a:rPr>
              <a:t>Strategic Implications for LBG</a:t>
            </a:r>
          </a:p>
        </p:txBody>
      </p:sp>
      <p:sp>
        <p:nvSpPr>
          <p:cNvPr id="22" name="Rectangle 21"/>
          <p:cNvSpPr/>
          <p:nvPr/>
        </p:nvSpPr>
        <p:spPr>
          <a:xfrm>
            <a:off x="6217920" y="1371600"/>
            <a:ext cx="5303520" cy="1481328"/>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371600"/>
            <a:ext cx="45720" cy="14813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1444752"/>
            <a:ext cx="5120640" cy="237744"/>
          </a:xfrm>
          <a:prstGeom prst="rect">
            <a:avLst/>
          </a:prstGeom>
          <a:noFill/>
        </p:spPr>
        <p:txBody>
          <a:bodyPr wrap="square">
            <a:spAutoFit/>
          </a:bodyPr>
          <a:lstStyle/>
          <a:p>
            <a:pPr algn="l"/>
            <a:r>
              <a:rPr sz="1050" b="1" i="0">
                <a:solidFill>
                  <a:srgbClr val="0A1628"/>
                </a:solidFill>
                <a:latin typeface="Calibri"/>
              </a:rPr>
              <a:t>Real-Time Intelligence is Now a Competitive Necessity</a:t>
            </a:r>
          </a:p>
        </p:txBody>
      </p:sp>
      <p:sp>
        <p:nvSpPr>
          <p:cNvPr id="25" name="TextBox 24"/>
          <p:cNvSpPr txBox="1"/>
          <p:nvPr/>
        </p:nvSpPr>
        <p:spPr>
          <a:xfrm>
            <a:off x="6327648" y="1700784"/>
            <a:ext cx="5120640" cy="1097280"/>
          </a:xfrm>
          <a:prstGeom prst="rect">
            <a:avLst/>
          </a:prstGeom>
          <a:noFill/>
        </p:spPr>
        <p:txBody>
          <a:bodyPr wrap="square">
            <a:spAutoFit/>
          </a:bodyPr>
          <a:lstStyle/>
          <a:p>
            <a:pPr algn="l"/>
            <a:r>
              <a:rPr sz="900" b="0" i="0">
                <a:solidFill>
                  <a:srgbClr val="475569"/>
                </a:solidFill>
                <a:latin typeface="Calibri"/>
              </a:rPr>
              <a:t>Firms that can sense and respond to material PCW market movements within hours — rather than days or weeks — consistently outperform on PCW conversion metrics and new business volumes across the UK General Insurance market. Intelligence latency is directly and measurably correlated with lost volume during competitor campaign periods, regulatory-driven repricing events and seasonal market shifts. The growing investment by major PCW competitors in dynamic pricing infrastructure and real-time market monitoring means that periodic manual review processes are no longer adequate to maintain competitive parity, let alone competitive advantage. Establishing a continuous, automated competitive intelligence capability is therefore not a discretionary enhancement but a structural competitive requirement for LBG to protect and grow its PCW new business volumes in an increasingly dynamic market.</a:t>
            </a:r>
          </a:p>
        </p:txBody>
      </p:sp>
      <p:sp>
        <p:nvSpPr>
          <p:cNvPr id="26" name="Rectangle 25"/>
          <p:cNvSpPr/>
          <p:nvPr/>
        </p:nvSpPr>
        <p:spPr>
          <a:xfrm>
            <a:off x="6217920" y="2962656"/>
            <a:ext cx="5303520" cy="1481328"/>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962656"/>
            <a:ext cx="45720" cy="14813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3035808"/>
            <a:ext cx="5120640" cy="237744"/>
          </a:xfrm>
          <a:prstGeom prst="rect">
            <a:avLst/>
          </a:prstGeom>
          <a:noFill/>
        </p:spPr>
        <p:txBody>
          <a:bodyPr wrap="square">
            <a:spAutoFit/>
          </a:bodyPr>
          <a:lstStyle/>
          <a:p>
            <a:pPr algn="l"/>
            <a:r>
              <a:rPr sz="1050" b="1" i="0">
                <a:solidFill>
                  <a:srgbClr val="0A1628"/>
                </a:solidFill>
                <a:latin typeface="Calibri"/>
              </a:rPr>
              <a:t>Proposition is as Critical as Price</a:t>
            </a:r>
          </a:p>
        </p:txBody>
      </p:sp>
      <p:sp>
        <p:nvSpPr>
          <p:cNvPr id="29" name="TextBox 28"/>
          <p:cNvSpPr txBox="1"/>
          <p:nvPr/>
        </p:nvSpPr>
        <p:spPr>
          <a:xfrm>
            <a:off x="6327648" y="3291840"/>
            <a:ext cx="5120640" cy="1097280"/>
          </a:xfrm>
          <a:prstGeom prst="rect">
            <a:avLst/>
          </a:prstGeom>
          <a:noFill/>
        </p:spPr>
        <p:txBody>
          <a:bodyPr wrap="square">
            <a:spAutoFit/>
          </a:bodyPr>
          <a:lstStyle/>
          <a:p>
            <a:pPr algn="l"/>
            <a:r>
              <a:rPr sz="900" b="0" i="0">
                <a:solidFill>
                  <a:srgbClr val="475569"/>
                </a:solidFill>
                <a:latin typeface="Calibri"/>
              </a:rPr>
              <a:t>PCW ranking algorithms have evolved significantly beyond simple premium comparison, increasingly incorporating product feature scores, excess structure alignment, optional cover availability, claims process quality ratings and customer review data alongside raw premium in their ranking calculations. This means pricing competitiveness alone is insufficient to maintain strong PCW positions — LBG must also monitor and respond to competitor proposition changes including new optional covers, revised excess tiers, enhanced product features and bundled add-on packages. Competitive intelligence must therefore span the full product proposition, requiring a combination of structured data analysis, natural language processing for proposition assessment and ML models for feature scoring — all capabilities available within the ENVOY platform. Proposition gaps that go undetected can persist for weeks or months in a manual monitoring environment, silently eroding PCW ranking and conversion performance.</a:t>
            </a:r>
          </a:p>
        </p:txBody>
      </p:sp>
      <p:sp>
        <p:nvSpPr>
          <p:cNvPr id="30" name="Rectangle 29"/>
          <p:cNvSpPr/>
          <p:nvPr/>
        </p:nvSpPr>
        <p:spPr>
          <a:xfrm>
            <a:off x="6217920" y="4553712"/>
            <a:ext cx="5303520" cy="1325880"/>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553712"/>
            <a:ext cx="45720" cy="13258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8" y="4626864"/>
            <a:ext cx="5120640" cy="237744"/>
          </a:xfrm>
          <a:prstGeom prst="rect">
            <a:avLst/>
          </a:prstGeom>
          <a:noFill/>
        </p:spPr>
        <p:txBody>
          <a:bodyPr wrap="square">
            <a:spAutoFit/>
          </a:bodyPr>
          <a:lstStyle/>
          <a:p>
            <a:pPr algn="l"/>
            <a:r>
              <a:rPr sz="1050" b="1" i="0">
                <a:solidFill>
                  <a:srgbClr val="DC2626"/>
                </a:solidFill>
                <a:latin typeface="Calibri"/>
              </a:rPr>
              <a:t>Current State Risk</a:t>
            </a:r>
          </a:p>
        </p:txBody>
      </p:sp>
      <p:sp>
        <p:nvSpPr>
          <p:cNvPr id="33" name="TextBox 32"/>
          <p:cNvSpPr txBox="1"/>
          <p:nvPr/>
        </p:nvSpPr>
        <p:spPr>
          <a:xfrm>
            <a:off x="6327648" y="4882896"/>
            <a:ext cx="5120640" cy="941832"/>
          </a:xfrm>
          <a:prstGeom prst="rect">
            <a:avLst/>
          </a:prstGeom>
          <a:noFill/>
        </p:spPr>
        <p:txBody>
          <a:bodyPr wrap="square">
            <a:spAutoFit/>
          </a:bodyPr>
          <a:lstStyle/>
          <a:p>
            <a:pPr algn="l"/>
            <a:r>
              <a:rPr sz="900" b="0" i="0">
                <a:solidFill>
                  <a:srgbClr val="475569"/>
                </a:solidFill>
                <a:latin typeface="Calibri"/>
              </a:rPr>
              <a:t>Without a continuous monitoring capability, LBG is systematically exposed to periods of sustained competitive disadvantage on PCWs — particularly during competitor promotional campaigns, FCA-triggered market-wide repricing events, claims inflation cycles and PCW algorithm updates, all of which create significant ranking volatility requiring rapid, informed responses. Each monitoring gap represents a window during which competitor movements that disadvantage LBG's ranking go undetected and unaddressed, translating directly into lost quote volume and foregone new business revenue. The reputational and commercial risk of a prolonged period of poor PCW positioning — particularly on high-volume PCWs during peak renewal periods — is material and is not currently being systematically managed through the existing manual review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CURRENT STATE ASSESSMENT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How We Operate Today — Diagnosis of the Current Monitoring Model</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04 / 20</a:t>
            </a:r>
          </a:p>
        </p:txBody>
      </p:sp>
      <p:sp>
        <p:nvSpPr>
          <p:cNvPr id="8" name="Rectangle 7"/>
          <p:cNvSpPr/>
          <p:nvPr/>
        </p:nvSpPr>
        <p:spPr>
          <a:xfrm>
            <a:off x="320040"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2194560" cy="34747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2103120" cy="256032"/>
          </a:xfrm>
          <a:prstGeom prst="rect">
            <a:avLst/>
          </a:prstGeom>
          <a:noFill/>
        </p:spPr>
        <p:txBody>
          <a:bodyPr wrap="square">
            <a:spAutoFit/>
          </a:bodyPr>
          <a:lstStyle/>
          <a:p>
            <a:pPr algn="l"/>
            <a:r>
              <a:rPr sz="900" b="1" i="0">
                <a:solidFill>
                  <a:srgbClr val="FFFFFF"/>
                </a:solidFill>
                <a:latin typeface="Calibri"/>
              </a:rPr>
              <a:t>01 / MONITORING</a:t>
            </a:r>
          </a:p>
        </p:txBody>
      </p:sp>
      <p:sp>
        <p:nvSpPr>
          <p:cNvPr id="11" name="TextBox 10"/>
          <p:cNvSpPr txBox="1"/>
          <p:nvPr/>
        </p:nvSpPr>
        <p:spPr>
          <a:xfrm>
            <a:off x="393192" y="1499616"/>
            <a:ext cx="2084832" cy="1965960"/>
          </a:xfrm>
          <a:prstGeom prst="rect">
            <a:avLst/>
          </a:prstGeom>
          <a:noFill/>
        </p:spPr>
        <p:txBody>
          <a:bodyPr wrap="square">
            <a:spAutoFit/>
          </a:bodyPr>
          <a:lstStyle/>
          <a:p>
            <a:pPr algn="l"/>
            <a:r>
              <a:rPr sz="850" b="0" i="0">
                <a:solidFill>
                  <a:srgbClr val="475569"/>
                </a:solidFill>
                <a:latin typeface="Calibri"/>
              </a:rPr>
              <a:t>Market reviews are conducted on an ad hoc or loosely scheduled basis with no defined minimum frequency or coverage requirement across PCW channels, product lines or competitor sets. Individual analysts access PCW platforms manually, capturing data in varied formats with no common taxonomy, data dictionary or quality standard — meaning the competitive dataset that results is inconsistent, incomplete and not reliably comparable across time periods or teams. Coverage varies significantly across the organisation: some teams monitor selected competitors on selected PCWs periodically, while others have limited visibility of market positioning altogether. Competitor changes — pricing adjustments, product enhancements, offer launches, PCW algorithm responses — can therefore occur and persist for days or weeks before detection, during which time their impact on ranking position and quote volumes is already being felt.</a:t>
            </a:r>
          </a:p>
        </p:txBody>
      </p:sp>
      <p:sp>
        <p:nvSpPr>
          <p:cNvPr id="12" name="TextBox 11"/>
          <p:cNvSpPr txBox="1"/>
          <p:nvPr/>
        </p:nvSpPr>
        <p:spPr>
          <a:xfrm>
            <a:off x="2523744"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3" name="Rectangle 12"/>
          <p:cNvSpPr/>
          <p:nvPr/>
        </p:nvSpPr>
        <p:spPr>
          <a:xfrm>
            <a:off x="2578608"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78608" y="1097280"/>
            <a:ext cx="2194560" cy="34747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4328" y="1161288"/>
            <a:ext cx="2103120" cy="256032"/>
          </a:xfrm>
          <a:prstGeom prst="rect">
            <a:avLst/>
          </a:prstGeom>
          <a:noFill/>
        </p:spPr>
        <p:txBody>
          <a:bodyPr wrap="square">
            <a:spAutoFit/>
          </a:bodyPr>
          <a:lstStyle/>
          <a:p>
            <a:pPr algn="l"/>
            <a:r>
              <a:rPr sz="900" b="1" i="0">
                <a:solidFill>
                  <a:srgbClr val="FFFFFF"/>
                </a:solidFill>
                <a:latin typeface="Calibri"/>
              </a:rPr>
              <a:t>02 / ANALYSIS</a:t>
            </a:r>
          </a:p>
        </p:txBody>
      </p:sp>
      <p:sp>
        <p:nvSpPr>
          <p:cNvPr id="16" name="TextBox 15"/>
          <p:cNvSpPr txBox="1"/>
          <p:nvPr/>
        </p:nvSpPr>
        <p:spPr>
          <a:xfrm>
            <a:off x="2651760" y="1499616"/>
            <a:ext cx="2084832" cy="1965960"/>
          </a:xfrm>
          <a:prstGeom prst="rect">
            <a:avLst/>
          </a:prstGeom>
          <a:noFill/>
        </p:spPr>
        <p:txBody>
          <a:bodyPr wrap="square">
            <a:spAutoFit/>
          </a:bodyPr>
          <a:lstStyle/>
          <a:p>
            <a:pPr algn="l"/>
            <a:r>
              <a:rPr sz="850" b="0" i="0">
                <a:solidFill>
                  <a:srgbClr val="475569"/>
                </a:solidFill>
                <a:latin typeface="Calibri"/>
              </a:rPr>
              <a:t>Data collected through manual monitoring is consolidated in spreadsheets, shared drives and email threads with no common data model, no version control and no systematic approach to data quality validation or anomaly detection. Analysis is conducted independently by pricing, product and proposition teams who often arrive at different conclusions from similar data, creating inconsistencies in the competitive picture presented to decision-makers across the organisation. Historical data is rarely stored in a structured, queryable format — making trend analysis, competitor behaviour pattern detection and longitudinal comparison either impossible or highly time-consuming. There is no automated pattern detection, no anomaly flagging and no systematic significance scoring to distinguish material market movements requiring immediate action from routine market noise that can safely be deferred.</a:t>
            </a:r>
          </a:p>
        </p:txBody>
      </p:sp>
      <p:sp>
        <p:nvSpPr>
          <p:cNvPr id="17" name="TextBox 16"/>
          <p:cNvSpPr txBox="1"/>
          <p:nvPr/>
        </p:nvSpPr>
        <p:spPr>
          <a:xfrm>
            <a:off x="4782312"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8" name="Rectangle 17"/>
          <p:cNvSpPr/>
          <p:nvPr/>
        </p:nvSpPr>
        <p:spPr>
          <a:xfrm>
            <a:off x="4837176"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7176" y="1097280"/>
            <a:ext cx="219456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82896" y="1161288"/>
            <a:ext cx="2103120" cy="256032"/>
          </a:xfrm>
          <a:prstGeom prst="rect">
            <a:avLst/>
          </a:prstGeom>
          <a:noFill/>
        </p:spPr>
        <p:txBody>
          <a:bodyPr wrap="square">
            <a:spAutoFit/>
          </a:bodyPr>
          <a:lstStyle/>
          <a:p>
            <a:pPr algn="l"/>
            <a:r>
              <a:rPr sz="900" b="1" i="0">
                <a:solidFill>
                  <a:srgbClr val="FFFFFF"/>
                </a:solidFill>
                <a:latin typeface="Calibri"/>
              </a:rPr>
              <a:t>03 / DECISIONS</a:t>
            </a:r>
          </a:p>
        </p:txBody>
      </p:sp>
      <p:sp>
        <p:nvSpPr>
          <p:cNvPr id="21" name="TextBox 20"/>
          <p:cNvSpPr txBox="1"/>
          <p:nvPr/>
        </p:nvSpPr>
        <p:spPr>
          <a:xfrm>
            <a:off x="4910328" y="1499616"/>
            <a:ext cx="2084832" cy="1965960"/>
          </a:xfrm>
          <a:prstGeom prst="rect">
            <a:avLst/>
          </a:prstGeom>
          <a:noFill/>
        </p:spPr>
        <p:txBody>
          <a:bodyPr wrap="square">
            <a:spAutoFit/>
          </a:bodyPr>
          <a:lstStyle/>
          <a:p>
            <a:pPr algn="l"/>
            <a:r>
              <a:rPr sz="850" b="0" i="0">
                <a:solidFill>
                  <a:srgbClr val="475569"/>
                </a:solidFill>
                <a:latin typeface="Calibri"/>
              </a:rPr>
              <a:t>Pricing and proposition decisions are made on the basis of incomplete, inconsistent and often outdated competitive intelligence, with decision-makers relying heavily on individual analyst judgement in the absence of systematic, data-driven competitive context. The lead time from initial data collection through analysis, escalation and decision typically spans multiple days to several weeks, by which time the competitive landscape has frequently changed further. There is no simulation or modelling capability to assess the likely commercial impact — on ranking position, quote volume or new business margin — of proposed interventions before execution, meaning decisions are made under significant uncertainty about their likely outcomes. The absence of a structured decision framework means similar competitive situations may be assessed and responded to differently by different teams, creating inconsistency in LBG's competitive behaviour across product lines and PCW channels.</a:t>
            </a:r>
          </a:p>
        </p:txBody>
      </p:sp>
      <p:sp>
        <p:nvSpPr>
          <p:cNvPr id="22" name="TextBox 21"/>
          <p:cNvSpPr txBox="1"/>
          <p:nvPr/>
        </p:nvSpPr>
        <p:spPr>
          <a:xfrm>
            <a:off x="7040880"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3" name="Rectangle 22"/>
          <p:cNvSpPr/>
          <p:nvPr/>
        </p:nvSpPr>
        <p:spPr>
          <a:xfrm>
            <a:off x="7095744"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95744" y="1097280"/>
            <a:ext cx="219456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1464" y="1161288"/>
            <a:ext cx="2103120" cy="256032"/>
          </a:xfrm>
          <a:prstGeom prst="rect">
            <a:avLst/>
          </a:prstGeom>
          <a:noFill/>
        </p:spPr>
        <p:txBody>
          <a:bodyPr wrap="square">
            <a:spAutoFit/>
          </a:bodyPr>
          <a:lstStyle/>
          <a:p>
            <a:pPr algn="l"/>
            <a:r>
              <a:rPr sz="900" b="1" i="0">
                <a:solidFill>
                  <a:srgbClr val="FFFFFF"/>
                </a:solidFill>
                <a:latin typeface="Calibri"/>
              </a:rPr>
              <a:t>04 / EXECUTION</a:t>
            </a:r>
          </a:p>
        </p:txBody>
      </p:sp>
      <p:sp>
        <p:nvSpPr>
          <p:cNvPr id="26" name="TextBox 25"/>
          <p:cNvSpPr txBox="1"/>
          <p:nvPr/>
        </p:nvSpPr>
        <p:spPr>
          <a:xfrm>
            <a:off x="7168896" y="1499616"/>
            <a:ext cx="2084832" cy="1965960"/>
          </a:xfrm>
          <a:prstGeom prst="rect">
            <a:avLst/>
          </a:prstGeom>
          <a:noFill/>
        </p:spPr>
        <p:txBody>
          <a:bodyPr wrap="square">
            <a:spAutoFit/>
          </a:bodyPr>
          <a:lstStyle/>
          <a:p>
            <a:pPr algn="l"/>
            <a:r>
              <a:rPr sz="850" b="0" i="0">
                <a:solidFill>
                  <a:srgbClr val="475569"/>
                </a:solidFill>
                <a:latin typeface="Calibri"/>
              </a:rPr>
              <a:t>Once a decision to act is reached, execution requires manual coordination across multiple teams — pricing, product configuration, operations and technology — with no automated workflow, no defined SLA for execution speed and no systematic tracking of change status from approval to live market deployment. The multi-team handoff process introduces additional latency between decision and market impact, further widening the gap between competitor movement and LBG's effective response. Changes are implemented through existing systems — AGGS, Duck Creek and Pricing Services — but without a standardised, automated integration pattern, making each execution an ad hoc exercise that varies in speed and reliability depending on team availability and process adherence. There is no mechanism to automatically initiate post-change impact monitoring once a change is executed, meaning the feedback loop between action and outcome measurement is manual, irregular and incomplete.</a:t>
            </a:r>
          </a:p>
        </p:txBody>
      </p:sp>
      <p:sp>
        <p:nvSpPr>
          <p:cNvPr id="27" name="TextBox 26"/>
          <p:cNvSpPr txBox="1"/>
          <p:nvPr/>
        </p:nvSpPr>
        <p:spPr>
          <a:xfrm>
            <a:off x="9299448"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8" name="Rectangle 27"/>
          <p:cNvSpPr/>
          <p:nvPr/>
        </p:nvSpPr>
        <p:spPr>
          <a:xfrm>
            <a:off x="9354312"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54312" y="1097280"/>
            <a:ext cx="219456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0032" y="1161288"/>
            <a:ext cx="2103120" cy="256032"/>
          </a:xfrm>
          <a:prstGeom prst="rect">
            <a:avLst/>
          </a:prstGeom>
          <a:noFill/>
        </p:spPr>
        <p:txBody>
          <a:bodyPr wrap="square">
            <a:spAutoFit/>
          </a:bodyPr>
          <a:lstStyle/>
          <a:p>
            <a:pPr algn="l"/>
            <a:r>
              <a:rPr sz="900" b="1" i="0">
                <a:solidFill>
                  <a:srgbClr val="FFFFFF"/>
                </a:solidFill>
                <a:latin typeface="Calibri"/>
              </a:rPr>
              <a:t>05 / OUTCOME</a:t>
            </a:r>
          </a:p>
        </p:txBody>
      </p:sp>
      <p:sp>
        <p:nvSpPr>
          <p:cNvPr id="31" name="TextBox 30"/>
          <p:cNvSpPr txBox="1"/>
          <p:nvPr/>
        </p:nvSpPr>
        <p:spPr>
          <a:xfrm>
            <a:off x="9427464" y="1499616"/>
            <a:ext cx="2084832" cy="1965960"/>
          </a:xfrm>
          <a:prstGeom prst="rect">
            <a:avLst/>
          </a:prstGeom>
          <a:noFill/>
        </p:spPr>
        <p:txBody>
          <a:bodyPr wrap="square">
            <a:spAutoFit/>
          </a:bodyPr>
          <a:lstStyle/>
          <a:p>
            <a:pPr algn="l"/>
            <a:r>
              <a:rPr sz="850" b="0" i="0">
                <a:solidFill>
                  <a:srgbClr val="475569"/>
                </a:solidFill>
                <a:latin typeface="Calibri"/>
              </a:rPr>
              <a:t>The cumulative effect of delayed monitoring, incomplete analysis, uncertain decisions and slow execution is a fundamentally reactive competitive posture in which LBG consistently responds to competitor actions rather than anticipating or pre-empting them, ceding competitive advantage during every monitoring and decision gap. Opportunity windows — periods during which LBG could improve ranking position by acting on competitor weaknesses or market gaps — are routinely missed because they are not identified in time for an effective response to be mounted. The manual effort required to sustain even the current incomplete monitoring process represents a significant ongoing FTE cost that is difficult to justify given the limited, inconsistent intelligence it produces. The absence of a closed feedback loop means there is no reliable mechanism to determine whether competitive actions taken have achieved their intended outcomes, making continuous improvement of the competitive response process effectively impossible.</a:t>
            </a:r>
          </a:p>
        </p:txBody>
      </p:sp>
      <p:sp>
        <p:nvSpPr>
          <p:cNvPr id="32" name="Rectangle 31"/>
          <p:cNvSpPr/>
          <p:nvPr/>
        </p:nvSpPr>
        <p:spPr>
          <a:xfrm>
            <a:off x="320040" y="3703320"/>
            <a:ext cx="5303520" cy="19659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3703320"/>
            <a:ext cx="530352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 y="3794760"/>
            <a:ext cx="5120640" cy="274320"/>
          </a:xfrm>
          <a:prstGeom prst="rect">
            <a:avLst/>
          </a:prstGeom>
          <a:noFill/>
        </p:spPr>
        <p:txBody>
          <a:bodyPr wrap="square">
            <a:spAutoFit/>
          </a:bodyPr>
          <a:lstStyle/>
          <a:p>
            <a:pPr algn="l"/>
            <a:r>
              <a:rPr sz="1100" b="1" i="0">
                <a:solidFill>
                  <a:srgbClr val="0A1628"/>
                </a:solidFill>
                <a:latin typeface="Calibri"/>
              </a:rPr>
              <a:t>Key Friction Points</a:t>
            </a:r>
          </a:p>
        </p:txBody>
      </p:sp>
      <p:sp>
        <p:nvSpPr>
          <p:cNvPr id="35" name="TextBox 34"/>
          <p:cNvSpPr txBox="1"/>
          <p:nvPr/>
        </p:nvSpPr>
        <p:spPr>
          <a:xfrm>
            <a:off x="429768" y="4114800"/>
            <a:ext cx="5120640" cy="1463040"/>
          </a:xfrm>
          <a:prstGeom prst="rect">
            <a:avLst/>
          </a:prstGeom>
          <a:noFill/>
        </p:spPr>
        <p:txBody>
          <a:bodyPr wrap="square">
            <a:spAutoFit/>
          </a:bodyPr>
          <a:lstStyle/>
          <a:p>
            <a:pPr>
              <a:spcBef>
                <a:spcPts val="150"/>
              </a:spcBef>
            </a:pPr>
            <a:r>
              <a:rPr sz="900">
                <a:solidFill>
                  <a:srgbClr val="475569"/>
                </a:solidFill>
                <a:latin typeface="Calibri"/>
              </a:rPr>
              <a:t>- No single source of truth for competitor positioning data — multiple teams maintain separate, inconsistent datasets with no common taxonomy, data standard or quality framework, making organisational alignment on competitive position difficult to achieve</a:t>
            </a:r>
          </a:p>
          <a:p>
            <a:pPr>
              <a:spcBef>
                <a:spcPts val="150"/>
              </a:spcBef>
            </a:pPr>
            <a:r>
              <a:rPr sz="900">
                <a:solidFill>
                  <a:srgbClr val="475569"/>
                </a:solidFill>
                <a:latin typeface="Calibri"/>
              </a:rPr>
              <a:t>- Analysis capability does not scale with market complexity — the number of PCWs, competitors, product lines and proposition dimensions requiring monitoring far exceeds what manual effort can sustain reliably or consistently</a:t>
            </a:r>
          </a:p>
          <a:p>
            <a:pPr>
              <a:spcBef>
                <a:spcPts val="150"/>
              </a:spcBef>
            </a:pPr>
            <a:r>
              <a:rPr sz="900">
                <a:solidFill>
                  <a:srgbClr val="475569"/>
                </a:solidFill>
                <a:latin typeface="Calibri"/>
              </a:rPr>
              <a:t>- Decision latency creates exploitable competitive windows — the time between competitor action and LBG response regularly spans multiple days, during which ranking and volume impact accumulates without countermeasure</a:t>
            </a:r>
          </a:p>
          <a:p>
            <a:pPr>
              <a:spcBef>
                <a:spcPts val="150"/>
              </a:spcBef>
            </a:pPr>
            <a:r>
              <a:rPr sz="900">
                <a:solidFill>
                  <a:srgbClr val="475569"/>
                </a:solidFill>
                <a:latin typeface="Calibri"/>
              </a:rPr>
              <a:t>- No closed-loop measurement framework — the absence of systematic outcome tracking makes it impossible to determine whether competitive interventions have achieved their intended commercial impact or to improve future decisions</a:t>
            </a:r>
          </a:p>
          <a:p>
            <a:pPr>
              <a:spcBef>
                <a:spcPts val="150"/>
              </a:spcBef>
            </a:pPr>
            <a:r>
              <a:rPr sz="900">
                <a:solidFill>
                  <a:srgbClr val="475569"/>
                </a:solidFill>
                <a:latin typeface="Calibri"/>
              </a:rPr>
              <a:t>- Siloed tooling and data across pricing, product and operations teams — no integrated view of competitive position, no shared analytical framework and no common decision-support infrastructure to align responses</a:t>
            </a:r>
          </a:p>
        </p:txBody>
      </p:sp>
      <p:sp>
        <p:nvSpPr>
          <p:cNvPr id="36" name="Rectangle 35"/>
          <p:cNvSpPr/>
          <p:nvPr/>
        </p:nvSpPr>
        <p:spPr>
          <a:xfrm>
            <a:off x="6126480" y="3703320"/>
            <a:ext cx="5376672" cy="19659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703320"/>
            <a:ext cx="5376672"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36208" y="3794760"/>
            <a:ext cx="5166360" cy="274320"/>
          </a:xfrm>
          <a:prstGeom prst="rect">
            <a:avLst/>
          </a:prstGeom>
          <a:noFill/>
        </p:spPr>
        <p:txBody>
          <a:bodyPr wrap="square">
            <a:spAutoFit/>
          </a:bodyPr>
          <a:lstStyle/>
          <a:p>
            <a:pPr algn="l"/>
            <a:r>
              <a:rPr sz="1100" b="1" i="0">
                <a:solidFill>
                  <a:srgbClr val="0A1628"/>
                </a:solidFill>
                <a:latin typeface="Calibri"/>
              </a:rPr>
              <a:t>Organisational Impact</a:t>
            </a:r>
          </a:p>
        </p:txBody>
      </p:sp>
      <p:sp>
        <p:nvSpPr>
          <p:cNvPr id="39" name="TextBox 38"/>
          <p:cNvSpPr txBox="1"/>
          <p:nvPr/>
        </p:nvSpPr>
        <p:spPr>
          <a:xfrm>
            <a:off x="6236208" y="4114800"/>
            <a:ext cx="5166360" cy="1463040"/>
          </a:xfrm>
          <a:prstGeom prst="rect">
            <a:avLst/>
          </a:prstGeom>
          <a:noFill/>
        </p:spPr>
        <p:txBody>
          <a:bodyPr wrap="square">
            <a:spAutoFit/>
          </a:bodyPr>
          <a:lstStyle/>
          <a:p>
            <a:pPr>
              <a:spcBef>
                <a:spcPts val="150"/>
              </a:spcBef>
            </a:pPr>
            <a:r>
              <a:rPr sz="900">
                <a:solidFill>
                  <a:srgbClr val="475569"/>
                </a:solidFill>
                <a:latin typeface="Calibri"/>
              </a:rPr>
              <a:t>- Sub-optimal PCW ranking position sustained during competitor promotional campaigns, seasonal peaks and regulatory repricing events due to delayed detection of competitive movements and slow organisational response</a:t>
            </a:r>
          </a:p>
          <a:p>
            <a:pPr>
              <a:spcBef>
                <a:spcPts val="150"/>
              </a:spcBef>
            </a:pPr>
            <a:r>
              <a:rPr sz="900">
                <a:solidFill>
                  <a:srgbClr val="475569"/>
                </a:solidFill>
                <a:latin typeface="Calibri"/>
              </a:rPr>
              <a:t>- Pricing teams making decisions without full, current competitive market context — introducing unnecessary uncertainty and increasing the risk of commercially suboptimal outcomes including margin sacrifice without ranking benefit</a:t>
            </a:r>
          </a:p>
          <a:p>
            <a:pPr>
              <a:spcBef>
                <a:spcPts val="150"/>
              </a:spcBef>
            </a:pPr>
            <a:r>
              <a:rPr sz="900">
                <a:solidFill>
                  <a:srgbClr val="475569"/>
                </a:solidFill>
                <a:latin typeface="Calibri"/>
              </a:rPr>
              <a:t>- Product proposition gaps versus competitors going undetected and unaddressed for extended periods, silently eroding PCW feature scoring and ranking performance across multiple product lines simultaneously</a:t>
            </a:r>
          </a:p>
          <a:p>
            <a:pPr>
              <a:spcBef>
                <a:spcPts val="150"/>
              </a:spcBef>
            </a:pPr>
            <a:r>
              <a:rPr sz="900">
                <a:solidFill>
                  <a:srgbClr val="475569"/>
                </a:solidFill>
                <a:latin typeface="Calibri"/>
              </a:rPr>
              <a:t>- Significant FTE effort consumed by low-value data collection, formatting and consolidation tasks that should be automated — reducing capacity for higher-value analytical and strategic pricing work</a:t>
            </a:r>
          </a:p>
          <a:p>
            <a:pPr>
              <a:spcBef>
                <a:spcPts val="150"/>
              </a:spcBef>
            </a:pPr>
            <a:r>
              <a:rPr sz="900">
                <a:solidFill>
                  <a:srgbClr val="475569"/>
                </a:solidFill>
                <a:latin typeface="Calibri"/>
              </a:rPr>
              <a:t>- Inconsistent competitive responses across product lines and PCW channels — similar competitive situations handled differently, creating unpredictable and suboptimal market behaviour that undermines competitive positioning</a:t>
            </a:r>
          </a:p>
        </p:txBody>
      </p:sp>
      <p:sp>
        <p:nvSpPr>
          <p:cNvPr id="40" name="Rectangle 39"/>
          <p:cNvSpPr/>
          <p:nvPr/>
        </p:nvSpPr>
        <p:spPr>
          <a:xfrm>
            <a:off x="320040" y="5833872"/>
            <a:ext cx="11548872" cy="475488"/>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0040" y="5833872"/>
            <a:ext cx="54864"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879592"/>
            <a:ext cx="11247120" cy="384048"/>
          </a:xfrm>
          <a:prstGeom prst="rect">
            <a:avLst/>
          </a:prstGeom>
          <a:noFill/>
        </p:spPr>
        <p:txBody>
          <a:bodyPr wrap="square">
            <a:spAutoFit/>
          </a:bodyPr>
          <a:lstStyle/>
          <a:p>
            <a:pPr algn="l"/>
            <a:r>
              <a:rPr sz="900" b="1" i="0">
                <a:solidFill>
                  <a:srgbClr val="1E293B"/>
                </a:solidFill>
                <a:latin typeface="Calibri"/>
              </a:rPr>
              <a:t>Net Result: LBG operates a reactive competitive posture on PCWs, consistently responding to competitor actions after their market impact has already been felt — ceding competitive advantage during every monitoring gap and analysis delay in the current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STRATEGIC RATIONALE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The Strategic Hypothesis — From Reactive Monitoring to Proactive Optimisation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05 / 20</a:t>
            </a:r>
          </a:p>
        </p:txBody>
      </p:sp>
      <p:sp>
        <p:nvSpPr>
          <p:cNvPr id="8" name="Rectangle 7"/>
          <p:cNvSpPr/>
          <p:nvPr/>
        </p:nvSpPr>
        <p:spPr>
          <a:xfrm>
            <a:off x="457200" y="1097280"/>
            <a:ext cx="548640" cy="9601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89888"/>
            <a:ext cx="548640" cy="329184"/>
          </a:xfrm>
          <a:prstGeom prst="rect">
            <a:avLst/>
          </a:prstGeom>
          <a:noFill/>
        </p:spPr>
        <p:txBody>
          <a:bodyPr wrap="square">
            <a:spAutoFit/>
          </a:bodyPr>
          <a:lstStyle/>
          <a:p>
            <a:pPr algn="ctr"/>
            <a:r>
              <a:rPr sz="1300" b="1" i="0">
                <a:solidFill>
                  <a:srgbClr val="FFFFFF"/>
                </a:solidFill>
                <a:latin typeface="Calibri"/>
              </a:rPr>
              <a:t>IF</a:t>
            </a:r>
          </a:p>
        </p:txBody>
      </p:sp>
      <p:sp>
        <p:nvSpPr>
          <p:cNvPr id="10" name="Rectangle 9"/>
          <p:cNvSpPr/>
          <p:nvPr/>
        </p:nvSpPr>
        <p:spPr>
          <a:xfrm>
            <a:off x="1005840" y="109728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188720"/>
            <a:ext cx="10515600" cy="822960"/>
          </a:xfrm>
          <a:prstGeom prst="rect">
            <a:avLst/>
          </a:prstGeom>
          <a:noFill/>
        </p:spPr>
        <p:txBody>
          <a:bodyPr wrap="square">
            <a:spAutoFit/>
          </a:bodyPr>
          <a:lstStyle/>
          <a:p>
            <a:pPr algn="l"/>
            <a:r>
              <a:rPr sz="950" b="0" i="0">
                <a:solidFill>
                  <a:srgbClr val="1E293B"/>
                </a:solidFill>
                <a:latin typeface="Calibri"/>
              </a:rPr>
              <a:t>LBG establishes continuous, automated, real-time capture of competitor pricing, product features, excess structures, optional covers and full proposition data across all active PCW channels — creating a persistent, validated, queryable competitive intelligence dataset that is independent of manual collection schedules, individual analyst availability or team bandwidth constraints, and that refreshes with a target data freshness of less than 15 minutes from market change to platform awareness via ENVOY ADK agents and Pub/Sub event streaming</a:t>
            </a:r>
          </a:p>
        </p:txBody>
      </p:sp>
      <p:sp>
        <p:nvSpPr>
          <p:cNvPr id="12" name="Rectangle 11"/>
          <p:cNvSpPr/>
          <p:nvPr/>
        </p:nvSpPr>
        <p:spPr>
          <a:xfrm>
            <a:off x="457200" y="2148840"/>
            <a:ext cx="548640" cy="9601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41448"/>
            <a:ext cx="548640" cy="329184"/>
          </a:xfrm>
          <a:prstGeom prst="rect">
            <a:avLst/>
          </a:prstGeom>
          <a:noFill/>
        </p:spPr>
        <p:txBody>
          <a:bodyPr wrap="square">
            <a:spAutoFit/>
          </a:bodyPr>
          <a:lstStyle/>
          <a:p>
            <a:pPr algn="ctr"/>
            <a:r>
              <a:rPr sz="1300" b="1" i="0">
                <a:solidFill>
                  <a:srgbClr val="FFFFFF"/>
                </a:solidFill>
                <a:latin typeface="Calibri"/>
              </a:rPr>
              <a:t>AND</a:t>
            </a:r>
          </a:p>
        </p:txBody>
      </p:sp>
      <p:sp>
        <p:nvSpPr>
          <p:cNvPr id="14" name="Rectangle 13"/>
          <p:cNvSpPr/>
          <p:nvPr/>
        </p:nvSpPr>
        <p:spPr>
          <a:xfrm>
            <a:off x="1005840" y="214884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240280"/>
            <a:ext cx="10515600" cy="822960"/>
          </a:xfrm>
          <a:prstGeom prst="rect">
            <a:avLst/>
          </a:prstGeom>
          <a:noFill/>
        </p:spPr>
        <p:txBody>
          <a:bodyPr wrap="square">
            <a:spAutoFit/>
          </a:bodyPr>
          <a:lstStyle/>
          <a:p>
            <a:pPr algn="l"/>
            <a:r>
              <a:rPr sz="950" b="0" i="0">
                <a:solidFill>
                  <a:srgbClr val="1E293B"/>
                </a:solidFill>
                <a:latin typeface="Calibri"/>
              </a:rPr>
              <a:t>This intelligence is processed by a layered AI capability stack on LBG's ENVOY platform on Google Cloud — with ML models on Vertex AI evaluated through Pegasus performing pattern detection, trend identification, anomaly flagging and pricing elasticity simulation; Gemini-powered Generative AI synthesising unstructured competitor data, drafting recommendation rationale and generating explainable intelligence briefings; and ENVOY ADK-orchestrated Agentic workflows autonomously coordinating multi-step investigation, simulation and recommendation generation with full observability through ObserveAll and governed routing through Cortex</a:t>
            </a:r>
          </a:p>
        </p:txBody>
      </p:sp>
      <p:sp>
        <p:nvSpPr>
          <p:cNvPr id="16" name="Rectangle 15"/>
          <p:cNvSpPr/>
          <p:nvPr/>
        </p:nvSpPr>
        <p:spPr>
          <a:xfrm>
            <a:off x="457200" y="3200400"/>
            <a:ext cx="5486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493008"/>
            <a:ext cx="548640" cy="329184"/>
          </a:xfrm>
          <a:prstGeom prst="rect">
            <a:avLst/>
          </a:prstGeom>
          <a:noFill/>
        </p:spPr>
        <p:txBody>
          <a:bodyPr wrap="square">
            <a:spAutoFit/>
          </a:bodyPr>
          <a:lstStyle/>
          <a:p>
            <a:pPr algn="ctr"/>
            <a:r>
              <a:rPr sz="1300" b="1" i="0">
                <a:solidFill>
                  <a:srgbClr val="FFFFFF"/>
                </a:solidFill>
                <a:latin typeface="Calibri"/>
              </a:rPr>
              <a:t>THEN</a:t>
            </a:r>
          </a:p>
        </p:txBody>
      </p:sp>
      <p:sp>
        <p:nvSpPr>
          <p:cNvPr id="18" name="Rectangle 17"/>
          <p:cNvSpPr/>
          <p:nvPr/>
        </p:nvSpPr>
        <p:spPr>
          <a:xfrm>
            <a:off x="1005840" y="320040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91840"/>
            <a:ext cx="10515600" cy="822960"/>
          </a:xfrm>
          <a:prstGeom prst="rect">
            <a:avLst/>
          </a:prstGeom>
          <a:noFill/>
        </p:spPr>
        <p:txBody>
          <a:bodyPr wrap="square">
            <a:spAutoFit/>
          </a:bodyPr>
          <a:lstStyle/>
          <a:p>
            <a:pPr algn="l"/>
            <a:r>
              <a:rPr sz="950" b="0" i="0">
                <a:solidFill>
                  <a:srgbClr val="1E293B"/>
                </a:solidFill>
                <a:latin typeface="Calibri"/>
              </a:rPr>
              <a:t>Pricing, product and proposition decision-makers receive timely, structured, prioritised and fully explainable AI-generated recommendations — each accompanied by supporting evidence, confidence scores, simulated commercial impact quantification and human-readable rationale drafted by Gemini — enabling faster, better-informed competitive interventions within a clear, FCA-compliant human governance framework in which every recommendation, approval, modification and rejection is permanently recorded in the ENVOY Audit Framework</a:t>
            </a:r>
          </a:p>
        </p:txBody>
      </p:sp>
      <p:sp>
        <p:nvSpPr>
          <p:cNvPr id="20" name="Rectangle 19"/>
          <p:cNvSpPr/>
          <p:nvPr/>
        </p:nvSpPr>
        <p:spPr>
          <a:xfrm>
            <a:off x="457200" y="4297680"/>
            <a:ext cx="11274552" cy="9601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97680"/>
            <a:ext cx="54864" cy="9601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343400"/>
            <a:ext cx="1097280" cy="228600"/>
          </a:xfrm>
          <a:prstGeom prst="rect">
            <a:avLst/>
          </a:prstGeom>
          <a:noFill/>
        </p:spPr>
        <p:txBody>
          <a:bodyPr wrap="square">
            <a:spAutoFit/>
          </a:bodyPr>
          <a:lstStyle/>
          <a:p>
            <a:pPr algn="l"/>
            <a:r>
              <a:rPr sz="800" b="1" i="0">
                <a:solidFill>
                  <a:srgbClr val="C9A84C"/>
                </a:solidFill>
                <a:latin typeface="Calibri"/>
              </a:rPr>
              <a:t>RESULTING IN</a:t>
            </a:r>
          </a:p>
        </p:txBody>
      </p:sp>
      <p:sp>
        <p:nvSpPr>
          <p:cNvPr id="23" name="TextBox 22"/>
          <p:cNvSpPr txBox="1"/>
          <p:nvPr/>
        </p:nvSpPr>
        <p:spPr>
          <a:xfrm>
            <a:off x="594360" y="4572000"/>
            <a:ext cx="10972800" cy="640080"/>
          </a:xfrm>
          <a:prstGeom prst="rect">
            <a:avLst/>
          </a:prstGeom>
          <a:noFill/>
        </p:spPr>
        <p:txBody>
          <a:bodyPr wrap="square">
            <a:spAutoFit/>
          </a:bodyPr>
          <a:lstStyle/>
          <a:p>
            <a:pPr algn="l"/>
            <a:r>
              <a:rPr sz="950" b="0" i="0">
                <a:solidFill>
                  <a:srgbClr val="FFFFFF"/>
                </a:solidFill>
                <a:latin typeface="Calibri"/>
              </a:rPr>
              <a:t>Improved PCW ranking and new business conversion across Motor, Home and GI product lines  |  Competitor response time reduced from days to hours through continuous ENVOY agent monitoring  |  Significant reduction in analyst FTE effort through intelligent automation  |  A reusable, extensible, enterprise-grade AI platform capability built on ENVOY's governance, evaluation and observability infrastructure</a:t>
            </a:r>
          </a:p>
        </p:txBody>
      </p:sp>
      <p:sp>
        <p:nvSpPr>
          <p:cNvPr id="24" name="Rectangle 23"/>
          <p:cNvSpPr/>
          <p:nvPr/>
        </p:nvSpPr>
        <p:spPr>
          <a:xfrm>
            <a:off x="457200"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513832"/>
            <a:ext cx="3383280" cy="201168"/>
          </a:xfrm>
          <a:prstGeom prst="rect">
            <a:avLst/>
          </a:prstGeom>
          <a:noFill/>
        </p:spPr>
        <p:txBody>
          <a:bodyPr wrap="square">
            <a:spAutoFit/>
          </a:bodyPr>
          <a:lstStyle/>
          <a:p>
            <a:pPr algn="l"/>
            <a:r>
              <a:rPr sz="850" b="1" i="0">
                <a:solidFill>
                  <a:srgbClr val="0D9488"/>
                </a:solidFill>
                <a:latin typeface="Calibri"/>
              </a:rPr>
              <a:t>Speed:</a:t>
            </a:r>
          </a:p>
        </p:txBody>
      </p:sp>
      <p:sp>
        <p:nvSpPr>
          <p:cNvPr id="27" name="TextBox 26"/>
          <p:cNvSpPr txBox="1"/>
          <p:nvPr/>
        </p:nvSpPr>
        <p:spPr>
          <a:xfrm>
            <a:off x="548640" y="5696712"/>
            <a:ext cx="3383280" cy="594360"/>
          </a:xfrm>
          <a:prstGeom prst="rect">
            <a:avLst/>
          </a:prstGeom>
          <a:noFill/>
        </p:spPr>
        <p:txBody>
          <a:bodyPr wrap="square">
            <a:spAutoFit/>
          </a:bodyPr>
          <a:lstStyle/>
          <a:p>
            <a:pPr algn="l"/>
            <a:r>
              <a:rPr sz="900" b="0" i="0">
                <a:solidFill>
                  <a:srgbClr val="475569"/>
                </a:solidFill>
                <a:latin typeface="Calibri"/>
              </a:rPr>
              <a:t>Market signal to governed recommendation delivered in under 2 hours — versus a current process that typically takes multiple days from competitor change to decision-maker awareness and often longer to decision and execution</a:t>
            </a:r>
          </a:p>
        </p:txBody>
      </p:sp>
      <p:sp>
        <p:nvSpPr>
          <p:cNvPr id="28" name="Rectangle 27"/>
          <p:cNvSpPr/>
          <p:nvPr/>
        </p:nvSpPr>
        <p:spPr>
          <a:xfrm>
            <a:off x="4133087"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33087"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7" y="5513832"/>
            <a:ext cx="3383280" cy="201168"/>
          </a:xfrm>
          <a:prstGeom prst="rect">
            <a:avLst/>
          </a:prstGeom>
          <a:noFill/>
        </p:spPr>
        <p:txBody>
          <a:bodyPr wrap="square">
            <a:spAutoFit/>
          </a:bodyPr>
          <a:lstStyle/>
          <a:p>
            <a:pPr algn="l"/>
            <a:r>
              <a:rPr sz="850" b="1" i="0">
                <a:solidFill>
                  <a:srgbClr val="0D9488"/>
                </a:solidFill>
                <a:latin typeface="Calibri"/>
              </a:rPr>
              <a:t>Coverage:</a:t>
            </a:r>
          </a:p>
        </p:txBody>
      </p:sp>
      <p:sp>
        <p:nvSpPr>
          <p:cNvPr id="31" name="TextBox 30"/>
          <p:cNvSpPr txBox="1"/>
          <p:nvPr/>
        </p:nvSpPr>
        <p:spPr>
          <a:xfrm>
            <a:off x="4224527" y="5696712"/>
            <a:ext cx="3383280" cy="594360"/>
          </a:xfrm>
          <a:prstGeom prst="rect">
            <a:avLst/>
          </a:prstGeom>
          <a:noFill/>
        </p:spPr>
        <p:txBody>
          <a:bodyPr wrap="square">
            <a:spAutoFit/>
          </a:bodyPr>
          <a:lstStyle/>
          <a:p>
            <a:pPr algn="l"/>
            <a:r>
              <a:rPr sz="900" b="0" i="0">
                <a:solidFill>
                  <a:srgbClr val="475569"/>
                </a:solidFill>
                <a:latin typeface="Calibri"/>
              </a:rPr>
              <a:t>100% of active PCW channels monitored continuously at sub-15-minute data freshness — versus current periodic, partial manual spot checks that leave significant monitoring gaps and detection delays</a:t>
            </a:r>
          </a:p>
        </p:txBody>
      </p:sp>
      <p:sp>
        <p:nvSpPr>
          <p:cNvPr id="32" name="Rectangle 31"/>
          <p:cNvSpPr/>
          <p:nvPr/>
        </p:nvSpPr>
        <p:spPr>
          <a:xfrm>
            <a:off x="7808974"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08974"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0414" y="5513832"/>
            <a:ext cx="3383280" cy="201168"/>
          </a:xfrm>
          <a:prstGeom prst="rect">
            <a:avLst/>
          </a:prstGeom>
          <a:noFill/>
        </p:spPr>
        <p:txBody>
          <a:bodyPr wrap="square">
            <a:spAutoFit/>
          </a:bodyPr>
          <a:lstStyle/>
          <a:p>
            <a:pPr algn="l"/>
            <a:r>
              <a:rPr sz="850" b="1" i="0">
                <a:solidFill>
                  <a:srgbClr val="0D9488"/>
                </a:solidFill>
                <a:latin typeface="Calibri"/>
              </a:rPr>
              <a:t>Governance:</a:t>
            </a:r>
          </a:p>
        </p:txBody>
      </p:sp>
      <p:sp>
        <p:nvSpPr>
          <p:cNvPr id="35" name="TextBox 34"/>
          <p:cNvSpPr txBox="1"/>
          <p:nvPr/>
        </p:nvSpPr>
        <p:spPr>
          <a:xfrm>
            <a:off x="7900414" y="5696712"/>
            <a:ext cx="3383280" cy="594360"/>
          </a:xfrm>
          <a:prstGeom prst="rect">
            <a:avLst/>
          </a:prstGeom>
          <a:noFill/>
        </p:spPr>
        <p:txBody>
          <a:bodyPr wrap="square">
            <a:spAutoFit/>
          </a:bodyPr>
          <a:lstStyle/>
          <a:p>
            <a:pPr algn="l"/>
            <a:r>
              <a:rPr sz="900" b="0" i="0">
                <a:solidFill>
                  <a:srgbClr val="475569"/>
                </a:solidFill>
                <a:latin typeface="Calibri"/>
              </a:rPr>
              <a:t>100% of AI-generated recommendations reviewed and approved by an authorised human decision-maker before any market change is executed — no autonomous pricing action without human sign-off at every stage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ENVOY PLATFORM</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 LBG's Enterprise Agentic AI Runtime &amp; Governance Platform</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06 / 20</a:t>
            </a:r>
          </a:p>
        </p:txBody>
      </p:sp>
      <p:sp>
        <p:nvSpPr>
          <p:cNvPr id="8" name="Rectangle 7"/>
          <p:cNvSpPr/>
          <p:nvPr/>
        </p:nvSpPr>
        <p:spPr>
          <a:xfrm>
            <a:off x="886968" y="1051560"/>
            <a:ext cx="1874519" cy="3657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097280"/>
            <a:ext cx="1783079" cy="320040"/>
          </a:xfrm>
          <a:prstGeom prst="rect">
            <a:avLst/>
          </a:prstGeom>
          <a:noFill/>
        </p:spPr>
        <p:txBody>
          <a:bodyPr wrap="square">
            <a:spAutoFit/>
          </a:bodyPr>
          <a:lstStyle/>
          <a:p>
            <a:pPr algn="l"/>
            <a:r>
              <a:rPr sz="750" b="1" i="0">
                <a:solidFill>
                  <a:srgbClr val="FFFFFF"/>
                </a:solidFill>
                <a:latin typeface="Calibri"/>
              </a:rPr>
              <a:t>1  AGENT RUNTIME</a:t>
            </a:r>
          </a:p>
        </p:txBody>
      </p:sp>
      <p:sp>
        <p:nvSpPr>
          <p:cNvPr id="10" name="Rectangle 9"/>
          <p:cNvSpPr/>
          <p:nvPr/>
        </p:nvSpPr>
        <p:spPr>
          <a:xfrm>
            <a:off x="2798063" y="1051560"/>
            <a:ext cx="1874519" cy="3657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3783" y="1097280"/>
            <a:ext cx="1783079" cy="320040"/>
          </a:xfrm>
          <a:prstGeom prst="rect">
            <a:avLst/>
          </a:prstGeom>
          <a:noFill/>
        </p:spPr>
        <p:txBody>
          <a:bodyPr wrap="square">
            <a:spAutoFit/>
          </a:bodyPr>
          <a:lstStyle/>
          <a:p>
            <a:pPr algn="l"/>
            <a:r>
              <a:rPr sz="750" b="1" i="0">
                <a:solidFill>
                  <a:srgbClr val="FFFFFF"/>
                </a:solidFill>
                <a:latin typeface="Calibri"/>
              </a:rPr>
              <a:t>2  ORCHESTRATION &amp; COORDINATION</a:t>
            </a:r>
          </a:p>
        </p:txBody>
      </p:sp>
      <p:sp>
        <p:nvSpPr>
          <p:cNvPr id="12" name="Rectangle 11"/>
          <p:cNvSpPr/>
          <p:nvPr/>
        </p:nvSpPr>
        <p:spPr>
          <a:xfrm>
            <a:off x="4709158" y="1051560"/>
            <a:ext cx="187451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8" y="1097280"/>
            <a:ext cx="1783079" cy="320040"/>
          </a:xfrm>
          <a:prstGeom prst="rect">
            <a:avLst/>
          </a:prstGeom>
          <a:noFill/>
        </p:spPr>
        <p:txBody>
          <a:bodyPr wrap="square">
            <a:spAutoFit/>
          </a:bodyPr>
          <a:lstStyle/>
          <a:p>
            <a:pPr algn="l"/>
            <a:r>
              <a:rPr sz="750" b="1" i="0">
                <a:solidFill>
                  <a:srgbClr val="FFFFFF"/>
                </a:solidFill>
                <a:latin typeface="Calibri"/>
              </a:rPr>
              <a:t>3  KNOWLEDGE &amp; CONTEXT</a:t>
            </a:r>
          </a:p>
        </p:txBody>
      </p:sp>
      <p:sp>
        <p:nvSpPr>
          <p:cNvPr id="14" name="Rectangle 13"/>
          <p:cNvSpPr/>
          <p:nvPr/>
        </p:nvSpPr>
        <p:spPr>
          <a:xfrm>
            <a:off x="6620253" y="1051560"/>
            <a:ext cx="1874519"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5973" y="1097280"/>
            <a:ext cx="1783079" cy="320040"/>
          </a:xfrm>
          <a:prstGeom prst="rect">
            <a:avLst/>
          </a:prstGeom>
          <a:noFill/>
        </p:spPr>
        <p:txBody>
          <a:bodyPr wrap="square">
            <a:spAutoFit/>
          </a:bodyPr>
          <a:lstStyle/>
          <a:p>
            <a:pPr algn="l"/>
            <a:r>
              <a:rPr sz="750" b="1" i="0">
                <a:solidFill>
                  <a:srgbClr val="FFFFFF"/>
                </a:solidFill>
                <a:latin typeface="Calibri"/>
              </a:rPr>
              <a:t>4  ENTERPRISE GOVERNANCE &amp; GUARDRAILS</a:t>
            </a:r>
          </a:p>
        </p:txBody>
      </p:sp>
      <p:sp>
        <p:nvSpPr>
          <p:cNvPr id="16" name="Rectangle 15"/>
          <p:cNvSpPr/>
          <p:nvPr/>
        </p:nvSpPr>
        <p:spPr>
          <a:xfrm>
            <a:off x="8531348" y="1051560"/>
            <a:ext cx="1874519"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7068" y="1097280"/>
            <a:ext cx="1783079" cy="320040"/>
          </a:xfrm>
          <a:prstGeom prst="rect">
            <a:avLst/>
          </a:prstGeom>
          <a:noFill/>
        </p:spPr>
        <p:txBody>
          <a:bodyPr wrap="square">
            <a:spAutoFit/>
          </a:bodyPr>
          <a:lstStyle/>
          <a:p>
            <a:pPr algn="l"/>
            <a:r>
              <a:rPr sz="750" b="1" i="0">
                <a:solidFill>
                  <a:srgbClr val="FFFFFF"/>
                </a:solidFill>
                <a:latin typeface="Calibri"/>
              </a:rPr>
              <a:t>5  EVALUATION &amp; QUALITY</a:t>
            </a:r>
          </a:p>
        </p:txBody>
      </p:sp>
      <p:sp>
        <p:nvSpPr>
          <p:cNvPr id="18" name="Rectangle 17"/>
          <p:cNvSpPr/>
          <p:nvPr/>
        </p:nvSpPr>
        <p:spPr>
          <a:xfrm>
            <a:off x="10442443" y="1051560"/>
            <a:ext cx="1874519" cy="3657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8163" y="1097280"/>
            <a:ext cx="1783079" cy="320040"/>
          </a:xfrm>
          <a:prstGeom prst="rect">
            <a:avLst/>
          </a:prstGeom>
          <a:noFill/>
        </p:spPr>
        <p:txBody>
          <a:bodyPr wrap="square">
            <a:spAutoFit/>
          </a:bodyPr>
          <a:lstStyle/>
          <a:p>
            <a:pPr algn="l"/>
            <a:r>
              <a:rPr sz="750" b="1" i="0">
                <a:solidFill>
                  <a:srgbClr val="FFFFFF"/>
                </a:solidFill>
                <a:latin typeface="Calibri"/>
              </a:rPr>
              <a:t>6  OBSERVABILITY &amp; OPERATIONS</a:t>
            </a:r>
          </a:p>
        </p:txBody>
      </p:sp>
      <p:sp>
        <p:nvSpPr>
          <p:cNvPr id="20" name="Rectangle 19"/>
          <p:cNvSpPr/>
          <p:nvPr/>
        </p:nvSpPr>
        <p:spPr>
          <a:xfrm>
            <a:off x="457200" y="1463040"/>
            <a:ext cx="384048" cy="11155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847088"/>
            <a:ext cx="384048" cy="347472"/>
          </a:xfrm>
          <a:prstGeom prst="rect">
            <a:avLst/>
          </a:prstGeom>
          <a:noFill/>
        </p:spPr>
        <p:txBody>
          <a:bodyPr wrap="square">
            <a:spAutoFit/>
          </a:bodyPr>
          <a:lstStyle/>
          <a:p>
            <a:pPr algn="ctr"/>
            <a:r>
              <a:rPr sz="650" b="1" i="0">
                <a:solidFill>
                  <a:srgbClr val="FFFFFF"/>
                </a:solidFill>
                <a:latin typeface="Calibri"/>
              </a:rPr>
              <a:t>AGENTIC</a:t>
            </a:r>
          </a:p>
        </p:txBody>
      </p:sp>
      <p:sp>
        <p:nvSpPr>
          <p:cNvPr id="22" name="Rectangle 21"/>
          <p:cNvSpPr/>
          <p:nvPr/>
        </p:nvSpPr>
        <p:spPr>
          <a:xfrm>
            <a:off x="457200" y="2578608"/>
            <a:ext cx="384048" cy="11155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962656"/>
            <a:ext cx="384048" cy="347472"/>
          </a:xfrm>
          <a:prstGeom prst="rect">
            <a:avLst/>
          </a:prstGeom>
          <a:noFill/>
        </p:spPr>
        <p:txBody>
          <a:bodyPr wrap="square">
            <a:spAutoFit/>
          </a:bodyPr>
          <a:lstStyle/>
          <a:p>
            <a:pPr algn="ctr"/>
            <a:r>
              <a:rPr sz="650" b="1" i="0">
                <a:solidFill>
                  <a:srgbClr val="FFFFFF"/>
                </a:solidFill>
                <a:latin typeface="Calibri"/>
              </a:rPr>
              <a:t>ML MODELS</a:t>
            </a:r>
          </a:p>
        </p:txBody>
      </p:sp>
      <p:sp>
        <p:nvSpPr>
          <p:cNvPr id="24" name="Rectangle 23"/>
          <p:cNvSpPr/>
          <p:nvPr/>
        </p:nvSpPr>
        <p:spPr>
          <a:xfrm>
            <a:off x="457200" y="3694176"/>
            <a:ext cx="384048"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78224"/>
            <a:ext cx="384048" cy="347472"/>
          </a:xfrm>
          <a:prstGeom prst="rect">
            <a:avLst/>
          </a:prstGeom>
          <a:noFill/>
        </p:spPr>
        <p:txBody>
          <a:bodyPr wrap="square">
            <a:spAutoFit/>
          </a:bodyPr>
          <a:lstStyle/>
          <a:p>
            <a:pPr algn="ctr"/>
            <a:r>
              <a:rPr sz="650" b="1" i="0">
                <a:solidFill>
                  <a:srgbClr val="FFFFFF"/>
                </a:solidFill>
                <a:latin typeface="Calibri"/>
              </a:rPr>
              <a:t>GEN AI</a:t>
            </a:r>
          </a:p>
        </p:txBody>
      </p:sp>
      <p:sp>
        <p:nvSpPr>
          <p:cNvPr id="26" name="Rectangle 25"/>
          <p:cNvSpPr/>
          <p:nvPr/>
        </p:nvSpPr>
        <p:spPr>
          <a:xfrm>
            <a:off x="457200" y="4809744"/>
            <a:ext cx="384048" cy="11155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193792"/>
            <a:ext cx="384048" cy="347472"/>
          </a:xfrm>
          <a:prstGeom prst="rect">
            <a:avLst/>
          </a:prstGeom>
          <a:noFill/>
        </p:spPr>
        <p:txBody>
          <a:bodyPr wrap="square">
            <a:spAutoFit/>
          </a:bodyPr>
          <a:lstStyle/>
          <a:p>
            <a:pPr algn="ctr"/>
            <a:r>
              <a:rPr sz="650" b="1" i="0">
                <a:solidFill>
                  <a:srgbClr val="FFFFFF"/>
                </a:solidFill>
                <a:latin typeface="Calibri"/>
              </a:rPr>
              <a:t>PLATFORM SERVICES</a:t>
            </a:r>
          </a:p>
        </p:txBody>
      </p:sp>
      <p:sp>
        <p:nvSpPr>
          <p:cNvPr id="28" name="Rectangle 27"/>
          <p:cNvSpPr/>
          <p:nvPr/>
        </p:nvSpPr>
        <p:spPr>
          <a:xfrm>
            <a:off x="88696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execution engine — manages lifecycle, tool calls &amp; state</a:t>
            </a:r>
          </a:p>
          <a:p>
            <a:pPr>
              <a:spcBef>
                <a:spcPts val="100"/>
              </a:spcBef>
            </a:pPr>
            <a:r>
              <a:rPr sz="750">
                <a:solidFill>
                  <a:srgbClr val="475569"/>
                </a:solidFill>
                <a:latin typeface="Calibri"/>
              </a:rPr>
              <a:t>Session &amp; state management — persists context across workflows</a:t>
            </a:r>
          </a:p>
          <a:p>
            <a:pPr>
              <a:spcBef>
                <a:spcPts val="100"/>
              </a:spcBef>
            </a:pPr>
            <a:r>
              <a:rPr sz="750">
                <a:solidFill>
                  <a:srgbClr val="475569"/>
                </a:solidFill>
                <a:latin typeface="Calibri"/>
              </a:rPr>
              <a:t>Memory &amp; tool execution — retrieves agent memory &amp; tools</a:t>
            </a:r>
          </a:p>
          <a:p>
            <a:pPr>
              <a:spcBef>
                <a:spcPts val="100"/>
              </a:spcBef>
            </a:pPr>
            <a:r>
              <a:rPr sz="750">
                <a:solidFill>
                  <a:srgbClr val="475569"/>
                </a:solidFill>
                <a:latin typeface="Calibri"/>
              </a:rPr>
              <a:t>Multi-agent (A2A) execution — coordinates agent collaboration</a:t>
            </a:r>
          </a:p>
          <a:p>
            <a:pPr>
              <a:spcBef>
                <a:spcPts val="100"/>
              </a:spcBef>
            </a:pPr>
            <a:r>
              <a:rPr sz="750">
                <a:solidFill>
                  <a:srgbClr val="475569"/>
                </a:solidFill>
                <a:latin typeface="Calibri"/>
              </a:rPr>
              <a:t>MCP tool integration — connects to external data sources</a:t>
            </a:r>
          </a:p>
        </p:txBody>
      </p:sp>
      <p:sp>
        <p:nvSpPr>
          <p:cNvPr id="30" name="Rectangle 29"/>
          <p:cNvSpPr/>
          <p:nvPr/>
        </p:nvSpPr>
        <p:spPr>
          <a:xfrm>
            <a:off x="279806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71215" y="1517904"/>
            <a:ext cx="1764791" cy="1024128"/>
          </a:xfrm>
          <a:prstGeom prst="rect">
            <a:avLst/>
          </a:prstGeom>
          <a:noFill/>
        </p:spPr>
        <p:txBody>
          <a:bodyPr wrap="square">
            <a:spAutoFit/>
          </a:bodyPr>
          <a:lstStyle/>
          <a:p>
            <a:pPr>
              <a:spcBef>
                <a:spcPts val="100"/>
              </a:spcBef>
            </a:pPr>
            <a:r>
              <a:rPr sz="750">
                <a:solidFill>
                  <a:srgbClr val="475569"/>
                </a:solidFill>
                <a:latin typeface="Calibri"/>
              </a:rPr>
              <a:t>Workflow orchestration — coordinates multi-step pipelines</a:t>
            </a:r>
          </a:p>
          <a:p>
            <a:pPr>
              <a:spcBef>
                <a:spcPts val="100"/>
              </a:spcBef>
            </a:pPr>
            <a:r>
              <a:rPr sz="750">
                <a:solidFill>
                  <a:srgbClr val="475569"/>
                </a:solidFill>
                <a:latin typeface="Calibri"/>
              </a:rPr>
              <a:t>Agent coordination (A2A) — manages inter-agent communication</a:t>
            </a:r>
          </a:p>
          <a:p>
            <a:pPr>
              <a:spcBef>
                <a:spcPts val="100"/>
              </a:spcBef>
            </a:pPr>
            <a:r>
              <a:rPr sz="750">
                <a:solidFill>
                  <a:srgbClr val="475569"/>
                </a:solidFill>
                <a:latin typeface="Calibri"/>
              </a:rPr>
              <a:t>Event-driven execution — triggers from Pub/Sub market events</a:t>
            </a:r>
          </a:p>
          <a:p>
            <a:pPr>
              <a:spcBef>
                <a:spcPts val="100"/>
              </a:spcBef>
            </a:pPr>
            <a:r>
              <a:rPr sz="750">
                <a:solidFill>
                  <a:srgbClr val="475569"/>
                </a:solidFill>
                <a:latin typeface="Calibri"/>
              </a:rPr>
              <a:t>Long-running process management — workflows spanning hours</a:t>
            </a:r>
          </a:p>
          <a:p>
            <a:pPr>
              <a:spcBef>
                <a:spcPts val="100"/>
              </a:spcBef>
            </a:pPr>
            <a:r>
              <a:rPr sz="750">
                <a:solidFill>
                  <a:srgbClr val="475569"/>
                </a:solidFill>
                <a:latin typeface="Calibri"/>
              </a:rPr>
              <a:t>Human-in-the-loop triggers — escalates to Pega at governance gates</a:t>
            </a:r>
          </a:p>
          <a:p>
            <a:pPr>
              <a:spcBef>
                <a:spcPts val="100"/>
              </a:spcBef>
            </a:pPr>
            <a:r>
              <a:rPr sz="750">
                <a:solidFill>
                  <a:srgbClr val="475569"/>
                </a:solidFill>
                <a:latin typeface="Calibri"/>
              </a:rPr>
              <a:t>Escalation &amp; routing — exception handling and human paths</a:t>
            </a:r>
          </a:p>
        </p:txBody>
      </p:sp>
      <p:sp>
        <p:nvSpPr>
          <p:cNvPr id="32" name="Rectangle 31"/>
          <p:cNvSpPr/>
          <p:nvPr/>
        </p:nvSpPr>
        <p:spPr>
          <a:xfrm>
            <a:off x="470915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82310" y="1517904"/>
            <a:ext cx="1764791" cy="1024128"/>
          </a:xfrm>
          <a:prstGeom prst="rect">
            <a:avLst/>
          </a:prstGeom>
          <a:noFill/>
        </p:spPr>
        <p:txBody>
          <a:bodyPr wrap="square">
            <a:spAutoFit/>
          </a:bodyPr>
          <a:lstStyle/>
          <a:p>
            <a:pPr>
              <a:spcBef>
                <a:spcPts val="100"/>
              </a:spcBef>
            </a:pPr>
            <a:r>
              <a:rPr sz="750">
                <a:solidFill>
                  <a:srgbClr val="475569"/>
                </a:solidFill>
                <a:latin typeface="Calibri"/>
              </a:rPr>
              <a:t>Context assembly — builds rich context packages per agent call</a:t>
            </a:r>
          </a:p>
          <a:p>
            <a:pPr>
              <a:spcBef>
                <a:spcPts val="100"/>
              </a:spcBef>
            </a:pPr>
            <a:r>
              <a:rPr sz="750">
                <a:solidFill>
                  <a:srgbClr val="475569"/>
                </a:solidFill>
                <a:latin typeface="Calibri"/>
              </a:rPr>
              <a:t>RAG orchestration — retrieves ranked knowledge from Vector Search</a:t>
            </a:r>
          </a:p>
          <a:p>
            <a:pPr>
              <a:spcBef>
                <a:spcPts val="100"/>
              </a:spcBef>
            </a:pPr>
            <a:r>
              <a:rPr sz="750">
                <a:solidFill>
                  <a:srgbClr val="475569"/>
                </a:solidFill>
                <a:latin typeface="Calibri"/>
              </a:rPr>
              <a:t>Cross-agent context sharing — passes intelligence via Session Store</a:t>
            </a:r>
          </a:p>
          <a:p>
            <a:pPr>
              <a:spcBef>
                <a:spcPts val="100"/>
              </a:spcBef>
            </a:pPr>
            <a:r>
              <a:rPr sz="750">
                <a:solidFill>
                  <a:srgbClr val="475569"/>
                </a:solidFill>
                <a:latin typeface="Calibri"/>
              </a:rPr>
              <a:t>Knowledge retrieval — queries competitor intelligence in real time</a:t>
            </a:r>
          </a:p>
          <a:p>
            <a:pPr>
              <a:spcBef>
                <a:spcPts val="100"/>
              </a:spcBef>
            </a:pPr>
            <a:r>
              <a:rPr sz="750">
                <a:solidFill>
                  <a:srgbClr val="475569"/>
                </a:solidFill>
                <a:latin typeface="Calibri"/>
              </a:rPr>
              <a:t>Policy &amp; rule retrieval — accesses pricing rules from Policy Registry</a:t>
            </a:r>
          </a:p>
          <a:p>
            <a:pPr>
              <a:spcBef>
                <a:spcPts val="100"/>
              </a:spcBef>
            </a:pPr>
            <a:r>
              <a:rPr sz="750">
                <a:solidFill>
                  <a:srgbClr val="475569"/>
                </a:solidFill>
                <a:latin typeface="Calibri"/>
              </a:rPr>
              <a:t>MCP server access — connects to PCW data source MCP servers</a:t>
            </a:r>
          </a:p>
        </p:txBody>
      </p:sp>
      <p:sp>
        <p:nvSpPr>
          <p:cNvPr id="34" name="Rectangle 33"/>
          <p:cNvSpPr/>
          <p:nvPr/>
        </p:nvSpPr>
        <p:spPr>
          <a:xfrm>
            <a:off x="662025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5" y="1517904"/>
            <a:ext cx="1764791" cy="1024128"/>
          </a:xfrm>
          <a:prstGeom prst="rect">
            <a:avLst/>
          </a:prstGeom>
          <a:noFill/>
        </p:spPr>
        <p:txBody>
          <a:bodyPr wrap="square">
            <a:spAutoFit/>
          </a:bodyPr>
          <a:lstStyle/>
          <a:p>
            <a:pPr>
              <a:spcBef>
                <a:spcPts val="100"/>
              </a:spcBef>
            </a:pPr>
            <a:r>
              <a:rPr sz="750">
                <a:solidFill>
                  <a:srgbClr val="475569"/>
                </a:solidFill>
                <a:latin typeface="Calibri"/>
              </a:rPr>
              <a:t>Enterprise guardrails — enforces policy on all agent inputs/outputs</a:t>
            </a:r>
          </a:p>
          <a:p>
            <a:pPr>
              <a:spcBef>
                <a:spcPts val="100"/>
              </a:spcBef>
            </a:pPr>
            <a:r>
              <a:rPr sz="750">
                <a:solidFill>
                  <a:srgbClr val="475569"/>
                </a:solidFill>
                <a:latin typeface="Calibri"/>
              </a:rPr>
              <a:t>PII masking &amp; DLP — detects &amp; redacts personal data via GCP DLP</a:t>
            </a:r>
          </a:p>
          <a:p>
            <a:pPr>
              <a:spcBef>
                <a:spcPts val="100"/>
              </a:spcBef>
            </a:pPr>
            <a:r>
              <a:rPr sz="750">
                <a:solidFill>
                  <a:srgbClr val="475569"/>
                </a:solidFill>
                <a:latin typeface="Calibri"/>
              </a:rPr>
              <a:t>Prompt protection — prevents injection attacks via Model Armor</a:t>
            </a:r>
          </a:p>
          <a:p>
            <a:pPr>
              <a:spcBef>
                <a:spcPts val="100"/>
              </a:spcBef>
            </a:pPr>
            <a:r>
              <a:rPr sz="750">
                <a:solidFill>
                  <a:srgbClr val="475569"/>
                </a:solidFill>
                <a:latin typeface="Calibri"/>
              </a:rPr>
              <a:t>Model routing (Cortex) — routes all model calls through control plane</a:t>
            </a:r>
          </a:p>
          <a:p>
            <a:pPr>
              <a:spcBef>
                <a:spcPts val="100"/>
              </a:spcBef>
            </a:pPr>
            <a:r>
              <a:rPr sz="750">
                <a:solidFill>
                  <a:srgbClr val="475569"/>
                </a:solidFill>
                <a:latin typeface="Calibri"/>
              </a:rPr>
              <a:t>Output validation — validates agent outputs against defined schemas</a:t>
            </a:r>
          </a:p>
          <a:p>
            <a:pPr>
              <a:spcBef>
                <a:spcPts val="100"/>
              </a:spcBef>
            </a:pPr>
            <a:r>
              <a:rPr sz="750">
                <a:solidFill>
                  <a:srgbClr val="475569"/>
                </a:solidFill>
                <a:latin typeface="Calibri"/>
              </a:rPr>
              <a:t>Compliance controls — enforces regulatory rules on all outputs</a:t>
            </a:r>
          </a:p>
        </p:txBody>
      </p:sp>
      <p:sp>
        <p:nvSpPr>
          <p:cNvPr id="36" name="Rectangle 35"/>
          <p:cNvSpPr/>
          <p:nvPr/>
        </p:nvSpPr>
        <p:spPr>
          <a:xfrm>
            <a:off x="853134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04500" y="1517904"/>
            <a:ext cx="1764791" cy="1024128"/>
          </a:xfrm>
          <a:prstGeom prst="rect">
            <a:avLst/>
          </a:prstGeom>
          <a:noFill/>
        </p:spPr>
        <p:txBody>
          <a:bodyPr wrap="square">
            <a:spAutoFit/>
          </a:bodyPr>
          <a:lstStyle/>
          <a:p>
            <a:pPr>
              <a:spcBef>
                <a:spcPts val="100"/>
              </a:spcBef>
            </a:pPr>
            <a:r>
              <a:rPr sz="750">
                <a:solidFill>
                  <a:srgbClr val="475569"/>
                </a:solidFill>
                <a:latin typeface="Calibri"/>
              </a:rPr>
              <a:t>Prompt evaluation — assesses prompt quality over time</a:t>
            </a:r>
          </a:p>
          <a:p>
            <a:pPr>
              <a:spcBef>
                <a:spcPts val="100"/>
              </a:spcBef>
            </a:pPr>
            <a:r>
              <a:rPr sz="750">
                <a:solidFill>
                  <a:srgbClr val="475569"/>
                </a:solidFill>
                <a:latin typeface="Calibri"/>
              </a:rPr>
              <a:t>Agent &amp; workflow evaluation — end-to-end perf via Pegasus</a:t>
            </a:r>
          </a:p>
          <a:p>
            <a:pPr>
              <a:spcBef>
                <a:spcPts val="100"/>
              </a:spcBef>
            </a:pPr>
            <a:r>
              <a:rPr sz="750">
                <a:solidFill>
                  <a:srgbClr val="475569"/>
                </a:solidFill>
                <a:latin typeface="Calibri"/>
              </a:rPr>
              <a:t>Hallucination detection — identifies unsupported Gemini claims</a:t>
            </a:r>
          </a:p>
          <a:p>
            <a:pPr>
              <a:spcBef>
                <a:spcPts val="100"/>
              </a:spcBef>
            </a:pPr>
            <a:r>
              <a:rPr sz="750">
                <a:solidFill>
                  <a:srgbClr val="475569"/>
                </a:solidFill>
                <a:latin typeface="Calibri"/>
              </a:rPr>
              <a:t>Safety &amp; bias checks — screens outputs for unsafe content</a:t>
            </a:r>
          </a:p>
          <a:p>
            <a:pPr>
              <a:spcBef>
                <a:spcPts val="100"/>
              </a:spcBef>
            </a:pPr>
            <a:r>
              <a:rPr sz="750">
                <a:solidFill>
                  <a:srgbClr val="475569"/>
                </a:solidFill>
                <a:latin typeface="Calibri"/>
              </a:rPr>
              <a:t>Regression testing — validates behaviour against golden datasets</a:t>
            </a:r>
          </a:p>
          <a:p>
            <a:pPr>
              <a:spcBef>
                <a:spcPts val="100"/>
              </a:spcBef>
            </a:pPr>
            <a:r>
              <a:rPr sz="750">
                <a:solidFill>
                  <a:srgbClr val="475569"/>
                </a:solidFill>
                <a:latin typeface="Calibri"/>
              </a:rPr>
              <a:t>Golden dataset testing — curated test sets for quality assurance</a:t>
            </a:r>
          </a:p>
        </p:txBody>
      </p:sp>
      <p:sp>
        <p:nvSpPr>
          <p:cNvPr id="38" name="Rectangle 37"/>
          <p:cNvSpPr/>
          <p:nvPr/>
        </p:nvSpPr>
        <p:spPr>
          <a:xfrm>
            <a:off x="1044244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595"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traces &amp; logs — full execution traces in Cloud Logging</a:t>
            </a:r>
          </a:p>
          <a:p>
            <a:pPr>
              <a:spcBef>
                <a:spcPts val="100"/>
              </a:spcBef>
            </a:pPr>
            <a:r>
              <a:rPr sz="750">
                <a:solidFill>
                  <a:srgbClr val="475569"/>
                </a:solidFill>
                <a:latin typeface="Calibri"/>
              </a:rPr>
              <a:t>Tool &amp; prompt visibility — records all tool calls for auditability</a:t>
            </a:r>
          </a:p>
          <a:p>
            <a:pPr>
              <a:spcBef>
                <a:spcPts val="100"/>
              </a:spcBef>
            </a:pPr>
            <a:r>
              <a:rPr sz="750">
                <a:solidFill>
                  <a:srgbClr val="475569"/>
                </a:solidFill>
                <a:latin typeface="Calibri"/>
              </a:rPr>
              <a:t>Cost &amp; latency monitoring — tracks token usage via ObserveAll</a:t>
            </a:r>
          </a:p>
          <a:p>
            <a:pPr>
              <a:spcBef>
                <a:spcPts val="100"/>
              </a:spcBef>
            </a:pPr>
            <a:r>
              <a:rPr sz="750">
                <a:solidFill>
                  <a:srgbClr val="475569"/>
                </a:solidFill>
                <a:latin typeface="Calibri"/>
              </a:rPr>
              <a:t>Drift &amp; anomaly detection — detects performance degradation</a:t>
            </a:r>
          </a:p>
          <a:p>
            <a:pPr>
              <a:spcBef>
                <a:spcPts val="100"/>
              </a:spcBef>
            </a:pPr>
            <a:r>
              <a:rPr sz="750">
                <a:solidFill>
                  <a:srgbClr val="475569"/>
                </a:solidFill>
                <a:latin typeface="Calibri"/>
              </a:rPr>
              <a:t>Audit trails &amp; alerts — alerts for policy violations &amp; degradation</a:t>
            </a:r>
          </a:p>
          <a:p>
            <a:pPr>
              <a:spcBef>
                <a:spcPts val="100"/>
              </a:spcBef>
            </a:pPr>
            <a:r>
              <a:rPr sz="750">
                <a:solidFill>
                  <a:srgbClr val="475569"/>
                </a:solidFill>
                <a:latin typeface="Calibri"/>
              </a:rPr>
              <a:t>SLA &amp; reliability monitoring — platform availability &amp; SLA compliance</a:t>
            </a:r>
          </a:p>
        </p:txBody>
      </p:sp>
      <p:sp>
        <p:nvSpPr>
          <p:cNvPr id="40" name="Rectangle 39"/>
          <p:cNvSpPr/>
          <p:nvPr/>
        </p:nvSpPr>
        <p:spPr>
          <a:xfrm>
            <a:off x="88696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2633472"/>
            <a:ext cx="1764791" cy="1024128"/>
          </a:xfrm>
          <a:prstGeom prst="rect">
            <a:avLst/>
          </a:prstGeom>
          <a:noFill/>
        </p:spPr>
        <p:txBody>
          <a:bodyPr wrap="square">
            <a:spAutoFit/>
          </a:bodyPr>
          <a:lstStyle/>
          <a:p>
            <a:pPr>
              <a:spcBef>
                <a:spcPts val="100"/>
              </a:spcBef>
            </a:pPr>
            <a:r>
              <a:rPr sz="750">
                <a:solidFill>
                  <a:srgbClr val="475569"/>
                </a:solidFill>
                <a:latin typeface="Calibri"/>
              </a:rPr>
              <a:t>Memory ranking — scores agent memory entries by relevance</a:t>
            </a:r>
          </a:p>
          <a:p>
            <a:pPr>
              <a:spcBef>
                <a:spcPts val="100"/>
              </a:spcBef>
            </a:pPr>
            <a:r>
              <a:rPr sz="750">
                <a:solidFill>
                  <a:srgbClr val="475569"/>
                </a:solidFill>
                <a:latin typeface="Calibri"/>
              </a:rPr>
              <a:t>Intent classification — classifies requests and market signals</a:t>
            </a:r>
          </a:p>
          <a:p>
            <a:pPr>
              <a:spcBef>
                <a:spcPts val="100"/>
              </a:spcBef>
            </a:pPr>
            <a:r>
              <a:rPr sz="750">
                <a:solidFill>
                  <a:srgbClr val="475569"/>
                </a:solidFill>
                <a:latin typeface="Calibri"/>
              </a:rPr>
              <a:t>Tool recommendation — selects optimal tools per agent task</a:t>
            </a:r>
          </a:p>
          <a:p>
            <a:pPr>
              <a:spcBef>
                <a:spcPts val="100"/>
              </a:spcBef>
            </a:pPr>
            <a:r>
              <a:rPr sz="750">
                <a:solidFill>
                  <a:srgbClr val="475569"/>
                </a:solidFill>
                <a:latin typeface="Calibri"/>
              </a:rPr>
              <a:t>Session summarisation — compresses sessions to concise summaries</a:t>
            </a:r>
          </a:p>
        </p:txBody>
      </p:sp>
      <p:sp>
        <p:nvSpPr>
          <p:cNvPr id="42" name="Rectangle 41"/>
          <p:cNvSpPr/>
          <p:nvPr/>
        </p:nvSpPr>
        <p:spPr>
          <a:xfrm>
            <a:off x="279806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71215" y="2633472"/>
            <a:ext cx="1764791" cy="1024128"/>
          </a:xfrm>
          <a:prstGeom prst="rect">
            <a:avLst/>
          </a:prstGeom>
          <a:noFill/>
        </p:spPr>
        <p:txBody>
          <a:bodyPr wrap="square">
            <a:spAutoFit/>
          </a:bodyPr>
          <a:lstStyle/>
          <a:p>
            <a:pPr>
              <a:spcBef>
                <a:spcPts val="100"/>
              </a:spcBef>
            </a:pPr>
            <a:r>
              <a:rPr sz="750">
                <a:solidFill>
                  <a:srgbClr val="475569"/>
                </a:solidFill>
                <a:latin typeface="Calibri"/>
              </a:rPr>
              <a:t>Routing prediction — predicts optimal workflow path from input</a:t>
            </a:r>
          </a:p>
          <a:p>
            <a:pPr>
              <a:spcBef>
                <a:spcPts val="100"/>
              </a:spcBef>
            </a:pPr>
            <a:r>
              <a:rPr sz="750">
                <a:solidFill>
                  <a:srgbClr val="475569"/>
                </a:solidFill>
                <a:latin typeface="Calibri"/>
              </a:rPr>
              <a:t>Next best action — recommends next agent action in workflows</a:t>
            </a:r>
          </a:p>
          <a:p>
            <a:pPr>
              <a:spcBef>
                <a:spcPts val="100"/>
              </a:spcBef>
            </a:pPr>
            <a:r>
              <a:rPr sz="750">
                <a:solidFill>
                  <a:srgbClr val="475569"/>
                </a:solidFill>
                <a:latin typeface="Calibri"/>
              </a:rPr>
              <a:t>SLA breach prediction — forecasts governance SLA compliance</a:t>
            </a:r>
          </a:p>
          <a:p>
            <a:pPr>
              <a:spcBef>
                <a:spcPts val="100"/>
              </a:spcBef>
            </a:pPr>
            <a:r>
              <a:rPr sz="750">
                <a:solidFill>
                  <a:srgbClr val="475569"/>
                </a:solidFill>
                <a:latin typeface="Calibri"/>
              </a:rPr>
              <a:t>Queue prioritisation — prioritises by commercial urgency</a:t>
            </a:r>
          </a:p>
        </p:txBody>
      </p:sp>
      <p:sp>
        <p:nvSpPr>
          <p:cNvPr id="44" name="Rectangle 43"/>
          <p:cNvSpPr/>
          <p:nvPr/>
        </p:nvSpPr>
        <p:spPr>
          <a:xfrm>
            <a:off x="470915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82310" y="2633472"/>
            <a:ext cx="1764791" cy="1024128"/>
          </a:xfrm>
          <a:prstGeom prst="rect">
            <a:avLst/>
          </a:prstGeom>
          <a:noFill/>
        </p:spPr>
        <p:txBody>
          <a:bodyPr wrap="square">
            <a:spAutoFit/>
          </a:bodyPr>
          <a:lstStyle/>
          <a:p>
            <a:pPr>
              <a:spcBef>
                <a:spcPts val="100"/>
              </a:spcBef>
            </a:pPr>
            <a:r>
              <a:rPr sz="750">
                <a:solidFill>
                  <a:srgbClr val="475569"/>
                </a:solidFill>
                <a:latin typeface="Calibri"/>
              </a:rPr>
              <a:t>Embedding generation — dense vector representations of competitor data</a:t>
            </a:r>
          </a:p>
          <a:p>
            <a:pPr>
              <a:spcBef>
                <a:spcPts val="100"/>
              </a:spcBef>
            </a:pPr>
            <a:r>
              <a:rPr sz="750">
                <a:solidFill>
                  <a:srgbClr val="475569"/>
                </a:solidFill>
                <a:latin typeface="Calibri"/>
              </a:rPr>
              <a:t>Retrieval ranking — scores retrieved knowledge by relevance</a:t>
            </a:r>
          </a:p>
          <a:p>
            <a:pPr>
              <a:spcBef>
                <a:spcPts val="100"/>
              </a:spcBef>
            </a:pPr>
            <a:r>
              <a:rPr sz="750">
                <a:solidFill>
                  <a:srgbClr val="475569"/>
                </a:solidFill>
                <a:latin typeface="Calibri"/>
              </a:rPr>
              <a:t>Semantic similarity — measures distance between market signals</a:t>
            </a:r>
          </a:p>
          <a:p>
            <a:pPr>
              <a:spcBef>
                <a:spcPts val="100"/>
              </a:spcBef>
            </a:pPr>
            <a:r>
              <a:rPr sz="750">
                <a:solidFill>
                  <a:srgbClr val="475569"/>
                </a:solidFill>
                <a:latin typeface="Calibri"/>
              </a:rPr>
              <a:t>Context relevance scoring — rates retrieved context relevance</a:t>
            </a:r>
          </a:p>
        </p:txBody>
      </p:sp>
      <p:sp>
        <p:nvSpPr>
          <p:cNvPr id="46" name="Rectangle 45"/>
          <p:cNvSpPr/>
          <p:nvPr/>
        </p:nvSpPr>
        <p:spPr>
          <a:xfrm>
            <a:off x="662025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3405" y="2633472"/>
            <a:ext cx="1764791" cy="1024128"/>
          </a:xfrm>
          <a:prstGeom prst="rect">
            <a:avLst/>
          </a:prstGeom>
          <a:noFill/>
        </p:spPr>
        <p:txBody>
          <a:bodyPr wrap="square">
            <a:spAutoFit/>
          </a:bodyPr>
          <a:lstStyle/>
          <a:p>
            <a:pPr>
              <a:spcBef>
                <a:spcPts val="100"/>
              </a:spcBef>
            </a:pPr>
            <a:r>
              <a:rPr sz="750">
                <a:solidFill>
                  <a:srgbClr val="475569"/>
                </a:solidFill>
                <a:latin typeface="Calibri"/>
              </a:rPr>
              <a:t>Toxicity detection — classifies outputs for policy violations</a:t>
            </a:r>
          </a:p>
          <a:p>
            <a:pPr>
              <a:spcBef>
                <a:spcPts val="100"/>
              </a:spcBef>
            </a:pPr>
            <a:r>
              <a:rPr sz="750">
                <a:solidFill>
                  <a:srgbClr val="475569"/>
                </a:solidFill>
                <a:latin typeface="Calibri"/>
              </a:rPr>
              <a:t>PII detection (ML) — identifies personal data in unstructured text</a:t>
            </a:r>
          </a:p>
          <a:p>
            <a:pPr>
              <a:spcBef>
                <a:spcPts val="100"/>
              </a:spcBef>
            </a:pPr>
            <a:r>
              <a:rPr sz="750">
                <a:solidFill>
                  <a:srgbClr val="475569"/>
                </a:solidFill>
                <a:latin typeface="Calibri"/>
              </a:rPr>
              <a:t>Policy violation scoring — quantifies output compliance risk</a:t>
            </a:r>
          </a:p>
          <a:p>
            <a:pPr>
              <a:spcBef>
                <a:spcPts val="100"/>
              </a:spcBef>
            </a:pPr>
            <a:r>
              <a:rPr sz="750">
                <a:solidFill>
                  <a:srgbClr val="475569"/>
                </a:solidFill>
                <a:latin typeface="Calibri"/>
              </a:rPr>
              <a:t>Risk &amp; confidence scoring — probability scores per recommendation</a:t>
            </a:r>
          </a:p>
        </p:txBody>
      </p:sp>
      <p:sp>
        <p:nvSpPr>
          <p:cNvPr id="48" name="Rectangle 47"/>
          <p:cNvSpPr/>
          <p:nvPr/>
        </p:nvSpPr>
        <p:spPr>
          <a:xfrm>
            <a:off x="853134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04500" y="2633472"/>
            <a:ext cx="1764791" cy="1024128"/>
          </a:xfrm>
          <a:prstGeom prst="rect">
            <a:avLst/>
          </a:prstGeom>
          <a:noFill/>
        </p:spPr>
        <p:txBody>
          <a:bodyPr wrap="square">
            <a:spAutoFit/>
          </a:bodyPr>
          <a:lstStyle/>
          <a:p>
            <a:pPr>
              <a:spcBef>
                <a:spcPts val="100"/>
              </a:spcBef>
            </a:pPr>
            <a:r>
              <a:rPr sz="750">
                <a:solidFill>
                  <a:srgbClr val="475569"/>
                </a:solidFill>
                <a:latin typeface="Calibri"/>
              </a:rPr>
              <a:t>Quality scoring — rates recommendation quality dimensions</a:t>
            </a:r>
          </a:p>
          <a:p>
            <a:pPr>
              <a:spcBef>
                <a:spcPts val="100"/>
              </a:spcBef>
            </a:pPr>
            <a:r>
              <a:rPr sz="750">
                <a:solidFill>
                  <a:srgbClr val="475569"/>
                </a:solidFill>
                <a:latin typeface="Calibri"/>
              </a:rPr>
              <a:t>Groundedness scoring — measures data-grounding of outputs</a:t>
            </a:r>
          </a:p>
          <a:p>
            <a:pPr>
              <a:spcBef>
                <a:spcPts val="100"/>
              </a:spcBef>
            </a:pPr>
            <a:r>
              <a:rPr sz="750">
                <a:solidFill>
                  <a:srgbClr val="475569"/>
                </a:solidFill>
                <a:latin typeface="Calibri"/>
              </a:rPr>
              <a:t>Faithfulness scoring — evaluates output faithfulness to evidence</a:t>
            </a:r>
          </a:p>
          <a:p>
            <a:pPr>
              <a:spcBef>
                <a:spcPts val="100"/>
              </a:spcBef>
            </a:pPr>
            <a:r>
              <a:rPr sz="750">
                <a:solidFill>
                  <a:srgbClr val="475569"/>
                </a:solidFill>
                <a:latin typeface="Calibri"/>
              </a:rPr>
              <a:t>Model drift detection — identifies statistical drift over time</a:t>
            </a:r>
          </a:p>
        </p:txBody>
      </p:sp>
      <p:sp>
        <p:nvSpPr>
          <p:cNvPr id="50" name="Rectangle 49"/>
          <p:cNvSpPr/>
          <p:nvPr/>
        </p:nvSpPr>
        <p:spPr>
          <a:xfrm>
            <a:off x="1044244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595" y="2633472"/>
            <a:ext cx="1764791" cy="1024128"/>
          </a:xfrm>
          <a:prstGeom prst="rect">
            <a:avLst/>
          </a:prstGeom>
          <a:noFill/>
        </p:spPr>
        <p:txBody>
          <a:bodyPr wrap="square">
            <a:spAutoFit/>
          </a:bodyPr>
          <a:lstStyle/>
          <a:p>
            <a:pPr>
              <a:spcBef>
                <a:spcPts val="100"/>
              </a:spcBef>
            </a:pPr>
            <a:r>
              <a:rPr sz="750">
                <a:solidFill>
                  <a:srgbClr val="475569"/>
                </a:solidFill>
                <a:latin typeface="Calibri"/>
              </a:rPr>
              <a:t>Anomaly detection — unusual patterns in agent performance</a:t>
            </a:r>
          </a:p>
          <a:p>
            <a:pPr>
              <a:spcBef>
                <a:spcPts val="100"/>
              </a:spcBef>
            </a:pPr>
            <a:r>
              <a:rPr sz="750">
                <a:solidFill>
                  <a:srgbClr val="475569"/>
                </a:solidFill>
                <a:latin typeface="Calibri"/>
              </a:rPr>
              <a:t>Capacity prediction — forecasts infrastructure requirements</a:t>
            </a:r>
          </a:p>
          <a:p>
            <a:pPr>
              <a:spcBef>
                <a:spcPts val="100"/>
              </a:spcBef>
            </a:pPr>
            <a:r>
              <a:rPr sz="750">
                <a:solidFill>
                  <a:srgbClr val="475569"/>
                </a:solidFill>
                <a:latin typeface="Calibri"/>
              </a:rPr>
              <a:t>Failure prediction — predicts component failures proactively</a:t>
            </a:r>
          </a:p>
          <a:p>
            <a:pPr>
              <a:spcBef>
                <a:spcPts val="100"/>
              </a:spcBef>
            </a:pPr>
            <a:r>
              <a:rPr sz="750">
                <a:solidFill>
                  <a:srgbClr val="475569"/>
                </a:solidFill>
                <a:latin typeface="Calibri"/>
              </a:rPr>
              <a:t>Usage forecasting — models future platform cost and usage</a:t>
            </a:r>
          </a:p>
        </p:txBody>
      </p:sp>
      <p:sp>
        <p:nvSpPr>
          <p:cNvPr id="52" name="Rectangle 51"/>
          <p:cNvSpPr/>
          <p:nvPr/>
        </p:nvSpPr>
        <p:spPr>
          <a:xfrm>
            <a:off x="88696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0120" y="3749040"/>
            <a:ext cx="1764791" cy="1024128"/>
          </a:xfrm>
          <a:prstGeom prst="rect">
            <a:avLst/>
          </a:prstGeom>
          <a:noFill/>
        </p:spPr>
        <p:txBody>
          <a:bodyPr wrap="square">
            <a:spAutoFit/>
          </a:bodyPr>
          <a:lstStyle/>
          <a:p>
            <a:pPr>
              <a:spcBef>
                <a:spcPts val="100"/>
              </a:spcBef>
            </a:pPr>
            <a:r>
              <a:rPr sz="750">
                <a:solidFill>
                  <a:srgbClr val="475569"/>
                </a:solidFill>
                <a:latin typeface="Calibri"/>
              </a:rPr>
              <a:t>Agent reasoning — structured reasoning chains for agent decisions</a:t>
            </a:r>
          </a:p>
          <a:p>
            <a:pPr>
              <a:spcBef>
                <a:spcPts val="100"/>
              </a:spcBef>
            </a:pPr>
            <a:r>
              <a:rPr sz="750">
                <a:solidFill>
                  <a:srgbClr val="475569"/>
                </a:solidFill>
                <a:latin typeface="Calibri"/>
              </a:rPr>
              <a:t>Tool use planning — plans sequences of tool calls for tasks</a:t>
            </a:r>
          </a:p>
          <a:p>
            <a:pPr>
              <a:spcBef>
                <a:spcPts val="100"/>
              </a:spcBef>
            </a:pPr>
            <a:r>
              <a:rPr sz="750">
                <a:solidFill>
                  <a:srgbClr val="475569"/>
                </a:solidFill>
                <a:latin typeface="Calibri"/>
              </a:rPr>
              <a:t>Memory summarisation — compresses agent memory efficiently</a:t>
            </a:r>
          </a:p>
          <a:p>
            <a:pPr>
              <a:spcBef>
                <a:spcPts val="100"/>
              </a:spcBef>
            </a:pPr>
            <a:r>
              <a:rPr sz="750">
                <a:solidFill>
                  <a:srgbClr val="475569"/>
                </a:solidFill>
                <a:latin typeface="Calibri"/>
              </a:rPr>
              <a:t>Response generation — structured formatted recommendation outputs</a:t>
            </a:r>
          </a:p>
        </p:txBody>
      </p:sp>
      <p:sp>
        <p:nvSpPr>
          <p:cNvPr id="54" name="Rectangle 53"/>
          <p:cNvSpPr/>
          <p:nvPr/>
        </p:nvSpPr>
        <p:spPr>
          <a:xfrm>
            <a:off x="279806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71215" y="3749040"/>
            <a:ext cx="1764791" cy="1024128"/>
          </a:xfrm>
          <a:prstGeom prst="rect">
            <a:avLst/>
          </a:prstGeom>
          <a:noFill/>
        </p:spPr>
        <p:txBody>
          <a:bodyPr wrap="square">
            <a:spAutoFit/>
          </a:bodyPr>
          <a:lstStyle/>
          <a:p>
            <a:pPr>
              <a:spcBef>
                <a:spcPts val="100"/>
              </a:spcBef>
            </a:pPr>
            <a:r>
              <a:rPr sz="750">
                <a:solidFill>
                  <a:srgbClr val="475569"/>
                </a:solidFill>
                <a:latin typeface="Calibri"/>
              </a:rPr>
              <a:t>Workflow planning — decomposes objectives into workflow steps</a:t>
            </a:r>
          </a:p>
          <a:p>
            <a:pPr>
              <a:spcBef>
                <a:spcPts val="100"/>
              </a:spcBef>
            </a:pPr>
            <a:r>
              <a:rPr sz="750">
                <a:solidFill>
                  <a:srgbClr val="475569"/>
                </a:solidFill>
                <a:latin typeface="Calibri"/>
              </a:rPr>
              <a:t>Decision rationale — drafts human-readable recommendation rationale</a:t>
            </a:r>
          </a:p>
          <a:p>
            <a:pPr>
              <a:spcBef>
                <a:spcPts val="100"/>
              </a:spcBef>
            </a:pPr>
            <a:r>
              <a:rPr sz="750">
                <a:solidFill>
                  <a:srgbClr val="475569"/>
                </a:solidFill>
                <a:latin typeface="Calibri"/>
              </a:rPr>
              <a:t>Task decomposition — breaks compound tasks into subtasks</a:t>
            </a:r>
          </a:p>
          <a:p>
            <a:pPr>
              <a:spcBef>
                <a:spcPts val="100"/>
              </a:spcBef>
            </a:pPr>
            <a:r>
              <a:rPr sz="750">
                <a:solidFill>
                  <a:srgbClr val="475569"/>
                </a:solidFill>
                <a:latin typeface="Calibri"/>
              </a:rPr>
              <a:t>Dynamic replanning — replans workflows when obstacles arise</a:t>
            </a:r>
          </a:p>
        </p:txBody>
      </p:sp>
      <p:sp>
        <p:nvSpPr>
          <p:cNvPr id="56" name="Rectangle 55"/>
          <p:cNvSpPr/>
          <p:nvPr/>
        </p:nvSpPr>
        <p:spPr>
          <a:xfrm>
            <a:off x="470915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82310" y="3749040"/>
            <a:ext cx="1764791" cy="1024128"/>
          </a:xfrm>
          <a:prstGeom prst="rect">
            <a:avLst/>
          </a:prstGeom>
          <a:noFill/>
        </p:spPr>
        <p:txBody>
          <a:bodyPr wrap="square">
            <a:spAutoFit/>
          </a:bodyPr>
          <a:lstStyle/>
          <a:p>
            <a:pPr>
              <a:spcBef>
                <a:spcPts val="100"/>
              </a:spcBef>
            </a:pPr>
            <a:r>
              <a:rPr sz="750">
                <a:solidFill>
                  <a:srgbClr val="475569"/>
                </a:solidFill>
                <a:latin typeface="Calibri"/>
              </a:rPr>
              <a:t>RAG &amp; retrieval — formulates queries, synthesises retrieved knowledge</a:t>
            </a:r>
          </a:p>
          <a:p>
            <a:pPr>
              <a:spcBef>
                <a:spcPts val="100"/>
              </a:spcBef>
            </a:pPr>
            <a:r>
              <a:rPr sz="750">
                <a:solidFill>
                  <a:srgbClr val="475569"/>
                </a:solidFill>
                <a:latin typeface="Calibri"/>
              </a:rPr>
              <a:t>Context synthesis — integrates multi-agent outputs into narratives</a:t>
            </a:r>
          </a:p>
          <a:p>
            <a:pPr>
              <a:spcBef>
                <a:spcPts val="100"/>
              </a:spcBef>
            </a:pPr>
            <a:r>
              <a:rPr sz="750">
                <a:solidFill>
                  <a:srgbClr val="475569"/>
                </a:solidFill>
                <a:latin typeface="Calibri"/>
              </a:rPr>
              <a:t>Document summarisation — extracts insights from product documents</a:t>
            </a:r>
          </a:p>
          <a:p>
            <a:pPr>
              <a:spcBef>
                <a:spcPts val="100"/>
              </a:spcBef>
            </a:pPr>
            <a:r>
              <a:rPr sz="750">
                <a:solidFill>
                  <a:srgbClr val="475569"/>
                </a:solidFill>
                <a:latin typeface="Calibri"/>
              </a:rPr>
              <a:t>Policy interpretation — translates policy into agent constraints</a:t>
            </a:r>
          </a:p>
        </p:txBody>
      </p:sp>
      <p:sp>
        <p:nvSpPr>
          <p:cNvPr id="58" name="Rectangle 57"/>
          <p:cNvSpPr/>
          <p:nvPr/>
        </p:nvSpPr>
        <p:spPr>
          <a:xfrm>
            <a:off x="662025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93405" y="3749040"/>
            <a:ext cx="1764791" cy="1024128"/>
          </a:xfrm>
          <a:prstGeom prst="rect">
            <a:avLst/>
          </a:prstGeom>
          <a:noFill/>
        </p:spPr>
        <p:txBody>
          <a:bodyPr wrap="square">
            <a:spAutoFit/>
          </a:bodyPr>
          <a:lstStyle/>
          <a:p>
            <a:pPr>
              <a:spcBef>
                <a:spcPts val="100"/>
              </a:spcBef>
            </a:pPr>
            <a:r>
              <a:rPr sz="750">
                <a:solidFill>
                  <a:srgbClr val="475569"/>
                </a:solidFill>
                <a:latin typeface="Calibri"/>
              </a:rPr>
              <a:t>Guardrail reasoning — evaluates borderline cases against policies</a:t>
            </a:r>
          </a:p>
          <a:p>
            <a:pPr>
              <a:spcBef>
                <a:spcPts val="100"/>
              </a:spcBef>
            </a:pPr>
            <a:r>
              <a:rPr sz="750">
                <a:solidFill>
                  <a:srgbClr val="475569"/>
                </a:solidFill>
                <a:latin typeface="Calibri"/>
              </a:rPr>
              <a:t>Policy compliance check — assesses recommendations for compliance</a:t>
            </a:r>
          </a:p>
          <a:p>
            <a:pPr>
              <a:spcBef>
                <a:spcPts val="100"/>
              </a:spcBef>
            </a:pPr>
            <a:r>
              <a:rPr sz="750">
                <a:solidFill>
                  <a:srgbClr val="475569"/>
                </a:solidFill>
                <a:latin typeface="Calibri"/>
              </a:rPr>
              <a:t>Output transformation — reformats outputs to governance schemas</a:t>
            </a:r>
          </a:p>
          <a:p>
            <a:pPr>
              <a:spcBef>
                <a:spcPts val="100"/>
              </a:spcBef>
            </a:pPr>
            <a:r>
              <a:rPr sz="750">
                <a:solidFill>
                  <a:srgbClr val="475569"/>
                </a:solidFill>
                <a:latin typeface="Calibri"/>
              </a:rPr>
              <a:t>Explanation generation — FCA-compliant AI decision explanations</a:t>
            </a:r>
          </a:p>
        </p:txBody>
      </p:sp>
      <p:sp>
        <p:nvSpPr>
          <p:cNvPr id="60" name="Rectangle 59"/>
          <p:cNvSpPr/>
          <p:nvPr/>
        </p:nvSpPr>
        <p:spPr>
          <a:xfrm>
            <a:off x="853134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04500" y="3749040"/>
            <a:ext cx="1764791" cy="1024128"/>
          </a:xfrm>
          <a:prstGeom prst="rect">
            <a:avLst/>
          </a:prstGeom>
          <a:noFill/>
        </p:spPr>
        <p:txBody>
          <a:bodyPr wrap="square">
            <a:spAutoFit/>
          </a:bodyPr>
          <a:lstStyle/>
          <a:p>
            <a:pPr>
              <a:spcBef>
                <a:spcPts val="100"/>
              </a:spcBef>
            </a:pPr>
            <a:r>
              <a:rPr sz="750">
                <a:solidFill>
                  <a:srgbClr val="475569"/>
                </a:solidFill>
                <a:latin typeface="Calibri"/>
              </a:rPr>
              <a:t>Evaluation explanation — natural-language evaluation summaries</a:t>
            </a:r>
          </a:p>
          <a:p>
            <a:pPr>
              <a:spcBef>
                <a:spcPts val="100"/>
              </a:spcBef>
            </a:pPr>
            <a:r>
              <a:rPr sz="750">
                <a:solidFill>
                  <a:srgbClr val="475569"/>
                </a:solidFill>
                <a:latin typeface="Calibri"/>
              </a:rPr>
              <a:t>Error analysis — recommends remediation for agent failures</a:t>
            </a:r>
          </a:p>
          <a:p>
            <a:pPr>
              <a:spcBef>
                <a:spcPts val="100"/>
              </a:spcBef>
            </a:pPr>
            <a:r>
              <a:rPr sz="750">
                <a:solidFill>
                  <a:srgbClr val="475569"/>
                </a:solidFill>
                <a:latin typeface="Calibri"/>
              </a:rPr>
              <a:t>Test case generation — creates golden tests from edge cases</a:t>
            </a:r>
          </a:p>
          <a:p>
            <a:pPr>
              <a:spcBef>
                <a:spcPts val="100"/>
              </a:spcBef>
            </a:pPr>
            <a:r>
              <a:rPr sz="750">
                <a:solidFill>
                  <a:srgbClr val="475569"/>
                </a:solidFill>
                <a:latin typeface="Calibri"/>
              </a:rPr>
              <a:t>Insight summarisation — executive summaries of quality reports</a:t>
            </a:r>
          </a:p>
        </p:txBody>
      </p:sp>
      <p:sp>
        <p:nvSpPr>
          <p:cNvPr id="62" name="Rectangle 61"/>
          <p:cNvSpPr/>
          <p:nvPr/>
        </p:nvSpPr>
        <p:spPr>
          <a:xfrm>
            <a:off x="1044244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595" y="3749040"/>
            <a:ext cx="1764791" cy="1024128"/>
          </a:xfrm>
          <a:prstGeom prst="rect">
            <a:avLst/>
          </a:prstGeom>
          <a:noFill/>
        </p:spPr>
        <p:txBody>
          <a:bodyPr wrap="square">
            <a:spAutoFit/>
          </a:bodyPr>
          <a:lstStyle/>
          <a:p>
            <a:pPr>
              <a:spcBef>
                <a:spcPts val="100"/>
              </a:spcBef>
            </a:pPr>
            <a:r>
              <a:rPr sz="750">
                <a:solidFill>
                  <a:srgbClr val="475569"/>
                </a:solidFill>
                <a:latin typeface="Calibri"/>
              </a:rPr>
              <a:t>Anomaly explanation — root cause analysis for platform anomalies</a:t>
            </a:r>
          </a:p>
          <a:p>
            <a:pPr>
              <a:spcBef>
                <a:spcPts val="100"/>
              </a:spcBef>
            </a:pPr>
            <a:r>
              <a:rPr sz="750">
                <a:solidFill>
                  <a:srgbClr val="475569"/>
                </a:solidFill>
                <a:latin typeface="Calibri"/>
              </a:rPr>
              <a:t>Incident summarisation — structured reports for platform events</a:t>
            </a:r>
          </a:p>
          <a:p>
            <a:pPr>
              <a:spcBef>
                <a:spcPts val="100"/>
              </a:spcBef>
            </a:pPr>
            <a:r>
              <a:rPr sz="750">
                <a:solidFill>
                  <a:srgbClr val="475569"/>
                </a:solidFill>
                <a:latin typeface="Calibri"/>
              </a:rPr>
              <a:t>Auto-remediation advice — recommends fixes for operational issues</a:t>
            </a:r>
          </a:p>
          <a:p>
            <a:pPr>
              <a:spcBef>
                <a:spcPts val="100"/>
              </a:spcBef>
            </a:pPr>
            <a:r>
              <a:rPr sz="750">
                <a:solidFill>
                  <a:srgbClr val="475569"/>
                </a:solidFill>
                <a:latin typeface="Calibri"/>
              </a:rPr>
              <a:t>Operational insights — actionable intelligence from telemetry</a:t>
            </a:r>
          </a:p>
        </p:txBody>
      </p:sp>
      <p:sp>
        <p:nvSpPr>
          <p:cNvPr id="64" name="Rectangle 63"/>
          <p:cNvSpPr/>
          <p:nvPr/>
        </p:nvSpPr>
        <p:spPr>
          <a:xfrm>
            <a:off x="88696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0120" y="4864608"/>
            <a:ext cx="1764791" cy="1024128"/>
          </a:xfrm>
          <a:prstGeom prst="rect">
            <a:avLst/>
          </a:prstGeom>
          <a:noFill/>
        </p:spPr>
        <p:txBody>
          <a:bodyPr wrap="square">
            <a:spAutoFit/>
          </a:bodyPr>
          <a:lstStyle/>
          <a:p>
            <a:pPr>
              <a:spcBef>
                <a:spcPts val="100"/>
              </a:spcBef>
            </a:pPr>
            <a:r>
              <a:rPr sz="750">
                <a:solidFill>
                  <a:srgbClr val="475569"/>
                </a:solidFill>
                <a:latin typeface="Calibri"/>
              </a:rPr>
              <a:t>Session Store — persists state across multi-turn agent workflows</a:t>
            </a:r>
          </a:p>
          <a:p>
            <a:pPr>
              <a:spcBef>
                <a:spcPts val="100"/>
              </a:spcBef>
            </a:pPr>
            <a:r>
              <a:rPr sz="750">
                <a:solidFill>
                  <a:srgbClr val="475569"/>
                </a:solidFill>
                <a:latin typeface="Calibri"/>
              </a:rPr>
              <a:t>Memory Store — stores long-term agent knowledge and history</a:t>
            </a:r>
          </a:p>
          <a:p>
            <a:pPr>
              <a:spcBef>
                <a:spcPts val="100"/>
              </a:spcBef>
            </a:pPr>
            <a:r>
              <a:rPr sz="750">
                <a:solidFill>
                  <a:srgbClr val="475569"/>
                </a:solidFill>
                <a:latin typeface="Calibri"/>
              </a:rPr>
              <a:t>A2A Registry — agent-to-agent communication &amp; discovery</a:t>
            </a:r>
          </a:p>
          <a:p>
            <a:pPr>
              <a:spcBef>
                <a:spcPts val="100"/>
              </a:spcBef>
            </a:pPr>
            <a:r>
              <a:rPr sz="750">
                <a:solidFill>
                  <a:srgbClr val="475569"/>
                </a:solidFill>
                <a:latin typeface="Calibri"/>
              </a:rPr>
              <a:t>MCP Registry — catalogues available MCP tool servers</a:t>
            </a:r>
          </a:p>
          <a:p>
            <a:pPr>
              <a:spcBef>
                <a:spcPts val="100"/>
              </a:spcBef>
            </a:pPr>
            <a:r>
              <a:rPr sz="750">
                <a:solidFill>
                  <a:srgbClr val="475569"/>
                </a:solidFill>
                <a:latin typeface="Calibri"/>
              </a:rPr>
              <a:t>Tool Registry — authorised tool catalogue per agent class</a:t>
            </a:r>
          </a:p>
        </p:txBody>
      </p:sp>
      <p:sp>
        <p:nvSpPr>
          <p:cNvPr id="66" name="Rectangle 65"/>
          <p:cNvSpPr/>
          <p:nvPr/>
        </p:nvSpPr>
        <p:spPr>
          <a:xfrm>
            <a:off x="279806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71215" y="4864608"/>
            <a:ext cx="1764791" cy="1024128"/>
          </a:xfrm>
          <a:prstGeom prst="rect">
            <a:avLst/>
          </a:prstGeom>
          <a:noFill/>
        </p:spPr>
        <p:txBody>
          <a:bodyPr wrap="square">
            <a:spAutoFit/>
          </a:bodyPr>
          <a:lstStyle/>
          <a:p>
            <a:pPr>
              <a:spcBef>
                <a:spcPts val="100"/>
              </a:spcBef>
            </a:pPr>
            <a:r>
              <a:rPr sz="750">
                <a:solidFill>
                  <a:srgbClr val="475569"/>
                </a:solidFill>
                <a:latin typeface="Calibri"/>
              </a:rPr>
              <a:t>LangGraph — stateful graph-based multi-agent orchestration</a:t>
            </a:r>
          </a:p>
          <a:p>
            <a:pPr>
              <a:spcBef>
                <a:spcPts val="100"/>
              </a:spcBef>
            </a:pPr>
            <a:r>
              <a:rPr sz="750">
                <a:solidFill>
                  <a:srgbClr val="475569"/>
                </a:solidFill>
                <a:latin typeface="Calibri"/>
              </a:rPr>
              <a:t>Cloud Workflows — durable enterprise process orchestration</a:t>
            </a:r>
          </a:p>
          <a:p>
            <a:pPr>
              <a:spcBef>
                <a:spcPts val="100"/>
              </a:spcBef>
            </a:pPr>
            <a:r>
              <a:rPr sz="750">
                <a:solidFill>
                  <a:srgbClr val="475569"/>
                </a:solidFill>
                <a:latin typeface="Calibri"/>
              </a:rPr>
              <a:t>Pub/Sub — real-time market event stream delivery</a:t>
            </a:r>
          </a:p>
          <a:p>
            <a:pPr>
              <a:spcBef>
                <a:spcPts val="100"/>
              </a:spcBef>
            </a:pPr>
            <a:r>
              <a:rPr sz="750">
                <a:solidFill>
                  <a:srgbClr val="475569"/>
                </a:solidFill>
                <a:latin typeface="Calibri"/>
              </a:rPr>
              <a:t>Eventarc — routes GCP events to ENVOY agent triggers</a:t>
            </a:r>
          </a:p>
          <a:p>
            <a:pPr>
              <a:spcBef>
                <a:spcPts val="100"/>
              </a:spcBef>
            </a:pPr>
            <a:r>
              <a:rPr sz="750">
                <a:solidFill>
                  <a:srgbClr val="475569"/>
                </a:solidFill>
                <a:latin typeface="Calibri"/>
              </a:rPr>
              <a:t>Routing Rules Engine — business governance routing logic</a:t>
            </a:r>
          </a:p>
        </p:txBody>
      </p:sp>
      <p:sp>
        <p:nvSpPr>
          <p:cNvPr id="68" name="Rectangle 67"/>
          <p:cNvSpPr/>
          <p:nvPr/>
        </p:nvSpPr>
        <p:spPr>
          <a:xfrm>
            <a:off x="470915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82310" y="4864608"/>
            <a:ext cx="1764791" cy="1024128"/>
          </a:xfrm>
          <a:prstGeom prst="rect">
            <a:avLst/>
          </a:prstGeom>
          <a:noFill/>
        </p:spPr>
        <p:txBody>
          <a:bodyPr wrap="square">
            <a:spAutoFit/>
          </a:bodyPr>
          <a:lstStyle/>
          <a:p>
            <a:pPr>
              <a:spcBef>
                <a:spcPts val="100"/>
              </a:spcBef>
            </a:pPr>
            <a:r>
              <a:rPr sz="750">
                <a:solidFill>
                  <a:srgbClr val="475569"/>
                </a:solidFill>
                <a:latin typeface="Calibri"/>
              </a:rPr>
              <a:t>Vertex AI Vector Search — low-latency semantic search</a:t>
            </a:r>
          </a:p>
          <a:p>
            <a:pPr>
              <a:spcBef>
                <a:spcPts val="100"/>
              </a:spcBef>
            </a:pPr>
            <a:r>
              <a:rPr sz="750">
                <a:solidFill>
                  <a:srgbClr val="475569"/>
                </a:solidFill>
                <a:latin typeface="Calibri"/>
              </a:rPr>
              <a:t>BigQuery — competitor market data storage at scale</a:t>
            </a:r>
          </a:p>
          <a:p>
            <a:pPr>
              <a:spcBef>
                <a:spcPts val="100"/>
              </a:spcBef>
            </a:pPr>
            <a:r>
              <a:rPr sz="750">
                <a:solidFill>
                  <a:srgbClr val="475569"/>
                </a:solidFill>
                <a:latin typeface="Calibri"/>
              </a:rPr>
              <a:t>Cloud SQL (PostgreSQL) — ENVOY relational metadata store</a:t>
            </a:r>
          </a:p>
          <a:p>
            <a:pPr>
              <a:spcBef>
                <a:spcPts val="100"/>
              </a:spcBef>
            </a:pPr>
            <a:r>
              <a:rPr sz="750">
                <a:solidFill>
                  <a:srgbClr val="475569"/>
                </a:solidFill>
                <a:latin typeface="Calibri"/>
              </a:rPr>
              <a:t>Knowledge Graph — competitor &amp; market relationship modelling</a:t>
            </a:r>
          </a:p>
          <a:p>
            <a:pPr>
              <a:spcBef>
                <a:spcPts val="100"/>
              </a:spcBef>
            </a:pPr>
            <a:r>
              <a:rPr sz="750">
                <a:solidFill>
                  <a:srgbClr val="475569"/>
                </a:solidFill>
                <a:latin typeface="Calibri"/>
              </a:rPr>
              <a:t>MCP Servers — structured data sources as MCP servers</a:t>
            </a:r>
          </a:p>
        </p:txBody>
      </p:sp>
      <p:sp>
        <p:nvSpPr>
          <p:cNvPr id="70" name="Rectangle 69"/>
          <p:cNvSpPr/>
          <p:nvPr/>
        </p:nvSpPr>
        <p:spPr>
          <a:xfrm>
            <a:off x="662025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93405" y="4864608"/>
            <a:ext cx="1764791" cy="1024128"/>
          </a:xfrm>
          <a:prstGeom prst="rect">
            <a:avLst/>
          </a:prstGeom>
          <a:noFill/>
        </p:spPr>
        <p:txBody>
          <a:bodyPr wrap="square">
            <a:spAutoFit/>
          </a:bodyPr>
          <a:lstStyle/>
          <a:p>
            <a:pPr>
              <a:spcBef>
                <a:spcPts val="100"/>
              </a:spcBef>
            </a:pPr>
            <a:r>
              <a:rPr sz="750">
                <a:solidFill>
                  <a:srgbClr val="475569"/>
                </a:solidFill>
                <a:latin typeface="Calibri"/>
              </a:rPr>
              <a:t>Cortex (Control Plane) — centralised governance &amp; policy enforcement</a:t>
            </a:r>
          </a:p>
          <a:p>
            <a:pPr>
              <a:spcBef>
                <a:spcPts val="100"/>
              </a:spcBef>
            </a:pPr>
            <a:r>
              <a:rPr sz="750">
                <a:solidFill>
                  <a:srgbClr val="475569"/>
                </a:solidFill>
                <a:latin typeface="Calibri"/>
              </a:rPr>
              <a:t>Model Armor — prompt injection protection &amp; output safety</a:t>
            </a:r>
          </a:p>
          <a:p>
            <a:pPr>
              <a:spcBef>
                <a:spcPts val="100"/>
              </a:spcBef>
            </a:pPr>
            <a:r>
              <a:rPr sz="750">
                <a:solidFill>
                  <a:srgbClr val="475569"/>
                </a:solidFill>
                <a:latin typeface="Calibri"/>
              </a:rPr>
              <a:t>Policy Engine — evaluates recommendations against policy rules</a:t>
            </a:r>
          </a:p>
          <a:p>
            <a:pPr>
              <a:spcBef>
                <a:spcPts val="100"/>
              </a:spcBef>
            </a:pPr>
            <a:r>
              <a:rPr sz="750">
                <a:solidFill>
                  <a:srgbClr val="475569"/>
                </a:solidFill>
                <a:latin typeface="Calibri"/>
              </a:rPr>
              <a:t>RBAC &amp; ABAC — role and attribute-based access controls</a:t>
            </a:r>
          </a:p>
          <a:p>
            <a:pPr>
              <a:spcBef>
                <a:spcPts val="100"/>
              </a:spcBef>
            </a:pPr>
            <a:r>
              <a:rPr sz="750">
                <a:solidFill>
                  <a:srgbClr val="475569"/>
                </a:solidFill>
                <a:latin typeface="Calibri"/>
              </a:rPr>
              <a:t>Compliance Rules — FCA, GDPR &amp; LBG compliance as policies</a:t>
            </a:r>
          </a:p>
        </p:txBody>
      </p:sp>
      <p:sp>
        <p:nvSpPr>
          <p:cNvPr id="72" name="Rectangle 71"/>
          <p:cNvSpPr/>
          <p:nvPr/>
        </p:nvSpPr>
        <p:spPr>
          <a:xfrm>
            <a:off x="853134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604500" y="4864608"/>
            <a:ext cx="1764791" cy="1024128"/>
          </a:xfrm>
          <a:prstGeom prst="rect">
            <a:avLst/>
          </a:prstGeom>
          <a:noFill/>
        </p:spPr>
        <p:txBody>
          <a:bodyPr wrap="square">
            <a:spAutoFit/>
          </a:bodyPr>
          <a:lstStyle/>
          <a:p>
            <a:pPr>
              <a:spcBef>
                <a:spcPts val="100"/>
              </a:spcBef>
            </a:pPr>
            <a:r>
              <a:rPr sz="750">
                <a:solidFill>
                  <a:srgbClr val="475569"/>
                </a:solidFill>
                <a:latin typeface="Calibri"/>
              </a:rPr>
              <a:t>Pegasus (LBG) — proprietary ML evaluation &amp; governance platform</a:t>
            </a:r>
          </a:p>
          <a:p>
            <a:pPr>
              <a:spcBef>
                <a:spcPts val="100"/>
              </a:spcBef>
            </a:pPr>
            <a:r>
              <a:rPr sz="750">
                <a:solidFill>
                  <a:srgbClr val="475569"/>
                </a:solidFill>
                <a:latin typeface="Calibri"/>
              </a:rPr>
              <a:t>Vertex AI Evaluation — automated Gemini quality assessment</a:t>
            </a:r>
          </a:p>
          <a:p>
            <a:pPr>
              <a:spcBef>
                <a:spcPts val="100"/>
              </a:spcBef>
            </a:pPr>
            <a:r>
              <a:rPr sz="750">
                <a:solidFill>
                  <a:srgbClr val="475569"/>
                </a:solidFill>
                <a:latin typeface="Calibri"/>
              </a:rPr>
              <a:t>ADK Evaluation — agent performance evaluation framework</a:t>
            </a:r>
          </a:p>
          <a:p>
            <a:pPr>
              <a:spcBef>
                <a:spcPts val="100"/>
              </a:spcBef>
            </a:pPr>
            <a:r>
              <a:rPr sz="750">
                <a:solidFill>
                  <a:srgbClr val="475569"/>
                </a:solidFill>
                <a:latin typeface="Calibri"/>
              </a:rPr>
              <a:t>Evaluation Framework — quality gate enforcement &amp; scheduling</a:t>
            </a:r>
          </a:p>
          <a:p>
            <a:pPr>
              <a:spcBef>
                <a:spcPts val="100"/>
              </a:spcBef>
            </a:pPr>
            <a:r>
              <a:rPr sz="750">
                <a:solidFill>
                  <a:srgbClr val="475569"/>
                </a:solidFill>
                <a:latin typeface="Calibri"/>
              </a:rPr>
              <a:t>Golden Test Suites — curated reference datasets for regression</a:t>
            </a:r>
          </a:p>
        </p:txBody>
      </p:sp>
      <p:sp>
        <p:nvSpPr>
          <p:cNvPr id="74" name="Rectangle 73"/>
          <p:cNvSpPr/>
          <p:nvPr/>
        </p:nvSpPr>
        <p:spPr>
          <a:xfrm>
            <a:off x="1044244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595" y="4864608"/>
            <a:ext cx="1764791" cy="1024128"/>
          </a:xfrm>
          <a:prstGeom prst="rect">
            <a:avLst/>
          </a:prstGeom>
          <a:noFill/>
        </p:spPr>
        <p:txBody>
          <a:bodyPr wrap="square">
            <a:spAutoFit/>
          </a:bodyPr>
          <a:lstStyle/>
          <a:p>
            <a:pPr>
              <a:spcBef>
                <a:spcPts val="100"/>
              </a:spcBef>
            </a:pPr>
            <a:r>
              <a:rPr sz="750">
                <a:solidFill>
                  <a:srgbClr val="475569"/>
                </a:solidFill>
                <a:latin typeface="Calibri"/>
              </a:rPr>
              <a:t>ObserveAll (LBG) — enterprise observability for agents &amp; models</a:t>
            </a:r>
          </a:p>
          <a:p>
            <a:pPr>
              <a:spcBef>
                <a:spcPts val="100"/>
              </a:spcBef>
            </a:pPr>
            <a:r>
              <a:rPr sz="750">
                <a:solidFill>
                  <a:srgbClr val="475569"/>
                </a:solidFill>
                <a:latin typeface="Calibri"/>
              </a:rPr>
              <a:t>Dynatrace — full-stack infrastructure &amp; APM monitoring</a:t>
            </a:r>
          </a:p>
          <a:p>
            <a:pPr>
              <a:spcBef>
                <a:spcPts val="100"/>
              </a:spcBef>
            </a:pPr>
            <a:r>
              <a:rPr sz="750">
                <a:solidFill>
                  <a:srgbClr val="475569"/>
                </a:solidFill>
                <a:latin typeface="Calibri"/>
              </a:rPr>
              <a:t>Cloud Monitoring — GCP resource metrics &amp; uptime monitoring</a:t>
            </a:r>
          </a:p>
          <a:p>
            <a:pPr>
              <a:spcBef>
                <a:spcPts val="100"/>
              </a:spcBef>
            </a:pPr>
            <a:r>
              <a:rPr sz="750">
                <a:solidFill>
                  <a:srgbClr val="475569"/>
                </a:solidFill>
                <a:latin typeface="Calibri"/>
              </a:rPr>
              <a:t>Cloud Logging — centralised structured log management</a:t>
            </a:r>
          </a:p>
          <a:p>
            <a:pPr>
              <a:spcBef>
                <a:spcPts val="100"/>
              </a:spcBef>
            </a:pPr>
            <a:r>
              <a:rPr sz="750">
                <a:solidFill>
                  <a:srgbClr val="475569"/>
                </a:solidFill>
                <a:latin typeface="Calibri"/>
              </a:rPr>
              <a:t>Audit Framework — immutable decision &amp; action audit trail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AI TECHNOLOGY STRATEGY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AI Capability Spectrum — Deploying the Right AI Technology for Each Problem</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07 / 20</a:t>
            </a:r>
          </a:p>
        </p:txBody>
      </p:sp>
      <p:sp>
        <p:nvSpPr>
          <p:cNvPr id="8" name="Rectangle 7"/>
          <p:cNvSpPr/>
          <p:nvPr/>
        </p:nvSpPr>
        <p:spPr>
          <a:xfrm>
            <a:off x="457200"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017520" cy="548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43000"/>
            <a:ext cx="2880360" cy="256032"/>
          </a:xfrm>
          <a:prstGeom prst="rect">
            <a:avLst/>
          </a:prstGeom>
          <a:noFill/>
        </p:spPr>
        <p:txBody>
          <a:bodyPr wrap="square">
            <a:spAutoFit/>
          </a:bodyPr>
          <a:lstStyle/>
          <a:p>
            <a:pPr algn="l"/>
            <a:r>
              <a:rPr sz="1100" b="1" i="0">
                <a:solidFill>
                  <a:srgbClr val="0F7AC5"/>
                </a:solidFill>
                <a:latin typeface="Calibri"/>
              </a:rPr>
              <a:t>Machine Learning</a:t>
            </a:r>
          </a:p>
        </p:txBody>
      </p:sp>
      <p:sp>
        <p:nvSpPr>
          <p:cNvPr id="11" name="TextBox 10"/>
          <p:cNvSpPr txBox="1"/>
          <p:nvPr/>
        </p:nvSpPr>
        <p:spPr>
          <a:xfrm>
            <a:off x="548640" y="1399032"/>
            <a:ext cx="2880360" cy="201168"/>
          </a:xfrm>
          <a:prstGeom prst="rect">
            <a:avLst/>
          </a:prstGeom>
          <a:noFill/>
        </p:spPr>
        <p:txBody>
          <a:bodyPr wrap="square">
            <a:spAutoFit/>
          </a:bodyPr>
          <a:lstStyle/>
          <a:p>
            <a:pPr algn="l"/>
            <a:r>
              <a:rPr sz="900" b="0" i="0">
                <a:solidFill>
                  <a:srgbClr val="0F7AC5"/>
                </a:solidFill>
                <a:latin typeface="Calibri"/>
              </a:rPr>
              <a:t>Pattern Detection, Prediction &amp; Simulation</a:t>
            </a:r>
          </a:p>
        </p:txBody>
      </p:sp>
      <p:sp>
        <p:nvSpPr>
          <p:cNvPr id="12" name="Rectangle 11"/>
          <p:cNvSpPr/>
          <p:nvPr/>
        </p:nvSpPr>
        <p:spPr>
          <a:xfrm>
            <a:off x="548640"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73352"/>
            <a:ext cx="758952" cy="164592"/>
          </a:xfrm>
          <a:prstGeom prst="rect">
            <a:avLst/>
          </a:prstGeom>
          <a:noFill/>
        </p:spPr>
        <p:txBody>
          <a:bodyPr wrap="square">
            <a:spAutoFit/>
          </a:bodyPr>
          <a:lstStyle/>
          <a:p>
            <a:pPr algn="l"/>
            <a:r>
              <a:rPr sz="750" b="1" i="0">
                <a:solidFill>
                  <a:srgbClr val="0F7AC5"/>
                </a:solidFill>
                <a:latin typeface="Calibri"/>
              </a:rPr>
              <a:t>Vertex AI</a:t>
            </a:r>
          </a:p>
        </p:txBody>
      </p:sp>
      <p:sp>
        <p:nvSpPr>
          <p:cNvPr id="14" name="Rectangle 13"/>
          <p:cNvSpPr/>
          <p:nvPr/>
        </p:nvSpPr>
        <p:spPr>
          <a:xfrm>
            <a:off x="1399032" y="1645920"/>
            <a:ext cx="1060704"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4752" y="1673352"/>
            <a:ext cx="1014984" cy="164592"/>
          </a:xfrm>
          <a:prstGeom prst="rect">
            <a:avLst/>
          </a:prstGeom>
          <a:noFill/>
        </p:spPr>
        <p:txBody>
          <a:bodyPr wrap="square">
            <a:spAutoFit/>
          </a:bodyPr>
          <a:lstStyle/>
          <a:p>
            <a:pPr algn="l"/>
            <a:r>
              <a:rPr sz="750" b="1" i="0">
                <a:solidFill>
                  <a:srgbClr val="0F7AC5"/>
                </a:solidFill>
                <a:latin typeface="Calibri"/>
              </a:rPr>
              <a:t>Pegasus (LBG)</a:t>
            </a:r>
          </a:p>
        </p:txBody>
      </p:sp>
      <p:sp>
        <p:nvSpPr>
          <p:cNvPr id="16" name="Rectangle 15"/>
          <p:cNvSpPr/>
          <p:nvPr/>
        </p:nvSpPr>
        <p:spPr>
          <a:xfrm>
            <a:off x="2505456" y="1645920"/>
            <a:ext cx="932688"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1673352"/>
            <a:ext cx="886968" cy="164592"/>
          </a:xfrm>
          <a:prstGeom prst="rect">
            <a:avLst/>
          </a:prstGeom>
          <a:noFill/>
        </p:spPr>
        <p:txBody>
          <a:bodyPr wrap="square">
            <a:spAutoFit/>
          </a:bodyPr>
          <a:lstStyle/>
          <a:p>
            <a:pPr algn="l"/>
            <a:r>
              <a:rPr sz="750" b="1" i="0">
                <a:solidFill>
                  <a:srgbClr val="0F7AC5"/>
                </a:solidFill>
                <a:latin typeface="Calibri"/>
              </a:rPr>
              <a:t>BigQuery ML</a:t>
            </a:r>
          </a:p>
        </p:txBody>
      </p:sp>
      <p:sp>
        <p:nvSpPr>
          <p:cNvPr id="18" name="TextBox 17"/>
          <p:cNvSpPr txBox="1"/>
          <p:nvPr/>
        </p:nvSpPr>
        <p:spPr>
          <a:xfrm>
            <a:off x="548640"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19" name="TextBox 18"/>
          <p:cNvSpPr txBox="1"/>
          <p:nvPr/>
        </p:nvSpPr>
        <p:spPr>
          <a:xfrm>
            <a:off x="548640" y="2103120"/>
            <a:ext cx="2880360" cy="2377440"/>
          </a:xfrm>
          <a:prstGeom prst="rect">
            <a:avLst/>
          </a:prstGeom>
          <a:noFill/>
        </p:spPr>
        <p:txBody>
          <a:bodyPr wrap="square">
            <a:spAutoFit/>
          </a:bodyPr>
          <a:lstStyle/>
          <a:p>
            <a:pPr>
              <a:spcBef>
                <a:spcPts val="150"/>
              </a:spcBef>
            </a:pPr>
            <a:r>
              <a:rPr sz="900">
                <a:solidFill>
                  <a:srgbClr val="475569"/>
                </a:solidFill>
                <a:latin typeface="Calibri"/>
              </a:rPr>
              <a:t>- PCW ranking position trend prediction and trajectory modelling across all monitored channels and competitors, trained on historical ranking data and updated continuously via Pegasus retraining pipelines</a:t>
            </a:r>
          </a:p>
          <a:p>
            <a:pPr>
              <a:spcBef>
                <a:spcPts val="150"/>
              </a:spcBef>
            </a:pPr>
            <a:r>
              <a:rPr sz="900">
                <a:solidFill>
                  <a:srgbClr val="475569"/>
                </a:solidFill>
                <a:latin typeface="Calibri"/>
              </a:rPr>
              <a:t>- Pricing elasticity modelling to quantify the expected new business volume and revenue impact of proposed price changes across risk segments and PCW channels, with confidence intervals and scenario comparison</a:t>
            </a:r>
          </a:p>
          <a:p>
            <a:pPr>
              <a:spcBef>
                <a:spcPts val="150"/>
              </a:spcBef>
            </a:pPr>
            <a:r>
              <a:rPr sz="900">
                <a:solidFill>
                  <a:srgbClr val="475569"/>
                </a:solidFill>
                <a:latin typeface="Calibri"/>
              </a:rPr>
              <a:t>- Competitor behaviour clustering to identify strategic groupings across the competitor set and predict likely future competitive moves based on historical behaviour patterns detected in PCW data</a:t>
            </a:r>
          </a:p>
          <a:p>
            <a:pPr>
              <a:spcBef>
                <a:spcPts val="150"/>
              </a:spcBef>
            </a:pPr>
            <a:r>
              <a:rPr sz="900">
                <a:solidFill>
                  <a:srgbClr val="475569"/>
                </a:solidFill>
                <a:latin typeface="Calibri"/>
              </a:rPr>
              <a:t>- Anomaly detection to flag statistically significant departures from expected market patterns in real time, enabling immediate investigation of material competitor movements before their volume impact accumulates</a:t>
            </a:r>
          </a:p>
          <a:p>
            <a:pPr>
              <a:spcBef>
                <a:spcPts val="150"/>
              </a:spcBef>
            </a:pPr>
            <a:r>
              <a:rPr sz="900">
                <a:solidFill>
                  <a:srgbClr val="475569"/>
                </a:solidFill>
                <a:latin typeface="Calibri"/>
              </a:rPr>
              <a:t>- Quote conversion propensity scoring to prioritise competitive interventions by expected commercial impact, ensuring pricing team attention is directed at the highest-value opportunities first</a:t>
            </a:r>
          </a:p>
          <a:p>
            <a:pPr>
              <a:spcBef>
                <a:spcPts val="150"/>
              </a:spcBef>
            </a:pPr>
            <a:r>
              <a:rPr sz="900">
                <a:solidFill>
                  <a:srgbClr val="475569"/>
                </a:solidFill>
                <a:latin typeface="Calibri"/>
              </a:rPr>
              <a:t>- Pricing simulation modelling of proposed interventions before recommendation to pricing teams, quantifying expected ranking, volume and margin outcomes with Pegasus-evaluated confidence scores</a:t>
            </a:r>
          </a:p>
        </p:txBody>
      </p:sp>
      <p:sp>
        <p:nvSpPr>
          <p:cNvPr id="20" name="TextBox 19"/>
          <p:cNvSpPr txBox="1"/>
          <p:nvPr/>
        </p:nvSpPr>
        <p:spPr>
          <a:xfrm>
            <a:off x="548640"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21" name="TextBox 20"/>
          <p:cNvSpPr txBox="1"/>
          <p:nvPr/>
        </p:nvSpPr>
        <p:spPr>
          <a:xfrm>
            <a:off x="548640" y="4782312"/>
            <a:ext cx="2880360" cy="1783080"/>
          </a:xfrm>
          <a:prstGeom prst="rect">
            <a:avLst/>
          </a:prstGeom>
          <a:noFill/>
        </p:spPr>
        <p:txBody>
          <a:bodyPr wrap="square">
            <a:spAutoFit/>
          </a:bodyPr>
          <a:lstStyle/>
          <a:p>
            <a:pPr algn="l"/>
            <a:r>
              <a:rPr sz="850" b="0" i="1">
                <a:solidFill>
                  <a:srgbClr val="475569"/>
                </a:solidFill>
                <a:latin typeface="Calibri"/>
              </a:rPr>
              <a:t>High predictive accuracy on structured market data with SHAP-based explainability. All models evaluated, monitored and governed through Pegasus with champion/challenger testing and automated drift detection. Production-proven at LBG scale with low inference latency suitable for near-real-time competitive monitoring.</a:t>
            </a:r>
          </a:p>
        </p:txBody>
      </p:sp>
      <p:sp>
        <p:nvSpPr>
          <p:cNvPr id="22" name="Rectangle 21"/>
          <p:cNvSpPr/>
          <p:nvPr/>
        </p:nvSpPr>
        <p:spPr>
          <a:xfrm>
            <a:off x="3584448"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84448" y="1051560"/>
            <a:ext cx="30175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5888" y="1143000"/>
            <a:ext cx="2880360" cy="256032"/>
          </a:xfrm>
          <a:prstGeom prst="rect">
            <a:avLst/>
          </a:prstGeom>
          <a:noFill/>
        </p:spPr>
        <p:txBody>
          <a:bodyPr wrap="square">
            <a:spAutoFit/>
          </a:bodyPr>
          <a:lstStyle/>
          <a:p>
            <a:pPr algn="l"/>
            <a:r>
              <a:rPr sz="1100" b="1" i="0">
                <a:solidFill>
                  <a:srgbClr val="0D9488"/>
                </a:solidFill>
                <a:latin typeface="Calibri"/>
              </a:rPr>
              <a:t>Generative AI (Gemini)</a:t>
            </a:r>
          </a:p>
        </p:txBody>
      </p:sp>
      <p:sp>
        <p:nvSpPr>
          <p:cNvPr id="25" name="TextBox 24"/>
          <p:cNvSpPr txBox="1"/>
          <p:nvPr/>
        </p:nvSpPr>
        <p:spPr>
          <a:xfrm>
            <a:off x="3675888" y="1399032"/>
            <a:ext cx="2880360" cy="201168"/>
          </a:xfrm>
          <a:prstGeom prst="rect">
            <a:avLst/>
          </a:prstGeom>
          <a:noFill/>
        </p:spPr>
        <p:txBody>
          <a:bodyPr wrap="square">
            <a:spAutoFit/>
          </a:bodyPr>
          <a:lstStyle/>
          <a:p>
            <a:pPr algn="l"/>
            <a:r>
              <a:rPr sz="900" b="0" i="0">
                <a:solidFill>
                  <a:srgbClr val="0D9488"/>
                </a:solidFill>
                <a:latin typeface="Calibri"/>
              </a:rPr>
              <a:t>Analysis, Synthesis, Explanation &amp; Recommendation</a:t>
            </a:r>
          </a:p>
        </p:txBody>
      </p:sp>
      <p:sp>
        <p:nvSpPr>
          <p:cNvPr id="26" name="Rectangle 25"/>
          <p:cNvSpPr/>
          <p:nvPr/>
        </p:nvSpPr>
        <p:spPr>
          <a:xfrm>
            <a:off x="3675888" y="1645920"/>
            <a:ext cx="1380744"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21608" y="1673352"/>
            <a:ext cx="1335024" cy="164592"/>
          </a:xfrm>
          <a:prstGeom prst="rect">
            <a:avLst/>
          </a:prstGeom>
          <a:noFill/>
        </p:spPr>
        <p:txBody>
          <a:bodyPr wrap="square">
            <a:spAutoFit/>
          </a:bodyPr>
          <a:lstStyle/>
          <a:p>
            <a:pPr algn="l"/>
            <a:r>
              <a:rPr sz="750" b="1" i="0">
                <a:solidFill>
                  <a:srgbClr val="0D9488"/>
                </a:solidFill>
                <a:latin typeface="Calibri"/>
              </a:rPr>
              <a:t>Gemini Pro / Flash</a:t>
            </a:r>
          </a:p>
        </p:txBody>
      </p:sp>
      <p:sp>
        <p:nvSpPr>
          <p:cNvPr id="28" name="Rectangle 27"/>
          <p:cNvSpPr/>
          <p:nvPr/>
        </p:nvSpPr>
        <p:spPr>
          <a:xfrm>
            <a:off x="5102352"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8072" y="1673352"/>
            <a:ext cx="758952" cy="164592"/>
          </a:xfrm>
          <a:prstGeom prst="rect">
            <a:avLst/>
          </a:prstGeom>
          <a:noFill/>
        </p:spPr>
        <p:txBody>
          <a:bodyPr wrap="square">
            <a:spAutoFit/>
          </a:bodyPr>
          <a:lstStyle/>
          <a:p>
            <a:pPr algn="l"/>
            <a:r>
              <a:rPr sz="750" b="1" i="0">
                <a:solidFill>
                  <a:srgbClr val="0D9488"/>
                </a:solidFill>
                <a:latin typeface="Calibri"/>
              </a:rPr>
              <a:t>Vertex AI</a:t>
            </a:r>
          </a:p>
        </p:txBody>
      </p:sp>
      <p:sp>
        <p:nvSpPr>
          <p:cNvPr id="30" name="Rectangle 29"/>
          <p:cNvSpPr/>
          <p:nvPr/>
        </p:nvSpPr>
        <p:spPr>
          <a:xfrm>
            <a:off x="5952744" y="1645920"/>
            <a:ext cx="1252728"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98464" y="1673352"/>
            <a:ext cx="1207008" cy="164592"/>
          </a:xfrm>
          <a:prstGeom prst="rect">
            <a:avLst/>
          </a:prstGeom>
          <a:noFill/>
        </p:spPr>
        <p:txBody>
          <a:bodyPr wrap="square">
            <a:spAutoFit/>
          </a:bodyPr>
          <a:lstStyle/>
          <a:p>
            <a:pPr algn="l"/>
            <a:r>
              <a:rPr sz="750" b="1" i="0">
                <a:solidFill>
                  <a:srgbClr val="0D9488"/>
                </a:solidFill>
                <a:latin typeface="Calibri"/>
              </a:rPr>
              <a:t>RAG via BigQuery</a:t>
            </a:r>
          </a:p>
        </p:txBody>
      </p:sp>
      <p:sp>
        <p:nvSpPr>
          <p:cNvPr id="32" name="TextBox 31"/>
          <p:cNvSpPr txBox="1"/>
          <p:nvPr/>
        </p:nvSpPr>
        <p:spPr>
          <a:xfrm>
            <a:off x="3675888"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33" name="TextBox 32"/>
          <p:cNvSpPr txBox="1"/>
          <p:nvPr/>
        </p:nvSpPr>
        <p:spPr>
          <a:xfrm>
            <a:off x="3675888" y="2103120"/>
            <a:ext cx="2880360" cy="2377440"/>
          </a:xfrm>
          <a:prstGeom prst="rect">
            <a:avLst/>
          </a:prstGeom>
          <a:noFill/>
        </p:spPr>
        <p:txBody>
          <a:bodyPr wrap="square">
            <a:spAutoFit/>
          </a:bodyPr>
          <a:lstStyle/>
          <a:p>
            <a:pPr>
              <a:spcBef>
                <a:spcPts val="150"/>
              </a:spcBef>
            </a:pPr>
            <a:r>
              <a:rPr sz="900">
                <a:solidFill>
                  <a:srgbClr val="475569"/>
                </a:solidFill>
                <a:latin typeface="Calibri"/>
              </a:rPr>
              <a:t>- Competitor proposition narrative analysis — extracting key features, differentiators and strategic positioning signals from PCW product descriptions, terms and conditions and marketing materials at scale</a:t>
            </a:r>
          </a:p>
          <a:p>
            <a:pPr>
              <a:spcBef>
                <a:spcPts val="150"/>
              </a:spcBef>
            </a:pPr>
            <a:r>
              <a:rPr sz="900">
                <a:solidFill>
                  <a:srgbClr val="475569"/>
                </a:solidFill>
                <a:latin typeface="Calibri"/>
              </a:rPr>
              <a:t>- Executive intelligence briefing generation — synthesising multi-source competitive data from across the ENVOY agent network into concise, structured, readable briefings for senior stakeholders with key actions highlighted</a:t>
            </a:r>
          </a:p>
          <a:p>
            <a:pPr>
              <a:spcBef>
                <a:spcPts val="150"/>
              </a:spcBef>
            </a:pPr>
            <a:r>
              <a:rPr sz="900">
                <a:solidFill>
                  <a:srgbClr val="475569"/>
                </a:solidFill>
                <a:latin typeface="Calibri"/>
              </a:rPr>
              <a:t>- Recommendation rationale drafting — producing human-readable, FCA-compliant explanations of AI-generated pricing and proposition recommendations that enable pricing teams to make informed approval decisions</a:t>
            </a:r>
          </a:p>
          <a:p>
            <a:pPr>
              <a:spcBef>
                <a:spcPts val="150"/>
              </a:spcBef>
            </a:pPr>
            <a:r>
              <a:rPr sz="900">
                <a:solidFill>
                  <a:srgbClr val="475569"/>
                </a:solidFill>
                <a:latin typeface="Calibri"/>
              </a:rPr>
              <a:t>- Market commentary synthesis — integrating pricing, product, offer and ranking data from multiple agents into coherent competitive market narratives that contextualise movements and identify strategic patterns</a:t>
            </a:r>
          </a:p>
          <a:p>
            <a:pPr>
              <a:spcBef>
                <a:spcPts val="150"/>
              </a:spcBef>
            </a:pPr>
            <a:r>
              <a:rPr sz="900">
                <a:solidFill>
                  <a:srgbClr val="475569"/>
                </a:solidFill>
                <a:latin typeface="Calibri"/>
              </a:rPr>
              <a:t>- Regulatory change impact assessment — interpreting FCA guidance updates and translating their competitive implications for PCW positioning into actionable intelligence for the pricing and compliance teams</a:t>
            </a:r>
          </a:p>
          <a:p>
            <a:pPr>
              <a:spcBef>
                <a:spcPts val="150"/>
              </a:spcBef>
            </a:pPr>
            <a:r>
              <a:rPr sz="900">
                <a:solidFill>
                  <a:srgbClr val="475569"/>
                </a:solidFill>
                <a:latin typeface="Calibri"/>
              </a:rPr>
              <a:t>- Customer review sentiment analysis — extracting structured competitive intelligence from PCW customer review data to identify service and product quality differentiators that influence PCW algorithm ranking</a:t>
            </a:r>
          </a:p>
        </p:txBody>
      </p:sp>
      <p:sp>
        <p:nvSpPr>
          <p:cNvPr id="34" name="TextBox 33"/>
          <p:cNvSpPr txBox="1"/>
          <p:nvPr/>
        </p:nvSpPr>
        <p:spPr>
          <a:xfrm>
            <a:off x="3675888"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35" name="TextBox 34"/>
          <p:cNvSpPr txBox="1"/>
          <p:nvPr/>
        </p:nvSpPr>
        <p:spPr>
          <a:xfrm>
            <a:off x="3675888" y="4782312"/>
            <a:ext cx="2880360" cy="1783080"/>
          </a:xfrm>
          <a:prstGeom prst="rect">
            <a:avLst/>
          </a:prstGeom>
          <a:noFill/>
        </p:spPr>
        <p:txBody>
          <a:bodyPr wrap="square">
            <a:spAutoFit/>
          </a:bodyPr>
          <a:lstStyle/>
          <a:p>
            <a:pPr algn="l"/>
            <a:r>
              <a:rPr sz="850" b="0" i="1">
                <a:solidFill>
                  <a:srgbClr val="475569"/>
                </a:solidFill>
                <a:latin typeface="Calibri"/>
              </a:rPr>
              <a:t>Transforms large volumes of unstructured competitor data into actionable, readable intelligence — reducing analyst synthesis effort by 60–80% for routine briefing tasks. All Gemini outputs governed through Model Armor and Cortex. Hallucination detection and groundedness scoring via Pegasus Evaluation Framework before presentation to decision-makers.</a:t>
            </a:r>
          </a:p>
        </p:txBody>
      </p:sp>
      <p:sp>
        <p:nvSpPr>
          <p:cNvPr id="36" name="Rectangle 35"/>
          <p:cNvSpPr/>
          <p:nvPr/>
        </p:nvSpPr>
        <p:spPr>
          <a:xfrm>
            <a:off x="6711696"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11696" y="1051560"/>
            <a:ext cx="30175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03136" y="1143000"/>
            <a:ext cx="2880360" cy="256032"/>
          </a:xfrm>
          <a:prstGeom prst="rect">
            <a:avLst/>
          </a:prstGeom>
          <a:noFill/>
        </p:spPr>
        <p:txBody>
          <a:bodyPr wrap="square">
            <a:spAutoFit/>
          </a:bodyPr>
          <a:lstStyle/>
          <a:p>
            <a:pPr algn="l"/>
            <a:r>
              <a:rPr sz="1100" b="1" i="0">
                <a:solidFill>
                  <a:srgbClr val="7C3AED"/>
                </a:solidFill>
                <a:latin typeface="Calibri"/>
              </a:rPr>
              <a:t>Agentic AI (ENVOY / ADK)</a:t>
            </a:r>
          </a:p>
        </p:txBody>
      </p:sp>
      <p:sp>
        <p:nvSpPr>
          <p:cNvPr id="39" name="TextBox 38"/>
          <p:cNvSpPr txBox="1"/>
          <p:nvPr/>
        </p:nvSpPr>
        <p:spPr>
          <a:xfrm>
            <a:off x="6803136" y="1399032"/>
            <a:ext cx="2880360" cy="201168"/>
          </a:xfrm>
          <a:prstGeom prst="rect">
            <a:avLst/>
          </a:prstGeom>
          <a:noFill/>
        </p:spPr>
        <p:txBody>
          <a:bodyPr wrap="square">
            <a:spAutoFit/>
          </a:bodyPr>
          <a:lstStyle/>
          <a:p>
            <a:pPr algn="l"/>
            <a:r>
              <a:rPr sz="900" b="0" i="0">
                <a:solidFill>
                  <a:srgbClr val="7C3AED"/>
                </a:solidFill>
                <a:latin typeface="Calibri"/>
              </a:rPr>
              <a:t>Orchestration, Automation &amp; Multi-Step Intelligence</a:t>
            </a:r>
          </a:p>
        </p:txBody>
      </p:sp>
      <p:sp>
        <p:nvSpPr>
          <p:cNvPr id="40" name="Rectangle 39"/>
          <p:cNvSpPr/>
          <p:nvPr/>
        </p:nvSpPr>
        <p:spPr>
          <a:xfrm>
            <a:off x="6803136"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48856" y="1673352"/>
            <a:ext cx="758952" cy="164592"/>
          </a:xfrm>
          <a:prstGeom prst="rect">
            <a:avLst/>
          </a:prstGeom>
          <a:noFill/>
        </p:spPr>
        <p:txBody>
          <a:bodyPr wrap="square">
            <a:spAutoFit/>
          </a:bodyPr>
          <a:lstStyle/>
          <a:p>
            <a:pPr algn="l"/>
            <a:r>
              <a:rPr sz="750" b="1" i="0">
                <a:solidFill>
                  <a:srgbClr val="7C3AED"/>
                </a:solidFill>
                <a:latin typeface="Calibri"/>
              </a:rPr>
              <a:t>ENVOY ADK</a:t>
            </a:r>
          </a:p>
        </p:txBody>
      </p:sp>
      <p:sp>
        <p:nvSpPr>
          <p:cNvPr id="42" name="Rectangle 41"/>
          <p:cNvSpPr/>
          <p:nvPr/>
        </p:nvSpPr>
        <p:spPr>
          <a:xfrm>
            <a:off x="7653528" y="1645920"/>
            <a:ext cx="1636776"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99248" y="1673352"/>
            <a:ext cx="1591056" cy="164592"/>
          </a:xfrm>
          <a:prstGeom prst="rect">
            <a:avLst/>
          </a:prstGeom>
          <a:noFill/>
        </p:spPr>
        <p:txBody>
          <a:bodyPr wrap="square">
            <a:spAutoFit/>
          </a:bodyPr>
          <a:lstStyle/>
          <a:p>
            <a:pPr algn="l"/>
            <a:r>
              <a:rPr sz="750" b="1" i="0">
                <a:solidFill>
                  <a:srgbClr val="7C3AED"/>
                </a:solidFill>
                <a:latin typeface="Calibri"/>
              </a:rPr>
              <a:t>Vertex AI Agent Engine</a:t>
            </a:r>
          </a:p>
        </p:txBody>
      </p:sp>
      <p:sp>
        <p:nvSpPr>
          <p:cNvPr id="44" name="Rectangle 43"/>
          <p:cNvSpPr/>
          <p:nvPr/>
        </p:nvSpPr>
        <p:spPr>
          <a:xfrm>
            <a:off x="9336024"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81744" y="1673352"/>
            <a:ext cx="758952" cy="164592"/>
          </a:xfrm>
          <a:prstGeom prst="rect">
            <a:avLst/>
          </a:prstGeom>
          <a:noFill/>
        </p:spPr>
        <p:txBody>
          <a:bodyPr wrap="square">
            <a:spAutoFit/>
          </a:bodyPr>
          <a:lstStyle/>
          <a:p>
            <a:pPr algn="l"/>
            <a:r>
              <a:rPr sz="750" b="1" i="0">
                <a:solidFill>
                  <a:srgbClr val="7C3AED"/>
                </a:solidFill>
                <a:latin typeface="Calibri"/>
              </a:rPr>
              <a:t>LangGraph</a:t>
            </a:r>
          </a:p>
        </p:txBody>
      </p:sp>
      <p:sp>
        <p:nvSpPr>
          <p:cNvPr id="46" name="TextBox 45"/>
          <p:cNvSpPr txBox="1"/>
          <p:nvPr/>
        </p:nvSpPr>
        <p:spPr>
          <a:xfrm>
            <a:off x="6803136"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47" name="TextBox 46"/>
          <p:cNvSpPr txBox="1"/>
          <p:nvPr/>
        </p:nvSpPr>
        <p:spPr>
          <a:xfrm>
            <a:off x="6803136" y="2103120"/>
            <a:ext cx="2880360" cy="2377440"/>
          </a:xfrm>
          <a:prstGeom prst="rect">
            <a:avLst/>
          </a:prstGeom>
          <a:noFill/>
        </p:spPr>
        <p:txBody>
          <a:bodyPr wrap="square">
            <a:spAutoFit/>
          </a:bodyPr>
          <a:lstStyle/>
          <a:p>
            <a:pPr>
              <a:spcBef>
                <a:spcPts val="150"/>
              </a:spcBef>
            </a:pPr>
            <a:r>
              <a:rPr sz="900">
                <a:solidFill>
                  <a:srgbClr val="475569"/>
                </a:solidFill>
                <a:latin typeface="Calibri"/>
              </a:rPr>
              <a:t>- Autonomous end-to-end PCW market data collection, validation and enrichment without human intervention, operating on defined schedules and triggered by real-time market events via Pub/Sub</a:t>
            </a:r>
          </a:p>
          <a:p>
            <a:pPr>
              <a:spcBef>
                <a:spcPts val="150"/>
              </a:spcBef>
            </a:pPr>
            <a:r>
              <a:rPr sz="900">
                <a:solidFill>
                  <a:srgbClr val="475569"/>
                </a:solidFill>
                <a:latin typeface="Calibri"/>
              </a:rPr>
              <a:t>- Multi-step competitor investigation workflows that chain ML analysis, Gemini synthesis and human escalation into coherent, governed end-to-end intelligence generation processes orchestrated via LangGraph</a:t>
            </a:r>
          </a:p>
          <a:p>
            <a:pPr>
              <a:spcBef>
                <a:spcPts val="150"/>
              </a:spcBef>
            </a:pPr>
            <a:r>
              <a:rPr sz="900">
                <a:solidFill>
                  <a:srgbClr val="475569"/>
                </a:solidFill>
                <a:latin typeface="Calibri"/>
              </a:rPr>
              <a:t>- Event-triggered analysis — automatically initiating deep, multi-agent investigation when ML anomaly detection flags a material market movement, ensuring rapid response without manual escalation</a:t>
            </a:r>
          </a:p>
          <a:p>
            <a:pPr>
              <a:spcBef>
                <a:spcPts val="150"/>
              </a:spcBef>
            </a:pPr>
            <a:r>
              <a:rPr sz="900">
                <a:solidFill>
                  <a:srgbClr val="475569"/>
                </a:solidFill>
                <a:latin typeface="Calibri"/>
              </a:rPr>
              <a:t>- Cross-agent intelligence aggregation — combining outputs from specialist pricing, proposition, ranking and competitor analysis agents into unified, coherent recommendation packages via the Orchestrator Agent</a:t>
            </a:r>
          </a:p>
          <a:p>
            <a:pPr>
              <a:spcBef>
                <a:spcPts val="150"/>
              </a:spcBef>
            </a:pPr>
            <a:r>
              <a:rPr sz="900">
                <a:solidFill>
                  <a:srgbClr val="475569"/>
                </a:solidFill>
                <a:latin typeface="Calibri"/>
              </a:rPr>
              <a:t>- Simulation scenario orchestration — autonomously running and comparing multiple pricing and proposition intervention scenarios via the Simulation Agent before synthesis into recommendation packages</a:t>
            </a:r>
          </a:p>
          <a:p>
            <a:pPr>
              <a:spcBef>
                <a:spcPts val="150"/>
              </a:spcBef>
            </a:pPr>
            <a:r>
              <a:rPr sz="900">
                <a:solidFill>
                  <a:srgbClr val="475569"/>
                </a:solidFill>
                <a:latin typeface="Calibri"/>
              </a:rPr>
              <a:t>- Governance escalation routing — automatically determining the appropriate Pega approval tier based on recommendation type, magnitude and risk classification, and routing accordingly via Cortex</a:t>
            </a:r>
          </a:p>
        </p:txBody>
      </p:sp>
      <p:sp>
        <p:nvSpPr>
          <p:cNvPr id="48" name="TextBox 47"/>
          <p:cNvSpPr txBox="1"/>
          <p:nvPr/>
        </p:nvSpPr>
        <p:spPr>
          <a:xfrm>
            <a:off x="6803136"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49" name="TextBox 48"/>
          <p:cNvSpPr txBox="1"/>
          <p:nvPr/>
        </p:nvSpPr>
        <p:spPr>
          <a:xfrm>
            <a:off x="6803136" y="4782312"/>
            <a:ext cx="2880360" cy="1783080"/>
          </a:xfrm>
          <a:prstGeom prst="rect">
            <a:avLst/>
          </a:prstGeom>
          <a:noFill/>
        </p:spPr>
        <p:txBody>
          <a:bodyPr wrap="square">
            <a:spAutoFit/>
          </a:bodyPr>
          <a:lstStyle/>
          <a:p>
            <a:pPr algn="l"/>
            <a:r>
              <a:rPr sz="850" b="0" i="1">
                <a:solidFill>
                  <a:srgbClr val="475569"/>
                </a:solidFill>
                <a:latin typeface="Calibri"/>
              </a:rPr>
              <a:t>Combines ML models and Gemini GenAI within governed, observable, multi-step autonomous workflows. Human-in-the-loop gates enforced at defined decision points via Pega. Full execution observability through ObserveAll and Dynatrace with complete audit trail in the ENVOY Audit Framework.</a:t>
            </a:r>
          </a:p>
        </p:txBody>
      </p:sp>
      <p:sp>
        <p:nvSpPr>
          <p:cNvPr id="50" name="Rectangle 49"/>
          <p:cNvSpPr/>
          <p:nvPr/>
        </p:nvSpPr>
        <p:spPr>
          <a:xfrm>
            <a:off x="9838944" y="1051560"/>
            <a:ext cx="2606040" cy="5623560"/>
          </a:xfrm>
          <a:prstGeom prst="rect">
            <a:avLst/>
          </a:prstGeom>
          <a:solidFill>
            <a:srgbClr val="0A1628"/>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38944" y="1051560"/>
            <a:ext cx="2606040" cy="54864"/>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0384" y="1161288"/>
            <a:ext cx="2468880" cy="292608"/>
          </a:xfrm>
          <a:prstGeom prst="rect">
            <a:avLst/>
          </a:prstGeom>
          <a:noFill/>
        </p:spPr>
        <p:txBody>
          <a:bodyPr wrap="square">
            <a:spAutoFit/>
          </a:bodyPr>
          <a:lstStyle/>
          <a:p>
            <a:pPr algn="l"/>
            <a:r>
              <a:rPr sz="1000" b="1" i="0">
                <a:solidFill>
                  <a:srgbClr val="C9A84C"/>
                </a:solidFill>
                <a:latin typeface="Calibri"/>
              </a:rPr>
              <a:t>ENVOY Platform Foundation</a:t>
            </a:r>
          </a:p>
        </p:txBody>
      </p:sp>
      <p:sp>
        <p:nvSpPr>
          <p:cNvPr id="53" name="Rectangle 52"/>
          <p:cNvSpPr/>
          <p:nvPr/>
        </p:nvSpPr>
        <p:spPr>
          <a:xfrm>
            <a:off x="9930384" y="152704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6104" y="1600200"/>
            <a:ext cx="2331720" cy="256032"/>
          </a:xfrm>
          <a:prstGeom prst="rect">
            <a:avLst/>
          </a:prstGeom>
          <a:noFill/>
        </p:spPr>
        <p:txBody>
          <a:bodyPr wrap="square">
            <a:spAutoFit/>
          </a:bodyPr>
          <a:lstStyle/>
          <a:p>
            <a:pPr algn="l"/>
            <a:r>
              <a:rPr sz="850" b="0" i="0">
                <a:solidFill>
                  <a:srgbClr val="FFFFFF"/>
                </a:solidFill>
                <a:latin typeface="Calibri"/>
              </a:rPr>
              <a:t>Google Cloud Platform (GCP)</a:t>
            </a:r>
          </a:p>
        </p:txBody>
      </p:sp>
      <p:sp>
        <p:nvSpPr>
          <p:cNvPr id="55" name="Rectangle 54"/>
          <p:cNvSpPr/>
          <p:nvPr/>
        </p:nvSpPr>
        <p:spPr>
          <a:xfrm>
            <a:off x="9930384" y="194767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76104" y="2020824"/>
            <a:ext cx="2331720" cy="256032"/>
          </a:xfrm>
          <a:prstGeom prst="rect">
            <a:avLst/>
          </a:prstGeom>
          <a:noFill/>
        </p:spPr>
        <p:txBody>
          <a:bodyPr wrap="square">
            <a:spAutoFit/>
          </a:bodyPr>
          <a:lstStyle/>
          <a:p>
            <a:pPr algn="l"/>
            <a:r>
              <a:rPr sz="850" b="0" i="0">
                <a:solidFill>
                  <a:srgbClr val="FFFFFF"/>
                </a:solidFill>
                <a:latin typeface="Calibri"/>
              </a:rPr>
              <a:t>Vertex AI Agent Engine</a:t>
            </a:r>
          </a:p>
        </p:txBody>
      </p:sp>
      <p:sp>
        <p:nvSpPr>
          <p:cNvPr id="57" name="Rectangle 56"/>
          <p:cNvSpPr/>
          <p:nvPr/>
        </p:nvSpPr>
        <p:spPr>
          <a:xfrm>
            <a:off x="9930384" y="236829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76104" y="2441448"/>
            <a:ext cx="2331720" cy="256032"/>
          </a:xfrm>
          <a:prstGeom prst="rect">
            <a:avLst/>
          </a:prstGeom>
          <a:noFill/>
        </p:spPr>
        <p:txBody>
          <a:bodyPr wrap="square">
            <a:spAutoFit/>
          </a:bodyPr>
          <a:lstStyle/>
          <a:p>
            <a:pPr algn="l"/>
            <a:r>
              <a:rPr sz="850" b="0" i="0">
                <a:solidFill>
                  <a:srgbClr val="FFFFFF"/>
                </a:solidFill>
                <a:latin typeface="Calibri"/>
              </a:rPr>
              <a:t>ADK — Agent Developer Kit</a:t>
            </a:r>
          </a:p>
        </p:txBody>
      </p:sp>
      <p:sp>
        <p:nvSpPr>
          <p:cNvPr id="59" name="Rectangle 58"/>
          <p:cNvSpPr/>
          <p:nvPr/>
        </p:nvSpPr>
        <p:spPr>
          <a:xfrm>
            <a:off x="9930384" y="278892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76104" y="2862072"/>
            <a:ext cx="2331720" cy="256032"/>
          </a:xfrm>
          <a:prstGeom prst="rect">
            <a:avLst/>
          </a:prstGeom>
          <a:noFill/>
        </p:spPr>
        <p:txBody>
          <a:bodyPr wrap="square">
            <a:spAutoFit/>
          </a:bodyPr>
          <a:lstStyle/>
          <a:p>
            <a:pPr algn="l"/>
            <a:r>
              <a:rPr sz="850" b="0" i="0">
                <a:solidFill>
                  <a:srgbClr val="FFFFFF"/>
                </a:solidFill>
                <a:latin typeface="Calibri"/>
              </a:rPr>
              <a:t>Gemini Pro &amp; Flash (LLM)</a:t>
            </a:r>
          </a:p>
        </p:txBody>
      </p:sp>
      <p:sp>
        <p:nvSpPr>
          <p:cNvPr id="61" name="Rectangle 60"/>
          <p:cNvSpPr/>
          <p:nvPr/>
        </p:nvSpPr>
        <p:spPr>
          <a:xfrm>
            <a:off x="9930384" y="320954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76104" y="3282696"/>
            <a:ext cx="2331720" cy="256032"/>
          </a:xfrm>
          <a:prstGeom prst="rect">
            <a:avLst/>
          </a:prstGeom>
          <a:noFill/>
        </p:spPr>
        <p:txBody>
          <a:bodyPr wrap="square">
            <a:spAutoFit/>
          </a:bodyPr>
          <a:lstStyle/>
          <a:p>
            <a:pPr algn="l"/>
            <a:r>
              <a:rPr sz="850" b="0" i="0">
                <a:solidFill>
                  <a:srgbClr val="FFFFFF"/>
                </a:solidFill>
                <a:latin typeface="Calibri"/>
              </a:rPr>
              <a:t>Cortex — AI Control Plane</a:t>
            </a:r>
          </a:p>
        </p:txBody>
      </p:sp>
      <p:sp>
        <p:nvSpPr>
          <p:cNvPr id="63" name="Rectangle 62"/>
          <p:cNvSpPr/>
          <p:nvPr/>
        </p:nvSpPr>
        <p:spPr>
          <a:xfrm>
            <a:off x="9930384" y="363016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76104" y="3703320"/>
            <a:ext cx="2331720" cy="256032"/>
          </a:xfrm>
          <a:prstGeom prst="rect">
            <a:avLst/>
          </a:prstGeom>
          <a:noFill/>
        </p:spPr>
        <p:txBody>
          <a:bodyPr wrap="square">
            <a:spAutoFit/>
          </a:bodyPr>
          <a:lstStyle/>
          <a:p>
            <a:pPr algn="l"/>
            <a:r>
              <a:rPr sz="850" b="0" i="0">
                <a:solidFill>
                  <a:srgbClr val="FFFFFF"/>
                </a:solidFill>
                <a:latin typeface="Calibri"/>
              </a:rPr>
              <a:t>Pegasus — LBG Model Evaluation</a:t>
            </a:r>
          </a:p>
        </p:txBody>
      </p:sp>
      <p:sp>
        <p:nvSpPr>
          <p:cNvPr id="65" name="Rectangle 64"/>
          <p:cNvSpPr/>
          <p:nvPr/>
        </p:nvSpPr>
        <p:spPr>
          <a:xfrm>
            <a:off x="9930384" y="405079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76104" y="4123944"/>
            <a:ext cx="2331720" cy="256032"/>
          </a:xfrm>
          <a:prstGeom prst="rect">
            <a:avLst/>
          </a:prstGeom>
          <a:noFill/>
        </p:spPr>
        <p:txBody>
          <a:bodyPr wrap="square">
            <a:spAutoFit/>
          </a:bodyPr>
          <a:lstStyle/>
          <a:p>
            <a:pPr algn="l"/>
            <a:r>
              <a:rPr sz="850" b="0" i="0">
                <a:solidFill>
                  <a:srgbClr val="FFFFFF"/>
                </a:solidFill>
                <a:latin typeface="Calibri"/>
              </a:rPr>
              <a:t>Model Armor — Safety Layer</a:t>
            </a:r>
          </a:p>
        </p:txBody>
      </p:sp>
      <p:sp>
        <p:nvSpPr>
          <p:cNvPr id="67" name="Rectangle 66"/>
          <p:cNvSpPr/>
          <p:nvPr/>
        </p:nvSpPr>
        <p:spPr>
          <a:xfrm>
            <a:off x="9930384" y="447141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76104" y="4544568"/>
            <a:ext cx="2331720" cy="256032"/>
          </a:xfrm>
          <a:prstGeom prst="rect">
            <a:avLst/>
          </a:prstGeom>
          <a:noFill/>
        </p:spPr>
        <p:txBody>
          <a:bodyPr wrap="square">
            <a:spAutoFit/>
          </a:bodyPr>
          <a:lstStyle/>
          <a:p>
            <a:pPr algn="l"/>
            <a:r>
              <a:rPr sz="850" b="0" i="0">
                <a:solidFill>
                  <a:srgbClr val="FFFFFF"/>
                </a:solidFill>
                <a:latin typeface="Calibri"/>
              </a:rPr>
              <a:t>Apigee — API Management Gateway</a:t>
            </a:r>
          </a:p>
        </p:txBody>
      </p:sp>
      <p:sp>
        <p:nvSpPr>
          <p:cNvPr id="69" name="Rectangle 68"/>
          <p:cNvSpPr/>
          <p:nvPr/>
        </p:nvSpPr>
        <p:spPr>
          <a:xfrm>
            <a:off x="9930384" y="489204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976104" y="4965192"/>
            <a:ext cx="2331720" cy="256032"/>
          </a:xfrm>
          <a:prstGeom prst="rect">
            <a:avLst/>
          </a:prstGeom>
          <a:noFill/>
        </p:spPr>
        <p:txBody>
          <a:bodyPr wrap="square">
            <a:spAutoFit/>
          </a:bodyPr>
          <a:lstStyle/>
          <a:p>
            <a:pPr algn="l"/>
            <a:r>
              <a:rPr sz="850" b="0" i="0">
                <a:solidFill>
                  <a:srgbClr val="FFFFFF"/>
                </a:solidFill>
                <a:latin typeface="Calibri"/>
              </a:rPr>
              <a:t>Pega — Governance Workflow Engine</a:t>
            </a:r>
          </a:p>
        </p:txBody>
      </p:sp>
      <p:sp>
        <p:nvSpPr>
          <p:cNvPr id="71" name="Rectangle 70"/>
          <p:cNvSpPr/>
          <p:nvPr/>
        </p:nvSpPr>
        <p:spPr>
          <a:xfrm>
            <a:off x="9930384" y="531266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76104" y="5385816"/>
            <a:ext cx="2331720" cy="256032"/>
          </a:xfrm>
          <a:prstGeom prst="rect">
            <a:avLst/>
          </a:prstGeom>
          <a:noFill/>
        </p:spPr>
        <p:txBody>
          <a:bodyPr wrap="square">
            <a:spAutoFit/>
          </a:bodyPr>
          <a:lstStyle/>
          <a:p>
            <a:pPr algn="l"/>
            <a:r>
              <a:rPr sz="850" b="0" i="0">
                <a:solidFill>
                  <a:srgbClr val="FFFFFF"/>
                </a:solidFill>
                <a:latin typeface="Calibri"/>
              </a:rPr>
              <a:t>ObserveAll — Enterprise Observability</a:t>
            </a:r>
          </a:p>
        </p:txBody>
      </p:sp>
      <p:sp>
        <p:nvSpPr>
          <p:cNvPr id="73" name="Rectangle 72"/>
          <p:cNvSpPr/>
          <p:nvPr/>
        </p:nvSpPr>
        <p:spPr>
          <a:xfrm>
            <a:off x="9930384" y="573328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976104" y="5806440"/>
            <a:ext cx="2331720" cy="256032"/>
          </a:xfrm>
          <a:prstGeom prst="rect">
            <a:avLst/>
          </a:prstGeom>
          <a:noFill/>
        </p:spPr>
        <p:txBody>
          <a:bodyPr wrap="square">
            <a:spAutoFit/>
          </a:bodyPr>
          <a:lstStyle/>
          <a:p>
            <a:pPr algn="l"/>
            <a:r>
              <a:rPr sz="850" b="0" i="0">
                <a:solidFill>
                  <a:srgbClr val="FFFFFF"/>
                </a:solidFill>
                <a:latin typeface="Calibri"/>
              </a:rPr>
              <a:t>Dynatrace — Infrastructure Monitoring</a:t>
            </a:r>
          </a:p>
        </p:txBody>
      </p:sp>
      <p:sp>
        <p:nvSpPr>
          <p:cNvPr id="75" name="Rectangle 74"/>
          <p:cNvSpPr/>
          <p:nvPr/>
        </p:nvSpPr>
        <p:spPr>
          <a:xfrm>
            <a:off x="9930384" y="615391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976104" y="6227064"/>
            <a:ext cx="2331720" cy="256032"/>
          </a:xfrm>
          <a:prstGeom prst="rect">
            <a:avLst/>
          </a:prstGeom>
          <a:noFill/>
        </p:spPr>
        <p:txBody>
          <a:bodyPr wrap="square">
            <a:spAutoFit/>
          </a:bodyPr>
          <a:lstStyle/>
          <a:p>
            <a:pPr algn="l"/>
            <a:r>
              <a:rPr sz="850" b="0" i="0">
                <a:solidFill>
                  <a:srgbClr val="FFFFFF"/>
                </a:solidFill>
                <a:latin typeface="Calibri"/>
              </a:rPr>
              <a:t>ENVOY Audit Framework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PLATFORM FOUNDATION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Shared Services &amp; Google Cloud Platform Infrastructure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08 / 20</a:t>
            </a:r>
          </a:p>
        </p:txBody>
      </p:sp>
      <p:sp>
        <p:nvSpPr>
          <p:cNvPr id="8" name="TextBox 7"/>
          <p:cNvSpPr txBox="1"/>
          <p:nvPr/>
        </p:nvSpPr>
        <p:spPr>
          <a:xfrm>
            <a:off x="457200" y="1051560"/>
            <a:ext cx="6400800" cy="256032"/>
          </a:xfrm>
          <a:prstGeom prst="rect">
            <a:avLst/>
          </a:prstGeom>
          <a:noFill/>
        </p:spPr>
        <p:txBody>
          <a:bodyPr wrap="square">
            <a:spAutoFit/>
          </a:bodyPr>
          <a:lstStyle/>
          <a:p>
            <a:pPr algn="l"/>
            <a:r>
              <a:rPr sz="1000" b="1" i="0">
                <a:solidFill>
                  <a:srgbClr val="0A1628"/>
                </a:solidFill>
                <a:latin typeface="Calibri"/>
              </a:rPr>
              <a:t>ENVOY Shared Services — Enterprise-Grade Reusable Platform Components</a:t>
            </a:r>
          </a:p>
        </p:txBody>
      </p:sp>
      <p:sp>
        <p:nvSpPr>
          <p:cNvPr id="9" name="Rectangle 8"/>
          <p:cNvSpPr/>
          <p:nvPr/>
        </p:nvSpPr>
        <p:spPr>
          <a:xfrm>
            <a:off x="457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1042416" cy="292608"/>
          </a:xfrm>
          <a:prstGeom prst="rect">
            <a:avLst/>
          </a:prstGeom>
          <a:noFill/>
        </p:spPr>
        <p:txBody>
          <a:bodyPr wrap="square">
            <a:spAutoFit/>
          </a:bodyPr>
          <a:lstStyle/>
          <a:p>
            <a:pPr algn="l"/>
            <a:r>
              <a:rPr sz="800" b="1" i="0">
                <a:solidFill>
                  <a:srgbClr val="FFFFFF"/>
                </a:solidFill>
                <a:latin typeface="Calibri"/>
              </a:rPr>
              <a:t>Memory Store</a:t>
            </a:r>
          </a:p>
        </p:txBody>
      </p:sp>
      <p:sp>
        <p:nvSpPr>
          <p:cNvPr id="11" name="Rectangle 10"/>
          <p:cNvSpPr/>
          <p:nvPr/>
        </p:nvSpPr>
        <p:spPr>
          <a:xfrm>
            <a:off x="1600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371600"/>
            <a:ext cx="1042416" cy="292608"/>
          </a:xfrm>
          <a:prstGeom prst="rect">
            <a:avLst/>
          </a:prstGeom>
          <a:noFill/>
        </p:spPr>
        <p:txBody>
          <a:bodyPr wrap="square">
            <a:spAutoFit/>
          </a:bodyPr>
          <a:lstStyle/>
          <a:p>
            <a:pPr algn="l"/>
            <a:r>
              <a:rPr sz="800" b="1" i="0">
                <a:solidFill>
                  <a:srgbClr val="FFFFFF"/>
                </a:solidFill>
                <a:latin typeface="Calibri"/>
              </a:rPr>
              <a:t>Session Store</a:t>
            </a:r>
          </a:p>
        </p:txBody>
      </p:sp>
      <p:sp>
        <p:nvSpPr>
          <p:cNvPr id="13" name="Rectangle 12"/>
          <p:cNvSpPr/>
          <p:nvPr/>
        </p:nvSpPr>
        <p:spPr>
          <a:xfrm>
            <a:off x="2743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1371600"/>
            <a:ext cx="1042416" cy="292608"/>
          </a:xfrm>
          <a:prstGeom prst="rect">
            <a:avLst/>
          </a:prstGeom>
          <a:noFill/>
        </p:spPr>
        <p:txBody>
          <a:bodyPr wrap="square">
            <a:spAutoFit/>
          </a:bodyPr>
          <a:lstStyle/>
          <a:p>
            <a:pPr algn="l"/>
            <a:r>
              <a:rPr sz="800" b="1" i="0">
                <a:solidFill>
                  <a:srgbClr val="FFFFFF"/>
                </a:solidFill>
                <a:latin typeface="Calibri"/>
              </a:rPr>
              <a:t>Tool Registry</a:t>
            </a:r>
          </a:p>
        </p:txBody>
      </p:sp>
      <p:sp>
        <p:nvSpPr>
          <p:cNvPr id="15" name="Rectangle 14"/>
          <p:cNvSpPr/>
          <p:nvPr/>
        </p:nvSpPr>
        <p:spPr>
          <a:xfrm>
            <a:off x="3886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1371600"/>
            <a:ext cx="1042416" cy="292608"/>
          </a:xfrm>
          <a:prstGeom prst="rect">
            <a:avLst/>
          </a:prstGeom>
          <a:noFill/>
        </p:spPr>
        <p:txBody>
          <a:bodyPr wrap="square">
            <a:spAutoFit/>
          </a:bodyPr>
          <a:lstStyle/>
          <a:p>
            <a:pPr algn="l"/>
            <a:r>
              <a:rPr sz="800" b="1" i="0">
                <a:solidFill>
                  <a:srgbClr val="FFFFFF"/>
                </a:solidFill>
                <a:latin typeface="Calibri"/>
              </a:rPr>
              <a:t>Agent Registry</a:t>
            </a:r>
          </a:p>
        </p:txBody>
      </p:sp>
      <p:sp>
        <p:nvSpPr>
          <p:cNvPr id="17" name="Rectangle 16"/>
          <p:cNvSpPr/>
          <p:nvPr/>
        </p:nvSpPr>
        <p:spPr>
          <a:xfrm>
            <a:off x="5029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371600"/>
            <a:ext cx="1042416" cy="292608"/>
          </a:xfrm>
          <a:prstGeom prst="rect">
            <a:avLst/>
          </a:prstGeom>
          <a:noFill/>
        </p:spPr>
        <p:txBody>
          <a:bodyPr wrap="square">
            <a:spAutoFit/>
          </a:bodyPr>
          <a:lstStyle/>
          <a:p>
            <a:pPr algn="l"/>
            <a:r>
              <a:rPr sz="800" b="1" i="0">
                <a:solidFill>
                  <a:srgbClr val="FFFFFF"/>
                </a:solidFill>
                <a:latin typeface="Calibri"/>
              </a:rPr>
              <a:t>Prompt Registry</a:t>
            </a:r>
          </a:p>
        </p:txBody>
      </p:sp>
      <p:sp>
        <p:nvSpPr>
          <p:cNvPr id="19" name="Rectangle 18"/>
          <p:cNvSpPr/>
          <p:nvPr/>
        </p:nvSpPr>
        <p:spPr>
          <a:xfrm>
            <a:off x="6172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371600"/>
            <a:ext cx="1042416" cy="292608"/>
          </a:xfrm>
          <a:prstGeom prst="rect">
            <a:avLst/>
          </a:prstGeom>
          <a:noFill/>
        </p:spPr>
        <p:txBody>
          <a:bodyPr wrap="square">
            <a:spAutoFit/>
          </a:bodyPr>
          <a:lstStyle/>
          <a:p>
            <a:pPr algn="l"/>
            <a:r>
              <a:rPr sz="800" b="1" i="0">
                <a:solidFill>
                  <a:srgbClr val="FFFFFF"/>
                </a:solidFill>
                <a:latin typeface="Calibri"/>
              </a:rPr>
              <a:t>Policy Registry</a:t>
            </a:r>
          </a:p>
        </p:txBody>
      </p:sp>
      <p:sp>
        <p:nvSpPr>
          <p:cNvPr id="21" name="Rectangle 20"/>
          <p:cNvSpPr/>
          <p:nvPr/>
        </p:nvSpPr>
        <p:spPr>
          <a:xfrm>
            <a:off x="7315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1371600"/>
            <a:ext cx="1042416" cy="292608"/>
          </a:xfrm>
          <a:prstGeom prst="rect">
            <a:avLst/>
          </a:prstGeom>
          <a:noFill/>
        </p:spPr>
        <p:txBody>
          <a:bodyPr wrap="square">
            <a:spAutoFit/>
          </a:bodyPr>
          <a:lstStyle/>
          <a:p>
            <a:pPr algn="l"/>
            <a:r>
              <a:rPr sz="800" b="1" i="0">
                <a:solidFill>
                  <a:srgbClr val="FFFFFF"/>
                </a:solidFill>
                <a:latin typeface="Calibri"/>
              </a:rPr>
              <a:t>Evaluation Framework</a:t>
            </a:r>
          </a:p>
        </p:txBody>
      </p:sp>
      <p:sp>
        <p:nvSpPr>
          <p:cNvPr id="23" name="Rectangle 22"/>
          <p:cNvSpPr/>
          <p:nvPr/>
        </p:nvSpPr>
        <p:spPr>
          <a:xfrm>
            <a:off x="8458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1371600"/>
            <a:ext cx="1042416" cy="292608"/>
          </a:xfrm>
          <a:prstGeom prst="rect">
            <a:avLst/>
          </a:prstGeom>
          <a:noFill/>
        </p:spPr>
        <p:txBody>
          <a:bodyPr wrap="square">
            <a:spAutoFit/>
          </a:bodyPr>
          <a:lstStyle/>
          <a:p>
            <a:pPr algn="l"/>
            <a:r>
              <a:rPr sz="800" b="1" i="0">
                <a:solidFill>
                  <a:srgbClr val="FFFFFF"/>
                </a:solidFill>
                <a:latin typeface="Calibri"/>
              </a:rPr>
              <a:t>MCP Registry</a:t>
            </a:r>
          </a:p>
        </p:txBody>
      </p:sp>
      <p:sp>
        <p:nvSpPr>
          <p:cNvPr id="25" name="Rectangle 24"/>
          <p:cNvSpPr/>
          <p:nvPr/>
        </p:nvSpPr>
        <p:spPr>
          <a:xfrm>
            <a:off x="9601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371600"/>
            <a:ext cx="1042416" cy="292608"/>
          </a:xfrm>
          <a:prstGeom prst="rect">
            <a:avLst/>
          </a:prstGeom>
          <a:noFill/>
        </p:spPr>
        <p:txBody>
          <a:bodyPr wrap="square">
            <a:spAutoFit/>
          </a:bodyPr>
          <a:lstStyle/>
          <a:p>
            <a:pPr algn="l"/>
            <a:r>
              <a:rPr sz="800" b="1" i="0">
                <a:solidFill>
                  <a:srgbClr val="FFFFFF"/>
                </a:solidFill>
                <a:latin typeface="Calibri"/>
              </a:rPr>
              <a:t>A2A Registry</a:t>
            </a:r>
          </a:p>
        </p:txBody>
      </p:sp>
      <p:sp>
        <p:nvSpPr>
          <p:cNvPr id="27" name="Rectangle 26"/>
          <p:cNvSpPr/>
          <p:nvPr/>
        </p:nvSpPr>
        <p:spPr>
          <a:xfrm>
            <a:off x="10744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0" y="1371600"/>
            <a:ext cx="1042416" cy="292608"/>
          </a:xfrm>
          <a:prstGeom prst="rect">
            <a:avLst/>
          </a:prstGeom>
          <a:noFill/>
        </p:spPr>
        <p:txBody>
          <a:bodyPr wrap="square">
            <a:spAutoFit/>
          </a:bodyPr>
          <a:lstStyle/>
          <a:p>
            <a:pPr algn="l"/>
            <a:r>
              <a:rPr sz="800" b="1" i="0">
                <a:solidFill>
                  <a:srgbClr val="FFFFFF"/>
                </a:solidFill>
                <a:latin typeface="Calibri"/>
              </a:rPr>
              <a:t>Audit Framework</a:t>
            </a:r>
          </a:p>
        </p:txBody>
      </p:sp>
      <p:sp>
        <p:nvSpPr>
          <p:cNvPr id="29" name="TextBox 28"/>
          <p:cNvSpPr txBox="1"/>
          <p:nvPr/>
        </p:nvSpPr>
        <p:spPr>
          <a:xfrm>
            <a:off x="457200" y="1828800"/>
            <a:ext cx="8229600" cy="256032"/>
          </a:xfrm>
          <a:prstGeom prst="rect">
            <a:avLst/>
          </a:prstGeom>
          <a:noFill/>
        </p:spPr>
        <p:txBody>
          <a:bodyPr wrap="square">
            <a:spAutoFit/>
          </a:bodyPr>
          <a:lstStyle/>
          <a:p>
            <a:pPr algn="l"/>
            <a:r>
              <a:rPr sz="1000" b="1" i="0">
                <a:solidFill>
                  <a:srgbClr val="0A1628"/>
                </a:solidFill>
                <a:latin typeface="Calibri"/>
              </a:rPr>
              <a:t>Google Cloud Platform Foundation — Technology Stack Underpinning the Competitive Intelligence Platform</a:t>
            </a:r>
          </a:p>
        </p:txBody>
      </p:sp>
      <p:sp>
        <p:nvSpPr>
          <p:cNvPr id="30" name="Rectangle 29"/>
          <p:cNvSpPr/>
          <p:nvPr/>
        </p:nvSpPr>
        <p:spPr>
          <a:xfrm>
            <a:off x="457200"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2103120"/>
            <a:ext cx="141732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148840"/>
            <a:ext cx="1344168" cy="256032"/>
          </a:xfrm>
          <a:prstGeom prst="rect">
            <a:avLst/>
          </a:prstGeom>
          <a:noFill/>
        </p:spPr>
        <p:txBody>
          <a:bodyPr wrap="square">
            <a:spAutoFit/>
          </a:bodyPr>
          <a:lstStyle/>
          <a:p>
            <a:pPr algn="l"/>
            <a:r>
              <a:rPr sz="800" b="1" i="0">
                <a:solidFill>
                  <a:srgbClr val="FFFFFF"/>
                </a:solidFill>
                <a:latin typeface="Calibri"/>
              </a:rPr>
              <a:t>CHANNELS</a:t>
            </a:r>
          </a:p>
        </p:txBody>
      </p:sp>
      <p:sp>
        <p:nvSpPr>
          <p:cNvPr id="33" name="TextBox 32"/>
          <p:cNvSpPr txBox="1"/>
          <p:nvPr/>
        </p:nvSpPr>
        <p:spPr>
          <a:xfrm>
            <a:off x="521208" y="2468880"/>
            <a:ext cx="1325880" cy="2450592"/>
          </a:xfrm>
          <a:prstGeom prst="rect">
            <a:avLst/>
          </a:prstGeom>
          <a:noFill/>
        </p:spPr>
        <p:txBody>
          <a:bodyPr wrap="square">
            <a:spAutoFit/>
          </a:bodyPr>
          <a:lstStyle/>
          <a:p>
            <a:pPr>
              <a:spcBef>
                <a:spcPts val="150"/>
              </a:spcBef>
            </a:pPr>
            <a:r>
              <a:rPr sz="800">
                <a:solidFill>
                  <a:srgbClr val="475569"/>
                </a:solidFill>
                <a:latin typeface="Calibri"/>
              </a:rPr>
              <a:t>APIs — RESTful and event-driven integration endpoints for all platform interactions</a:t>
            </a:r>
          </a:p>
          <a:p>
            <a:pPr>
              <a:spcBef>
                <a:spcPts val="150"/>
              </a:spcBef>
            </a:pPr>
            <a:r>
              <a:rPr sz="800">
                <a:solidFill>
                  <a:srgbClr val="475569"/>
                </a:solidFill>
                <a:latin typeface="Calibri"/>
              </a:rPr>
              <a:t>Events — Pub/Sub and Eventarc for real-time event-driven agent triggering</a:t>
            </a:r>
          </a:p>
          <a:p>
            <a:pPr>
              <a:spcBef>
                <a:spcPts val="150"/>
              </a:spcBef>
            </a:pPr>
            <a:r>
              <a:rPr sz="800">
                <a:solidFill>
                  <a:srgbClr val="475569"/>
                </a:solidFill>
                <a:latin typeface="Calibri"/>
              </a:rPr>
              <a:t>Applications — internal LBG business applications integrated via Apigee</a:t>
            </a:r>
          </a:p>
          <a:p>
            <a:pPr>
              <a:spcBef>
                <a:spcPts val="150"/>
              </a:spcBef>
            </a:pPr>
            <a:r>
              <a:rPr sz="800">
                <a:solidFill>
                  <a:srgbClr val="475569"/>
                </a:solidFill>
                <a:latin typeface="Calibri"/>
              </a:rPr>
              <a:t>PCW Data Feeds — structured market data ingestion from Price Comparison Websites</a:t>
            </a:r>
          </a:p>
          <a:p>
            <a:pPr>
              <a:spcBef>
                <a:spcPts val="150"/>
              </a:spcBef>
            </a:pPr>
            <a:r>
              <a:rPr sz="800">
                <a:solidFill>
                  <a:srgbClr val="475569"/>
                </a:solidFill>
                <a:latin typeface="Calibri"/>
              </a:rPr>
              <a:t>Webhook Triggers — real-time competitor change notification via event streaming</a:t>
            </a:r>
          </a:p>
        </p:txBody>
      </p:sp>
      <p:sp>
        <p:nvSpPr>
          <p:cNvPr id="34" name="Rectangle 33"/>
          <p:cNvSpPr/>
          <p:nvPr/>
        </p:nvSpPr>
        <p:spPr>
          <a:xfrm>
            <a:off x="1911096"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11096" y="2103120"/>
            <a:ext cx="141732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56816" y="2148840"/>
            <a:ext cx="1344168" cy="256032"/>
          </a:xfrm>
          <a:prstGeom prst="rect">
            <a:avLst/>
          </a:prstGeom>
          <a:noFill/>
        </p:spPr>
        <p:txBody>
          <a:bodyPr wrap="square">
            <a:spAutoFit/>
          </a:bodyPr>
          <a:lstStyle/>
          <a:p>
            <a:pPr algn="l"/>
            <a:r>
              <a:rPr sz="800" b="1" i="0">
                <a:solidFill>
                  <a:srgbClr val="FFFFFF"/>
                </a:solidFill>
                <a:latin typeface="Calibri"/>
              </a:rPr>
              <a:t>AGENT PLATFORM</a:t>
            </a:r>
          </a:p>
        </p:txBody>
      </p:sp>
      <p:sp>
        <p:nvSpPr>
          <p:cNvPr id="37" name="TextBox 36"/>
          <p:cNvSpPr txBox="1"/>
          <p:nvPr/>
        </p:nvSpPr>
        <p:spPr>
          <a:xfrm>
            <a:off x="1975104" y="2468880"/>
            <a:ext cx="1325880" cy="2450592"/>
          </a:xfrm>
          <a:prstGeom prst="rect">
            <a:avLst/>
          </a:prstGeom>
          <a:noFill/>
        </p:spPr>
        <p:txBody>
          <a:bodyPr wrap="square">
            <a:spAutoFit/>
          </a:bodyPr>
          <a:lstStyle/>
          <a:p>
            <a:pPr>
              <a:spcBef>
                <a:spcPts val="150"/>
              </a:spcBef>
            </a:pPr>
            <a:r>
              <a:rPr sz="800">
                <a:solidFill>
                  <a:srgbClr val="475569"/>
                </a:solidFill>
                <a:latin typeface="Calibri"/>
              </a:rPr>
              <a:t>Vertex AI Agent Engine — fully managed agent hosting, execution and scaling on GCP</a:t>
            </a:r>
          </a:p>
          <a:p>
            <a:pPr>
              <a:spcBef>
                <a:spcPts val="150"/>
              </a:spcBef>
            </a:pPr>
            <a:r>
              <a:rPr sz="800">
                <a:solidFill>
                  <a:srgbClr val="475569"/>
                </a:solidFill>
                <a:latin typeface="Calibri"/>
              </a:rPr>
              <a:t>ADK (Agent Developer Kit) — framework for agent development, deployment and lifecycle management</a:t>
            </a:r>
          </a:p>
          <a:p>
            <a:pPr>
              <a:spcBef>
                <a:spcPts val="150"/>
              </a:spcBef>
            </a:pPr>
            <a:r>
              <a:rPr sz="800">
                <a:solidFill>
                  <a:srgbClr val="475569"/>
                </a:solidFill>
                <a:latin typeface="Calibri"/>
              </a:rPr>
              <a:t>MCP Protocol — Model Context Protocol enabling structured tool integration for agents</a:t>
            </a:r>
          </a:p>
          <a:p>
            <a:pPr>
              <a:spcBef>
                <a:spcPts val="150"/>
              </a:spcBef>
            </a:pPr>
            <a:r>
              <a:rPr sz="800">
                <a:solidFill>
                  <a:srgbClr val="475569"/>
                </a:solidFill>
                <a:latin typeface="Calibri"/>
              </a:rPr>
              <a:t>A2A Protocol — Agent-to-Agent communication standard for multi-agent coordination</a:t>
            </a:r>
          </a:p>
          <a:p>
            <a:pPr>
              <a:spcBef>
                <a:spcPts val="150"/>
              </a:spcBef>
            </a:pPr>
            <a:r>
              <a:rPr sz="800">
                <a:solidFill>
                  <a:srgbClr val="475569"/>
                </a:solidFill>
                <a:latin typeface="Calibri"/>
              </a:rPr>
              <a:t>Agent Registry — centralised catalogue of all deployed agent versions and capabilities</a:t>
            </a:r>
          </a:p>
        </p:txBody>
      </p:sp>
      <p:sp>
        <p:nvSpPr>
          <p:cNvPr id="38" name="Rectangle 37"/>
          <p:cNvSpPr/>
          <p:nvPr/>
        </p:nvSpPr>
        <p:spPr>
          <a:xfrm>
            <a:off x="3364992"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64992" y="2103120"/>
            <a:ext cx="141732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2148840"/>
            <a:ext cx="1344168" cy="256032"/>
          </a:xfrm>
          <a:prstGeom prst="rect">
            <a:avLst/>
          </a:prstGeom>
          <a:noFill/>
        </p:spPr>
        <p:txBody>
          <a:bodyPr wrap="square">
            <a:spAutoFit/>
          </a:bodyPr>
          <a:lstStyle/>
          <a:p>
            <a:pPr algn="l"/>
            <a:r>
              <a:rPr sz="800" b="1" i="0">
                <a:solidFill>
                  <a:srgbClr val="FFFFFF"/>
                </a:solidFill>
                <a:latin typeface="Calibri"/>
              </a:rPr>
              <a:t>AI PLATFORM</a:t>
            </a:r>
          </a:p>
        </p:txBody>
      </p:sp>
      <p:sp>
        <p:nvSpPr>
          <p:cNvPr id="41" name="TextBox 40"/>
          <p:cNvSpPr txBox="1"/>
          <p:nvPr/>
        </p:nvSpPr>
        <p:spPr>
          <a:xfrm>
            <a:off x="3429000" y="2468880"/>
            <a:ext cx="1325880" cy="2450592"/>
          </a:xfrm>
          <a:prstGeom prst="rect">
            <a:avLst/>
          </a:prstGeom>
          <a:noFill/>
        </p:spPr>
        <p:txBody>
          <a:bodyPr wrap="square">
            <a:spAutoFit/>
          </a:bodyPr>
          <a:lstStyle/>
          <a:p>
            <a:pPr>
              <a:spcBef>
                <a:spcPts val="150"/>
              </a:spcBef>
            </a:pPr>
            <a:r>
              <a:rPr sz="800">
                <a:solidFill>
                  <a:srgbClr val="475569"/>
                </a:solidFill>
                <a:latin typeface="Calibri"/>
              </a:rPr>
              <a:t>Gemini Pro / Flash — Google's foundation LLM powering analysis, synthesis and recommendation</a:t>
            </a:r>
          </a:p>
          <a:p>
            <a:pPr>
              <a:spcBef>
                <a:spcPts val="150"/>
              </a:spcBef>
            </a:pPr>
            <a:r>
              <a:rPr sz="800">
                <a:solidFill>
                  <a:srgbClr val="475569"/>
                </a:solidFill>
                <a:latin typeface="Calibri"/>
              </a:rPr>
              <a:t>Cortex Control Plane — centralised model routing, policy enforcement and access governance</a:t>
            </a:r>
          </a:p>
          <a:p>
            <a:pPr>
              <a:spcBef>
                <a:spcPts val="150"/>
              </a:spcBef>
            </a:pPr>
            <a:r>
              <a:rPr sz="800">
                <a:solidFill>
                  <a:srgbClr val="475569"/>
                </a:solidFill>
                <a:latin typeface="Calibri"/>
              </a:rPr>
              <a:t>Pegasus (LBG) — LBG's proprietary model evaluation, quality management and governance platform</a:t>
            </a:r>
          </a:p>
          <a:p>
            <a:pPr>
              <a:spcBef>
                <a:spcPts val="150"/>
              </a:spcBef>
            </a:pPr>
            <a:r>
              <a:rPr sz="800">
                <a:solidFill>
                  <a:srgbClr val="475569"/>
                </a:solidFill>
                <a:latin typeface="Calibri"/>
              </a:rPr>
              <a:t>Model Armor — prompt injection protection and unsafe output filtering for all model calls</a:t>
            </a:r>
          </a:p>
          <a:p>
            <a:pPr>
              <a:spcBef>
                <a:spcPts val="150"/>
              </a:spcBef>
            </a:pPr>
            <a:r>
              <a:rPr sz="800">
                <a:solidFill>
                  <a:srgbClr val="475569"/>
                </a:solidFill>
                <a:latin typeface="Calibri"/>
              </a:rPr>
              <a:t>Vertex AI Studio — model experimentation, fine-tuning and prompt engineering environment</a:t>
            </a:r>
          </a:p>
        </p:txBody>
      </p:sp>
      <p:sp>
        <p:nvSpPr>
          <p:cNvPr id="42" name="Rectangle 41"/>
          <p:cNvSpPr/>
          <p:nvPr/>
        </p:nvSpPr>
        <p:spPr>
          <a:xfrm>
            <a:off x="4818888"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18888" y="2103120"/>
            <a:ext cx="1417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148840"/>
            <a:ext cx="1344168" cy="256032"/>
          </a:xfrm>
          <a:prstGeom prst="rect">
            <a:avLst/>
          </a:prstGeom>
          <a:noFill/>
        </p:spPr>
        <p:txBody>
          <a:bodyPr wrap="square">
            <a:spAutoFit/>
          </a:bodyPr>
          <a:lstStyle/>
          <a:p>
            <a:pPr algn="l"/>
            <a:r>
              <a:rPr sz="800" b="1" i="0">
                <a:solidFill>
                  <a:srgbClr val="FFFFFF"/>
                </a:solidFill>
                <a:latin typeface="Calibri"/>
              </a:rPr>
              <a:t>KNOWLEDGE</a:t>
            </a:r>
          </a:p>
        </p:txBody>
      </p:sp>
      <p:sp>
        <p:nvSpPr>
          <p:cNvPr id="45" name="TextBox 44"/>
          <p:cNvSpPr txBox="1"/>
          <p:nvPr/>
        </p:nvSpPr>
        <p:spPr>
          <a:xfrm>
            <a:off x="4882896" y="2468880"/>
            <a:ext cx="1325880" cy="2450592"/>
          </a:xfrm>
          <a:prstGeom prst="rect">
            <a:avLst/>
          </a:prstGeom>
          <a:noFill/>
        </p:spPr>
        <p:txBody>
          <a:bodyPr wrap="square">
            <a:spAutoFit/>
          </a:bodyPr>
          <a:lstStyle/>
          <a:p>
            <a:pPr>
              <a:spcBef>
                <a:spcPts val="150"/>
              </a:spcBef>
            </a:pPr>
            <a:r>
              <a:rPr sz="800">
                <a:solidFill>
                  <a:srgbClr val="475569"/>
                </a:solidFill>
                <a:latin typeface="Calibri"/>
              </a:rPr>
              <a:t>Vertex AI Vector Search — low-latency semantic search over competitive intelligence embeddings</a:t>
            </a:r>
          </a:p>
          <a:p>
            <a:pPr>
              <a:spcBef>
                <a:spcPts val="150"/>
              </a:spcBef>
            </a:pPr>
            <a:r>
              <a:rPr sz="800">
                <a:solidFill>
                  <a:srgbClr val="475569"/>
                </a:solidFill>
                <a:latin typeface="Calibri"/>
              </a:rPr>
              <a:t>BigQuery — enterprise-scale structured market data storage, analytics and ML feature engineering</a:t>
            </a:r>
          </a:p>
          <a:p>
            <a:pPr>
              <a:spcBef>
                <a:spcPts val="150"/>
              </a:spcBef>
            </a:pPr>
            <a:r>
              <a:rPr sz="800">
                <a:solidFill>
                  <a:srgbClr val="475569"/>
                </a:solidFill>
                <a:latin typeface="Calibri"/>
              </a:rPr>
              <a:t>Cloud SQL (PostgreSQL) — relational store for ENVOY metadata, config and audit data</a:t>
            </a:r>
          </a:p>
          <a:p>
            <a:pPr>
              <a:spcBef>
                <a:spcPts val="150"/>
              </a:spcBef>
            </a:pPr>
            <a:r>
              <a:rPr sz="800">
                <a:solidFill>
                  <a:srgbClr val="475569"/>
                </a:solidFill>
                <a:latin typeface="Calibri"/>
              </a:rPr>
              <a:t>Cloud Storage — competitive intelligence archive and ML model artefact repository</a:t>
            </a:r>
          </a:p>
          <a:p>
            <a:pPr>
              <a:spcBef>
                <a:spcPts val="150"/>
              </a:spcBef>
            </a:pPr>
            <a:r>
              <a:rPr sz="800">
                <a:solidFill>
                  <a:srgbClr val="475569"/>
                </a:solidFill>
                <a:latin typeface="Calibri"/>
              </a:rPr>
              <a:t>Knowledge Graph — models relationships between competitors, products, PCWs and market events</a:t>
            </a:r>
          </a:p>
        </p:txBody>
      </p:sp>
      <p:sp>
        <p:nvSpPr>
          <p:cNvPr id="46" name="Rectangle 45"/>
          <p:cNvSpPr/>
          <p:nvPr/>
        </p:nvSpPr>
        <p:spPr>
          <a:xfrm>
            <a:off x="6272784"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72784" y="2103120"/>
            <a:ext cx="1417320" cy="320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18504" y="2148840"/>
            <a:ext cx="1344168" cy="256032"/>
          </a:xfrm>
          <a:prstGeom prst="rect">
            <a:avLst/>
          </a:prstGeom>
          <a:noFill/>
        </p:spPr>
        <p:txBody>
          <a:bodyPr wrap="square">
            <a:spAutoFit/>
          </a:bodyPr>
          <a:lstStyle/>
          <a:p>
            <a:pPr algn="l"/>
            <a:r>
              <a:rPr sz="800" b="1" i="0">
                <a:solidFill>
                  <a:srgbClr val="FFFFFF"/>
                </a:solidFill>
                <a:latin typeface="Calibri"/>
              </a:rPr>
              <a:t>INTEGRATION</a:t>
            </a:r>
          </a:p>
        </p:txBody>
      </p:sp>
      <p:sp>
        <p:nvSpPr>
          <p:cNvPr id="49" name="TextBox 48"/>
          <p:cNvSpPr txBox="1"/>
          <p:nvPr/>
        </p:nvSpPr>
        <p:spPr>
          <a:xfrm>
            <a:off x="6336792" y="2468880"/>
            <a:ext cx="1325880" cy="2450592"/>
          </a:xfrm>
          <a:prstGeom prst="rect">
            <a:avLst/>
          </a:prstGeom>
          <a:noFill/>
        </p:spPr>
        <p:txBody>
          <a:bodyPr wrap="square">
            <a:spAutoFit/>
          </a:bodyPr>
          <a:lstStyle/>
          <a:p>
            <a:pPr>
              <a:spcBef>
                <a:spcPts val="150"/>
              </a:spcBef>
            </a:pPr>
            <a:r>
              <a:rPr sz="800">
                <a:solidFill>
                  <a:srgbClr val="475569"/>
                </a:solidFill>
                <a:latin typeface="Calibri"/>
              </a:rPr>
              <a:t>Apigee API Gateway — secure, governed API management for all platform-to-system integrations</a:t>
            </a:r>
          </a:p>
          <a:p>
            <a:pPr>
              <a:spcBef>
                <a:spcPts val="150"/>
              </a:spcBef>
            </a:pPr>
            <a:r>
              <a:rPr sz="800">
                <a:solidFill>
                  <a:srgbClr val="475569"/>
                </a:solidFill>
                <a:latin typeface="Calibri"/>
              </a:rPr>
              <a:t>Cloud Run — containerised microservice hosting for platform integration components</a:t>
            </a:r>
          </a:p>
          <a:p>
            <a:pPr>
              <a:spcBef>
                <a:spcPts val="150"/>
              </a:spcBef>
            </a:pPr>
            <a:r>
              <a:rPr sz="800">
                <a:solidFill>
                  <a:srgbClr val="475569"/>
                </a:solidFill>
                <a:latin typeface="Calibri"/>
              </a:rPr>
              <a:t>Pub/Sub — reliable real-time event streaming between all platform components and agents</a:t>
            </a:r>
          </a:p>
          <a:p>
            <a:pPr>
              <a:spcBef>
                <a:spcPts val="150"/>
              </a:spcBef>
            </a:pPr>
            <a:r>
              <a:rPr sz="800">
                <a:solidFill>
                  <a:srgbClr val="475569"/>
                </a:solidFill>
                <a:latin typeface="Calibri"/>
              </a:rPr>
              <a:t>Cloud Workflows — durable, managed orchestration for long-running process workflows</a:t>
            </a:r>
          </a:p>
          <a:p>
            <a:pPr>
              <a:spcBef>
                <a:spcPts val="150"/>
              </a:spcBef>
            </a:pPr>
            <a:r>
              <a:rPr sz="800">
                <a:solidFill>
                  <a:srgbClr val="475569"/>
                </a:solidFill>
                <a:latin typeface="Calibri"/>
              </a:rPr>
              <a:t>Eventarc — event-driven routing from GCP services to ENVOY ADK agent triggers</a:t>
            </a:r>
          </a:p>
        </p:txBody>
      </p:sp>
      <p:sp>
        <p:nvSpPr>
          <p:cNvPr id="50" name="Rectangle 49"/>
          <p:cNvSpPr/>
          <p:nvPr/>
        </p:nvSpPr>
        <p:spPr>
          <a:xfrm>
            <a:off x="7726680"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26680" y="2103120"/>
            <a:ext cx="141732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0" y="2148840"/>
            <a:ext cx="1344168" cy="256032"/>
          </a:xfrm>
          <a:prstGeom prst="rect">
            <a:avLst/>
          </a:prstGeom>
          <a:noFill/>
        </p:spPr>
        <p:txBody>
          <a:bodyPr wrap="square">
            <a:spAutoFit/>
          </a:bodyPr>
          <a:lstStyle/>
          <a:p>
            <a:pPr algn="l"/>
            <a:r>
              <a:rPr sz="800" b="1" i="0">
                <a:solidFill>
                  <a:srgbClr val="FFFFFF"/>
                </a:solidFill>
                <a:latin typeface="Calibri"/>
              </a:rPr>
              <a:t>EVALUATION</a:t>
            </a:r>
          </a:p>
        </p:txBody>
      </p:sp>
      <p:sp>
        <p:nvSpPr>
          <p:cNvPr id="53" name="TextBox 52"/>
          <p:cNvSpPr txBox="1"/>
          <p:nvPr/>
        </p:nvSpPr>
        <p:spPr>
          <a:xfrm>
            <a:off x="7790688" y="2468880"/>
            <a:ext cx="1325880" cy="2450592"/>
          </a:xfrm>
          <a:prstGeom prst="rect">
            <a:avLst/>
          </a:prstGeom>
          <a:noFill/>
        </p:spPr>
        <p:txBody>
          <a:bodyPr wrap="square">
            <a:spAutoFit/>
          </a:bodyPr>
          <a:lstStyle/>
          <a:p>
            <a:pPr>
              <a:spcBef>
                <a:spcPts val="150"/>
              </a:spcBef>
            </a:pPr>
            <a:r>
              <a:rPr sz="800">
                <a:solidFill>
                  <a:srgbClr val="475569"/>
                </a:solidFill>
                <a:latin typeface="Calibri"/>
              </a:rPr>
              <a:t>Pegasus (LBG) — proprietary ML model evaluation, governance and retraining management</a:t>
            </a:r>
          </a:p>
          <a:p>
            <a:pPr>
              <a:spcBef>
                <a:spcPts val="150"/>
              </a:spcBef>
            </a:pPr>
            <a:r>
              <a:rPr sz="800">
                <a:solidFill>
                  <a:srgbClr val="475569"/>
                </a:solidFill>
                <a:latin typeface="Calibri"/>
              </a:rPr>
              <a:t>Vertex AI Evaluation — automated Gemini output quality assessment across defined dimensions</a:t>
            </a:r>
          </a:p>
          <a:p>
            <a:pPr>
              <a:spcBef>
                <a:spcPts val="150"/>
              </a:spcBef>
            </a:pPr>
            <a:r>
              <a:rPr sz="800">
                <a:solidFill>
                  <a:srgbClr val="475569"/>
                </a:solidFill>
                <a:latin typeface="Calibri"/>
              </a:rPr>
              <a:t>ADK Evaluation — ENVOY agent performance evaluation across accuracy and reliability</a:t>
            </a:r>
          </a:p>
          <a:p>
            <a:pPr>
              <a:spcBef>
                <a:spcPts val="150"/>
              </a:spcBef>
            </a:pPr>
            <a:r>
              <a:rPr sz="800">
                <a:solidFill>
                  <a:srgbClr val="475569"/>
                </a:solidFill>
                <a:latin typeface="Calibri"/>
              </a:rPr>
              <a:t>Golden Test Suites — curated reference datasets for regression and quality gate testing</a:t>
            </a:r>
          </a:p>
          <a:p>
            <a:pPr>
              <a:spcBef>
                <a:spcPts val="150"/>
              </a:spcBef>
            </a:pPr>
            <a:r>
              <a:rPr sz="800">
                <a:solidFill>
                  <a:srgbClr val="475569"/>
                </a:solidFill>
                <a:latin typeface="Calibri"/>
              </a:rPr>
              <a:t>Evaluation Pipelines — automated, scheduled quality gate enforcement across all models</a:t>
            </a:r>
          </a:p>
        </p:txBody>
      </p:sp>
      <p:sp>
        <p:nvSpPr>
          <p:cNvPr id="54" name="Rectangle 53"/>
          <p:cNvSpPr/>
          <p:nvPr/>
        </p:nvSpPr>
        <p:spPr>
          <a:xfrm>
            <a:off x="9180576"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80576" y="2103120"/>
            <a:ext cx="1417320" cy="3200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26296" y="2148840"/>
            <a:ext cx="1344168" cy="256032"/>
          </a:xfrm>
          <a:prstGeom prst="rect">
            <a:avLst/>
          </a:prstGeom>
          <a:noFill/>
        </p:spPr>
        <p:txBody>
          <a:bodyPr wrap="square">
            <a:spAutoFit/>
          </a:bodyPr>
          <a:lstStyle/>
          <a:p>
            <a:pPr algn="l"/>
            <a:r>
              <a:rPr sz="800" b="1" i="0">
                <a:solidFill>
                  <a:srgbClr val="FFFFFF"/>
                </a:solidFill>
                <a:latin typeface="Calibri"/>
              </a:rPr>
              <a:t>OBSERVABILITY</a:t>
            </a:r>
          </a:p>
        </p:txBody>
      </p:sp>
      <p:sp>
        <p:nvSpPr>
          <p:cNvPr id="57" name="TextBox 56"/>
          <p:cNvSpPr txBox="1"/>
          <p:nvPr/>
        </p:nvSpPr>
        <p:spPr>
          <a:xfrm>
            <a:off x="9244584" y="2468880"/>
            <a:ext cx="1325880" cy="2450592"/>
          </a:xfrm>
          <a:prstGeom prst="rect">
            <a:avLst/>
          </a:prstGeom>
          <a:noFill/>
        </p:spPr>
        <p:txBody>
          <a:bodyPr wrap="square">
            <a:spAutoFit/>
          </a:bodyPr>
          <a:lstStyle/>
          <a:p>
            <a:pPr>
              <a:spcBef>
                <a:spcPts val="150"/>
              </a:spcBef>
            </a:pPr>
            <a:r>
              <a:rPr sz="800">
                <a:solidFill>
                  <a:srgbClr val="475569"/>
                </a:solidFill>
                <a:latin typeface="Calibri"/>
              </a:rPr>
              <a:t>ObserveAll (LBG) — enterprise observability integrating agent, model and business KPI metrics</a:t>
            </a:r>
          </a:p>
          <a:p>
            <a:pPr>
              <a:spcBef>
                <a:spcPts val="150"/>
              </a:spcBef>
            </a:pPr>
            <a:r>
              <a:rPr sz="800">
                <a:solidFill>
                  <a:srgbClr val="475569"/>
                </a:solidFill>
                <a:latin typeface="Calibri"/>
              </a:rPr>
              <a:t>Dynatrace — full-stack infrastructure and application performance monitoring on GCP</a:t>
            </a:r>
          </a:p>
          <a:p>
            <a:pPr>
              <a:spcBef>
                <a:spcPts val="150"/>
              </a:spcBef>
            </a:pPr>
            <a:r>
              <a:rPr sz="800">
                <a:solidFill>
                  <a:srgbClr val="475569"/>
                </a:solidFill>
                <a:latin typeface="Calibri"/>
              </a:rPr>
              <a:t>Cloud Monitoring — GCP resource metrics, uptime and SLA compliance monitoring</a:t>
            </a:r>
          </a:p>
          <a:p>
            <a:pPr>
              <a:spcBef>
                <a:spcPts val="150"/>
              </a:spcBef>
            </a:pPr>
            <a:r>
              <a:rPr sz="800">
                <a:solidFill>
                  <a:srgbClr val="475569"/>
                </a:solidFill>
                <a:latin typeface="Calibri"/>
              </a:rPr>
              <a:t>Cloud Logging — centralised structured log management, alerting and audit support</a:t>
            </a:r>
          </a:p>
          <a:p>
            <a:pPr>
              <a:spcBef>
                <a:spcPts val="150"/>
              </a:spcBef>
            </a:pPr>
            <a:r>
              <a:rPr sz="800">
                <a:solidFill>
                  <a:srgbClr val="475569"/>
                </a:solidFill>
                <a:latin typeface="Calibri"/>
              </a:rPr>
              <a:t>Audit Framework — immutable decision and action audit trail for FCA and governance compliance</a:t>
            </a:r>
          </a:p>
        </p:txBody>
      </p:sp>
      <p:sp>
        <p:nvSpPr>
          <p:cNvPr id="58" name="Rectangle 57"/>
          <p:cNvSpPr/>
          <p:nvPr/>
        </p:nvSpPr>
        <p:spPr>
          <a:xfrm>
            <a:off x="10634472"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634472" y="2103120"/>
            <a:ext cx="1417320" cy="320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80192" y="2148840"/>
            <a:ext cx="1344168" cy="256032"/>
          </a:xfrm>
          <a:prstGeom prst="rect">
            <a:avLst/>
          </a:prstGeom>
          <a:noFill/>
        </p:spPr>
        <p:txBody>
          <a:bodyPr wrap="square">
            <a:spAutoFit/>
          </a:bodyPr>
          <a:lstStyle/>
          <a:p>
            <a:pPr algn="l"/>
            <a:r>
              <a:rPr sz="800" b="1" i="0">
                <a:solidFill>
                  <a:srgbClr val="FFFFFF"/>
                </a:solidFill>
                <a:latin typeface="Calibri"/>
              </a:rPr>
              <a:t>SECURITY</a:t>
            </a:r>
          </a:p>
        </p:txBody>
      </p:sp>
      <p:sp>
        <p:nvSpPr>
          <p:cNvPr id="61" name="TextBox 60"/>
          <p:cNvSpPr txBox="1"/>
          <p:nvPr/>
        </p:nvSpPr>
        <p:spPr>
          <a:xfrm>
            <a:off x="10698480" y="2468880"/>
            <a:ext cx="1325880" cy="2450592"/>
          </a:xfrm>
          <a:prstGeom prst="rect">
            <a:avLst/>
          </a:prstGeom>
          <a:noFill/>
        </p:spPr>
        <p:txBody>
          <a:bodyPr wrap="square">
            <a:spAutoFit/>
          </a:bodyPr>
          <a:lstStyle/>
          <a:p>
            <a:pPr>
              <a:spcBef>
                <a:spcPts val="150"/>
              </a:spcBef>
            </a:pPr>
            <a:r>
              <a:rPr sz="800">
                <a:solidFill>
                  <a:srgbClr val="475569"/>
                </a:solidFill>
                <a:latin typeface="Calibri"/>
              </a:rPr>
              <a:t>IAM &amp; RBAC — identity and role-based access control across all platform components</a:t>
            </a:r>
          </a:p>
          <a:p>
            <a:pPr>
              <a:spcBef>
                <a:spcPts val="150"/>
              </a:spcBef>
            </a:pPr>
            <a:r>
              <a:rPr sz="800">
                <a:solidFill>
                  <a:srgbClr val="475569"/>
                </a:solidFill>
                <a:latin typeface="Calibri"/>
              </a:rPr>
              <a:t>VPC-SC — VPC Service Controls enforcing UK data residency and network boundaries</a:t>
            </a:r>
          </a:p>
          <a:p>
            <a:pPr>
              <a:spcBef>
                <a:spcPts val="150"/>
              </a:spcBef>
            </a:pPr>
            <a:r>
              <a:rPr sz="800">
                <a:solidFill>
                  <a:srgbClr val="475569"/>
                </a:solidFill>
                <a:latin typeface="Calibri"/>
              </a:rPr>
              <a:t>Encryption — at-rest and in-transit encryption for all data, models and artefacts</a:t>
            </a:r>
          </a:p>
          <a:p>
            <a:pPr>
              <a:spcBef>
                <a:spcPts val="150"/>
              </a:spcBef>
            </a:pPr>
            <a:r>
              <a:rPr sz="800">
                <a:solidFill>
                  <a:srgbClr val="475569"/>
                </a:solidFill>
                <a:latin typeface="Calibri"/>
              </a:rPr>
              <a:t>DLP — GCP Data Loss Prevention for PII detection and automatic redaction</a:t>
            </a:r>
          </a:p>
          <a:p>
            <a:pPr>
              <a:spcBef>
                <a:spcPts val="150"/>
              </a:spcBef>
            </a:pPr>
            <a:r>
              <a:rPr sz="800">
                <a:solidFill>
                  <a:srgbClr val="475569"/>
                </a:solidFill>
                <a:latin typeface="Calibri"/>
              </a:rPr>
              <a:t>Model Armor — adversarial prompt protection and unsafe content output filtering</a:t>
            </a:r>
          </a:p>
          <a:p>
            <a:pPr>
              <a:spcBef>
                <a:spcPts val="150"/>
              </a:spcBef>
            </a:pPr>
            <a:r>
              <a:rPr sz="800">
                <a:solidFill>
                  <a:srgbClr val="475569"/>
                </a:solidFill>
                <a:latin typeface="Calibri"/>
              </a:rPr>
              <a:t>FCA Controls — regulatory compliance requirements enforced as executable platform policies</a:t>
            </a:r>
          </a:p>
        </p:txBody>
      </p:sp>
      <p:sp>
        <p:nvSpPr>
          <p:cNvPr id="62" name="TextBox 61"/>
          <p:cNvSpPr txBox="1"/>
          <p:nvPr/>
        </p:nvSpPr>
        <p:spPr>
          <a:xfrm>
            <a:off x="457200" y="5074920"/>
            <a:ext cx="3657600" cy="228600"/>
          </a:xfrm>
          <a:prstGeom prst="rect">
            <a:avLst/>
          </a:prstGeom>
          <a:noFill/>
        </p:spPr>
        <p:txBody>
          <a:bodyPr wrap="square">
            <a:spAutoFit/>
          </a:bodyPr>
          <a:lstStyle/>
          <a:p>
            <a:pPr algn="l"/>
            <a:r>
              <a:rPr sz="900" b="1" i="0">
                <a:solidFill>
                  <a:srgbClr val="0A1628"/>
                </a:solidFill>
                <a:latin typeface="Calibri"/>
              </a:rPr>
              <a:t>Build vs Reuse — Architecture Principle</a:t>
            </a:r>
          </a:p>
        </p:txBody>
      </p:sp>
      <p:sp>
        <p:nvSpPr>
          <p:cNvPr id="63" name="Rectangle 62"/>
          <p:cNvSpPr/>
          <p:nvPr/>
        </p:nvSpPr>
        <p:spPr>
          <a:xfrm>
            <a:off x="457200"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5303520"/>
            <a:ext cx="45720" cy="9601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5330952"/>
            <a:ext cx="640080" cy="201168"/>
          </a:xfrm>
          <a:prstGeom prst="rect">
            <a:avLst/>
          </a:prstGeom>
          <a:noFill/>
        </p:spPr>
        <p:txBody>
          <a:bodyPr wrap="square">
            <a:spAutoFit/>
          </a:bodyPr>
          <a:lstStyle/>
          <a:p>
            <a:pPr algn="l"/>
            <a:r>
              <a:rPr sz="800" b="1" i="0">
                <a:solidFill>
                  <a:srgbClr val="059669"/>
                </a:solidFill>
                <a:latin typeface="Calibri"/>
              </a:rPr>
              <a:t>REUSE</a:t>
            </a:r>
          </a:p>
        </p:txBody>
      </p:sp>
      <p:sp>
        <p:nvSpPr>
          <p:cNvPr id="66" name="TextBox 65"/>
          <p:cNvSpPr txBox="1"/>
          <p:nvPr/>
        </p:nvSpPr>
        <p:spPr>
          <a:xfrm>
            <a:off x="548640" y="5522976"/>
            <a:ext cx="2606040" cy="685800"/>
          </a:xfrm>
          <a:prstGeom prst="rect">
            <a:avLst/>
          </a:prstGeom>
          <a:noFill/>
        </p:spPr>
        <p:txBody>
          <a:bodyPr wrap="square">
            <a:spAutoFit/>
          </a:bodyPr>
          <a:lstStyle/>
          <a:p>
            <a:pPr algn="l"/>
            <a:r>
              <a:rPr sz="900" b="0" i="0">
                <a:solidFill>
                  <a:srgbClr val="475569"/>
                </a:solidFill>
                <a:latin typeface="Calibri"/>
              </a:rPr>
              <a:t>Apigee, Pega workflow engine, AGGS, Duck Creek, Pricing Services, ENVOY shared services and all existing Google Cloud infrastructure are reused without modification. Zero parallel infrastructure is created, and no existing capability is duplicated. Every integration reuses established Apigee patterns and governance controls already in place.</a:t>
            </a:r>
          </a:p>
        </p:txBody>
      </p:sp>
      <p:sp>
        <p:nvSpPr>
          <p:cNvPr id="67" name="Rectangle 66"/>
          <p:cNvSpPr/>
          <p:nvPr/>
        </p:nvSpPr>
        <p:spPr>
          <a:xfrm>
            <a:off x="3310128"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310128" y="5303520"/>
            <a:ext cx="45720" cy="9601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01568" y="5330952"/>
            <a:ext cx="640080" cy="201168"/>
          </a:xfrm>
          <a:prstGeom prst="rect">
            <a:avLst/>
          </a:prstGeom>
          <a:noFill/>
        </p:spPr>
        <p:txBody>
          <a:bodyPr wrap="square">
            <a:spAutoFit/>
          </a:bodyPr>
          <a:lstStyle/>
          <a:p>
            <a:pPr algn="l"/>
            <a:r>
              <a:rPr sz="800" b="1" i="0">
                <a:solidFill>
                  <a:srgbClr val="2563AB"/>
                </a:solidFill>
                <a:latin typeface="Calibri"/>
              </a:rPr>
              <a:t>EXTEND</a:t>
            </a:r>
          </a:p>
        </p:txBody>
      </p:sp>
      <p:sp>
        <p:nvSpPr>
          <p:cNvPr id="70" name="TextBox 69"/>
          <p:cNvSpPr txBox="1"/>
          <p:nvPr/>
        </p:nvSpPr>
        <p:spPr>
          <a:xfrm>
            <a:off x="3401568" y="5522976"/>
            <a:ext cx="2606040" cy="685800"/>
          </a:xfrm>
          <a:prstGeom prst="rect">
            <a:avLst/>
          </a:prstGeom>
          <a:noFill/>
        </p:spPr>
        <p:txBody>
          <a:bodyPr wrap="square">
            <a:spAutoFit/>
          </a:bodyPr>
          <a:lstStyle/>
          <a:p>
            <a:pPr algn="l"/>
            <a:r>
              <a:rPr sz="900" b="0" i="0">
                <a:solidFill>
                  <a:srgbClr val="475569"/>
                </a:solidFill>
                <a:latin typeface="Calibri"/>
              </a:rPr>
              <a:t>Vertex AI ML pipelines and Pegasus evaluation framework are extended with new PCW-specific models, features, evaluation datasets and quality metrics. Existing MLOps patterns are reused and new PCW domain models are registered in the shared Model Registry, benefiting from existing governance and monitoring infrastructure.</a:t>
            </a:r>
          </a:p>
        </p:txBody>
      </p:sp>
      <p:sp>
        <p:nvSpPr>
          <p:cNvPr id="71" name="Rectangle 70"/>
          <p:cNvSpPr/>
          <p:nvPr/>
        </p:nvSpPr>
        <p:spPr>
          <a:xfrm>
            <a:off x="6163056"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63056" y="5303520"/>
            <a:ext cx="4572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54496" y="5330952"/>
            <a:ext cx="640080" cy="201168"/>
          </a:xfrm>
          <a:prstGeom prst="rect">
            <a:avLst/>
          </a:prstGeom>
          <a:noFill/>
        </p:spPr>
        <p:txBody>
          <a:bodyPr wrap="square">
            <a:spAutoFit/>
          </a:bodyPr>
          <a:lstStyle/>
          <a:p>
            <a:pPr algn="l"/>
            <a:r>
              <a:rPr sz="800" b="1" i="0">
                <a:solidFill>
                  <a:srgbClr val="0D9488"/>
                </a:solidFill>
                <a:latin typeface="Calibri"/>
              </a:rPr>
              <a:t>CONFIGURE</a:t>
            </a:r>
          </a:p>
        </p:txBody>
      </p:sp>
      <p:sp>
        <p:nvSpPr>
          <p:cNvPr id="74" name="TextBox 73"/>
          <p:cNvSpPr txBox="1"/>
          <p:nvPr/>
        </p:nvSpPr>
        <p:spPr>
          <a:xfrm>
            <a:off x="6254496" y="5522976"/>
            <a:ext cx="2606040" cy="685800"/>
          </a:xfrm>
          <a:prstGeom prst="rect">
            <a:avLst/>
          </a:prstGeom>
          <a:noFill/>
        </p:spPr>
        <p:txBody>
          <a:bodyPr wrap="square">
            <a:spAutoFit/>
          </a:bodyPr>
          <a:lstStyle/>
          <a:p>
            <a:pPr algn="l"/>
            <a:r>
              <a:rPr sz="900" b="0" i="0">
                <a:solidFill>
                  <a:srgbClr val="475569"/>
                </a:solidFill>
                <a:latin typeface="Calibri"/>
              </a:rPr>
              <a:t>Gemini prompt templates are versioned and registered in the ENVOY Prompt Registry. Cortex routing rules are configured for PCW intelligence workflows. Model Armor policies are tuned for the PCW domain. RBAC policies are extended to cover new PCW CI platform roles without disrupting existing access control structures.</a:t>
            </a:r>
          </a:p>
        </p:txBody>
      </p:sp>
      <p:sp>
        <p:nvSpPr>
          <p:cNvPr id="75" name="Rectangle 74"/>
          <p:cNvSpPr/>
          <p:nvPr/>
        </p:nvSpPr>
        <p:spPr>
          <a:xfrm>
            <a:off x="9015984"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015984" y="5303520"/>
            <a:ext cx="45720" cy="9601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07424" y="5330952"/>
            <a:ext cx="640080" cy="201168"/>
          </a:xfrm>
          <a:prstGeom prst="rect">
            <a:avLst/>
          </a:prstGeom>
          <a:noFill/>
        </p:spPr>
        <p:txBody>
          <a:bodyPr wrap="square">
            <a:spAutoFit/>
          </a:bodyPr>
          <a:lstStyle/>
          <a:p>
            <a:pPr algn="l"/>
            <a:r>
              <a:rPr sz="800" b="1" i="0">
                <a:solidFill>
                  <a:srgbClr val="7C3AED"/>
                </a:solidFill>
                <a:latin typeface="Calibri"/>
              </a:rPr>
              <a:t>BUILD</a:t>
            </a:r>
          </a:p>
        </p:txBody>
      </p:sp>
      <p:sp>
        <p:nvSpPr>
          <p:cNvPr id="78" name="TextBox 77"/>
          <p:cNvSpPr txBox="1"/>
          <p:nvPr/>
        </p:nvSpPr>
        <p:spPr>
          <a:xfrm>
            <a:off x="9107424" y="5522976"/>
            <a:ext cx="2606040" cy="685800"/>
          </a:xfrm>
          <a:prstGeom prst="rect">
            <a:avLst/>
          </a:prstGeom>
          <a:noFill/>
        </p:spPr>
        <p:txBody>
          <a:bodyPr wrap="square">
            <a:spAutoFit/>
          </a:bodyPr>
          <a:lstStyle/>
          <a:p>
            <a:pPr algn="l"/>
            <a:r>
              <a:rPr sz="900" b="0" i="0">
                <a:solidFill>
                  <a:srgbClr val="475569"/>
                </a:solidFill>
                <a:latin typeface="Calibri"/>
              </a:rPr>
              <a:t>PCW-specific ENVOY ADK agents and intelligence orchestration workflows are the net-new capabilities — built on the existing ENVOY platform foundation using established ADK patterns, registered in the Agent Registry and governed through existing ENVOY governance, evaluation and observability controls from Day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OPERATING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Target Operating Model — ENVOY-Powered Seven-Stage Competitive Intelligence Cycle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09 / 20</a:t>
            </a:r>
          </a:p>
        </p:txBody>
      </p:sp>
      <p:sp>
        <p:nvSpPr>
          <p:cNvPr id="8" name="Rectangle 7"/>
          <p:cNvSpPr/>
          <p:nvPr/>
        </p:nvSpPr>
        <p:spPr>
          <a:xfrm>
            <a:off x="320040" y="1051560"/>
            <a:ext cx="164592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1572768" cy="274320"/>
          </a:xfrm>
          <a:prstGeom prst="rect">
            <a:avLst/>
          </a:prstGeom>
          <a:noFill/>
        </p:spPr>
        <p:txBody>
          <a:bodyPr wrap="square">
            <a:spAutoFit/>
          </a:bodyPr>
          <a:lstStyle/>
          <a:p>
            <a:pPr algn="l"/>
            <a:r>
              <a:rPr sz="850" b="1" i="0">
                <a:solidFill>
                  <a:srgbClr val="FFFFFF"/>
                </a:solidFill>
                <a:latin typeface="Calibri"/>
              </a:rPr>
              <a:t>1 / SENSE</a:t>
            </a:r>
          </a:p>
        </p:txBody>
      </p:sp>
      <p:sp>
        <p:nvSpPr>
          <p:cNvPr id="10" name="Rectangle 9"/>
          <p:cNvSpPr/>
          <p:nvPr/>
        </p:nvSpPr>
        <p:spPr>
          <a:xfrm>
            <a:off x="32004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527048"/>
            <a:ext cx="1536192" cy="3383280"/>
          </a:xfrm>
          <a:prstGeom prst="rect">
            <a:avLst/>
          </a:prstGeom>
          <a:noFill/>
        </p:spPr>
        <p:txBody>
          <a:bodyPr wrap="square">
            <a:spAutoFit/>
          </a:bodyPr>
          <a:lstStyle/>
          <a:p>
            <a:pPr algn="l"/>
            <a:r>
              <a:rPr sz="850" b="0" i="0">
                <a:solidFill>
                  <a:srgbClr val="475569"/>
                </a:solidFill>
                <a:latin typeface="Calibri"/>
              </a:rPr>
              <a:t>ENVOY ADK Market Collection Agents autonomously and continuously collect PCW pricing, product, excess, optional cover and offer data across all monitored competitors and channels, operating on a defined schedule supplemented by real-time event-triggered collection via Pub/Sub when upstream anomaly detection flags a potential market change requiring immediate investigation. Data is validated against ML-based quality models in BigQuery, enriched with competitor metadata from the ENVOY Knowledge Graph, and streamed into the competitive intelligence feature store with a target freshness of under 15 minutes from market change to platform awareness. Agent execution, data quality metrics and collection SLA compliance are all continuously monitored by ObserveAll, with automated alerts and agent self-healing logic managing collection interruptions without human intervention in steady state.</a:t>
            </a:r>
          </a:p>
        </p:txBody>
      </p:sp>
      <p:sp>
        <p:nvSpPr>
          <p:cNvPr id="12" name="Rectangle 11"/>
          <p:cNvSpPr/>
          <p:nvPr/>
        </p:nvSpPr>
        <p:spPr>
          <a:xfrm>
            <a:off x="39319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974336"/>
            <a:ext cx="1508760" cy="237744"/>
          </a:xfrm>
          <a:prstGeom prst="rect">
            <a:avLst/>
          </a:prstGeom>
          <a:noFill/>
        </p:spPr>
        <p:txBody>
          <a:bodyPr wrap="square">
            <a:spAutoFit/>
          </a:bodyPr>
          <a:lstStyle/>
          <a:p>
            <a:pPr algn="l"/>
            <a:r>
              <a:rPr sz="700" b="1" i="0">
                <a:solidFill>
                  <a:srgbClr val="0F7AC5"/>
                </a:solidFill>
                <a:latin typeface="Calibri"/>
              </a:rPr>
              <a:t>Agentic (ADK) + ML Validation + Pub/Sub</a:t>
            </a:r>
          </a:p>
        </p:txBody>
      </p:sp>
      <p:sp>
        <p:nvSpPr>
          <p:cNvPr id="14" name="TextBox 13"/>
          <p:cNvSpPr txBox="1"/>
          <p:nvPr/>
        </p:nvSpPr>
        <p:spPr>
          <a:xfrm>
            <a:off x="197510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15" name="Rectangle 14"/>
          <p:cNvSpPr/>
          <p:nvPr/>
        </p:nvSpPr>
        <p:spPr>
          <a:xfrm>
            <a:off x="2029968" y="1051560"/>
            <a:ext cx="164592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1115568"/>
            <a:ext cx="1572768" cy="274320"/>
          </a:xfrm>
          <a:prstGeom prst="rect">
            <a:avLst/>
          </a:prstGeom>
          <a:noFill/>
        </p:spPr>
        <p:txBody>
          <a:bodyPr wrap="square">
            <a:spAutoFit/>
          </a:bodyPr>
          <a:lstStyle/>
          <a:p>
            <a:pPr algn="l"/>
            <a:r>
              <a:rPr sz="850" b="1" i="0">
                <a:solidFill>
                  <a:srgbClr val="FFFFFF"/>
                </a:solidFill>
                <a:latin typeface="Calibri"/>
              </a:rPr>
              <a:t>2 / ANALYSE</a:t>
            </a:r>
          </a:p>
        </p:txBody>
      </p:sp>
      <p:sp>
        <p:nvSpPr>
          <p:cNvPr id="17" name="Rectangle 16"/>
          <p:cNvSpPr/>
          <p:nvPr/>
        </p:nvSpPr>
        <p:spPr>
          <a:xfrm>
            <a:off x="202996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1527048"/>
            <a:ext cx="1536192" cy="3383280"/>
          </a:xfrm>
          <a:prstGeom prst="rect">
            <a:avLst/>
          </a:prstGeom>
          <a:noFill/>
        </p:spPr>
        <p:txBody>
          <a:bodyPr wrap="square">
            <a:spAutoFit/>
          </a:bodyPr>
          <a:lstStyle/>
          <a:p>
            <a:pPr algn="l"/>
            <a:r>
              <a:rPr sz="850" b="0" i="0">
                <a:solidFill>
                  <a:srgbClr val="475569"/>
                </a:solidFill>
                <a:latin typeface="Calibri"/>
              </a:rPr>
              <a:t>ML models on Vertex AI, evaluated and governed through Pegasus, analyse the collected competitive intelligence dataset to detect ranking movements, pricing anomalies, competitor behaviour patterns and proposition changes — classifying each signal by significance, velocity, probable cause and commercial urgency using trained classification and anomaly detection models continuously updated with new market data. Material signals meeting defined significance thresholds automatically trigger the Competitor Analysis Agent via Cloud Workflows, while routine market updates are batched for periodic intelligence briefing generation. All model outputs include confidence scores and SHAP-based feature importance explanations, and are quality-checked by the Pegasus Evaluation Framework for groundedness and accuracy before onward processing to the Simulation and Recommendation stages.</a:t>
            </a:r>
          </a:p>
        </p:txBody>
      </p:sp>
      <p:sp>
        <p:nvSpPr>
          <p:cNvPr id="19" name="Rectangle 18"/>
          <p:cNvSpPr/>
          <p:nvPr/>
        </p:nvSpPr>
        <p:spPr>
          <a:xfrm>
            <a:off x="210312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21408" y="4974336"/>
            <a:ext cx="1508760" cy="237744"/>
          </a:xfrm>
          <a:prstGeom prst="rect">
            <a:avLst/>
          </a:prstGeom>
          <a:noFill/>
        </p:spPr>
        <p:txBody>
          <a:bodyPr wrap="square">
            <a:spAutoFit/>
          </a:bodyPr>
          <a:lstStyle/>
          <a:p>
            <a:pPr algn="l"/>
            <a:r>
              <a:rPr sz="700" b="1" i="0">
                <a:solidFill>
                  <a:srgbClr val="2563AB"/>
                </a:solidFill>
                <a:latin typeface="Calibri"/>
              </a:rPr>
              <a:t>ML (Vertex AI) + Pegasus Eval + GenAI (Gemini)</a:t>
            </a:r>
          </a:p>
        </p:txBody>
      </p:sp>
      <p:sp>
        <p:nvSpPr>
          <p:cNvPr id="21" name="TextBox 20"/>
          <p:cNvSpPr txBox="1"/>
          <p:nvPr/>
        </p:nvSpPr>
        <p:spPr>
          <a:xfrm>
            <a:off x="3685032"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2" name="Rectangle 21"/>
          <p:cNvSpPr/>
          <p:nvPr/>
        </p:nvSpPr>
        <p:spPr>
          <a:xfrm>
            <a:off x="3739896" y="1051560"/>
            <a:ext cx="164592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85616" y="1115568"/>
            <a:ext cx="1572768" cy="274320"/>
          </a:xfrm>
          <a:prstGeom prst="rect">
            <a:avLst/>
          </a:prstGeom>
          <a:noFill/>
        </p:spPr>
        <p:txBody>
          <a:bodyPr wrap="square">
            <a:spAutoFit/>
          </a:bodyPr>
          <a:lstStyle/>
          <a:p>
            <a:pPr algn="l"/>
            <a:r>
              <a:rPr sz="850" b="1" i="0">
                <a:solidFill>
                  <a:srgbClr val="FFFFFF"/>
                </a:solidFill>
                <a:latin typeface="Calibri"/>
              </a:rPr>
              <a:t>3 / SIMULATE</a:t>
            </a:r>
          </a:p>
        </p:txBody>
      </p:sp>
      <p:sp>
        <p:nvSpPr>
          <p:cNvPr id="24" name="Rectangle 23"/>
          <p:cNvSpPr/>
          <p:nvPr/>
        </p:nvSpPr>
        <p:spPr>
          <a:xfrm>
            <a:off x="3739896"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13048" y="1527048"/>
            <a:ext cx="1536192" cy="3383280"/>
          </a:xfrm>
          <a:prstGeom prst="rect">
            <a:avLst/>
          </a:prstGeom>
          <a:noFill/>
        </p:spPr>
        <p:txBody>
          <a:bodyPr wrap="square">
            <a:spAutoFit/>
          </a:bodyPr>
          <a:lstStyle/>
          <a:p>
            <a:pPr algn="l"/>
            <a:r>
              <a:rPr sz="850" b="0" i="0">
                <a:solidFill>
                  <a:srgbClr val="475569"/>
                </a:solidFill>
                <a:latin typeface="Calibri"/>
              </a:rPr>
              <a:t>The ENVOY Simulation Agent runs pricing elasticity and volume simulation models on Vertex AI to quantify the likely commercial impact — in ranking position change, quote volume delta and new business margin movement — of each potential intervention identified by the analysis stage, generating a ranked set of intervention scenarios with confidence intervals for each key outcome metric based on LBG's historical PCW performance data. Simulation results are stored in BigQuery and automatically retrieved by the Recommendation Agent as quantified evidence underpinning each recommendation, ensuring that every recommendation presented to pricing teams is supported by a simulation-validated estimate of expected commercial impact rather than analyst intuition alone.</a:t>
            </a:r>
          </a:p>
        </p:txBody>
      </p:sp>
      <p:sp>
        <p:nvSpPr>
          <p:cNvPr id="26" name="Rectangle 25"/>
          <p:cNvSpPr/>
          <p:nvPr/>
        </p:nvSpPr>
        <p:spPr>
          <a:xfrm>
            <a:off x="3813048"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1336" y="4974336"/>
            <a:ext cx="1508760" cy="237744"/>
          </a:xfrm>
          <a:prstGeom prst="rect">
            <a:avLst/>
          </a:prstGeom>
          <a:noFill/>
        </p:spPr>
        <p:txBody>
          <a:bodyPr wrap="square">
            <a:spAutoFit/>
          </a:bodyPr>
          <a:lstStyle/>
          <a:p>
            <a:pPr algn="l"/>
            <a:r>
              <a:rPr sz="700" b="1" i="0">
                <a:solidFill>
                  <a:srgbClr val="0D9488"/>
                </a:solidFill>
                <a:latin typeface="Calibri"/>
              </a:rPr>
              <a:t>ML Simulation (Vertex AI) + BigQuery</a:t>
            </a:r>
          </a:p>
        </p:txBody>
      </p:sp>
      <p:sp>
        <p:nvSpPr>
          <p:cNvPr id="28" name="TextBox 27"/>
          <p:cNvSpPr txBox="1"/>
          <p:nvPr/>
        </p:nvSpPr>
        <p:spPr>
          <a:xfrm>
            <a:off x="5394960"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9" name="Rectangle 28"/>
          <p:cNvSpPr/>
          <p:nvPr/>
        </p:nvSpPr>
        <p:spPr>
          <a:xfrm>
            <a:off x="5449824" y="1051560"/>
            <a:ext cx="164592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95544" y="1115568"/>
            <a:ext cx="1572768" cy="274320"/>
          </a:xfrm>
          <a:prstGeom prst="rect">
            <a:avLst/>
          </a:prstGeom>
          <a:noFill/>
        </p:spPr>
        <p:txBody>
          <a:bodyPr wrap="square">
            <a:spAutoFit/>
          </a:bodyPr>
          <a:lstStyle/>
          <a:p>
            <a:pPr algn="l"/>
            <a:r>
              <a:rPr sz="850" b="1" i="0">
                <a:solidFill>
                  <a:srgbClr val="FFFFFF"/>
                </a:solidFill>
                <a:latin typeface="Calibri"/>
              </a:rPr>
              <a:t>4 / RECOMMEND</a:t>
            </a:r>
          </a:p>
        </p:txBody>
      </p:sp>
      <p:sp>
        <p:nvSpPr>
          <p:cNvPr id="31" name="Rectangle 30"/>
          <p:cNvSpPr/>
          <p:nvPr/>
        </p:nvSpPr>
        <p:spPr>
          <a:xfrm>
            <a:off x="5449824"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22976" y="1527048"/>
            <a:ext cx="1536192" cy="3383280"/>
          </a:xfrm>
          <a:prstGeom prst="rect">
            <a:avLst/>
          </a:prstGeom>
          <a:noFill/>
        </p:spPr>
        <p:txBody>
          <a:bodyPr wrap="square">
            <a:spAutoFit/>
          </a:bodyPr>
          <a:lstStyle/>
          <a:p>
            <a:pPr algn="l"/>
            <a:r>
              <a:rPr sz="850" b="0" i="0">
                <a:solidFill>
                  <a:srgbClr val="475569"/>
                </a:solidFill>
                <a:latin typeface="Calibri"/>
              </a:rPr>
              <a:t>The ENVOY Recommendation Agent uses Gemini to synthesise the outputs of all upstream specialist agents into a structured, prioritised set of actionable recommendations, each accompanied by a Gemini-generated human-readable rationale, supporting evidence references, confidence score, urgency classification and simulated impact quantification that together provide pricing teams with everything they need to make an informed approval decision without querying additional systems. Recommendations are validated against business and regulatory policy rules by the ENVOY Policy Engine and screened through Model Armor before being formatted for Pega governance workflow and routed through Cortex to the appropriate approval tier based on change type, magnitude and risk classification.</a:t>
            </a:r>
          </a:p>
        </p:txBody>
      </p:sp>
      <p:sp>
        <p:nvSpPr>
          <p:cNvPr id="33" name="Rectangle 32"/>
          <p:cNvSpPr/>
          <p:nvPr/>
        </p:nvSpPr>
        <p:spPr>
          <a:xfrm>
            <a:off x="5522976"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1264" y="4974336"/>
            <a:ext cx="1508760" cy="237744"/>
          </a:xfrm>
          <a:prstGeom prst="rect">
            <a:avLst/>
          </a:prstGeom>
          <a:noFill/>
        </p:spPr>
        <p:txBody>
          <a:bodyPr wrap="square">
            <a:spAutoFit/>
          </a:bodyPr>
          <a:lstStyle/>
          <a:p>
            <a:pPr algn="l"/>
            <a:r>
              <a:rPr sz="700" b="1" i="0">
                <a:solidFill>
                  <a:srgbClr val="7C3AED"/>
                </a:solidFill>
                <a:latin typeface="Calibri"/>
              </a:rPr>
              <a:t>GenAI (Gemini) + Cortex Routing + Policy Engine</a:t>
            </a:r>
          </a:p>
        </p:txBody>
      </p:sp>
      <p:sp>
        <p:nvSpPr>
          <p:cNvPr id="35" name="TextBox 34"/>
          <p:cNvSpPr txBox="1"/>
          <p:nvPr/>
        </p:nvSpPr>
        <p:spPr>
          <a:xfrm>
            <a:off x="7104888"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36" name="Rectangle 35"/>
          <p:cNvSpPr/>
          <p:nvPr/>
        </p:nvSpPr>
        <p:spPr>
          <a:xfrm>
            <a:off x="7159752" y="1051560"/>
            <a:ext cx="16459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05472" y="1115568"/>
            <a:ext cx="1572768" cy="274320"/>
          </a:xfrm>
          <a:prstGeom prst="rect">
            <a:avLst/>
          </a:prstGeom>
          <a:noFill/>
        </p:spPr>
        <p:txBody>
          <a:bodyPr wrap="square">
            <a:spAutoFit/>
          </a:bodyPr>
          <a:lstStyle/>
          <a:p>
            <a:pPr algn="l"/>
            <a:r>
              <a:rPr sz="850" b="1" i="0">
                <a:solidFill>
                  <a:srgbClr val="FFFFFF"/>
                </a:solidFill>
                <a:latin typeface="Calibri"/>
              </a:rPr>
              <a:t>5 / GOVERN</a:t>
            </a:r>
          </a:p>
        </p:txBody>
      </p:sp>
      <p:sp>
        <p:nvSpPr>
          <p:cNvPr id="38" name="Rectangle 37"/>
          <p:cNvSpPr/>
          <p:nvPr/>
        </p:nvSpPr>
        <p:spPr>
          <a:xfrm>
            <a:off x="7159752"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2904" y="1527048"/>
            <a:ext cx="1536192" cy="3383280"/>
          </a:xfrm>
          <a:prstGeom prst="rect">
            <a:avLst/>
          </a:prstGeom>
          <a:noFill/>
        </p:spPr>
        <p:txBody>
          <a:bodyPr wrap="square">
            <a:spAutoFit/>
          </a:bodyPr>
          <a:lstStyle/>
          <a:p>
            <a:pPr algn="l"/>
            <a:r>
              <a:rPr sz="850" b="0" i="0">
                <a:solidFill>
                  <a:srgbClr val="475569"/>
                </a:solidFill>
                <a:latin typeface="Calibri"/>
              </a:rPr>
              <a:t>Recommendations are delivered to pricing and proposition teams through Pega-managed governance workflows that present the full recommendation package — rationale, evidence, simulation results, confidence scores and risk assessment — in a single, structured interface, enabling informed human judgement without the need to navigate separate systems or request additional context from the intelligence team. Tiered approval authority is applied automatically — tactical adjustments follow a streamlined single-approver process while material pricing changes route to senior sign-off — with all routing, escalation and SLA management handled by Pega. Every approval, modification, rejection and escalation is permanently recorded in the ENVOY Audit Framework with full decision lineage and user attribution for FCA compliance.</a:t>
            </a:r>
          </a:p>
        </p:txBody>
      </p:sp>
      <p:sp>
        <p:nvSpPr>
          <p:cNvPr id="40" name="Rectangle 39"/>
          <p:cNvSpPr/>
          <p:nvPr/>
        </p:nvSpPr>
        <p:spPr>
          <a:xfrm>
            <a:off x="7232904"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51192" y="4974336"/>
            <a:ext cx="1508760" cy="237744"/>
          </a:xfrm>
          <a:prstGeom prst="rect">
            <a:avLst/>
          </a:prstGeom>
          <a:noFill/>
        </p:spPr>
        <p:txBody>
          <a:bodyPr wrap="square">
            <a:spAutoFit/>
          </a:bodyPr>
          <a:lstStyle/>
          <a:p>
            <a:pPr algn="l"/>
            <a:r>
              <a:rPr sz="700" b="1" i="0">
                <a:solidFill>
                  <a:srgbClr val="C9A84C"/>
                </a:solidFill>
                <a:latin typeface="Calibri"/>
              </a:rPr>
              <a:t>Human + Pega Workflow + ENVOY Audit Framework</a:t>
            </a:r>
          </a:p>
        </p:txBody>
      </p:sp>
      <p:sp>
        <p:nvSpPr>
          <p:cNvPr id="42" name="TextBox 41"/>
          <p:cNvSpPr txBox="1"/>
          <p:nvPr/>
        </p:nvSpPr>
        <p:spPr>
          <a:xfrm>
            <a:off x="8814816"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43" name="Rectangle 42"/>
          <p:cNvSpPr/>
          <p:nvPr/>
        </p:nvSpPr>
        <p:spPr>
          <a:xfrm>
            <a:off x="8869680" y="1051560"/>
            <a:ext cx="164592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15400" y="1115568"/>
            <a:ext cx="1572768" cy="274320"/>
          </a:xfrm>
          <a:prstGeom prst="rect">
            <a:avLst/>
          </a:prstGeom>
          <a:noFill/>
        </p:spPr>
        <p:txBody>
          <a:bodyPr wrap="square">
            <a:spAutoFit/>
          </a:bodyPr>
          <a:lstStyle/>
          <a:p>
            <a:pPr algn="l"/>
            <a:r>
              <a:rPr sz="850" b="1" i="0">
                <a:solidFill>
                  <a:srgbClr val="FFFFFF"/>
                </a:solidFill>
                <a:latin typeface="Calibri"/>
              </a:rPr>
              <a:t>6 / EXECUTE</a:t>
            </a:r>
          </a:p>
        </p:txBody>
      </p:sp>
      <p:sp>
        <p:nvSpPr>
          <p:cNvPr id="45" name="Rectangle 44"/>
          <p:cNvSpPr/>
          <p:nvPr/>
        </p:nvSpPr>
        <p:spPr>
          <a:xfrm>
            <a:off x="886968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2832" y="1527048"/>
            <a:ext cx="1536192" cy="3383280"/>
          </a:xfrm>
          <a:prstGeom prst="rect">
            <a:avLst/>
          </a:prstGeom>
          <a:noFill/>
        </p:spPr>
        <p:txBody>
          <a:bodyPr wrap="square">
            <a:spAutoFit/>
          </a:bodyPr>
          <a:lstStyle/>
          <a:p>
            <a:pPr algn="l"/>
            <a:r>
              <a:rPr sz="850" b="0" i="0">
                <a:solidFill>
                  <a:srgbClr val="475569"/>
                </a:solidFill>
                <a:latin typeface="Calibri"/>
              </a:rPr>
              <a:t>Approved changes are executed automatically through Apigee-managed API integrations to AGGS for PCW rate submissions, Duck Creek for policy and product updates, and Pricing Services for band and rate adjustments — eliminating manual handoffs and reducing execution latency from approval to live market deployment from days to minutes. Execution is confirmed via API response, logged in Cloud Logging and the ENVOY Audit Framework, and a post-change monitoring task is automatically initiated in ObserveAll to track the PCW performance impact of the executed change against the pre-change baseline and the simulation-predicted outcome trajectory, immediately beginning the learning cycle.</a:t>
            </a:r>
          </a:p>
        </p:txBody>
      </p:sp>
      <p:sp>
        <p:nvSpPr>
          <p:cNvPr id="47" name="Rectangle 46"/>
          <p:cNvSpPr/>
          <p:nvPr/>
        </p:nvSpPr>
        <p:spPr>
          <a:xfrm>
            <a:off x="894283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0" y="4974336"/>
            <a:ext cx="1508760" cy="237744"/>
          </a:xfrm>
          <a:prstGeom prst="rect">
            <a:avLst/>
          </a:prstGeom>
          <a:noFill/>
        </p:spPr>
        <p:txBody>
          <a:bodyPr wrap="square">
            <a:spAutoFit/>
          </a:bodyPr>
          <a:lstStyle/>
          <a:p>
            <a:pPr algn="l"/>
            <a:r>
              <a:rPr sz="700" b="1" i="0">
                <a:solidFill>
                  <a:srgbClr val="059669"/>
                </a:solidFill>
                <a:latin typeface="Calibri"/>
              </a:rPr>
              <a:t>Agentic + Apigee + AGGS / Duck Creek / Pricing Services</a:t>
            </a:r>
          </a:p>
        </p:txBody>
      </p:sp>
      <p:sp>
        <p:nvSpPr>
          <p:cNvPr id="49" name="TextBox 48"/>
          <p:cNvSpPr txBox="1"/>
          <p:nvPr/>
        </p:nvSpPr>
        <p:spPr>
          <a:xfrm>
            <a:off x="1052474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50" name="Rectangle 49"/>
          <p:cNvSpPr/>
          <p:nvPr/>
        </p:nvSpPr>
        <p:spPr>
          <a:xfrm>
            <a:off x="10579608" y="1051560"/>
            <a:ext cx="1645920" cy="38404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625328" y="1115568"/>
            <a:ext cx="1572768" cy="274320"/>
          </a:xfrm>
          <a:prstGeom prst="rect">
            <a:avLst/>
          </a:prstGeom>
          <a:noFill/>
        </p:spPr>
        <p:txBody>
          <a:bodyPr wrap="square">
            <a:spAutoFit/>
          </a:bodyPr>
          <a:lstStyle/>
          <a:p>
            <a:pPr algn="l"/>
            <a:r>
              <a:rPr sz="850" b="1" i="0">
                <a:solidFill>
                  <a:srgbClr val="FFFFFF"/>
                </a:solidFill>
                <a:latin typeface="Calibri"/>
              </a:rPr>
              <a:t>7 / LEARN</a:t>
            </a:r>
          </a:p>
        </p:txBody>
      </p:sp>
      <p:sp>
        <p:nvSpPr>
          <p:cNvPr id="52" name="Rectangle 51"/>
          <p:cNvSpPr/>
          <p:nvPr/>
        </p:nvSpPr>
        <p:spPr>
          <a:xfrm>
            <a:off x="1057960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52760" y="1527048"/>
            <a:ext cx="1536192" cy="3383280"/>
          </a:xfrm>
          <a:prstGeom prst="rect">
            <a:avLst/>
          </a:prstGeom>
          <a:noFill/>
        </p:spPr>
        <p:txBody>
          <a:bodyPr wrap="square">
            <a:spAutoFit/>
          </a:bodyPr>
          <a:lstStyle/>
          <a:p>
            <a:pPr algn="l"/>
            <a:r>
              <a:rPr sz="850" b="0" i="0">
                <a:solidFill>
                  <a:srgbClr val="475569"/>
                </a:solidFill>
                <a:latin typeface="Calibri"/>
              </a:rPr>
              <a:t>The ENVOY Learning Agent continuously ingests post-execution PCW performance data from ObserveAll, comparing observed ranking, volume and margin outcomes against both pre-change baselines and simulation-predicted results to calculate recommendation accuracy scores and identify systematic patterns in model over- or under-prediction that indicate recalibration requirements. Model performance trends are surfaced in Pegasus dashboards and reviewed by the data science team, with automated retraining of ML models triggered on Vertex AI when statistical drift exceeds defined thresholds — ensuring the platform's predictive accuracy and recommendation quality compound over time as the feature store accumulates richer intervention and outcome data.</a:t>
            </a:r>
          </a:p>
        </p:txBody>
      </p:sp>
      <p:sp>
        <p:nvSpPr>
          <p:cNvPr id="54" name="Rectangle 53"/>
          <p:cNvSpPr/>
          <p:nvPr/>
        </p:nvSpPr>
        <p:spPr>
          <a:xfrm>
            <a:off x="1065276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71048" y="4974336"/>
            <a:ext cx="1508760" cy="237744"/>
          </a:xfrm>
          <a:prstGeom prst="rect">
            <a:avLst/>
          </a:prstGeom>
          <a:noFill/>
        </p:spPr>
        <p:txBody>
          <a:bodyPr wrap="square">
            <a:spAutoFit/>
          </a:bodyPr>
          <a:lstStyle/>
          <a:p>
            <a:pPr algn="l"/>
            <a:r>
              <a:rPr sz="700" b="1" i="0">
                <a:solidFill>
                  <a:srgbClr val="0891B2"/>
                </a:solidFill>
                <a:latin typeface="Calibri"/>
              </a:rPr>
              <a:t>ML (Vertex AI) + Pegasus + GenAI (Gemini) + ObserveAll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CAPABILITY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Competitive Intelligence Platform — Five-Layer Capability Architecture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10 / 20</a:t>
            </a:r>
          </a:p>
        </p:txBody>
      </p:sp>
      <p:sp>
        <p:nvSpPr>
          <p:cNvPr id="8" name="Rectangle 7"/>
          <p:cNvSpPr/>
          <p:nvPr/>
        </p:nvSpPr>
        <p:spPr>
          <a:xfrm>
            <a:off x="274320" y="1051560"/>
            <a:ext cx="2240280" cy="411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124712"/>
            <a:ext cx="2130552" cy="292608"/>
          </a:xfrm>
          <a:prstGeom prst="rect">
            <a:avLst/>
          </a:prstGeom>
          <a:noFill/>
        </p:spPr>
        <p:txBody>
          <a:bodyPr wrap="square">
            <a:spAutoFit/>
          </a:bodyPr>
          <a:lstStyle/>
          <a:p>
            <a:pPr algn="l"/>
            <a:r>
              <a:rPr sz="900" b="1" i="0">
                <a:solidFill>
                  <a:srgbClr val="FFFFFF"/>
                </a:solidFill>
                <a:latin typeface="Calibri"/>
              </a:rPr>
              <a:t>Market Intelligence Layer</a:t>
            </a:r>
          </a:p>
        </p:txBody>
      </p:sp>
      <p:sp>
        <p:nvSpPr>
          <p:cNvPr id="10" name="Rectangle 9"/>
          <p:cNvSpPr/>
          <p:nvPr/>
        </p:nvSpPr>
        <p:spPr>
          <a:xfrm>
            <a:off x="27432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50876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581912"/>
            <a:ext cx="2103120" cy="420624"/>
          </a:xfrm>
          <a:prstGeom prst="rect">
            <a:avLst/>
          </a:prstGeom>
          <a:noFill/>
        </p:spPr>
        <p:txBody>
          <a:bodyPr wrap="square">
            <a:spAutoFit/>
          </a:bodyPr>
          <a:lstStyle/>
          <a:p>
            <a:pPr algn="l"/>
            <a:r>
              <a:rPr sz="950" b="0" i="0">
                <a:solidFill>
                  <a:srgbClr val="1E293B"/>
                </a:solidFill>
                <a:latin typeface="Calibri"/>
              </a:rPr>
              <a:t>PCW ranking capture across all active channels and brands</a:t>
            </a:r>
          </a:p>
        </p:txBody>
      </p:sp>
      <p:sp>
        <p:nvSpPr>
          <p:cNvPr id="13" name="Rectangle 12"/>
          <p:cNvSpPr/>
          <p:nvPr/>
        </p:nvSpPr>
        <p:spPr>
          <a:xfrm>
            <a:off x="27432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04825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21408"/>
            <a:ext cx="2103120" cy="420624"/>
          </a:xfrm>
          <a:prstGeom prst="rect">
            <a:avLst/>
          </a:prstGeom>
          <a:noFill/>
        </p:spPr>
        <p:txBody>
          <a:bodyPr wrap="square">
            <a:spAutoFit/>
          </a:bodyPr>
          <a:lstStyle/>
          <a:p>
            <a:pPr algn="l"/>
            <a:r>
              <a:rPr sz="950" b="0" i="0">
                <a:solidFill>
                  <a:srgbClr val="1E293B"/>
                </a:solidFill>
                <a:latin typeface="Calibri"/>
              </a:rPr>
              <a:t>Competitor price monitoring with near-real-time refresh</a:t>
            </a:r>
          </a:p>
        </p:txBody>
      </p:sp>
      <p:sp>
        <p:nvSpPr>
          <p:cNvPr id="16" name="Rectangle 15"/>
          <p:cNvSpPr/>
          <p:nvPr/>
        </p:nvSpPr>
        <p:spPr>
          <a:xfrm>
            <a:off x="27432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58775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660904"/>
            <a:ext cx="2103120" cy="420624"/>
          </a:xfrm>
          <a:prstGeom prst="rect">
            <a:avLst/>
          </a:prstGeom>
          <a:noFill/>
        </p:spPr>
        <p:txBody>
          <a:bodyPr wrap="square">
            <a:spAutoFit/>
          </a:bodyPr>
          <a:lstStyle/>
          <a:p>
            <a:pPr algn="l"/>
            <a:r>
              <a:rPr sz="950" b="0" i="0">
                <a:solidFill>
                  <a:srgbClr val="1E293B"/>
                </a:solidFill>
                <a:latin typeface="Calibri"/>
              </a:rPr>
              <a:t>Product feature &amp; excess structure tracking per competitor</a:t>
            </a:r>
          </a:p>
        </p:txBody>
      </p:sp>
      <p:sp>
        <p:nvSpPr>
          <p:cNvPr id="19" name="Rectangle 18"/>
          <p:cNvSpPr/>
          <p:nvPr/>
        </p:nvSpPr>
        <p:spPr>
          <a:xfrm>
            <a:off x="27432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127248"/>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00400"/>
            <a:ext cx="2103120" cy="420624"/>
          </a:xfrm>
          <a:prstGeom prst="rect">
            <a:avLst/>
          </a:prstGeom>
          <a:noFill/>
        </p:spPr>
        <p:txBody>
          <a:bodyPr wrap="square">
            <a:spAutoFit/>
          </a:bodyPr>
          <a:lstStyle/>
          <a:p>
            <a:pPr algn="l"/>
            <a:r>
              <a:rPr sz="950" b="0" i="0">
                <a:solidFill>
                  <a:srgbClr val="1E293B"/>
                </a:solidFill>
                <a:latin typeface="Calibri"/>
              </a:rPr>
              <a:t>Optional cover &amp; add-on monitoring across PCW channels</a:t>
            </a:r>
          </a:p>
        </p:txBody>
      </p:sp>
      <p:sp>
        <p:nvSpPr>
          <p:cNvPr id="22" name="Rectangle 21"/>
          <p:cNvSpPr/>
          <p:nvPr/>
        </p:nvSpPr>
        <p:spPr>
          <a:xfrm>
            <a:off x="27432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666744"/>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39896"/>
            <a:ext cx="2103120" cy="420624"/>
          </a:xfrm>
          <a:prstGeom prst="rect">
            <a:avLst/>
          </a:prstGeom>
          <a:noFill/>
        </p:spPr>
        <p:txBody>
          <a:bodyPr wrap="square">
            <a:spAutoFit/>
          </a:bodyPr>
          <a:lstStyle/>
          <a:p>
            <a:pPr algn="l"/>
            <a:r>
              <a:rPr sz="950" b="0" i="0">
                <a:solidFill>
                  <a:srgbClr val="1E293B"/>
                </a:solidFill>
                <a:latin typeface="Calibri"/>
              </a:rPr>
              <a:t>Promotional offer &amp; campaign detection and alerting</a:t>
            </a:r>
          </a:p>
        </p:txBody>
      </p:sp>
      <p:sp>
        <p:nvSpPr>
          <p:cNvPr id="25" name="Rectangle 24"/>
          <p:cNvSpPr/>
          <p:nvPr/>
        </p:nvSpPr>
        <p:spPr>
          <a:xfrm>
            <a:off x="27432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20624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279392"/>
            <a:ext cx="2103120" cy="420624"/>
          </a:xfrm>
          <a:prstGeom prst="rect">
            <a:avLst/>
          </a:prstGeom>
          <a:noFill/>
        </p:spPr>
        <p:txBody>
          <a:bodyPr wrap="square">
            <a:spAutoFit/>
          </a:bodyPr>
          <a:lstStyle/>
          <a:p>
            <a:pPr algn="l"/>
            <a:r>
              <a:rPr sz="950" b="0" i="0">
                <a:solidFill>
                  <a:srgbClr val="1E293B"/>
                </a:solidFill>
                <a:latin typeface="Calibri"/>
              </a:rPr>
              <a:t>PCW algorithm change detection via ML pattern analysis</a:t>
            </a:r>
          </a:p>
        </p:txBody>
      </p:sp>
      <p:sp>
        <p:nvSpPr>
          <p:cNvPr id="28" name="Rectangle 27"/>
          <p:cNvSpPr/>
          <p:nvPr/>
        </p:nvSpPr>
        <p:spPr>
          <a:xfrm>
            <a:off x="27432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74573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818888"/>
            <a:ext cx="2103120" cy="420624"/>
          </a:xfrm>
          <a:prstGeom prst="rect">
            <a:avLst/>
          </a:prstGeom>
          <a:noFill/>
        </p:spPr>
        <p:txBody>
          <a:bodyPr wrap="square">
            <a:spAutoFit/>
          </a:bodyPr>
          <a:lstStyle/>
          <a:p>
            <a:pPr algn="l"/>
            <a:r>
              <a:rPr sz="950" b="0" i="0">
                <a:solidFill>
                  <a:srgbClr val="1E293B"/>
                </a:solidFill>
                <a:latin typeface="Calibri"/>
              </a:rPr>
              <a:t>Data freshness SLA: sub-15-minute target via ADK agents</a:t>
            </a:r>
          </a:p>
        </p:txBody>
      </p:sp>
      <p:sp>
        <p:nvSpPr>
          <p:cNvPr id="31" name="Rectangle 30"/>
          <p:cNvSpPr/>
          <p:nvPr/>
        </p:nvSpPr>
        <p:spPr>
          <a:xfrm>
            <a:off x="27432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28523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358384"/>
            <a:ext cx="2103120" cy="420624"/>
          </a:xfrm>
          <a:prstGeom prst="rect">
            <a:avLst/>
          </a:prstGeom>
          <a:noFill/>
        </p:spPr>
        <p:txBody>
          <a:bodyPr wrap="square">
            <a:spAutoFit/>
          </a:bodyPr>
          <a:lstStyle/>
          <a:p>
            <a:pPr algn="l"/>
            <a:r>
              <a:rPr sz="950" b="0" i="0">
                <a:solidFill>
                  <a:srgbClr val="1E293B"/>
                </a:solidFill>
                <a:latin typeface="Calibri"/>
              </a:rPr>
              <a:t>ENVOY ADK Market Collection Agent — core data engine</a:t>
            </a:r>
          </a:p>
        </p:txBody>
      </p:sp>
      <p:sp>
        <p:nvSpPr>
          <p:cNvPr id="34" name="Rectangle 33"/>
          <p:cNvSpPr/>
          <p:nvPr/>
        </p:nvSpPr>
        <p:spPr>
          <a:xfrm>
            <a:off x="27432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5824728"/>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5897880"/>
            <a:ext cx="2103120" cy="420624"/>
          </a:xfrm>
          <a:prstGeom prst="rect">
            <a:avLst/>
          </a:prstGeom>
          <a:noFill/>
        </p:spPr>
        <p:txBody>
          <a:bodyPr wrap="square">
            <a:spAutoFit/>
          </a:bodyPr>
          <a:lstStyle/>
          <a:p>
            <a:pPr algn="l"/>
            <a:r>
              <a:rPr sz="950" b="0" i="0">
                <a:solidFill>
                  <a:srgbClr val="1E293B"/>
                </a:solidFill>
                <a:latin typeface="Calibri"/>
              </a:rPr>
              <a:t>Pub/Sub event streaming pipeline for real-time triggers</a:t>
            </a:r>
          </a:p>
        </p:txBody>
      </p:sp>
      <p:sp>
        <p:nvSpPr>
          <p:cNvPr id="37" name="Rectangle 36"/>
          <p:cNvSpPr/>
          <p:nvPr/>
        </p:nvSpPr>
        <p:spPr>
          <a:xfrm>
            <a:off x="27432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 y="6364224"/>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437376"/>
            <a:ext cx="2103120" cy="420624"/>
          </a:xfrm>
          <a:prstGeom prst="rect">
            <a:avLst/>
          </a:prstGeom>
          <a:noFill/>
        </p:spPr>
        <p:txBody>
          <a:bodyPr wrap="square">
            <a:spAutoFit/>
          </a:bodyPr>
          <a:lstStyle/>
          <a:p>
            <a:pPr algn="l"/>
            <a:r>
              <a:rPr sz="950" b="0" i="0">
                <a:solidFill>
                  <a:srgbClr val="1E293B"/>
                </a:solidFill>
                <a:latin typeface="Calibri"/>
              </a:rPr>
              <a:t>BigQuery raw intelligence data landing zone and lineage</a:t>
            </a:r>
          </a:p>
        </p:txBody>
      </p:sp>
      <p:sp>
        <p:nvSpPr>
          <p:cNvPr id="40" name="Rectangle 39"/>
          <p:cNvSpPr/>
          <p:nvPr/>
        </p:nvSpPr>
        <p:spPr>
          <a:xfrm>
            <a:off x="2606040" y="1051560"/>
            <a:ext cx="2240280" cy="4114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79192" y="1124712"/>
            <a:ext cx="2130552" cy="292608"/>
          </a:xfrm>
          <a:prstGeom prst="rect">
            <a:avLst/>
          </a:prstGeom>
          <a:noFill/>
        </p:spPr>
        <p:txBody>
          <a:bodyPr wrap="square">
            <a:spAutoFit/>
          </a:bodyPr>
          <a:lstStyle/>
          <a:p>
            <a:pPr algn="l"/>
            <a:r>
              <a:rPr sz="900" b="1" i="0">
                <a:solidFill>
                  <a:srgbClr val="FFFFFF"/>
                </a:solidFill>
                <a:latin typeface="Calibri"/>
              </a:rPr>
              <a:t>Insight &amp; Analysis Layer</a:t>
            </a:r>
          </a:p>
        </p:txBody>
      </p:sp>
      <p:sp>
        <p:nvSpPr>
          <p:cNvPr id="42" name="Rectangle 41"/>
          <p:cNvSpPr/>
          <p:nvPr/>
        </p:nvSpPr>
        <p:spPr>
          <a:xfrm>
            <a:off x="260604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06040" y="150876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7480" y="1581912"/>
            <a:ext cx="2103120" cy="420624"/>
          </a:xfrm>
          <a:prstGeom prst="rect">
            <a:avLst/>
          </a:prstGeom>
          <a:noFill/>
        </p:spPr>
        <p:txBody>
          <a:bodyPr wrap="square">
            <a:spAutoFit/>
          </a:bodyPr>
          <a:lstStyle/>
          <a:p>
            <a:pPr algn="l"/>
            <a:r>
              <a:rPr sz="950" b="0" i="0">
                <a:solidFill>
                  <a:srgbClr val="1E293B"/>
                </a:solidFill>
                <a:latin typeface="Calibri"/>
              </a:rPr>
              <a:t>ML trend detection models — Vertex AI, Pegasus-governed</a:t>
            </a:r>
          </a:p>
        </p:txBody>
      </p:sp>
      <p:sp>
        <p:nvSpPr>
          <p:cNvPr id="45" name="Rectangle 44"/>
          <p:cNvSpPr/>
          <p:nvPr/>
        </p:nvSpPr>
        <p:spPr>
          <a:xfrm>
            <a:off x="260604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606040" y="204825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97480" y="2121408"/>
            <a:ext cx="2103120" cy="420624"/>
          </a:xfrm>
          <a:prstGeom prst="rect">
            <a:avLst/>
          </a:prstGeom>
          <a:noFill/>
        </p:spPr>
        <p:txBody>
          <a:bodyPr wrap="square">
            <a:spAutoFit/>
          </a:bodyPr>
          <a:lstStyle/>
          <a:p>
            <a:pPr algn="l"/>
            <a:r>
              <a:rPr sz="950" b="0" i="0">
                <a:solidFill>
                  <a:srgbClr val="1E293B"/>
                </a:solidFill>
                <a:latin typeface="Calibri"/>
              </a:rPr>
              <a:t>Ranking movement velocity &amp; significance classification</a:t>
            </a:r>
          </a:p>
        </p:txBody>
      </p:sp>
      <p:sp>
        <p:nvSpPr>
          <p:cNvPr id="48" name="Rectangle 47"/>
          <p:cNvSpPr/>
          <p:nvPr/>
        </p:nvSpPr>
        <p:spPr>
          <a:xfrm>
            <a:off x="260604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06040" y="258775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2660904"/>
            <a:ext cx="2103120" cy="420624"/>
          </a:xfrm>
          <a:prstGeom prst="rect">
            <a:avLst/>
          </a:prstGeom>
          <a:noFill/>
        </p:spPr>
        <p:txBody>
          <a:bodyPr wrap="square">
            <a:spAutoFit/>
          </a:bodyPr>
          <a:lstStyle/>
          <a:p>
            <a:pPr algn="l"/>
            <a:r>
              <a:rPr sz="950" b="0" i="0">
                <a:solidFill>
                  <a:srgbClr val="1E293B"/>
                </a:solidFill>
                <a:latin typeface="Calibri"/>
              </a:rPr>
              <a:t>Competitor strategy pattern inference across the market</a:t>
            </a:r>
          </a:p>
        </p:txBody>
      </p:sp>
      <p:sp>
        <p:nvSpPr>
          <p:cNvPr id="51" name="Rectangle 50"/>
          <p:cNvSpPr/>
          <p:nvPr/>
        </p:nvSpPr>
        <p:spPr>
          <a:xfrm>
            <a:off x="260604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06040" y="3127248"/>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97480" y="3200400"/>
            <a:ext cx="2103120" cy="420624"/>
          </a:xfrm>
          <a:prstGeom prst="rect">
            <a:avLst/>
          </a:prstGeom>
          <a:noFill/>
        </p:spPr>
        <p:txBody>
          <a:bodyPr wrap="square">
            <a:spAutoFit/>
          </a:bodyPr>
          <a:lstStyle/>
          <a:p>
            <a:pPr algn="l"/>
            <a:r>
              <a:rPr sz="950" b="0" i="0">
                <a:solidFill>
                  <a:srgbClr val="1E293B"/>
                </a:solidFill>
                <a:latin typeface="Calibri"/>
              </a:rPr>
              <a:t>Pricing gap &amp; over-competitiveness scoring per segment</a:t>
            </a:r>
          </a:p>
        </p:txBody>
      </p:sp>
      <p:sp>
        <p:nvSpPr>
          <p:cNvPr id="54" name="Rectangle 53"/>
          <p:cNvSpPr/>
          <p:nvPr/>
        </p:nvSpPr>
        <p:spPr>
          <a:xfrm>
            <a:off x="260604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06040" y="3666744"/>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97480" y="3739896"/>
            <a:ext cx="2103120" cy="420624"/>
          </a:xfrm>
          <a:prstGeom prst="rect">
            <a:avLst/>
          </a:prstGeom>
          <a:noFill/>
        </p:spPr>
        <p:txBody>
          <a:bodyPr wrap="square">
            <a:spAutoFit/>
          </a:bodyPr>
          <a:lstStyle/>
          <a:p>
            <a:pPr algn="l"/>
            <a:r>
              <a:rPr sz="950" b="0" i="0">
                <a:solidFill>
                  <a:srgbClr val="1E293B"/>
                </a:solidFill>
                <a:latin typeface="Calibri"/>
              </a:rPr>
              <a:t>Opportunity identification with commercial impact scoring</a:t>
            </a:r>
          </a:p>
        </p:txBody>
      </p:sp>
      <p:sp>
        <p:nvSpPr>
          <p:cNvPr id="57" name="Rectangle 56"/>
          <p:cNvSpPr/>
          <p:nvPr/>
        </p:nvSpPr>
        <p:spPr>
          <a:xfrm>
            <a:off x="260604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606040" y="420624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97480" y="4279392"/>
            <a:ext cx="2103120" cy="420624"/>
          </a:xfrm>
          <a:prstGeom prst="rect">
            <a:avLst/>
          </a:prstGeom>
          <a:noFill/>
        </p:spPr>
        <p:txBody>
          <a:bodyPr wrap="square">
            <a:spAutoFit/>
          </a:bodyPr>
          <a:lstStyle/>
          <a:p>
            <a:pPr algn="l"/>
            <a:r>
              <a:rPr sz="950" b="0" i="0">
                <a:solidFill>
                  <a:srgbClr val="1E293B"/>
                </a:solidFill>
                <a:latin typeface="Calibri"/>
              </a:rPr>
              <a:t>Anomaly flagging with confidence and urgency scoring</a:t>
            </a:r>
          </a:p>
        </p:txBody>
      </p:sp>
      <p:sp>
        <p:nvSpPr>
          <p:cNvPr id="60" name="Rectangle 59"/>
          <p:cNvSpPr/>
          <p:nvPr/>
        </p:nvSpPr>
        <p:spPr>
          <a:xfrm>
            <a:off x="260604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606040" y="474573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97480" y="4818888"/>
            <a:ext cx="2103120" cy="420624"/>
          </a:xfrm>
          <a:prstGeom prst="rect">
            <a:avLst/>
          </a:prstGeom>
          <a:noFill/>
        </p:spPr>
        <p:txBody>
          <a:bodyPr wrap="square">
            <a:spAutoFit/>
          </a:bodyPr>
          <a:lstStyle/>
          <a:p>
            <a:pPr algn="l"/>
            <a:r>
              <a:rPr sz="950" b="0" i="0">
                <a:solidFill>
                  <a:srgbClr val="1E293B"/>
                </a:solidFill>
                <a:latin typeface="Calibri"/>
              </a:rPr>
              <a:t>SHAP explainability for all ML model prediction outputs</a:t>
            </a:r>
          </a:p>
        </p:txBody>
      </p:sp>
      <p:sp>
        <p:nvSpPr>
          <p:cNvPr id="63" name="Rectangle 62"/>
          <p:cNvSpPr/>
          <p:nvPr/>
        </p:nvSpPr>
        <p:spPr>
          <a:xfrm>
            <a:off x="260604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606040" y="528523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697480" y="5358384"/>
            <a:ext cx="2103120" cy="420624"/>
          </a:xfrm>
          <a:prstGeom prst="rect">
            <a:avLst/>
          </a:prstGeom>
          <a:noFill/>
        </p:spPr>
        <p:txBody>
          <a:bodyPr wrap="square">
            <a:spAutoFit/>
          </a:bodyPr>
          <a:lstStyle/>
          <a:p>
            <a:pPr algn="l"/>
            <a:r>
              <a:rPr sz="950" b="0" i="0">
                <a:solidFill>
                  <a:srgbClr val="1E293B"/>
                </a:solidFill>
                <a:latin typeface="Calibri"/>
              </a:rPr>
              <a:t>Pegasus continuous model quality evaluation &amp; alerting</a:t>
            </a:r>
          </a:p>
        </p:txBody>
      </p:sp>
      <p:sp>
        <p:nvSpPr>
          <p:cNvPr id="66" name="Rectangle 65"/>
          <p:cNvSpPr/>
          <p:nvPr/>
        </p:nvSpPr>
        <p:spPr>
          <a:xfrm>
            <a:off x="260604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606040" y="5824728"/>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7480" y="5897880"/>
            <a:ext cx="2103120" cy="420624"/>
          </a:xfrm>
          <a:prstGeom prst="rect">
            <a:avLst/>
          </a:prstGeom>
          <a:noFill/>
        </p:spPr>
        <p:txBody>
          <a:bodyPr wrap="square">
            <a:spAutoFit/>
          </a:bodyPr>
          <a:lstStyle/>
          <a:p>
            <a:pPr algn="l"/>
            <a:r>
              <a:rPr sz="950" b="0" i="0">
                <a:solidFill>
                  <a:srgbClr val="1E293B"/>
                </a:solidFill>
                <a:latin typeface="Calibri"/>
              </a:rPr>
              <a:t>BigQuery ML feature engineering &amp; model training pipelines</a:t>
            </a:r>
          </a:p>
        </p:txBody>
      </p:sp>
      <p:sp>
        <p:nvSpPr>
          <p:cNvPr id="69" name="Rectangle 68"/>
          <p:cNvSpPr/>
          <p:nvPr/>
        </p:nvSpPr>
        <p:spPr>
          <a:xfrm>
            <a:off x="260604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606040" y="6364224"/>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97480" y="6437376"/>
            <a:ext cx="2103120" cy="420624"/>
          </a:xfrm>
          <a:prstGeom prst="rect">
            <a:avLst/>
          </a:prstGeom>
          <a:noFill/>
        </p:spPr>
        <p:txBody>
          <a:bodyPr wrap="square">
            <a:spAutoFit/>
          </a:bodyPr>
          <a:lstStyle/>
          <a:p>
            <a:pPr algn="l"/>
            <a:r>
              <a:rPr sz="950" b="0" i="0">
                <a:solidFill>
                  <a:srgbClr val="1E293B"/>
                </a:solidFill>
                <a:latin typeface="Calibri"/>
              </a:rPr>
              <a:t>Gemini competitive context synthesis for briefing generation</a:t>
            </a:r>
          </a:p>
        </p:txBody>
      </p:sp>
      <p:sp>
        <p:nvSpPr>
          <p:cNvPr id="72" name="Rectangle 71"/>
          <p:cNvSpPr/>
          <p:nvPr/>
        </p:nvSpPr>
        <p:spPr>
          <a:xfrm>
            <a:off x="4937760" y="1051560"/>
            <a:ext cx="224028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10912" y="1124712"/>
            <a:ext cx="2130552" cy="292608"/>
          </a:xfrm>
          <a:prstGeom prst="rect">
            <a:avLst/>
          </a:prstGeom>
          <a:noFill/>
        </p:spPr>
        <p:txBody>
          <a:bodyPr wrap="square">
            <a:spAutoFit/>
          </a:bodyPr>
          <a:lstStyle/>
          <a:p>
            <a:pPr algn="l"/>
            <a:r>
              <a:rPr sz="900" b="1" i="0">
                <a:solidFill>
                  <a:srgbClr val="FFFFFF"/>
                </a:solidFill>
                <a:latin typeface="Calibri"/>
              </a:rPr>
              <a:t>Recommendation Layer</a:t>
            </a:r>
          </a:p>
        </p:txBody>
      </p:sp>
      <p:sp>
        <p:nvSpPr>
          <p:cNvPr id="74" name="Rectangle 73"/>
          <p:cNvSpPr/>
          <p:nvPr/>
        </p:nvSpPr>
        <p:spPr>
          <a:xfrm>
            <a:off x="493776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37760" y="150876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29200" y="1581912"/>
            <a:ext cx="2103120" cy="420624"/>
          </a:xfrm>
          <a:prstGeom prst="rect">
            <a:avLst/>
          </a:prstGeom>
          <a:noFill/>
        </p:spPr>
        <p:txBody>
          <a:bodyPr wrap="square">
            <a:spAutoFit/>
          </a:bodyPr>
          <a:lstStyle/>
          <a:p>
            <a:pPr algn="l"/>
            <a:r>
              <a:rPr sz="950" b="0" i="0">
                <a:solidFill>
                  <a:srgbClr val="1E293B"/>
                </a:solidFill>
                <a:latin typeface="Calibri"/>
              </a:rPr>
              <a:t>Pricing action recommendations with simulation evidence</a:t>
            </a:r>
          </a:p>
        </p:txBody>
      </p:sp>
      <p:sp>
        <p:nvSpPr>
          <p:cNvPr id="77" name="Rectangle 76"/>
          <p:cNvSpPr/>
          <p:nvPr/>
        </p:nvSpPr>
        <p:spPr>
          <a:xfrm>
            <a:off x="493776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37760" y="204825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29200" y="2121408"/>
            <a:ext cx="2103120" cy="420624"/>
          </a:xfrm>
          <a:prstGeom prst="rect">
            <a:avLst/>
          </a:prstGeom>
          <a:noFill/>
        </p:spPr>
        <p:txBody>
          <a:bodyPr wrap="square">
            <a:spAutoFit/>
          </a:bodyPr>
          <a:lstStyle/>
          <a:p>
            <a:pPr algn="l"/>
            <a:r>
              <a:rPr sz="950" b="0" i="0">
                <a:solidFill>
                  <a:srgbClr val="1E293B"/>
                </a:solidFill>
                <a:latin typeface="Calibri"/>
              </a:rPr>
              <a:t>Excess adjustment proposals with rationale and impact</a:t>
            </a:r>
          </a:p>
        </p:txBody>
      </p:sp>
      <p:sp>
        <p:nvSpPr>
          <p:cNvPr id="80" name="Rectangle 79"/>
          <p:cNvSpPr/>
          <p:nvPr/>
        </p:nvSpPr>
        <p:spPr>
          <a:xfrm>
            <a:off x="493776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37760" y="258775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29200" y="2660904"/>
            <a:ext cx="2103120" cy="420624"/>
          </a:xfrm>
          <a:prstGeom prst="rect">
            <a:avLst/>
          </a:prstGeom>
          <a:noFill/>
        </p:spPr>
        <p:txBody>
          <a:bodyPr wrap="square">
            <a:spAutoFit/>
          </a:bodyPr>
          <a:lstStyle/>
          <a:p>
            <a:pPr algn="l"/>
            <a:r>
              <a:rPr sz="950" b="0" i="0">
                <a:solidFill>
                  <a:srgbClr val="1E293B"/>
                </a:solidFill>
                <a:latin typeface="Calibri"/>
              </a:rPr>
              <a:t>Optional cover optimisation suggestions with gap analysis</a:t>
            </a:r>
          </a:p>
        </p:txBody>
      </p:sp>
      <p:sp>
        <p:nvSpPr>
          <p:cNvPr id="83" name="Rectangle 82"/>
          <p:cNvSpPr/>
          <p:nvPr/>
        </p:nvSpPr>
        <p:spPr>
          <a:xfrm>
            <a:off x="493776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937760" y="3127248"/>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0" y="3200400"/>
            <a:ext cx="2103120" cy="420624"/>
          </a:xfrm>
          <a:prstGeom prst="rect">
            <a:avLst/>
          </a:prstGeom>
          <a:noFill/>
        </p:spPr>
        <p:txBody>
          <a:bodyPr wrap="square">
            <a:spAutoFit/>
          </a:bodyPr>
          <a:lstStyle/>
          <a:p>
            <a:pPr algn="l"/>
            <a:r>
              <a:rPr sz="950" b="0" i="0">
                <a:solidFill>
                  <a:srgbClr val="1E293B"/>
                </a:solidFill>
                <a:latin typeface="Calibri"/>
              </a:rPr>
              <a:t>Product feature gap priority alerts with competitor mapping</a:t>
            </a:r>
          </a:p>
        </p:txBody>
      </p:sp>
      <p:sp>
        <p:nvSpPr>
          <p:cNvPr id="86" name="Rectangle 85"/>
          <p:cNvSpPr/>
          <p:nvPr/>
        </p:nvSpPr>
        <p:spPr>
          <a:xfrm>
            <a:off x="493776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937760" y="3666744"/>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0" y="3739896"/>
            <a:ext cx="2103120" cy="420624"/>
          </a:xfrm>
          <a:prstGeom prst="rect">
            <a:avLst/>
          </a:prstGeom>
          <a:noFill/>
        </p:spPr>
        <p:txBody>
          <a:bodyPr wrap="square">
            <a:spAutoFit/>
          </a:bodyPr>
          <a:lstStyle/>
          <a:p>
            <a:pPr algn="l"/>
            <a:r>
              <a:rPr sz="950" b="0" i="0">
                <a:solidFill>
                  <a:srgbClr val="1E293B"/>
                </a:solidFill>
                <a:latin typeface="Calibri"/>
              </a:rPr>
              <a:t>Simulation-backed commercial impact quantification ranges</a:t>
            </a:r>
          </a:p>
        </p:txBody>
      </p:sp>
      <p:sp>
        <p:nvSpPr>
          <p:cNvPr id="89" name="Rectangle 88"/>
          <p:cNvSpPr/>
          <p:nvPr/>
        </p:nvSpPr>
        <p:spPr>
          <a:xfrm>
            <a:off x="493776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4937760" y="420624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29200" y="4279392"/>
            <a:ext cx="2103120" cy="420624"/>
          </a:xfrm>
          <a:prstGeom prst="rect">
            <a:avLst/>
          </a:prstGeom>
          <a:noFill/>
        </p:spPr>
        <p:txBody>
          <a:bodyPr wrap="square">
            <a:spAutoFit/>
          </a:bodyPr>
          <a:lstStyle/>
          <a:p>
            <a:pPr algn="l"/>
            <a:r>
              <a:rPr sz="950" b="0" i="0">
                <a:solidFill>
                  <a:srgbClr val="1E293B"/>
                </a:solidFill>
                <a:latin typeface="Calibri"/>
              </a:rPr>
              <a:t>Priority, urgency and risk classification per recommendation</a:t>
            </a:r>
          </a:p>
        </p:txBody>
      </p:sp>
      <p:sp>
        <p:nvSpPr>
          <p:cNvPr id="92" name="Rectangle 91"/>
          <p:cNvSpPr/>
          <p:nvPr/>
        </p:nvSpPr>
        <p:spPr>
          <a:xfrm>
            <a:off x="493776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937760" y="474573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29200" y="4818888"/>
            <a:ext cx="2103120" cy="420624"/>
          </a:xfrm>
          <a:prstGeom prst="rect">
            <a:avLst/>
          </a:prstGeom>
          <a:noFill/>
        </p:spPr>
        <p:txBody>
          <a:bodyPr wrap="square">
            <a:spAutoFit/>
          </a:bodyPr>
          <a:lstStyle/>
          <a:p>
            <a:pPr algn="l"/>
            <a:r>
              <a:rPr sz="950" b="0" i="0">
                <a:solidFill>
                  <a:srgbClr val="1E293B"/>
                </a:solidFill>
                <a:latin typeface="Calibri"/>
              </a:rPr>
              <a:t>Gemini-generated human-readable recommendation rationale</a:t>
            </a:r>
          </a:p>
        </p:txBody>
      </p:sp>
      <p:sp>
        <p:nvSpPr>
          <p:cNvPr id="95" name="Rectangle 94"/>
          <p:cNvSpPr/>
          <p:nvPr/>
        </p:nvSpPr>
        <p:spPr>
          <a:xfrm>
            <a:off x="493776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937760" y="528523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029200" y="5358384"/>
            <a:ext cx="2103120" cy="420624"/>
          </a:xfrm>
          <a:prstGeom prst="rect">
            <a:avLst/>
          </a:prstGeom>
          <a:noFill/>
        </p:spPr>
        <p:txBody>
          <a:bodyPr wrap="square">
            <a:spAutoFit/>
          </a:bodyPr>
          <a:lstStyle/>
          <a:p>
            <a:pPr algn="l"/>
            <a:r>
              <a:rPr sz="950" b="0" i="0">
                <a:solidFill>
                  <a:srgbClr val="1E293B"/>
                </a:solidFill>
                <a:latin typeface="Calibri"/>
              </a:rPr>
              <a:t>Cortex recommendation routing &amp; governance control</a:t>
            </a:r>
          </a:p>
        </p:txBody>
      </p:sp>
      <p:sp>
        <p:nvSpPr>
          <p:cNvPr id="98" name="Rectangle 97"/>
          <p:cNvSpPr/>
          <p:nvPr/>
        </p:nvSpPr>
        <p:spPr>
          <a:xfrm>
            <a:off x="493776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4937760" y="5824728"/>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29200" y="5897880"/>
            <a:ext cx="2103120" cy="420624"/>
          </a:xfrm>
          <a:prstGeom prst="rect">
            <a:avLst/>
          </a:prstGeom>
          <a:noFill/>
        </p:spPr>
        <p:txBody>
          <a:bodyPr wrap="square">
            <a:spAutoFit/>
          </a:bodyPr>
          <a:lstStyle/>
          <a:p>
            <a:pPr algn="l"/>
            <a:r>
              <a:rPr sz="950" b="0" i="0">
                <a:solidFill>
                  <a:srgbClr val="1E293B"/>
                </a:solidFill>
                <a:latin typeface="Calibri"/>
              </a:rPr>
              <a:t>Model Armor output validation before governance handoff</a:t>
            </a:r>
          </a:p>
        </p:txBody>
      </p:sp>
      <p:sp>
        <p:nvSpPr>
          <p:cNvPr id="101" name="Rectangle 100"/>
          <p:cNvSpPr/>
          <p:nvPr/>
        </p:nvSpPr>
        <p:spPr>
          <a:xfrm>
            <a:off x="493776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937760" y="6364224"/>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029200" y="6437376"/>
            <a:ext cx="2103120" cy="420624"/>
          </a:xfrm>
          <a:prstGeom prst="rect">
            <a:avLst/>
          </a:prstGeom>
          <a:noFill/>
        </p:spPr>
        <p:txBody>
          <a:bodyPr wrap="square">
            <a:spAutoFit/>
          </a:bodyPr>
          <a:lstStyle/>
          <a:p>
            <a:pPr algn="l"/>
            <a:r>
              <a:rPr sz="950" b="0" i="0">
                <a:solidFill>
                  <a:srgbClr val="1E293B"/>
                </a:solidFill>
                <a:latin typeface="Calibri"/>
              </a:rPr>
              <a:t>Policy Engine compliance screening of all recommendations</a:t>
            </a:r>
          </a:p>
        </p:txBody>
      </p:sp>
      <p:sp>
        <p:nvSpPr>
          <p:cNvPr id="104" name="Rectangle 103"/>
          <p:cNvSpPr/>
          <p:nvPr/>
        </p:nvSpPr>
        <p:spPr>
          <a:xfrm>
            <a:off x="7269480" y="1051560"/>
            <a:ext cx="224028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42632" y="1124712"/>
            <a:ext cx="2130552" cy="292608"/>
          </a:xfrm>
          <a:prstGeom prst="rect">
            <a:avLst/>
          </a:prstGeom>
          <a:noFill/>
        </p:spPr>
        <p:txBody>
          <a:bodyPr wrap="square">
            <a:spAutoFit/>
          </a:bodyPr>
          <a:lstStyle/>
          <a:p>
            <a:pPr algn="l"/>
            <a:r>
              <a:rPr sz="900" b="1" i="0">
                <a:solidFill>
                  <a:srgbClr val="FFFFFF"/>
                </a:solidFill>
                <a:latin typeface="Calibri"/>
              </a:rPr>
              <a:t>Governance Layer</a:t>
            </a:r>
          </a:p>
        </p:txBody>
      </p:sp>
      <p:sp>
        <p:nvSpPr>
          <p:cNvPr id="106" name="Rectangle 105"/>
          <p:cNvSpPr/>
          <p:nvPr/>
        </p:nvSpPr>
        <p:spPr>
          <a:xfrm>
            <a:off x="726948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269480" y="150876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360920" y="1581912"/>
            <a:ext cx="2103120" cy="420624"/>
          </a:xfrm>
          <a:prstGeom prst="rect">
            <a:avLst/>
          </a:prstGeom>
          <a:noFill/>
        </p:spPr>
        <p:txBody>
          <a:bodyPr wrap="square">
            <a:spAutoFit/>
          </a:bodyPr>
          <a:lstStyle/>
          <a:p>
            <a:pPr algn="l"/>
            <a:r>
              <a:rPr sz="950" b="0" i="0">
                <a:solidFill>
                  <a:srgbClr val="1E293B"/>
                </a:solidFill>
                <a:latin typeface="Calibri"/>
              </a:rPr>
              <a:t>Human approval routing via Pega workflow automation</a:t>
            </a:r>
          </a:p>
        </p:txBody>
      </p:sp>
      <p:sp>
        <p:nvSpPr>
          <p:cNvPr id="109" name="Rectangle 108"/>
          <p:cNvSpPr/>
          <p:nvPr/>
        </p:nvSpPr>
        <p:spPr>
          <a:xfrm>
            <a:off x="726948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269480" y="204825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360920" y="2121408"/>
            <a:ext cx="2103120" cy="420624"/>
          </a:xfrm>
          <a:prstGeom prst="rect">
            <a:avLst/>
          </a:prstGeom>
          <a:noFill/>
        </p:spPr>
        <p:txBody>
          <a:bodyPr wrap="square">
            <a:spAutoFit/>
          </a:bodyPr>
          <a:lstStyle/>
          <a:p>
            <a:pPr algn="l"/>
            <a:r>
              <a:rPr sz="950" b="0" i="0">
                <a:solidFill>
                  <a:srgbClr val="1E293B"/>
                </a:solidFill>
                <a:latin typeface="Calibri"/>
              </a:rPr>
              <a:t>Tiered authority framework — material vs immaterial changes</a:t>
            </a:r>
          </a:p>
        </p:txBody>
      </p:sp>
      <p:sp>
        <p:nvSpPr>
          <p:cNvPr id="112" name="Rectangle 111"/>
          <p:cNvSpPr/>
          <p:nvPr/>
        </p:nvSpPr>
        <p:spPr>
          <a:xfrm>
            <a:off x="726948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269480" y="258775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60920" y="2660904"/>
            <a:ext cx="2103120" cy="420624"/>
          </a:xfrm>
          <a:prstGeom prst="rect">
            <a:avLst/>
          </a:prstGeom>
          <a:noFill/>
        </p:spPr>
        <p:txBody>
          <a:bodyPr wrap="square">
            <a:spAutoFit/>
          </a:bodyPr>
          <a:lstStyle/>
          <a:p>
            <a:pPr algn="l"/>
            <a:r>
              <a:rPr sz="950" b="0" i="0">
                <a:solidFill>
                  <a:srgbClr val="1E293B"/>
                </a:solidFill>
                <a:latin typeface="Calibri"/>
              </a:rPr>
              <a:t>ENVOY Audit Framework — complete, immutable decision log</a:t>
            </a:r>
          </a:p>
        </p:txBody>
      </p:sp>
      <p:sp>
        <p:nvSpPr>
          <p:cNvPr id="115" name="Rectangle 114"/>
          <p:cNvSpPr/>
          <p:nvPr/>
        </p:nvSpPr>
        <p:spPr>
          <a:xfrm>
            <a:off x="726948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269480" y="3127248"/>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60920" y="3200400"/>
            <a:ext cx="2103120" cy="420624"/>
          </a:xfrm>
          <a:prstGeom prst="rect">
            <a:avLst/>
          </a:prstGeom>
          <a:noFill/>
        </p:spPr>
        <p:txBody>
          <a:bodyPr wrap="square">
            <a:spAutoFit/>
          </a:bodyPr>
          <a:lstStyle/>
          <a:p>
            <a:pPr algn="l"/>
            <a:r>
              <a:rPr sz="950" b="0" i="0">
                <a:solidFill>
                  <a:srgbClr val="1E293B"/>
                </a:solidFill>
                <a:latin typeface="Calibri"/>
              </a:rPr>
              <a:t>FCA-compliant explainability outputs per recommendation</a:t>
            </a:r>
          </a:p>
        </p:txBody>
      </p:sp>
      <p:sp>
        <p:nvSpPr>
          <p:cNvPr id="118" name="Rectangle 117"/>
          <p:cNvSpPr/>
          <p:nvPr/>
        </p:nvSpPr>
        <p:spPr>
          <a:xfrm>
            <a:off x="726948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269480" y="3666744"/>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360920" y="3739896"/>
            <a:ext cx="2103120" cy="420624"/>
          </a:xfrm>
          <a:prstGeom prst="rect">
            <a:avLst/>
          </a:prstGeom>
          <a:noFill/>
        </p:spPr>
        <p:txBody>
          <a:bodyPr wrap="square">
            <a:spAutoFit/>
          </a:bodyPr>
          <a:lstStyle/>
          <a:p>
            <a:pPr algn="l"/>
            <a:r>
              <a:rPr sz="950" b="0" i="0">
                <a:solidFill>
                  <a:srgbClr val="1E293B"/>
                </a:solidFill>
                <a:latin typeface="Calibri"/>
              </a:rPr>
              <a:t>Model Armor safety validation at governance entry point</a:t>
            </a:r>
          </a:p>
        </p:txBody>
      </p:sp>
      <p:sp>
        <p:nvSpPr>
          <p:cNvPr id="121" name="Rectangle 120"/>
          <p:cNvSpPr/>
          <p:nvPr/>
        </p:nvSpPr>
        <p:spPr>
          <a:xfrm>
            <a:off x="726948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269480" y="420624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360920" y="4279392"/>
            <a:ext cx="2103120" cy="420624"/>
          </a:xfrm>
          <a:prstGeom prst="rect">
            <a:avLst/>
          </a:prstGeom>
          <a:noFill/>
        </p:spPr>
        <p:txBody>
          <a:bodyPr wrap="square">
            <a:spAutoFit/>
          </a:bodyPr>
          <a:lstStyle/>
          <a:p>
            <a:pPr algn="l"/>
            <a:r>
              <a:rPr sz="950" b="0" i="0">
                <a:solidFill>
                  <a:srgbClr val="1E293B"/>
                </a:solidFill>
                <a:latin typeface="Calibri"/>
              </a:rPr>
              <a:t>Recommendation modification and rejection tracking</a:t>
            </a:r>
          </a:p>
        </p:txBody>
      </p:sp>
      <p:sp>
        <p:nvSpPr>
          <p:cNvPr id="124" name="Rectangle 123"/>
          <p:cNvSpPr/>
          <p:nvPr/>
        </p:nvSpPr>
        <p:spPr>
          <a:xfrm>
            <a:off x="726948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269480" y="474573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360920" y="4818888"/>
            <a:ext cx="2103120" cy="420624"/>
          </a:xfrm>
          <a:prstGeom prst="rect">
            <a:avLst/>
          </a:prstGeom>
          <a:noFill/>
        </p:spPr>
        <p:txBody>
          <a:bodyPr wrap="square">
            <a:spAutoFit/>
          </a:bodyPr>
          <a:lstStyle/>
          <a:p>
            <a:pPr algn="l"/>
            <a:r>
              <a:rPr sz="950" b="0" i="0">
                <a:solidFill>
                  <a:srgbClr val="1E293B"/>
                </a:solidFill>
                <a:latin typeface="Calibri"/>
              </a:rPr>
              <a:t>Rejection rationale capture for model feedback loop</a:t>
            </a:r>
          </a:p>
        </p:txBody>
      </p:sp>
      <p:sp>
        <p:nvSpPr>
          <p:cNvPr id="127" name="Rectangle 126"/>
          <p:cNvSpPr/>
          <p:nvPr/>
        </p:nvSpPr>
        <p:spPr>
          <a:xfrm>
            <a:off x="726948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269480" y="528523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360920" y="5358384"/>
            <a:ext cx="2103120" cy="420624"/>
          </a:xfrm>
          <a:prstGeom prst="rect">
            <a:avLst/>
          </a:prstGeom>
          <a:noFill/>
        </p:spPr>
        <p:txBody>
          <a:bodyPr wrap="square">
            <a:spAutoFit/>
          </a:bodyPr>
          <a:lstStyle/>
          <a:p>
            <a:pPr algn="l"/>
            <a:r>
              <a:rPr sz="950" b="0" i="0">
                <a:solidFill>
                  <a:srgbClr val="1E293B"/>
                </a:solidFill>
                <a:latin typeface="Calibri"/>
              </a:rPr>
              <a:t>Compliance change record management and notifications</a:t>
            </a:r>
          </a:p>
        </p:txBody>
      </p:sp>
      <p:sp>
        <p:nvSpPr>
          <p:cNvPr id="130" name="Rectangle 129"/>
          <p:cNvSpPr/>
          <p:nvPr/>
        </p:nvSpPr>
        <p:spPr>
          <a:xfrm>
            <a:off x="726948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269480" y="5824728"/>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360920" y="5897880"/>
            <a:ext cx="2103120" cy="420624"/>
          </a:xfrm>
          <a:prstGeom prst="rect">
            <a:avLst/>
          </a:prstGeom>
          <a:noFill/>
        </p:spPr>
        <p:txBody>
          <a:bodyPr wrap="square">
            <a:spAutoFit/>
          </a:bodyPr>
          <a:lstStyle/>
          <a:p>
            <a:pPr algn="l"/>
            <a:r>
              <a:rPr sz="950" b="0" i="0">
                <a:solidFill>
                  <a:srgbClr val="1E293B"/>
                </a:solidFill>
                <a:latin typeface="Calibri"/>
              </a:rPr>
              <a:t>RBAC &amp; ABAC access enforcement across platform roles</a:t>
            </a:r>
          </a:p>
        </p:txBody>
      </p:sp>
      <p:sp>
        <p:nvSpPr>
          <p:cNvPr id="133" name="Rectangle 132"/>
          <p:cNvSpPr/>
          <p:nvPr/>
        </p:nvSpPr>
        <p:spPr>
          <a:xfrm>
            <a:off x="726948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7269480" y="6364224"/>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360920" y="6437376"/>
            <a:ext cx="2103120" cy="420624"/>
          </a:xfrm>
          <a:prstGeom prst="rect">
            <a:avLst/>
          </a:prstGeom>
          <a:noFill/>
        </p:spPr>
        <p:txBody>
          <a:bodyPr wrap="square">
            <a:spAutoFit/>
          </a:bodyPr>
          <a:lstStyle/>
          <a:p>
            <a:pPr algn="l"/>
            <a:r>
              <a:rPr sz="950" b="0" i="0">
                <a:solidFill>
                  <a:srgbClr val="1E293B"/>
                </a:solidFill>
                <a:latin typeface="Calibri"/>
              </a:rPr>
              <a:t>Governance SLA monitoring and breach alerting via Pega</a:t>
            </a:r>
          </a:p>
        </p:txBody>
      </p:sp>
      <p:sp>
        <p:nvSpPr>
          <p:cNvPr id="136" name="Rectangle 135"/>
          <p:cNvSpPr/>
          <p:nvPr/>
        </p:nvSpPr>
        <p:spPr>
          <a:xfrm>
            <a:off x="9601200" y="1051560"/>
            <a:ext cx="22402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674352" y="1124712"/>
            <a:ext cx="2130552" cy="292608"/>
          </a:xfrm>
          <a:prstGeom prst="rect">
            <a:avLst/>
          </a:prstGeom>
          <a:noFill/>
        </p:spPr>
        <p:txBody>
          <a:bodyPr wrap="square">
            <a:spAutoFit/>
          </a:bodyPr>
          <a:lstStyle/>
          <a:p>
            <a:pPr algn="l"/>
            <a:r>
              <a:rPr sz="900" b="1" i="0">
                <a:solidFill>
                  <a:srgbClr val="FFFFFF"/>
                </a:solidFill>
                <a:latin typeface="Calibri"/>
              </a:rPr>
              <a:t>Execution Layer</a:t>
            </a:r>
          </a:p>
        </p:txBody>
      </p:sp>
      <p:sp>
        <p:nvSpPr>
          <p:cNvPr id="138" name="Rectangle 137"/>
          <p:cNvSpPr/>
          <p:nvPr/>
        </p:nvSpPr>
        <p:spPr>
          <a:xfrm>
            <a:off x="960120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9601200" y="150876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692640" y="1581912"/>
            <a:ext cx="2103120" cy="420624"/>
          </a:xfrm>
          <a:prstGeom prst="rect">
            <a:avLst/>
          </a:prstGeom>
          <a:noFill/>
        </p:spPr>
        <p:txBody>
          <a:bodyPr wrap="square">
            <a:spAutoFit/>
          </a:bodyPr>
          <a:lstStyle/>
          <a:p>
            <a:pPr algn="l"/>
            <a:r>
              <a:rPr sz="950" b="0" i="0">
                <a:solidFill>
                  <a:srgbClr val="1E293B"/>
                </a:solidFill>
                <a:latin typeface="Calibri"/>
              </a:rPr>
              <a:t>AGGS — approved PCW rate submissions via Apigee APIs</a:t>
            </a:r>
          </a:p>
        </p:txBody>
      </p:sp>
      <p:sp>
        <p:nvSpPr>
          <p:cNvPr id="141" name="Rectangle 140"/>
          <p:cNvSpPr/>
          <p:nvPr/>
        </p:nvSpPr>
        <p:spPr>
          <a:xfrm>
            <a:off x="960120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601200" y="204825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692640" y="2121408"/>
            <a:ext cx="2103120" cy="420624"/>
          </a:xfrm>
          <a:prstGeom prst="rect">
            <a:avLst/>
          </a:prstGeom>
          <a:noFill/>
        </p:spPr>
        <p:txBody>
          <a:bodyPr wrap="square">
            <a:spAutoFit/>
          </a:bodyPr>
          <a:lstStyle/>
          <a:p>
            <a:pPr algn="l"/>
            <a:r>
              <a:rPr sz="950" b="0" i="0">
                <a:solidFill>
                  <a:srgbClr val="1E293B"/>
                </a:solidFill>
                <a:latin typeface="Calibri"/>
              </a:rPr>
              <a:t>Duck Creek — policy &amp; product configuration updates</a:t>
            </a:r>
          </a:p>
        </p:txBody>
      </p:sp>
      <p:sp>
        <p:nvSpPr>
          <p:cNvPr id="144" name="Rectangle 143"/>
          <p:cNvSpPr/>
          <p:nvPr/>
        </p:nvSpPr>
        <p:spPr>
          <a:xfrm>
            <a:off x="960120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601200" y="258775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692640" y="2660904"/>
            <a:ext cx="2103120" cy="420624"/>
          </a:xfrm>
          <a:prstGeom prst="rect">
            <a:avLst/>
          </a:prstGeom>
          <a:noFill/>
        </p:spPr>
        <p:txBody>
          <a:bodyPr wrap="square">
            <a:spAutoFit/>
          </a:bodyPr>
          <a:lstStyle/>
          <a:p>
            <a:pPr algn="l"/>
            <a:r>
              <a:rPr sz="950" b="0" i="0">
                <a:solidFill>
                  <a:srgbClr val="1E293B"/>
                </a:solidFill>
                <a:latin typeface="Calibri"/>
              </a:rPr>
              <a:t>Pricing Services — rate band management and submission</a:t>
            </a:r>
          </a:p>
        </p:txBody>
      </p:sp>
      <p:sp>
        <p:nvSpPr>
          <p:cNvPr id="147" name="Rectangle 146"/>
          <p:cNvSpPr/>
          <p:nvPr/>
        </p:nvSpPr>
        <p:spPr>
          <a:xfrm>
            <a:off x="960120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601200" y="3127248"/>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692640" y="3200400"/>
            <a:ext cx="2103120" cy="420624"/>
          </a:xfrm>
          <a:prstGeom prst="rect">
            <a:avLst/>
          </a:prstGeom>
          <a:noFill/>
        </p:spPr>
        <p:txBody>
          <a:bodyPr wrap="square">
            <a:spAutoFit/>
          </a:bodyPr>
          <a:lstStyle/>
          <a:p>
            <a:pPr algn="l"/>
            <a:r>
              <a:rPr sz="950" b="0" i="0">
                <a:solidFill>
                  <a:srgbClr val="1E293B"/>
                </a:solidFill>
                <a:latin typeface="Calibri"/>
              </a:rPr>
              <a:t>Product Services — optional cover configuration updates</a:t>
            </a:r>
          </a:p>
        </p:txBody>
      </p:sp>
      <p:sp>
        <p:nvSpPr>
          <p:cNvPr id="150" name="Rectangle 149"/>
          <p:cNvSpPr/>
          <p:nvPr/>
        </p:nvSpPr>
        <p:spPr>
          <a:xfrm>
            <a:off x="960120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601200" y="3666744"/>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692640" y="3739896"/>
            <a:ext cx="2103120" cy="420624"/>
          </a:xfrm>
          <a:prstGeom prst="rect">
            <a:avLst/>
          </a:prstGeom>
          <a:noFill/>
        </p:spPr>
        <p:txBody>
          <a:bodyPr wrap="square">
            <a:spAutoFit/>
          </a:bodyPr>
          <a:lstStyle/>
          <a:p>
            <a:pPr algn="l"/>
            <a:r>
              <a:rPr sz="950" b="0" i="0">
                <a:solidFill>
                  <a:srgbClr val="1E293B"/>
                </a:solidFill>
                <a:latin typeface="Calibri"/>
              </a:rPr>
              <a:t>Apigee — API management, security and audit logging</a:t>
            </a:r>
          </a:p>
        </p:txBody>
      </p:sp>
      <p:sp>
        <p:nvSpPr>
          <p:cNvPr id="153" name="Rectangle 152"/>
          <p:cNvSpPr/>
          <p:nvPr/>
        </p:nvSpPr>
        <p:spPr>
          <a:xfrm>
            <a:off x="960120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601200" y="420624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692640" y="4279392"/>
            <a:ext cx="2103120" cy="420624"/>
          </a:xfrm>
          <a:prstGeom prst="rect">
            <a:avLst/>
          </a:prstGeom>
          <a:noFill/>
        </p:spPr>
        <p:txBody>
          <a:bodyPr wrap="square">
            <a:spAutoFit/>
          </a:bodyPr>
          <a:lstStyle/>
          <a:p>
            <a:pPr algn="l"/>
            <a:r>
              <a:rPr sz="950" b="0" i="0">
                <a:solidFill>
                  <a:srgbClr val="1E293B"/>
                </a:solidFill>
                <a:latin typeface="Calibri"/>
              </a:rPr>
              <a:t>Execution confirmation logging in ENVOY Audit Framework</a:t>
            </a:r>
          </a:p>
        </p:txBody>
      </p:sp>
      <p:sp>
        <p:nvSpPr>
          <p:cNvPr id="156" name="Rectangle 155"/>
          <p:cNvSpPr/>
          <p:nvPr/>
        </p:nvSpPr>
        <p:spPr>
          <a:xfrm>
            <a:off x="960120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601200" y="474573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692640" y="4818888"/>
            <a:ext cx="2103120" cy="420624"/>
          </a:xfrm>
          <a:prstGeom prst="rect">
            <a:avLst/>
          </a:prstGeom>
          <a:noFill/>
        </p:spPr>
        <p:txBody>
          <a:bodyPr wrap="square">
            <a:spAutoFit/>
          </a:bodyPr>
          <a:lstStyle/>
          <a:p>
            <a:pPr algn="l"/>
            <a:r>
              <a:rPr sz="950" b="0" i="0">
                <a:solidFill>
                  <a:srgbClr val="1E293B"/>
                </a:solidFill>
                <a:latin typeface="Calibri"/>
              </a:rPr>
              <a:t>Post-change monitoring initiation via ObserveAll triggers</a:t>
            </a:r>
          </a:p>
        </p:txBody>
      </p:sp>
      <p:sp>
        <p:nvSpPr>
          <p:cNvPr id="159" name="Rectangle 158"/>
          <p:cNvSpPr/>
          <p:nvPr/>
        </p:nvSpPr>
        <p:spPr>
          <a:xfrm>
            <a:off x="960120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9601200" y="528523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692640" y="5358384"/>
            <a:ext cx="2103120" cy="420624"/>
          </a:xfrm>
          <a:prstGeom prst="rect">
            <a:avLst/>
          </a:prstGeom>
          <a:noFill/>
        </p:spPr>
        <p:txBody>
          <a:bodyPr wrap="square">
            <a:spAutoFit/>
          </a:bodyPr>
          <a:lstStyle/>
          <a:p>
            <a:pPr algn="l"/>
            <a:r>
              <a:rPr sz="950" b="0" i="0">
                <a:solidFill>
                  <a:srgbClr val="1E293B"/>
                </a:solidFill>
                <a:latin typeface="Calibri"/>
              </a:rPr>
              <a:t>ObserveAll — PCW ranking and volume impact tracking</a:t>
            </a:r>
          </a:p>
        </p:txBody>
      </p:sp>
      <p:sp>
        <p:nvSpPr>
          <p:cNvPr id="162" name="Rectangle 161"/>
          <p:cNvSpPr/>
          <p:nvPr/>
        </p:nvSpPr>
        <p:spPr>
          <a:xfrm>
            <a:off x="960120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601200" y="5824728"/>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9692640" y="5897880"/>
            <a:ext cx="2103120" cy="420624"/>
          </a:xfrm>
          <a:prstGeom prst="rect">
            <a:avLst/>
          </a:prstGeom>
          <a:noFill/>
        </p:spPr>
        <p:txBody>
          <a:bodyPr wrap="square">
            <a:spAutoFit/>
          </a:bodyPr>
          <a:lstStyle/>
          <a:p>
            <a:pPr algn="l"/>
            <a:r>
              <a:rPr sz="950" b="0" i="0">
                <a:solidFill>
                  <a:srgbClr val="1E293B"/>
                </a:solidFill>
                <a:latin typeface="Calibri"/>
              </a:rPr>
              <a:t>Cloud Logging — execution records and error capture</a:t>
            </a:r>
          </a:p>
        </p:txBody>
      </p:sp>
      <p:sp>
        <p:nvSpPr>
          <p:cNvPr id="165" name="Rectangle 164"/>
          <p:cNvSpPr/>
          <p:nvPr/>
        </p:nvSpPr>
        <p:spPr>
          <a:xfrm>
            <a:off x="960120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601200" y="6364224"/>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692640" y="6437376"/>
            <a:ext cx="2103120" cy="420624"/>
          </a:xfrm>
          <a:prstGeom prst="rect">
            <a:avLst/>
          </a:prstGeom>
          <a:noFill/>
        </p:spPr>
        <p:txBody>
          <a:bodyPr wrap="square">
            <a:spAutoFit/>
          </a:bodyPr>
          <a:lstStyle/>
          <a:p>
            <a:pPr algn="l"/>
            <a:r>
              <a:rPr sz="950" b="0" i="0">
                <a:solidFill>
                  <a:srgbClr val="1E293B"/>
                </a:solidFill>
                <a:latin typeface="Calibri"/>
              </a:rPr>
              <a:t>Learning Agent outcome data ingestion from ObserveAll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