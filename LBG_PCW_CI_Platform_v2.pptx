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0" y="0"/>
            <a:ext cx="3959352" cy="685800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28600"/>
            <a:ext cx="6858000" cy="274320"/>
          </a:xfrm>
          <a:prstGeom prst="rect">
            <a:avLst/>
          </a:prstGeom>
          <a:noFill/>
        </p:spPr>
        <p:txBody>
          <a:bodyPr wrap="square"/>
          <a:lstStyle/>
          <a:p>
            <a:pPr algn="l"/>
            <a:r>
              <a:rPr sz="800" b="1" i="0">
                <a:solidFill>
                  <a:srgbClr val="C9A84C"/>
                </a:solidFill>
                <a:latin typeface="Calibri"/>
              </a:rPr>
              <a:t>LLOYDS BANKING GROUP  |  GENERAL INSURANCE</a:t>
            </a:r>
          </a:p>
        </p:txBody>
      </p:sp>
      <p:sp>
        <p:nvSpPr>
          <p:cNvPr id="7" name="TextBox 6"/>
          <p:cNvSpPr txBox="1"/>
          <p:nvPr/>
        </p:nvSpPr>
        <p:spPr>
          <a:xfrm>
            <a:off x="274320" y="658368"/>
            <a:ext cx="7589520" cy="502920"/>
          </a:xfrm>
          <a:prstGeom prst="rect">
            <a:avLst/>
          </a:prstGeom>
          <a:noFill/>
        </p:spPr>
        <p:txBody>
          <a:bodyPr wrap="square"/>
          <a:lstStyle/>
          <a:p>
            <a:pPr algn="l"/>
            <a:r>
              <a:rPr sz="3400" b="1" i="0">
                <a:solidFill>
                  <a:srgbClr val="FFFFFF"/>
                </a:solidFill>
                <a:latin typeface="Calibri"/>
              </a:rPr>
              <a:t>PCW Competitive Intelligence</a:t>
            </a:r>
          </a:p>
        </p:txBody>
      </p:sp>
      <p:sp>
        <p:nvSpPr>
          <p:cNvPr id="8" name="TextBox 7"/>
          <p:cNvSpPr txBox="1"/>
          <p:nvPr/>
        </p:nvSpPr>
        <p:spPr>
          <a:xfrm>
            <a:off x="274320" y="1115568"/>
            <a:ext cx="7589520" cy="502920"/>
          </a:xfrm>
          <a:prstGeom prst="rect">
            <a:avLst/>
          </a:prstGeom>
          <a:noFill/>
        </p:spPr>
        <p:txBody>
          <a:bodyPr wrap="square"/>
          <a:lstStyle/>
          <a:p>
            <a:pPr algn="l"/>
            <a:r>
              <a:rPr sz="3400" b="1" i="0">
                <a:solidFill>
                  <a:srgbClr val="FFFFFF"/>
                </a:solidFill>
                <a:latin typeface="Calibri"/>
              </a:rPr>
              <a:t>&amp; Optimisation Platform</a:t>
            </a:r>
          </a:p>
        </p:txBody>
      </p:sp>
      <p:sp>
        <p:nvSpPr>
          <p:cNvPr id="9" name="Rectangle 8"/>
          <p:cNvSpPr/>
          <p:nvPr/>
        </p:nvSpPr>
        <p:spPr>
          <a:xfrm>
            <a:off x="274320" y="1691640"/>
            <a:ext cx="5486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828800"/>
            <a:ext cx="7589520" cy="365760"/>
          </a:xfrm>
          <a:prstGeom prst="rect">
            <a:avLst/>
          </a:prstGeom>
          <a:noFill/>
        </p:spPr>
        <p:txBody>
          <a:bodyPr wrap="square"/>
          <a:lstStyle/>
          <a:p>
            <a:pPr algn="l"/>
            <a:r>
              <a:rPr sz="1200" b="0" i="1">
                <a:solidFill>
                  <a:srgbClr val="94A3B8"/>
                </a:solidFill>
                <a:latin typeface="Calibri"/>
              </a:rPr>
              <a:t>Transforming Market Monitoring into Continuous Competitive Advantage</a:t>
            </a:r>
          </a:p>
        </p:txBody>
      </p:sp>
      <p:sp>
        <p:nvSpPr>
          <p:cNvPr id="11" name="Rectangle 10"/>
          <p:cNvSpPr/>
          <p:nvPr/>
        </p:nvSpPr>
        <p:spPr>
          <a:xfrm>
            <a:off x="274320" y="2331720"/>
            <a:ext cx="1828800" cy="292608"/>
          </a:xfrm>
          <a:prstGeom prst="rect">
            <a:avLst/>
          </a:prstGeom>
          <a:no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377440"/>
            <a:ext cx="1737360" cy="246888"/>
          </a:xfrm>
          <a:prstGeom prst="rect">
            <a:avLst/>
          </a:prstGeom>
          <a:noFill/>
        </p:spPr>
        <p:txBody>
          <a:bodyPr wrap="square"/>
          <a:lstStyle/>
          <a:p>
            <a:pPr algn="ctr"/>
            <a:r>
              <a:rPr sz="900" b="1" i="0">
                <a:solidFill>
                  <a:srgbClr val="C9A84C"/>
                </a:solidFill>
                <a:latin typeface="Calibri"/>
              </a:rPr>
              <a:t>Machine Learning</a:t>
            </a:r>
          </a:p>
        </p:txBody>
      </p:sp>
      <p:sp>
        <p:nvSpPr>
          <p:cNvPr id="13" name="Rectangle 12"/>
          <p:cNvSpPr/>
          <p:nvPr/>
        </p:nvSpPr>
        <p:spPr>
          <a:xfrm>
            <a:off x="2286000" y="2331720"/>
            <a:ext cx="1828800" cy="292608"/>
          </a:xfrm>
          <a:prstGeom prst="rect">
            <a:avLst/>
          </a:prstGeom>
          <a:no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2377440"/>
            <a:ext cx="1737360" cy="246888"/>
          </a:xfrm>
          <a:prstGeom prst="rect">
            <a:avLst/>
          </a:prstGeom>
          <a:noFill/>
        </p:spPr>
        <p:txBody>
          <a:bodyPr wrap="square"/>
          <a:lstStyle/>
          <a:p>
            <a:pPr algn="ctr"/>
            <a:r>
              <a:rPr sz="900" b="1" i="0">
                <a:solidFill>
                  <a:srgbClr val="C9A84C"/>
                </a:solidFill>
                <a:latin typeface="Calibri"/>
              </a:rPr>
              <a:t>Generative AI</a:t>
            </a:r>
          </a:p>
        </p:txBody>
      </p:sp>
      <p:sp>
        <p:nvSpPr>
          <p:cNvPr id="15" name="Rectangle 14"/>
          <p:cNvSpPr/>
          <p:nvPr/>
        </p:nvSpPr>
        <p:spPr>
          <a:xfrm>
            <a:off x="4297680" y="2331720"/>
            <a:ext cx="1828800" cy="292608"/>
          </a:xfrm>
          <a:prstGeom prst="rect">
            <a:avLst/>
          </a:prstGeom>
          <a:noFill/>
          <a:ln w="1270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377440"/>
            <a:ext cx="1737360" cy="246888"/>
          </a:xfrm>
          <a:prstGeom prst="rect">
            <a:avLst/>
          </a:prstGeom>
          <a:noFill/>
        </p:spPr>
        <p:txBody>
          <a:bodyPr wrap="square"/>
          <a:lstStyle/>
          <a:p>
            <a:pPr algn="ctr"/>
            <a:r>
              <a:rPr sz="900" b="1" i="0">
                <a:solidFill>
                  <a:srgbClr val="C9A84C"/>
                </a:solidFill>
                <a:latin typeface="Calibri"/>
              </a:rPr>
              <a:t>Agentic Automation</a:t>
            </a:r>
          </a:p>
        </p:txBody>
      </p:sp>
      <p:sp>
        <p:nvSpPr>
          <p:cNvPr id="17" name="Rectangle 16"/>
          <p:cNvSpPr/>
          <p:nvPr/>
        </p:nvSpPr>
        <p:spPr>
          <a:xfrm>
            <a:off x="274320" y="2834640"/>
            <a:ext cx="7772400" cy="109728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2834640"/>
            <a:ext cx="54864" cy="10972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907792"/>
            <a:ext cx="7498079" cy="960120"/>
          </a:xfrm>
          <a:prstGeom prst="rect">
            <a:avLst/>
          </a:prstGeom>
          <a:noFill/>
        </p:spPr>
        <p:txBody>
          <a:bodyPr wrap="square"/>
          <a:lstStyle/>
          <a:p>
            <a:pPr algn="l"/>
            <a:r>
              <a:rPr sz="1000" b="0" i="1">
                <a:solidFill>
                  <a:srgbClr val="C8D6E8"/>
                </a:solidFill>
                <a:latin typeface="Calibri"/>
              </a:rPr>
              <a:t>This platform harnesses the full spectrum of AI capability — from ML-driven pricing models to GenAI-powered analysis and Agentic automation — to deliver continuous, governed competitive intelligence across all PCW channels.</a:t>
            </a:r>
          </a:p>
        </p:txBody>
      </p:sp>
      <p:sp>
        <p:nvSpPr>
          <p:cNvPr id="20" name="TextBox 19"/>
          <p:cNvSpPr txBox="1"/>
          <p:nvPr/>
        </p:nvSpPr>
        <p:spPr>
          <a:xfrm>
            <a:off x="8366760" y="411480"/>
            <a:ext cx="3474720" cy="256032"/>
          </a:xfrm>
          <a:prstGeom prst="rect">
            <a:avLst/>
          </a:prstGeom>
          <a:noFill/>
        </p:spPr>
        <p:txBody>
          <a:bodyPr wrap="square"/>
          <a:lstStyle/>
          <a:p>
            <a:pPr algn="l"/>
            <a:r>
              <a:rPr sz="800" b="1" i="0">
                <a:solidFill>
                  <a:srgbClr val="C9A84C"/>
                </a:solidFill>
                <a:latin typeface="Calibri"/>
              </a:rPr>
              <a:t>DELIVERY PHASES</a:t>
            </a:r>
          </a:p>
        </p:txBody>
      </p:sp>
      <p:sp>
        <p:nvSpPr>
          <p:cNvPr id="21" name="Rectangle 20"/>
          <p:cNvSpPr/>
          <p:nvPr/>
        </p:nvSpPr>
        <p:spPr>
          <a:xfrm>
            <a:off x="8366760" y="777240"/>
            <a:ext cx="3566160" cy="123444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66760" y="777240"/>
            <a:ext cx="54864" cy="12344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0" y="868680"/>
            <a:ext cx="3291840" cy="228600"/>
          </a:xfrm>
          <a:prstGeom prst="rect">
            <a:avLst/>
          </a:prstGeom>
          <a:noFill/>
        </p:spPr>
        <p:txBody>
          <a:bodyPr wrap="square"/>
          <a:lstStyle/>
          <a:p>
            <a:pPr algn="l"/>
            <a:r>
              <a:rPr sz="800" b="1" i="0">
                <a:solidFill>
                  <a:srgbClr val="0F7AC5"/>
                </a:solidFill>
                <a:latin typeface="Calibri"/>
              </a:rPr>
              <a:t>Wave 1</a:t>
            </a:r>
          </a:p>
        </p:txBody>
      </p:sp>
      <p:sp>
        <p:nvSpPr>
          <p:cNvPr id="24" name="TextBox 23"/>
          <p:cNvSpPr txBox="1"/>
          <p:nvPr/>
        </p:nvSpPr>
        <p:spPr>
          <a:xfrm>
            <a:off x="8503920" y="1097280"/>
            <a:ext cx="3291840" cy="274320"/>
          </a:xfrm>
          <a:prstGeom prst="rect">
            <a:avLst/>
          </a:prstGeom>
          <a:noFill/>
        </p:spPr>
        <p:txBody>
          <a:bodyPr wrap="square"/>
          <a:lstStyle/>
          <a:p>
            <a:pPr algn="l"/>
            <a:r>
              <a:rPr sz="1200" b="1" i="0">
                <a:solidFill>
                  <a:srgbClr val="FFFFFF"/>
                </a:solidFill>
                <a:latin typeface="Calibri"/>
              </a:rPr>
              <a:t>Market Visibility</a:t>
            </a:r>
          </a:p>
        </p:txBody>
      </p:sp>
      <p:sp>
        <p:nvSpPr>
          <p:cNvPr id="25" name="TextBox 24"/>
          <p:cNvSpPr txBox="1"/>
          <p:nvPr/>
        </p:nvSpPr>
        <p:spPr>
          <a:xfrm>
            <a:off x="8503920" y="1435608"/>
            <a:ext cx="3291840" cy="228600"/>
          </a:xfrm>
          <a:prstGeom prst="rect">
            <a:avLst/>
          </a:prstGeom>
          <a:noFill/>
        </p:spPr>
        <p:txBody>
          <a:bodyPr wrap="square"/>
          <a:lstStyle/>
          <a:p>
            <a:pPr algn="l"/>
            <a:r>
              <a:rPr sz="900" b="0" i="0">
                <a:solidFill>
                  <a:srgbClr val="94A3B8"/>
                </a:solidFill>
                <a:latin typeface="Calibri"/>
              </a:rPr>
              <a:t>Months 1-3</a:t>
            </a:r>
          </a:p>
        </p:txBody>
      </p:sp>
      <p:sp>
        <p:nvSpPr>
          <p:cNvPr id="26" name="Rectangle 25"/>
          <p:cNvSpPr/>
          <p:nvPr/>
        </p:nvSpPr>
        <p:spPr>
          <a:xfrm>
            <a:off x="8366760" y="2167128"/>
            <a:ext cx="3566160" cy="123444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366760" y="2167128"/>
            <a:ext cx="54864" cy="12344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2258568"/>
            <a:ext cx="3291840" cy="228600"/>
          </a:xfrm>
          <a:prstGeom prst="rect">
            <a:avLst/>
          </a:prstGeom>
          <a:noFill/>
        </p:spPr>
        <p:txBody>
          <a:bodyPr wrap="square"/>
          <a:lstStyle/>
          <a:p>
            <a:pPr algn="l"/>
            <a:r>
              <a:rPr sz="800" b="1" i="0">
                <a:solidFill>
                  <a:srgbClr val="2563AB"/>
                </a:solidFill>
                <a:latin typeface="Calibri"/>
              </a:rPr>
              <a:t>Wave 2</a:t>
            </a:r>
          </a:p>
        </p:txBody>
      </p:sp>
      <p:sp>
        <p:nvSpPr>
          <p:cNvPr id="29" name="TextBox 28"/>
          <p:cNvSpPr txBox="1"/>
          <p:nvPr/>
        </p:nvSpPr>
        <p:spPr>
          <a:xfrm>
            <a:off x="8503920" y="2487168"/>
            <a:ext cx="3291840" cy="274320"/>
          </a:xfrm>
          <a:prstGeom prst="rect">
            <a:avLst/>
          </a:prstGeom>
          <a:noFill/>
        </p:spPr>
        <p:txBody>
          <a:bodyPr wrap="square"/>
          <a:lstStyle/>
          <a:p>
            <a:pPr algn="l"/>
            <a:r>
              <a:rPr sz="1200" b="1" i="0">
                <a:solidFill>
                  <a:srgbClr val="FFFFFF"/>
                </a:solidFill>
                <a:latin typeface="Calibri"/>
              </a:rPr>
              <a:t>Intelligence</a:t>
            </a:r>
          </a:p>
        </p:txBody>
      </p:sp>
      <p:sp>
        <p:nvSpPr>
          <p:cNvPr id="30" name="TextBox 29"/>
          <p:cNvSpPr txBox="1"/>
          <p:nvPr/>
        </p:nvSpPr>
        <p:spPr>
          <a:xfrm>
            <a:off x="8503920" y="2825496"/>
            <a:ext cx="3291840" cy="228600"/>
          </a:xfrm>
          <a:prstGeom prst="rect">
            <a:avLst/>
          </a:prstGeom>
          <a:noFill/>
        </p:spPr>
        <p:txBody>
          <a:bodyPr wrap="square"/>
          <a:lstStyle/>
          <a:p>
            <a:pPr algn="l"/>
            <a:r>
              <a:rPr sz="900" b="0" i="0">
                <a:solidFill>
                  <a:srgbClr val="94A3B8"/>
                </a:solidFill>
                <a:latin typeface="Calibri"/>
              </a:rPr>
              <a:t>Months 4-6</a:t>
            </a:r>
          </a:p>
        </p:txBody>
      </p:sp>
      <p:sp>
        <p:nvSpPr>
          <p:cNvPr id="31" name="Rectangle 30"/>
          <p:cNvSpPr/>
          <p:nvPr/>
        </p:nvSpPr>
        <p:spPr>
          <a:xfrm>
            <a:off x="8366760" y="3557016"/>
            <a:ext cx="3566160" cy="123444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66760" y="3557016"/>
            <a:ext cx="54864" cy="1234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0" y="3648456"/>
            <a:ext cx="3291840" cy="228600"/>
          </a:xfrm>
          <a:prstGeom prst="rect">
            <a:avLst/>
          </a:prstGeom>
          <a:noFill/>
        </p:spPr>
        <p:txBody>
          <a:bodyPr wrap="square"/>
          <a:lstStyle/>
          <a:p>
            <a:pPr algn="l"/>
            <a:r>
              <a:rPr sz="800" b="1" i="0">
                <a:solidFill>
                  <a:srgbClr val="0D9488"/>
                </a:solidFill>
                <a:latin typeface="Calibri"/>
              </a:rPr>
              <a:t>Wave 3</a:t>
            </a:r>
          </a:p>
        </p:txBody>
      </p:sp>
      <p:sp>
        <p:nvSpPr>
          <p:cNvPr id="34" name="TextBox 33"/>
          <p:cNvSpPr txBox="1"/>
          <p:nvPr/>
        </p:nvSpPr>
        <p:spPr>
          <a:xfrm>
            <a:off x="8503920" y="3877056"/>
            <a:ext cx="3291840" cy="274320"/>
          </a:xfrm>
          <a:prstGeom prst="rect">
            <a:avLst/>
          </a:prstGeom>
          <a:noFill/>
        </p:spPr>
        <p:txBody>
          <a:bodyPr wrap="square"/>
          <a:lstStyle/>
          <a:p>
            <a:pPr algn="l"/>
            <a:r>
              <a:rPr sz="1200" b="1" i="0">
                <a:solidFill>
                  <a:srgbClr val="FFFFFF"/>
                </a:solidFill>
                <a:latin typeface="Calibri"/>
              </a:rPr>
              <a:t>Decision Support</a:t>
            </a:r>
          </a:p>
        </p:txBody>
      </p:sp>
      <p:sp>
        <p:nvSpPr>
          <p:cNvPr id="35" name="TextBox 34"/>
          <p:cNvSpPr txBox="1"/>
          <p:nvPr/>
        </p:nvSpPr>
        <p:spPr>
          <a:xfrm>
            <a:off x="8503920" y="4215384"/>
            <a:ext cx="3291840" cy="228600"/>
          </a:xfrm>
          <a:prstGeom prst="rect">
            <a:avLst/>
          </a:prstGeom>
          <a:noFill/>
        </p:spPr>
        <p:txBody>
          <a:bodyPr wrap="square"/>
          <a:lstStyle/>
          <a:p>
            <a:pPr algn="l"/>
            <a:r>
              <a:rPr sz="900" b="0" i="0">
                <a:solidFill>
                  <a:srgbClr val="94A3B8"/>
                </a:solidFill>
                <a:latin typeface="Calibri"/>
              </a:rPr>
              <a:t>Months 7-9</a:t>
            </a:r>
          </a:p>
        </p:txBody>
      </p:sp>
      <p:sp>
        <p:nvSpPr>
          <p:cNvPr id="36" name="Rectangle 35"/>
          <p:cNvSpPr/>
          <p:nvPr/>
        </p:nvSpPr>
        <p:spPr>
          <a:xfrm>
            <a:off x="8366760" y="4946904"/>
            <a:ext cx="3566160" cy="123444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66760" y="4946904"/>
            <a:ext cx="54864" cy="1234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0" y="5038344"/>
            <a:ext cx="3291840" cy="228600"/>
          </a:xfrm>
          <a:prstGeom prst="rect">
            <a:avLst/>
          </a:prstGeom>
          <a:noFill/>
        </p:spPr>
        <p:txBody>
          <a:bodyPr wrap="square"/>
          <a:lstStyle/>
          <a:p>
            <a:pPr algn="l"/>
            <a:r>
              <a:rPr sz="800" b="1" i="0">
                <a:solidFill>
                  <a:srgbClr val="7C3AED"/>
                </a:solidFill>
                <a:latin typeface="Calibri"/>
              </a:rPr>
              <a:t>Wave 4</a:t>
            </a:r>
          </a:p>
        </p:txBody>
      </p:sp>
      <p:sp>
        <p:nvSpPr>
          <p:cNvPr id="39" name="TextBox 38"/>
          <p:cNvSpPr txBox="1"/>
          <p:nvPr/>
        </p:nvSpPr>
        <p:spPr>
          <a:xfrm>
            <a:off x="8503920" y="5266944"/>
            <a:ext cx="3291840" cy="274320"/>
          </a:xfrm>
          <a:prstGeom prst="rect">
            <a:avLst/>
          </a:prstGeom>
          <a:noFill/>
        </p:spPr>
        <p:txBody>
          <a:bodyPr wrap="square"/>
          <a:lstStyle/>
          <a:p>
            <a:pPr algn="l"/>
            <a:r>
              <a:rPr sz="1200" b="1" i="0">
                <a:solidFill>
                  <a:srgbClr val="FFFFFF"/>
                </a:solidFill>
                <a:latin typeface="Calibri"/>
              </a:rPr>
              <a:t>Optimisation</a:t>
            </a:r>
          </a:p>
        </p:txBody>
      </p:sp>
      <p:sp>
        <p:nvSpPr>
          <p:cNvPr id="40" name="TextBox 39"/>
          <p:cNvSpPr txBox="1"/>
          <p:nvPr/>
        </p:nvSpPr>
        <p:spPr>
          <a:xfrm>
            <a:off x="8503920" y="5605272"/>
            <a:ext cx="3291840" cy="228600"/>
          </a:xfrm>
          <a:prstGeom prst="rect">
            <a:avLst/>
          </a:prstGeom>
          <a:noFill/>
        </p:spPr>
        <p:txBody>
          <a:bodyPr wrap="square"/>
          <a:lstStyle/>
          <a:p>
            <a:pPr algn="l"/>
            <a:r>
              <a:rPr sz="900" b="0" i="0">
                <a:solidFill>
                  <a:srgbClr val="94A3B8"/>
                </a:solidFill>
                <a:latin typeface="Calibri"/>
              </a:rPr>
              <a:t>Months 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EXECUTIVE SUMMARY</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Platform Overview — The Case for Change</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2 / 18</a:t>
            </a:r>
          </a:p>
        </p:txBody>
      </p:sp>
      <p:sp>
        <p:nvSpPr>
          <p:cNvPr id="9" name="Rectangle 8"/>
          <p:cNvSpPr/>
          <p:nvPr/>
        </p:nvSpPr>
        <p:spPr>
          <a:xfrm>
            <a:off x="164592" y="822960"/>
            <a:ext cx="3749039" cy="4297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3749039"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932688"/>
            <a:ext cx="3566159" cy="201168"/>
          </a:xfrm>
          <a:prstGeom prst="rect">
            <a:avLst/>
          </a:prstGeom>
          <a:noFill/>
        </p:spPr>
        <p:txBody>
          <a:bodyPr wrap="square"/>
          <a:lstStyle/>
          <a:p>
            <a:pPr algn="l"/>
            <a:r>
              <a:rPr sz="750" b="1" i="0">
                <a:solidFill>
                  <a:srgbClr val="0F7AC5"/>
                </a:solidFill>
                <a:latin typeface="Calibri"/>
              </a:rPr>
              <a:t>THE OPPORTUNITY</a:t>
            </a:r>
          </a:p>
        </p:txBody>
      </p:sp>
      <p:sp>
        <p:nvSpPr>
          <p:cNvPr id="12" name="TextBox 11"/>
          <p:cNvSpPr txBox="1"/>
          <p:nvPr/>
        </p:nvSpPr>
        <p:spPr>
          <a:xfrm>
            <a:off x="274320" y="1143000"/>
            <a:ext cx="3566159" cy="502920"/>
          </a:xfrm>
          <a:prstGeom prst="rect">
            <a:avLst/>
          </a:prstGeom>
          <a:noFill/>
        </p:spPr>
        <p:txBody>
          <a:bodyPr wrap="square"/>
          <a:lstStyle/>
          <a:p>
            <a:pPr algn="l"/>
            <a:r>
              <a:rPr sz="1050" b="1" i="0">
                <a:solidFill>
                  <a:srgbClr val="0A1628"/>
                </a:solidFill>
                <a:latin typeface="Calibri"/>
              </a:rPr>
              <a:t>PCWs are a primary acquisition channel under continuous competitive pressure</a:t>
            </a:r>
          </a:p>
        </p:txBody>
      </p:sp>
      <p:sp>
        <p:nvSpPr>
          <p:cNvPr id="13" name="TextBox 12"/>
          <p:cNvSpPr txBox="1"/>
          <p:nvPr/>
        </p:nvSpPr>
        <p:spPr>
          <a:xfrm>
            <a:off x="274320" y="1709928"/>
            <a:ext cx="3566159" cy="3246120"/>
          </a:xfrm>
          <a:prstGeom prst="rect">
            <a:avLst/>
          </a:prstGeom>
          <a:noFill/>
        </p:spPr>
        <p:txBody>
          <a:bodyPr wrap="square"/>
          <a:lstStyle/>
          <a:p>
            <a:pPr algn="l"/>
            <a:r>
              <a:rPr sz="950" b="0" i="0">
                <a:solidFill>
                  <a:srgbClr val="475569"/>
                </a:solidFill>
                <a:latin typeface="Calibri"/>
              </a:rPr>
              <a:t>Price Comparison Websites influence the majority of UK General Insurance new business. Customers compare price, excess, features, add-ons and brand across multiple providers simultaneously. Small changes in market position can drive material volume impact. Competitors adjust their positioning daily — creating both risk and opportunity.</a:t>
            </a:r>
          </a:p>
        </p:txBody>
      </p:sp>
      <p:sp>
        <p:nvSpPr>
          <p:cNvPr id="14" name="Rectangle 13"/>
          <p:cNvSpPr/>
          <p:nvPr/>
        </p:nvSpPr>
        <p:spPr>
          <a:xfrm>
            <a:off x="4023359" y="822960"/>
            <a:ext cx="3749039" cy="4297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59" y="822960"/>
            <a:ext cx="3749039"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33087" y="932688"/>
            <a:ext cx="3566159" cy="201168"/>
          </a:xfrm>
          <a:prstGeom prst="rect">
            <a:avLst/>
          </a:prstGeom>
          <a:noFill/>
        </p:spPr>
        <p:txBody>
          <a:bodyPr wrap="square"/>
          <a:lstStyle/>
          <a:p>
            <a:pPr algn="l"/>
            <a:r>
              <a:rPr sz="750" b="1" i="0">
                <a:solidFill>
                  <a:srgbClr val="2563AB"/>
                </a:solidFill>
                <a:latin typeface="Calibri"/>
              </a:rPr>
              <a:t>THE CHALLENGE</a:t>
            </a:r>
          </a:p>
        </p:txBody>
      </p:sp>
      <p:sp>
        <p:nvSpPr>
          <p:cNvPr id="17" name="TextBox 16"/>
          <p:cNvSpPr txBox="1"/>
          <p:nvPr/>
        </p:nvSpPr>
        <p:spPr>
          <a:xfrm>
            <a:off x="4133087" y="1143000"/>
            <a:ext cx="3566159" cy="502920"/>
          </a:xfrm>
          <a:prstGeom prst="rect">
            <a:avLst/>
          </a:prstGeom>
          <a:noFill/>
        </p:spPr>
        <p:txBody>
          <a:bodyPr wrap="square"/>
          <a:lstStyle/>
          <a:p>
            <a:pPr algn="l"/>
            <a:r>
              <a:rPr sz="1050" b="1" i="0">
                <a:solidFill>
                  <a:srgbClr val="0A1628"/>
                </a:solidFill>
                <a:latin typeface="Calibri"/>
              </a:rPr>
              <a:t>Current monitoring is periodic, manual and unable to match market velocity</a:t>
            </a:r>
          </a:p>
        </p:txBody>
      </p:sp>
      <p:sp>
        <p:nvSpPr>
          <p:cNvPr id="18" name="TextBox 17"/>
          <p:cNvSpPr txBox="1"/>
          <p:nvPr/>
        </p:nvSpPr>
        <p:spPr>
          <a:xfrm>
            <a:off x="4133087" y="1709928"/>
            <a:ext cx="3566159" cy="3246120"/>
          </a:xfrm>
          <a:prstGeom prst="rect">
            <a:avLst/>
          </a:prstGeom>
          <a:noFill/>
        </p:spPr>
        <p:txBody>
          <a:bodyPr wrap="square"/>
          <a:lstStyle/>
          <a:p>
            <a:pPr algn="l"/>
            <a:r>
              <a:rPr sz="950" b="0" i="0">
                <a:solidFill>
                  <a:srgbClr val="475569"/>
                </a:solidFill>
                <a:latin typeface="Calibri"/>
              </a:rPr>
              <a:t>LBG's current approach relies on scheduled, manual market reviews. By the time trends are identified, analysed and actioned, the market has often moved on. Teams work in silos, data is inconsistent, and there is no mechanism for continuous, cross-channel competitive tracking or rapid response.</a:t>
            </a:r>
          </a:p>
        </p:txBody>
      </p:sp>
      <p:sp>
        <p:nvSpPr>
          <p:cNvPr id="19" name="Rectangle 18"/>
          <p:cNvSpPr/>
          <p:nvPr/>
        </p:nvSpPr>
        <p:spPr>
          <a:xfrm>
            <a:off x="7882126" y="822960"/>
            <a:ext cx="3749039" cy="42976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882126" y="822960"/>
            <a:ext cx="3749039"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91854" y="932688"/>
            <a:ext cx="3566159" cy="201168"/>
          </a:xfrm>
          <a:prstGeom prst="rect">
            <a:avLst/>
          </a:prstGeom>
          <a:noFill/>
        </p:spPr>
        <p:txBody>
          <a:bodyPr wrap="square"/>
          <a:lstStyle/>
          <a:p>
            <a:pPr algn="l"/>
            <a:r>
              <a:rPr sz="750" b="1" i="0">
                <a:solidFill>
                  <a:srgbClr val="C9A84C"/>
                </a:solidFill>
                <a:latin typeface="Calibri"/>
              </a:rPr>
              <a:t>THE RECOMMENDATION</a:t>
            </a:r>
          </a:p>
        </p:txBody>
      </p:sp>
      <p:sp>
        <p:nvSpPr>
          <p:cNvPr id="22" name="TextBox 21"/>
          <p:cNvSpPr txBox="1"/>
          <p:nvPr/>
        </p:nvSpPr>
        <p:spPr>
          <a:xfrm>
            <a:off x="7991854" y="1143000"/>
            <a:ext cx="3566159" cy="548640"/>
          </a:xfrm>
          <a:prstGeom prst="rect">
            <a:avLst/>
          </a:prstGeom>
          <a:noFill/>
        </p:spPr>
        <p:txBody>
          <a:bodyPr wrap="square"/>
          <a:lstStyle/>
          <a:p>
            <a:pPr algn="l"/>
            <a:r>
              <a:rPr sz="1050" b="1" i="0">
                <a:solidFill>
                  <a:srgbClr val="FFFFFF"/>
                </a:solidFill>
                <a:latin typeface="Calibri"/>
              </a:rPr>
              <a:t>Build an AI-powered Competitive Intelligence &amp; Optimisation Platform</a:t>
            </a:r>
          </a:p>
        </p:txBody>
      </p:sp>
      <p:sp>
        <p:nvSpPr>
          <p:cNvPr id="23" name="TextBox 22"/>
          <p:cNvSpPr txBox="1"/>
          <p:nvPr/>
        </p:nvSpPr>
        <p:spPr>
          <a:xfrm>
            <a:off x="7991854" y="1755648"/>
            <a:ext cx="3566159" cy="3200400"/>
          </a:xfrm>
          <a:prstGeom prst="rect">
            <a:avLst/>
          </a:prstGeom>
          <a:noFill/>
        </p:spPr>
        <p:txBody>
          <a:bodyPr wrap="square"/>
          <a:lstStyle/>
          <a:p>
            <a:pPr algn="l"/>
            <a:r>
              <a:rPr sz="950" b="0" i="0">
                <a:solidFill>
                  <a:srgbClr val="B8CCE4"/>
                </a:solidFill>
                <a:latin typeface="Calibri"/>
              </a:rPr>
              <a:t>Deploy a multi-capability AI platform combining traditional ML models, Generative AI and Agentic automation — continuously monitoring market signals, generating intelligence and recommending actions, governed by human oversight at every decision point.</a:t>
            </a:r>
          </a:p>
        </p:txBody>
      </p:sp>
      <p:sp>
        <p:nvSpPr>
          <p:cNvPr id="24" name="Rectangle 23"/>
          <p:cNvSpPr/>
          <p:nvPr/>
        </p:nvSpPr>
        <p:spPr>
          <a:xfrm>
            <a:off x="164592" y="5257800"/>
            <a:ext cx="2258568" cy="5943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64592" y="52578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 y="5349240"/>
            <a:ext cx="2121408" cy="484632"/>
          </a:xfrm>
          <a:prstGeom prst="rect">
            <a:avLst/>
          </a:prstGeom>
          <a:noFill/>
        </p:spPr>
        <p:txBody>
          <a:bodyPr wrap="square"/>
          <a:lstStyle/>
          <a:p>
            <a:pPr algn="l"/>
            <a:r>
              <a:rPr sz="900" b="1" i="0">
                <a:solidFill>
                  <a:srgbClr val="0A1628"/>
                </a:solidFill>
                <a:latin typeface="Calibri"/>
              </a:rPr>
              <a:t>Improved PCW ranking position</a:t>
            </a:r>
          </a:p>
        </p:txBody>
      </p:sp>
      <p:sp>
        <p:nvSpPr>
          <p:cNvPr id="27" name="Rectangle 26"/>
          <p:cNvSpPr/>
          <p:nvPr/>
        </p:nvSpPr>
        <p:spPr>
          <a:xfrm>
            <a:off x="2532888" y="5257800"/>
            <a:ext cx="2258568" cy="5943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32888" y="52578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24328" y="5349240"/>
            <a:ext cx="2121408" cy="484632"/>
          </a:xfrm>
          <a:prstGeom prst="rect">
            <a:avLst/>
          </a:prstGeom>
          <a:noFill/>
        </p:spPr>
        <p:txBody>
          <a:bodyPr wrap="square"/>
          <a:lstStyle/>
          <a:p>
            <a:pPr algn="l"/>
            <a:r>
              <a:rPr sz="900" b="1" i="0">
                <a:solidFill>
                  <a:srgbClr val="0A1628"/>
                </a:solidFill>
                <a:latin typeface="Calibri"/>
              </a:rPr>
              <a:t>Faster competitor response</a:t>
            </a:r>
          </a:p>
        </p:txBody>
      </p:sp>
      <p:sp>
        <p:nvSpPr>
          <p:cNvPr id="30" name="Rectangle 29"/>
          <p:cNvSpPr/>
          <p:nvPr/>
        </p:nvSpPr>
        <p:spPr>
          <a:xfrm>
            <a:off x="4901183" y="5257800"/>
            <a:ext cx="2258568" cy="5943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901183" y="52578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992623" y="5349240"/>
            <a:ext cx="2121408" cy="484632"/>
          </a:xfrm>
          <a:prstGeom prst="rect">
            <a:avLst/>
          </a:prstGeom>
          <a:noFill/>
        </p:spPr>
        <p:txBody>
          <a:bodyPr wrap="square"/>
          <a:lstStyle/>
          <a:p>
            <a:pPr algn="l"/>
            <a:r>
              <a:rPr sz="900" b="1" i="0">
                <a:solidFill>
                  <a:srgbClr val="0A1628"/>
                </a:solidFill>
                <a:latin typeface="Calibri"/>
              </a:rPr>
              <a:t>Better pricing decisions</a:t>
            </a:r>
          </a:p>
        </p:txBody>
      </p:sp>
      <p:sp>
        <p:nvSpPr>
          <p:cNvPr id="33" name="Rectangle 32"/>
          <p:cNvSpPr/>
          <p:nvPr/>
        </p:nvSpPr>
        <p:spPr>
          <a:xfrm>
            <a:off x="7269479" y="5257800"/>
            <a:ext cx="2258568" cy="5943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69479" y="52578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60919" y="5349240"/>
            <a:ext cx="2121408" cy="484632"/>
          </a:xfrm>
          <a:prstGeom prst="rect">
            <a:avLst/>
          </a:prstGeom>
          <a:noFill/>
        </p:spPr>
        <p:txBody>
          <a:bodyPr wrap="square"/>
          <a:lstStyle/>
          <a:p>
            <a:pPr algn="l"/>
            <a:r>
              <a:rPr sz="900" b="1" i="0">
                <a:solidFill>
                  <a:srgbClr val="0A1628"/>
                </a:solidFill>
                <a:latin typeface="Calibri"/>
              </a:rPr>
              <a:t>Reduced manual effort</a:t>
            </a:r>
          </a:p>
        </p:txBody>
      </p:sp>
      <p:sp>
        <p:nvSpPr>
          <p:cNvPr id="36" name="Rectangle 35"/>
          <p:cNvSpPr/>
          <p:nvPr/>
        </p:nvSpPr>
        <p:spPr>
          <a:xfrm>
            <a:off x="9637776" y="5257800"/>
            <a:ext cx="2258568" cy="5943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37776" y="5257800"/>
            <a:ext cx="4572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29216" y="5349240"/>
            <a:ext cx="2121408" cy="484632"/>
          </a:xfrm>
          <a:prstGeom prst="rect">
            <a:avLst/>
          </a:prstGeom>
          <a:noFill/>
        </p:spPr>
        <p:txBody>
          <a:bodyPr wrap="square"/>
          <a:lstStyle/>
          <a:p>
            <a:pPr algn="l"/>
            <a:r>
              <a:rPr sz="900" b="1" i="0">
                <a:solidFill>
                  <a:srgbClr val="0A1628"/>
                </a:solidFill>
                <a:latin typeface="Calibri"/>
              </a:rPr>
              <a:t>Reusable AI platform capability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MARKET CONTEXT</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Why PCWs Matter — The Strategic Imperative</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3 / 18</a:t>
            </a:r>
          </a:p>
        </p:txBody>
      </p:sp>
      <p:sp>
        <p:nvSpPr>
          <p:cNvPr id="9" name="TextBox 8"/>
          <p:cNvSpPr txBox="1"/>
          <p:nvPr/>
        </p:nvSpPr>
        <p:spPr>
          <a:xfrm>
            <a:off x="164592" y="804672"/>
            <a:ext cx="5486400" cy="256032"/>
          </a:xfrm>
          <a:prstGeom prst="rect">
            <a:avLst/>
          </a:prstGeom>
          <a:noFill/>
        </p:spPr>
        <p:txBody>
          <a:bodyPr wrap="square"/>
          <a:lstStyle/>
          <a:p>
            <a:pPr algn="l"/>
            <a:r>
              <a:rPr sz="1300" b="1" i="0">
                <a:solidFill>
                  <a:srgbClr val="0A1628"/>
                </a:solidFill>
                <a:latin typeface="Calibri"/>
              </a:rPr>
              <a:t>The PCW Landscape</a:t>
            </a:r>
          </a:p>
        </p:txBody>
      </p:sp>
      <p:sp>
        <p:nvSpPr>
          <p:cNvPr id="10" name="Rectangle 9"/>
          <p:cNvSpPr/>
          <p:nvPr/>
        </p:nvSpPr>
        <p:spPr>
          <a:xfrm>
            <a:off x="164592" y="1115568"/>
            <a:ext cx="5486400" cy="1645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2" y="1115568"/>
            <a:ext cx="45720" cy="16459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207008"/>
            <a:ext cx="5303520" cy="256032"/>
          </a:xfrm>
          <a:prstGeom prst="rect">
            <a:avLst/>
          </a:prstGeom>
          <a:noFill/>
        </p:spPr>
        <p:txBody>
          <a:bodyPr wrap="square"/>
          <a:lstStyle/>
          <a:p>
            <a:pPr algn="l"/>
            <a:r>
              <a:rPr sz="1050" b="1" i="0">
                <a:solidFill>
                  <a:srgbClr val="0A1628"/>
                </a:solidFill>
                <a:latin typeface="Calibri"/>
              </a:rPr>
              <a:t>Customer Behaviour</a:t>
            </a:r>
          </a:p>
        </p:txBody>
      </p:sp>
      <p:sp>
        <p:nvSpPr>
          <p:cNvPr id="13" name="TextBox 12"/>
          <p:cNvSpPr txBox="1"/>
          <p:nvPr/>
        </p:nvSpPr>
        <p:spPr>
          <a:xfrm>
            <a:off x="274320" y="1499616"/>
            <a:ext cx="5303520" cy="1188720"/>
          </a:xfrm>
          <a:prstGeom prst="rect">
            <a:avLst/>
          </a:prstGeom>
          <a:noFill/>
        </p:spPr>
        <p:txBody>
          <a:bodyPr wrap="square"/>
          <a:lstStyle/>
          <a:p>
            <a:pPr algn="l"/>
            <a:r>
              <a:rPr sz="900" b="0" i="0">
                <a:solidFill>
                  <a:srgbClr val="475569"/>
                </a:solidFill>
                <a:latin typeface="Calibri"/>
              </a:rPr>
              <a:t>Over 80% of UK motor insurance customers use a PCW at some stage of their purchase journey. Home insurance PCW penetration continues to grow year-on-year as price sensitivity increases post-cost-of-living pressures.</a:t>
            </a:r>
          </a:p>
        </p:txBody>
      </p:sp>
      <p:sp>
        <p:nvSpPr>
          <p:cNvPr id="14" name="Rectangle 13"/>
          <p:cNvSpPr/>
          <p:nvPr/>
        </p:nvSpPr>
        <p:spPr>
          <a:xfrm>
            <a:off x="164592" y="2898648"/>
            <a:ext cx="5486400" cy="1645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592" y="2898648"/>
            <a:ext cx="45720" cy="16459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2990088"/>
            <a:ext cx="5303520" cy="256032"/>
          </a:xfrm>
          <a:prstGeom prst="rect">
            <a:avLst/>
          </a:prstGeom>
          <a:noFill/>
        </p:spPr>
        <p:txBody>
          <a:bodyPr wrap="square"/>
          <a:lstStyle/>
          <a:p>
            <a:pPr algn="l"/>
            <a:r>
              <a:rPr sz="1050" b="1" i="0">
                <a:solidFill>
                  <a:srgbClr val="0A1628"/>
                </a:solidFill>
                <a:latin typeface="Calibri"/>
              </a:rPr>
              <a:t>Ranking Economics</a:t>
            </a:r>
          </a:p>
        </p:txBody>
      </p:sp>
      <p:sp>
        <p:nvSpPr>
          <p:cNvPr id="17" name="TextBox 16"/>
          <p:cNvSpPr txBox="1"/>
          <p:nvPr/>
        </p:nvSpPr>
        <p:spPr>
          <a:xfrm>
            <a:off x="274320" y="3282696"/>
            <a:ext cx="5303520" cy="1188720"/>
          </a:xfrm>
          <a:prstGeom prst="rect">
            <a:avLst/>
          </a:prstGeom>
          <a:noFill/>
        </p:spPr>
        <p:txBody>
          <a:bodyPr wrap="square"/>
          <a:lstStyle/>
          <a:p>
            <a:pPr algn="l"/>
            <a:r>
              <a:rPr sz="900" b="0" i="0">
                <a:solidFill>
                  <a:srgbClr val="475569"/>
                </a:solidFill>
                <a:latin typeface="Calibri"/>
              </a:rPr>
              <a:t>Position 1-3 on a PCW results list captures a disproportionate share of clicks and quote completions. Moving from position 5 to position 2 can increase quote volume by 30-50% depending on the PCW and product line.</a:t>
            </a:r>
          </a:p>
        </p:txBody>
      </p:sp>
      <p:sp>
        <p:nvSpPr>
          <p:cNvPr id="18" name="Rectangle 17"/>
          <p:cNvSpPr/>
          <p:nvPr/>
        </p:nvSpPr>
        <p:spPr>
          <a:xfrm>
            <a:off x="164592" y="4681728"/>
            <a:ext cx="5486400" cy="16459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4592" y="4681728"/>
            <a:ext cx="45720" cy="16459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4773168"/>
            <a:ext cx="5303520" cy="256032"/>
          </a:xfrm>
          <a:prstGeom prst="rect">
            <a:avLst/>
          </a:prstGeom>
          <a:noFill/>
        </p:spPr>
        <p:txBody>
          <a:bodyPr wrap="square"/>
          <a:lstStyle/>
          <a:p>
            <a:pPr algn="l"/>
            <a:r>
              <a:rPr sz="1050" b="1" i="0">
                <a:solidFill>
                  <a:srgbClr val="0A1628"/>
                </a:solidFill>
                <a:latin typeface="Calibri"/>
              </a:rPr>
              <a:t>Competitor Velocity</a:t>
            </a:r>
          </a:p>
        </p:txBody>
      </p:sp>
      <p:sp>
        <p:nvSpPr>
          <p:cNvPr id="21" name="TextBox 20"/>
          <p:cNvSpPr txBox="1"/>
          <p:nvPr/>
        </p:nvSpPr>
        <p:spPr>
          <a:xfrm>
            <a:off x="274320" y="5065776"/>
            <a:ext cx="5303520" cy="1188720"/>
          </a:xfrm>
          <a:prstGeom prst="rect">
            <a:avLst/>
          </a:prstGeom>
          <a:noFill/>
        </p:spPr>
        <p:txBody>
          <a:bodyPr wrap="square"/>
          <a:lstStyle/>
          <a:p>
            <a:pPr algn="l"/>
            <a:r>
              <a:rPr sz="900" b="0" i="0">
                <a:solidFill>
                  <a:srgbClr val="475569"/>
                </a:solidFill>
                <a:latin typeface="Calibri"/>
              </a:rPr>
              <a:t>Analysis of PCW markets shows competitors make pricing or proposition adjustments multiple times per week. Seasonal peaks, regulatory changes and claims events all trigger rapid market responses that LBG must be able to match.</a:t>
            </a:r>
          </a:p>
        </p:txBody>
      </p:sp>
      <p:sp>
        <p:nvSpPr>
          <p:cNvPr id="22" name="TextBox 21"/>
          <p:cNvSpPr txBox="1"/>
          <p:nvPr/>
        </p:nvSpPr>
        <p:spPr>
          <a:xfrm>
            <a:off x="5897880" y="804672"/>
            <a:ext cx="6080760" cy="256032"/>
          </a:xfrm>
          <a:prstGeom prst="rect">
            <a:avLst/>
          </a:prstGeom>
          <a:noFill/>
        </p:spPr>
        <p:txBody>
          <a:bodyPr wrap="square"/>
          <a:lstStyle/>
          <a:p>
            <a:pPr algn="l"/>
            <a:r>
              <a:rPr sz="1300" b="1" i="0">
                <a:solidFill>
                  <a:srgbClr val="0A1628"/>
                </a:solidFill>
                <a:latin typeface="Calibri"/>
              </a:rPr>
              <a:t>Strategic Implications</a:t>
            </a:r>
          </a:p>
        </p:txBody>
      </p:sp>
      <p:sp>
        <p:nvSpPr>
          <p:cNvPr id="23" name="Rectangle 22"/>
          <p:cNvSpPr/>
          <p:nvPr/>
        </p:nvSpPr>
        <p:spPr>
          <a:xfrm>
            <a:off x="5897880" y="1115568"/>
            <a:ext cx="6080760" cy="160020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97880" y="1115568"/>
            <a:ext cx="45720" cy="16002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07608" y="1207008"/>
            <a:ext cx="5897880" cy="256032"/>
          </a:xfrm>
          <a:prstGeom prst="rect">
            <a:avLst/>
          </a:prstGeom>
          <a:noFill/>
        </p:spPr>
        <p:txBody>
          <a:bodyPr wrap="square"/>
          <a:lstStyle/>
          <a:p>
            <a:pPr algn="l"/>
            <a:r>
              <a:rPr sz="1050" b="1" i="0">
                <a:solidFill>
                  <a:srgbClr val="0A1628"/>
                </a:solidFill>
                <a:latin typeface="Calibri"/>
              </a:rPr>
              <a:t>Real-Time Insight is a Competitive Necessity</a:t>
            </a:r>
          </a:p>
        </p:txBody>
      </p:sp>
      <p:sp>
        <p:nvSpPr>
          <p:cNvPr id="26" name="TextBox 25"/>
          <p:cNvSpPr txBox="1"/>
          <p:nvPr/>
        </p:nvSpPr>
        <p:spPr>
          <a:xfrm>
            <a:off x="6007608" y="1499616"/>
            <a:ext cx="5897880" cy="1143000"/>
          </a:xfrm>
          <a:prstGeom prst="rect">
            <a:avLst/>
          </a:prstGeom>
          <a:noFill/>
        </p:spPr>
        <p:txBody>
          <a:bodyPr wrap="square"/>
          <a:lstStyle/>
          <a:p>
            <a:pPr algn="l"/>
            <a:r>
              <a:rPr sz="900" b="0" i="0">
                <a:solidFill>
                  <a:srgbClr val="475569"/>
                </a:solidFill>
                <a:latin typeface="Calibri"/>
              </a:rPr>
              <a:t>Firms that can sense and respond to market movements within hours — rather than days or weeks — consistently outperform on PCW conversion metrics. Intelligence latency is directly correlated with lost volume.</a:t>
            </a:r>
          </a:p>
        </p:txBody>
      </p:sp>
      <p:sp>
        <p:nvSpPr>
          <p:cNvPr id="27" name="Rectangle 26"/>
          <p:cNvSpPr/>
          <p:nvPr/>
        </p:nvSpPr>
        <p:spPr>
          <a:xfrm>
            <a:off x="5897880" y="2944368"/>
            <a:ext cx="6080760" cy="160020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97880" y="2944368"/>
            <a:ext cx="45720" cy="16002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07608" y="3035808"/>
            <a:ext cx="5897880" cy="256032"/>
          </a:xfrm>
          <a:prstGeom prst="rect">
            <a:avLst/>
          </a:prstGeom>
          <a:noFill/>
        </p:spPr>
        <p:txBody>
          <a:bodyPr wrap="square"/>
          <a:lstStyle/>
          <a:p>
            <a:pPr algn="l"/>
            <a:r>
              <a:rPr sz="1050" b="1" i="0">
                <a:solidFill>
                  <a:srgbClr val="0A1628"/>
                </a:solidFill>
                <a:latin typeface="Calibri"/>
              </a:rPr>
              <a:t>Proposition is as Important as Price</a:t>
            </a:r>
          </a:p>
        </p:txBody>
      </p:sp>
      <p:sp>
        <p:nvSpPr>
          <p:cNvPr id="30" name="TextBox 29"/>
          <p:cNvSpPr txBox="1"/>
          <p:nvPr/>
        </p:nvSpPr>
        <p:spPr>
          <a:xfrm>
            <a:off x="6007608" y="3328416"/>
            <a:ext cx="5897880" cy="1143000"/>
          </a:xfrm>
          <a:prstGeom prst="rect">
            <a:avLst/>
          </a:prstGeom>
          <a:noFill/>
        </p:spPr>
        <p:txBody>
          <a:bodyPr wrap="square"/>
          <a:lstStyle/>
          <a:p>
            <a:pPr algn="l"/>
            <a:r>
              <a:rPr sz="900" b="0" i="0">
                <a:solidFill>
                  <a:srgbClr val="475569"/>
                </a:solidFill>
                <a:latin typeface="Calibri"/>
              </a:rPr>
              <a:t>PCW algorithms increasingly weight excess levels, optional cover inclusions, claim processes and customer review scores alongside raw premium. Competitive intelligence must span the full product proposition, not just price.</a:t>
            </a:r>
          </a:p>
        </p:txBody>
      </p:sp>
      <p:sp>
        <p:nvSpPr>
          <p:cNvPr id="31" name="Rectangle 30"/>
          <p:cNvSpPr/>
          <p:nvPr/>
        </p:nvSpPr>
        <p:spPr>
          <a:xfrm>
            <a:off x="5897880" y="4846320"/>
            <a:ext cx="6080760" cy="9601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897880" y="4846320"/>
            <a:ext cx="45720" cy="9601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07608" y="4919472"/>
            <a:ext cx="5897880" cy="822960"/>
          </a:xfrm>
          <a:prstGeom prst="rect">
            <a:avLst/>
          </a:prstGeom>
          <a:noFill/>
        </p:spPr>
        <p:txBody>
          <a:bodyPr wrap="square"/>
          <a:lstStyle/>
          <a:p>
            <a:pPr algn="l"/>
            <a:r>
              <a:rPr sz="900" b="0" i="0">
                <a:solidFill>
                  <a:srgbClr val="475569"/>
                </a:solidFill>
                <a:latin typeface="Calibri"/>
              </a:rPr>
              <a:t>Current State Risk: Without continuous monitoring, LBG risks sustained periods of sub-optimal PCW positioning — particularly during competitor promotional campaigns, regulatory-driven repricing events or claims inflation cycles.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CURRENT STATE</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Current State Assessment — Process &amp; Pain Points</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4 / 18</a:t>
            </a:r>
          </a:p>
        </p:txBody>
      </p:sp>
      <p:sp>
        <p:nvSpPr>
          <p:cNvPr id="9" name="Rectangle 8"/>
          <p:cNvSpPr/>
          <p:nvPr/>
        </p:nvSpPr>
        <p:spPr>
          <a:xfrm>
            <a:off x="164592" y="822960"/>
            <a:ext cx="219456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2194560" cy="640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932688"/>
            <a:ext cx="2057400" cy="256032"/>
          </a:xfrm>
          <a:prstGeom prst="rect">
            <a:avLst/>
          </a:prstGeom>
          <a:noFill/>
        </p:spPr>
        <p:txBody>
          <a:bodyPr wrap="square"/>
          <a:lstStyle/>
          <a:p>
            <a:pPr algn="l"/>
            <a:r>
              <a:rPr sz="900" b="1" i="0">
                <a:solidFill>
                  <a:srgbClr val="0F7AC5"/>
                </a:solidFill>
                <a:latin typeface="Calibri"/>
              </a:rPr>
              <a:t>01 MONITORING</a:t>
            </a:r>
          </a:p>
        </p:txBody>
      </p:sp>
      <p:sp>
        <p:nvSpPr>
          <p:cNvPr id="12" name="TextBox 11"/>
          <p:cNvSpPr txBox="1"/>
          <p:nvPr/>
        </p:nvSpPr>
        <p:spPr>
          <a:xfrm>
            <a:off x="256032" y="1234440"/>
            <a:ext cx="2057400" cy="2057400"/>
          </a:xfrm>
          <a:prstGeom prst="rect">
            <a:avLst/>
          </a:prstGeom>
          <a:noFill/>
        </p:spPr>
        <p:txBody>
          <a:bodyPr wrap="square"/>
          <a:lstStyle/>
          <a:p>
            <a:pPr algn="l"/>
            <a:r>
              <a:rPr sz="850" b="0" i="0">
                <a:solidFill>
                  <a:srgbClr val="475569"/>
                </a:solidFill>
                <a:latin typeface="Calibri"/>
              </a:rPr>
              <a:t>Periodic manual market reviews conducted at irregular intervals. No continuous tracking. Coverage varies by team and channel. PCW data captured inconsistently across Motor, Home and other lines.</a:t>
            </a:r>
          </a:p>
        </p:txBody>
      </p:sp>
      <p:sp>
        <p:nvSpPr>
          <p:cNvPr id="13" name="Rectangle 12"/>
          <p:cNvSpPr/>
          <p:nvPr/>
        </p:nvSpPr>
        <p:spPr>
          <a:xfrm>
            <a:off x="2569464" y="822960"/>
            <a:ext cx="219456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9464" y="822960"/>
            <a:ext cx="2194560"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60904" y="932688"/>
            <a:ext cx="2057400" cy="256032"/>
          </a:xfrm>
          <a:prstGeom prst="rect">
            <a:avLst/>
          </a:prstGeom>
          <a:noFill/>
        </p:spPr>
        <p:txBody>
          <a:bodyPr wrap="square"/>
          <a:lstStyle/>
          <a:p>
            <a:pPr algn="l"/>
            <a:r>
              <a:rPr sz="900" b="1" i="0">
                <a:solidFill>
                  <a:srgbClr val="2563AB"/>
                </a:solidFill>
                <a:latin typeface="Calibri"/>
              </a:rPr>
              <a:t>02 ANALYSIS</a:t>
            </a:r>
          </a:p>
        </p:txBody>
      </p:sp>
      <p:sp>
        <p:nvSpPr>
          <p:cNvPr id="16" name="TextBox 15"/>
          <p:cNvSpPr txBox="1"/>
          <p:nvPr/>
        </p:nvSpPr>
        <p:spPr>
          <a:xfrm>
            <a:off x="2660904" y="1234440"/>
            <a:ext cx="2057400" cy="2057400"/>
          </a:xfrm>
          <a:prstGeom prst="rect">
            <a:avLst/>
          </a:prstGeom>
          <a:noFill/>
        </p:spPr>
        <p:txBody>
          <a:bodyPr wrap="square"/>
          <a:lstStyle/>
          <a:p>
            <a:pPr algn="l"/>
            <a:r>
              <a:rPr sz="850" b="0" i="0">
                <a:solidFill>
                  <a:srgbClr val="475569"/>
                </a:solidFill>
                <a:latin typeface="Calibri"/>
              </a:rPr>
              <a:t>Data collected in spreadsheets and shared drives. No common taxonomy or data model. Analysis duplicated across pricing, product and proposition teams. Findings not systematically stored or compared over time.</a:t>
            </a:r>
          </a:p>
        </p:txBody>
      </p:sp>
      <p:sp>
        <p:nvSpPr>
          <p:cNvPr id="17" name="Rectangle 16"/>
          <p:cNvSpPr/>
          <p:nvPr/>
        </p:nvSpPr>
        <p:spPr>
          <a:xfrm>
            <a:off x="4974336" y="822960"/>
            <a:ext cx="219456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74336" y="822960"/>
            <a:ext cx="2194560"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65776" y="932688"/>
            <a:ext cx="2057400" cy="256032"/>
          </a:xfrm>
          <a:prstGeom prst="rect">
            <a:avLst/>
          </a:prstGeom>
          <a:noFill/>
        </p:spPr>
        <p:txBody>
          <a:bodyPr wrap="square"/>
          <a:lstStyle/>
          <a:p>
            <a:pPr algn="l"/>
            <a:r>
              <a:rPr sz="900" b="1" i="0">
                <a:solidFill>
                  <a:srgbClr val="0D9488"/>
                </a:solidFill>
                <a:latin typeface="Calibri"/>
              </a:rPr>
              <a:t>03 DECISION MAKING</a:t>
            </a:r>
          </a:p>
        </p:txBody>
      </p:sp>
      <p:sp>
        <p:nvSpPr>
          <p:cNvPr id="20" name="TextBox 19"/>
          <p:cNvSpPr txBox="1"/>
          <p:nvPr/>
        </p:nvSpPr>
        <p:spPr>
          <a:xfrm>
            <a:off x="5065776" y="1234440"/>
            <a:ext cx="2057400" cy="2057400"/>
          </a:xfrm>
          <a:prstGeom prst="rect">
            <a:avLst/>
          </a:prstGeom>
          <a:noFill/>
        </p:spPr>
        <p:txBody>
          <a:bodyPr wrap="square"/>
          <a:lstStyle/>
          <a:p>
            <a:pPr algn="l"/>
            <a:r>
              <a:rPr sz="850" b="0" i="0">
                <a:solidFill>
                  <a:srgbClr val="475569"/>
                </a:solidFill>
                <a:latin typeface="Calibri"/>
              </a:rPr>
              <a:t>Decisions rely on analyst judgement without systematic competitive context. Lead times from insight to decision typically span days to weeks. No simulation capability to assess likely impact before acting.</a:t>
            </a:r>
          </a:p>
        </p:txBody>
      </p:sp>
      <p:sp>
        <p:nvSpPr>
          <p:cNvPr id="21" name="Rectangle 20"/>
          <p:cNvSpPr/>
          <p:nvPr/>
        </p:nvSpPr>
        <p:spPr>
          <a:xfrm>
            <a:off x="7379208" y="822960"/>
            <a:ext cx="219456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79208" y="822960"/>
            <a:ext cx="219456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70648" y="932688"/>
            <a:ext cx="2057400" cy="256032"/>
          </a:xfrm>
          <a:prstGeom prst="rect">
            <a:avLst/>
          </a:prstGeom>
          <a:noFill/>
        </p:spPr>
        <p:txBody>
          <a:bodyPr wrap="square"/>
          <a:lstStyle/>
          <a:p>
            <a:pPr algn="l"/>
            <a:r>
              <a:rPr sz="900" b="1" i="0">
                <a:solidFill>
                  <a:srgbClr val="7C3AED"/>
                </a:solidFill>
                <a:latin typeface="Calibri"/>
              </a:rPr>
              <a:t>04 EXECUTION</a:t>
            </a:r>
          </a:p>
        </p:txBody>
      </p:sp>
      <p:sp>
        <p:nvSpPr>
          <p:cNvPr id="24" name="TextBox 23"/>
          <p:cNvSpPr txBox="1"/>
          <p:nvPr/>
        </p:nvSpPr>
        <p:spPr>
          <a:xfrm>
            <a:off x="7470648" y="1234440"/>
            <a:ext cx="2057400" cy="2057400"/>
          </a:xfrm>
          <a:prstGeom prst="rect">
            <a:avLst/>
          </a:prstGeom>
          <a:noFill/>
        </p:spPr>
        <p:txBody>
          <a:bodyPr wrap="square"/>
          <a:lstStyle/>
          <a:p>
            <a:pPr algn="l"/>
            <a:r>
              <a:rPr sz="850" b="0" i="0">
                <a:solidFill>
                  <a:srgbClr val="475569"/>
                </a:solidFill>
                <a:latin typeface="Calibri"/>
              </a:rPr>
              <a:t>Changes routed through multiple approval layers with no automated handoffs. Pricing, product and operations teams coordinated manually. No closed loop to measure the outcome of interventions.</a:t>
            </a:r>
          </a:p>
        </p:txBody>
      </p:sp>
      <p:sp>
        <p:nvSpPr>
          <p:cNvPr id="25" name="Rectangle 24"/>
          <p:cNvSpPr/>
          <p:nvPr/>
        </p:nvSpPr>
        <p:spPr>
          <a:xfrm>
            <a:off x="9784080" y="822960"/>
            <a:ext cx="219456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84080" y="822960"/>
            <a:ext cx="2194560" cy="640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0" y="932688"/>
            <a:ext cx="2057400" cy="256032"/>
          </a:xfrm>
          <a:prstGeom prst="rect">
            <a:avLst/>
          </a:prstGeom>
          <a:noFill/>
        </p:spPr>
        <p:txBody>
          <a:bodyPr wrap="square"/>
          <a:lstStyle/>
          <a:p>
            <a:pPr algn="l"/>
            <a:r>
              <a:rPr sz="900" b="1" i="0">
                <a:solidFill>
                  <a:srgbClr val="DC2626"/>
                </a:solidFill>
                <a:latin typeface="Calibri"/>
              </a:rPr>
              <a:t>05 OUTCOME</a:t>
            </a:r>
          </a:p>
        </p:txBody>
      </p:sp>
      <p:sp>
        <p:nvSpPr>
          <p:cNvPr id="28" name="TextBox 27"/>
          <p:cNvSpPr txBox="1"/>
          <p:nvPr/>
        </p:nvSpPr>
        <p:spPr>
          <a:xfrm>
            <a:off x="9875520" y="1234440"/>
            <a:ext cx="2057400" cy="2057400"/>
          </a:xfrm>
          <a:prstGeom prst="rect">
            <a:avLst/>
          </a:prstGeom>
          <a:noFill/>
        </p:spPr>
        <p:txBody>
          <a:bodyPr wrap="square"/>
          <a:lstStyle/>
          <a:p>
            <a:pPr algn="l"/>
            <a:r>
              <a:rPr sz="850" b="0" i="0">
                <a:solidFill>
                  <a:srgbClr val="475569"/>
                </a:solidFill>
                <a:latin typeface="Calibri"/>
              </a:rPr>
              <a:t>Reactive posture. LBG responds to competitor actions rather than anticipating them. Opportunity windows are missed. Manual effort is high and difficult to scale as PCW channel complexity increases.</a:t>
            </a:r>
          </a:p>
        </p:txBody>
      </p:sp>
      <p:sp>
        <p:nvSpPr>
          <p:cNvPr id="29" name="TextBox 28"/>
          <p:cNvSpPr txBox="1"/>
          <p:nvPr/>
        </p:nvSpPr>
        <p:spPr>
          <a:xfrm>
            <a:off x="164592" y="3611880"/>
            <a:ext cx="5486400" cy="256032"/>
          </a:xfrm>
          <a:prstGeom prst="rect">
            <a:avLst/>
          </a:prstGeom>
          <a:noFill/>
        </p:spPr>
        <p:txBody>
          <a:bodyPr wrap="square"/>
          <a:lstStyle/>
          <a:p>
            <a:pPr algn="l"/>
            <a:r>
              <a:rPr sz="1100" b="1" i="0">
                <a:solidFill>
                  <a:srgbClr val="0A1628"/>
                </a:solidFill>
                <a:latin typeface="Calibri"/>
              </a:rPr>
              <a:t>Key Friction Points</a:t>
            </a:r>
          </a:p>
        </p:txBody>
      </p:sp>
      <p:sp>
        <p:nvSpPr>
          <p:cNvPr id="30" name="TextBox 29"/>
          <p:cNvSpPr txBox="1"/>
          <p:nvPr/>
        </p:nvSpPr>
        <p:spPr>
          <a:xfrm>
            <a:off x="164592" y="3904488"/>
            <a:ext cx="5486400" cy="1645920"/>
          </a:xfrm>
          <a:prstGeom prst="rect">
            <a:avLst/>
          </a:prstGeom>
          <a:noFill/>
        </p:spPr>
        <p:txBody>
          <a:bodyPr wrap="square">
            <a:spAutoFit/>
          </a:bodyPr>
          <a:lstStyle/>
          <a:p>
            <a:pPr algn="l"/>
            <a:r>
              <a:rPr sz="900">
                <a:solidFill>
                  <a:srgbClr val="475569"/>
                </a:solidFill>
                <a:latin typeface="Calibri"/>
              </a:rPr>
              <a:t>- No single source of truth for competitor positioning data</a:t>
            </a:r>
          </a:p>
          <a:p>
            <a:pPr algn="l"/>
            <a:r>
              <a:rPr sz="900">
                <a:solidFill>
                  <a:srgbClr val="475569"/>
                </a:solidFill>
                <a:latin typeface="Calibri"/>
              </a:rPr>
              <a:t>- Analysis capability does not scale with market complexity</a:t>
            </a:r>
          </a:p>
          <a:p>
            <a:pPr algn="l"/>
            <a:r>
              <a:rPr sz="900">
                <a:solidFill>
                  <a:srgbClr val="475569"/>
                </a:solidFill>
                <a:latin typeface="Calibri"/>
              </a:rPr>
              <a:t>- Decision latency creates exploitable competitive windows</a:t>
            </a:r>
          </a:p>
          <a:p>
            <a:pPr algn="l"/>
            <a:r>
              <a:rPr sz="900">
                <a:solidFill>
                  <a:srgbClr val="475569"/>
                </a:solidFill>
                <a:latin typeface="Calibri"/>
              </a:rPr>
              <a:t>- No measurement framework linking interventions to outcomes</a:t>
            </a:r>
          </a:p>
        </p:txBody>
      </p:sp>
      <p:sp>
        <p:nvSpPr>
          <p:cNvPr id="31" name="TextBox 30"/>
          <p:cNvSpPr txBox="1"/>
          <p:nvPr/>
        </p:nvSpPr>
        <p:spPr>
          <a:xfrm>
            <a:off x="6035040" y="3611880"/>
            <a:ext cx="5943600" cy="256032"/>
          </a:xfrm>
          <a:prstGeom prst="rect">
            <a:avLst/>
          </a:prstGeom>
          <a:noFill/>
        </p:spPr>
        <p:txBody>
          <a:bodyPr wrap="square"/>
          <a:lstStyle/>
          <a:p>
            <a:pPr algn="l"/>
            <a:r>
              <a:rPr sz="1100" b="1" i="0">
                <a:solidFill>
                  <a:srgbClr val="0A1628"/>
                </a:solidFill>
                <a:latin typeface="Calibri"/>
              </a:rPr>
              <a:t>Organisational Consequences</a:t>
            </a:r>
          </a:p>
        </p:txBody>
      </p:sp>
      <p:sp>
        <p:nvSpPr>
          <p:cNvPr id="32" name="TextBox 31"/>
          <p:cNvSpPr txBox="1"/>
          <p:nvPr/>
        </p:nvSpPr>
        <p:spPr>
          <a:xfrm>
            <a:off x="6035040" y="3904488"/>
            <a:ext cx="5943600" cy="1645920"/>
          </a:xfrm>
          <a:prstGeom prst="rect">
            <a:avLst/>
          </a:prstGeom>
          <a:noFill/>
        </p:spPr>
        <p:txBody>
          <a:bodyPr wrap="square">
            <a:spAutoFit/>
          </a:bodyPr>
          <a:lstStyle/>
          <a:p>
            <a:pPr algn="l"/>
            <a:r>
              <a:rPr sz="900">
                <a:solidFill>
                  <a:srgbClr val="475569"/>
                </a:solidFill>
                <a:latin typeface="Calibri"/>
              </a:rPr>
              <a:t>- Sub-optimal PCW rankings during competitor campaign periods</a:t>
            </a:r>
          </a:p>
          <a:p>
            <a:pPr algn="l"/>
            <a:r>
              <a:rPr sz="900">
                <a:solidFill>
                  <a:srgbClr val="475569"/>
                </a:solidFill>
                <a:latin typeface="Calibri"/>
              </a:rPr>
              <a:t>- Pricing teams operating without full market context</a:t>
            </a:r>
          </a:p>
          <a:p>
            <a:pPr algn="l"/>
            <a:r>
              <a:rPr sz="900">
                <a:solidFill>
                  <a:srgbClr val="475569"/>
                </a:solidFill>
                <a:latin typeface="Calibri"/>
              </a:rPr>
              <a:t>- Product proposition gaps not identified until customer feedback</a:t>
            </a:r>
          </a:p>
          <a:p>
            <a:pPr algn="l"/>
            <a:r>
              <a:rPr sz="900">
                <a:solidFill>
                  <a:srgbClr val="475569"/>
                </a:solidFill>
                <a:latin typeface="Calibri"/>
              </a:rPr>
              <a:t>- Significant FTE effort on low-value data collection and formatting</a:t>
            </a:r>
          </a:p>
        </p:txBody>
      </p:sp>
      <p:sp>
        <p:nvSpPr>
          <p:cNvPr id="33" name="Rectangle 32"/>
          <p:cNvSpPr/>
          <p:nvPr/>
        </p:nvSpPr>
        <p:spPr>
          <a:xfrm>
            <a:off x="164592" y="6172200"/>
            <a:ext cx="11859768" cy="502920"/>
          </a:xfrm>
          <a:prstGeom prst="rect">
            <a:avLst/>
          </a:prstGeom>
          <a:solidFill>
            <a:srgbClr val="FB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4592" y="6172200"/>
            <a:ext cx="54864" cy="5029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263640"/>
            <a:ext cx="11640312" cy="320040"/>
          </a:xfrm>
          <a:prstGeom prst="rect">
            <a:avLst/>
          </a:prstGeom>
          <a:noFill/>
        </p:spPr>
        <p:txBody>
          <a:bodyPr wrap="square"/>
          <a:lstStyle/>
          <a:p>
            <a:pPr algn="l"/>
            <a:r>
              <a:rPr sz="950" b="1" i="0">
                <a:solidFill>
                  <a:srgbClr val="7A5C10"/>
                </a:solidFill>
                <a:latin typeface="Calibri"/>
              </a:rPr>
              <a:t>Net result: Reactive rather than proactive market response — competitive advantage consistently ceded during monitoring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STRATEGIC HYPOTHESIS</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Strategic Hypothesis — The Logical Construct</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5 / 18</a:t>
            </a:r>
          </a:p>
        </p:txBody>
      </p:sp>
      <p:sp>
        <p:nvSpPr>
          <p:cNvPr id="9" name="Rectangle 8"/>
          <p:cNvSpPr/>
          <p:nvPr/>
        </p:nvSpPr>
        <p:spPr>
          <a:xfrm>
            <a:off x="164592" y="841248"/>
            <a:ext cx="11859768" cy="1280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41248"/>
            <a:ext cx="822960" cy="12801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316736"/>
            <a:ext cx="640080" cy="365760"/>
          </a:xfrm>
          <a:prstGeom prst="rect">
            <a:avLst/>
          </a:prstGeom>
          <a:noFill/>
        </p:spPr>
        <p:txBody>
          <a:bodyPr wrap="square"/>
          <a:lstStyle/>
          <a:p>
            <a:pPr algn="ctr"/>
            <a:r>
              <a:rPr sz="1400" b="1" i="0">
                <a:solidFill>
                  <a:srgbClr val="FFFFFF"/>
                </a:solidFill>
                <a:latin typeface="Calibri"/>
              </a:rPr>
              <a:t>IF</a:t>
            </a:r>
          </a:p>
        </p:txBody>
      </p:sp>
      <p:sp>
        <p:nvSpPr>
          <p:cNvPr id="12" name="TextBox 11"/>
          <p:cNvSpPr txBox="1"/>
          <p:nvPr/>
        </p:nvSpPr>
        <p:spPr>
          <a:xfrm>
            <a:off x="1097280" y="1024128"/>
            <a:ext cx="10771632" cy="960120"/>
          </a:xfrm>
          <a:prstGeom prst="rect">
            <a:avLst/>
          </a:prstGeom>
          <a:noFill/>
        </p:spPr>
        <p:txBody>
          <a:bodyPr wrap="square"/>
          <a:lstStyle/>
          <a:p>
            <a:pPr algn="l"/>
            <a:r>
              <a:rPr sz="1050" b="0" i="0">
                <a:solidFill>
                  <a:srgbClr val="475569"/>
                </a:solidFill>
                <a:latin typeface="Calibri"/>
              </a:rPr>
              <a:t>LBG establishes continuous, automated capture of competitor pricing, product and proposition data across all active PCW channels — creating a real-time market intelligence feed that does not depend on manual collection or scheduled reviews</a:t>
            </a:r>
          </a:p>
        </p:txBody>
      </p:sp>
      <p:sp>
        <p:nvSpPr>
          <p:cNvPr id="13" name="Rectangle 12"/>
          <p:cNvSpPr/>
          <p:nvPr/>
        </p:nvSpPr>
        <p:spPr>
          <a:xfrm>
            <a:off x="164592" y="2258568"/>
            <a:ext cx="11859768" cy="1280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4592" y="2258568"/>
            <a:ext cx="822960" cy="12801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2734056"/>
            <a:ext cx="640080" cy="365760"/>
          </a:xfrm>
          <a:prstGeom prst="rect">
            <a:avLst/>
          </a:prstGeom>
          <a:noFill/>
        </p:spPr>
        <p:txBody>
          <a:bodyPr wrap="square"/>
          <a:lstStyle/>
          <a:p>
            <a:pPr algn="ctr"/>
            <a:r>
              <a:rPr sz="1400" b="1" i="0">
                <a:solidFill>
                  <a:srgbClr val="FFFFFF"/>
                </a:solidFill>
                <a:latin typeface="Calibri"/>
              </a:rPr>
              <a:t>AND</a:t>
            </a:r>
          </a:p>
        </p:txBody>
      </p:sp>
      <p:sp>
        <p:nvSpPr>
          <p:cNvPr id="16" name="TextBox 15"/>
          <p:cNvSpPr txBox="1"/>
          <p:nvPr/>
        </p:nvSpPr>
        <p:spPr>
          <a:xfrm>
            <a:off x="1097280" y="2441448"/>
            <a:ext cx="10771632" cy="960120"/>
          </a:xfrm>
          <a:prstGeom prst="rect">
            <a:avLst/>
          </a:prstGeom>
          <a:noFill/>
        </p:spPr>
        <p:txBody>
          <a:bodyPr wrap="square"/>
          <a:lstStyle/>
          <a:p>
            <a:pPr algn="l"/>
            <a:r>
              <a:rPr sz="1050" b="0" i="0">
                <a:solidFill>
                  <a:srgbClr val="475569"/>
                </a:solidFill>
                <a:latin typeface="Calibri"/>
              </a:rPr>
              <a:t>This data is processed by a layered AI capability — combining ML models for pattern detection and anomaly identification, Generative AI for contextual analysis and narrative synthesis, and Agentic automation for orchestrated, multi-step investigation and recommendation generation</a:t>
            </a:r>
          </a:p>
        </p:txBody>
      </p:sp>
      <p:sp>
        <p:nvSpPr>
          <p:cNvPr id="17" name="Rectangle 16"/>
          <p:cNvSpPr/>
          <p:nvPr/>
        </p:nvSpPr>
        <p:spPr>
          <a:xfrm>
            <a:off x="164592" y="3675888"/>
            <a:ext cx="11859768" cy="1280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64592" y="3675888"/>
            <a:ext cx="82296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151376"/>
            <a:ext cx="640080" cy="365760"/>
          </a:xfrm>
          <a:prstGeom prst="rect">
            <a:avLst/>
          </a:prstGeom>
          <a:noFill/>
        </p:spPr>
        <p:txBody>
          <a:bodyPr wrap="square"/>
          <a:lstStyle/>
          <a:p>
            <a:pPr algn="ctr"/>
            <a:r>
              <a:rPr sz="1400" b="1" i="0">
                <a:solidFill>
                  <a:srgbClr val="FFFFFF"/>
                </a:solidFill>
                <a:latin typeface="Calibri"/>
              </a:rPr>
              <a:t>THEN</a:t>
            </a:r>
          </a:p>
        </p:txBody>
      </p:sp>
      <p:sp>
        <p:nvSpPr>
          <p:cNvPr id="20" name="TextBox 19"/>
          <p:cNvSpPr txBox="1"/>
          <p:nvPr/>
        </p:nvSpPr>
        <p:spPr>
          <a:xfrm>
            <a:off x="1097280" y="3858768"/>
            <a:ext cx="10771632" cy="960120"/>
          </a:xfrm>
          <a:prstGeom prst="rect">
            <a:avLst/>
          </a:prstGeom>
          <a:noFill/>
        </p:spPr>
        <p:txBody>
          <a:bodyPr wrap="square"/>
          <a:lstStyle/>
          <a:p>
            <a:pPr algn="l"/>
            <a:r>
              <a:rPr sz="1050" b="0" i="0">
                <a:solidFill>
                  <a:srgbClr val="475569"/>
                </a:solidFill>
                <a:latin typeface="Calibri"/>
              </a:rPr>
              <a:t>Pricing, product and proposition decision-makers receive timely, evidence-based, explainable recommendations — enabling faster, better-informed interventions with the confidence to act on AI-generated intelligence within a clear human governance framework</a:t>
            </a:r>
          </a:p>
        </p:txBody>
      </p:sp>
      <p:sp>
        <p:nvSpPr>
          <p:cNvPr id="21" name="Rectangle 20"/>
          <p:cNvSpPr/>
          <p:nvPr/>
        </p:nvSpPr>
        <p:spPr>
          <a:xfrm>
            <a:off x="164592" y="5120640"/>
            <a:ext cx="11859768" cy="10058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5120640"/>
            <a:ext cx="73152" cy="10058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5193792"/>
            <a:ext cx="2743200" cy="228600"/>
          </a:xfrm>
          <a:prstGeom prst="rect">
            <a:avLst/>
          </a:prstGeom>
          <a:noFill/>
        </p:spPr>
        <p:txBody>
          <a:bodyPr wrap="square"/>
          <a:lstStyle/>
          <a:p>
            <a:pPr algn="l"/>
            <a:r>
              <a:rPr sz="900" b="1" i="0">
                <a:solidFill>
                  <a:srgbClr val="C9A84C"/>
                </a:solidFill>
                <a:latin typeface="Calibri"/>
              </a:rPr>
              <a:t>RESULTING IN</a:t>
            </a:r>
          </a:p>
        </p:txBody>
      </p:sp>
      <p:sp>
        <p:nvSpPr>
          <p:cNvPr id="24" name="TextBox 23"/>
          <p:cNvSpPr txBox="1"/>
          <p:nvPr/>
        </p:nvSpPr>
        <p:spPr>
          <a:xfrm>
            <a:off x="347472" y="5440680"/>
            <a:ext cx="11548872" cy="640080"/>
          </a:xfrm>
          <a:prstGeom prst="rect">
            <a:avLst/>
          </a:prstGeom>
          <a:noFill/>
        </p:spPr>
        <p:txBody>
          <a:bodyPr wrap="square"/>
          <a:lstStyle/>
          <a:p>
            <a:pPr algn="l"/>
            <a:r>
              <a:rPr sz="1000" b="0" i="0">
                <a:solidFill>
                  <a:srgbClr val="FFFFFF"/>
                </a:solidFill>
                <a:latin typeface="Calibri"/>
              </a:rPr>
              <a:t>Improved PCW ranking position and conversion performance  |  Reduced time from market signal to business action  |  Lower FTE effort on monitoring and analysis  |  A reusable, extensible AI platform capability that strengthens LBG's competitive position across General Insurance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AI TECHNOLOGY STRATEGY</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AI Capability Spectrum — Right Tool, Right Problem</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6 / 18</a:t>
            </a:r>
          </a:p>
        </p:txBody>
      </p:sp>
      <p:sp>
        <p:nvSpPr>
          <p:cNvPr id="9" name="Rectangle 8"/>
          <p:cNvSpPr/>
          <p:nvPr/>
        </p:nvSpPr>
        <p:spPr>
          <a:xfrm>
            <a:off x="164592" y="804672"/>
            <a:ext cx="2651760" cy="5669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04672"/>
            <a:ext cx="265176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896112"/>
            <a:ext cx="2514600" cy="274320"/>
          </a:xfrm>
          <a:prstGeom prst="rect">
            <a:avLst/>
          </a:prstGeom>
          <a:noFill/>
        </p:spPr>
        <p:txBody>
          <a:bodyPr wrap="square"/>
          <a:lstStyle/>
          <a:p>
            <a:pPr algn="l"/>
            <a:r>
              <a:rPr sz="1200" b="1" i="0">
                <a:solidFill>
                  <a:srgbClr val="0A1628"/>
                </a:solidFill>
                <a:latin typeface="Calibri"/>
              </a:rPr>
              <a:t>Machine Learning</a:t>
            </a:r>
          </a:p>
        </p:txBody>
      </p:sp>
      <p:sp>
        <p:nvSpPr>
          <p:cNvPr id="12" name="TextBox 11"/>
          <p:cNvSpPr txBox="1"/>
          <p:nvPr/>
        </p:nvSpPr>
        <p:spPr>
          <a:xfrm>
            <a:off x="256032" y="1188720"/>
            <a:ext cx="2514600" cy="228600"/>
          </a:xfrm>
          <a:prstGeom prst="rect">
            <a:avLst/>
          </a:prstGeom>
          <a:noFill/>
        </p:spPr>
        <p:txBody>
          <a:bodyPr wrap="square"/>
          <a:lstStyle/>
          <a:p>
            <a:pPr algn="l"/>
            <a:r>
              <a:rPr sz="900" b="0" i="1">
                <a:solidFill>
                  <a:srgbClr val="0F7AC5"/>
                </a:solidFill>
                <a:latin typeface="Calibri"/>
              </a:rPr>
              <a:t>Pattern Detection &amp; Prediction</a:t>
            </a:r>
          </a:p>
        </p:txBody>
      </p:sp>
      <p:sp>
        <p:nvSpPr>
          <p:cNvPr id="13" name="TextBox 12"/>
          <p:cNvSpPr txBox="1"/>
          <p:nvPr/>
        </p:nvSpPr>
        <p:spPr>
          <a:xfrm>
            <a:off x="256032" y="1490472"/>
            <a:ext cx="2514600" cy="3291840"/>
          </a:xfrm>
          <a:prstGeom prst="rect">
            <a:avLst/>
          </a:prstGeom>
          <a:noFill/>
        </p:spPr>
        <p:txBody>
          <a:bodyPr wrap="square">
            <a:spAutoFit/>
          </a:bodyPr>
          <a:lstStyle/>
          <a:p>
            <a:pPr algn="l"/>
            <a:r>
              <a:rPr sz="900">
                <a:solidFill>
                  <a:srgbClr val="475569"/>
                </a:solidFill>
                <a:latin typeface="Calibri"/>
              </a:rPr>
              <a:t>- PCW ranking trend prediction</a:t>
            </a:r>
          </a:p>
          <a:p>
            <a:pPr algn="l"/>
            <a:r>
              <a:rPr sz="900">
                <a:solidFill>
                  <a:srgbClr val="475569"/>
                </a:solidFill>
                <a:latin typeface="Calibri"/>
              </a:rPr>
              <a:t>- Price elasticity modelling</a:t>
            </a:r>
          </a:p>
          <a:p>
            <a:pPr algn="l"/>
            <a:r>
              <a:rPr sz="900">
                <a:solidFill>
                  <a:srgbClr val="475569"/>
                </a:solidFill>
                <a:latin typeface="Calibri"/>
              </a:rPr>
              <a:t>- Competitor behaviour clustering</a:t>
            </a:r>
          </a:p>
          <a:p>
            <a:pPr algn="l"/>
            <a:r>
              <a:rPr sz="900">
                <a:solidFill>
                  <a:srgbClr val="475569"/>
                </a:solidFill>
                <a:latin typeface="Calibri"/>
              </a:rPr>
              <a:t>- Anomaly detection in market data</a:t>
            </a:r>
          </a:p>
          <a:p>
            <a:pPr algn="l"/>
            <a:r>
              <a:rPr sz="900">
                <a:solidFill>
                  <a:srgbClr val="475569"/>
                </a:solidFill>
                <a:latin typeface="Calibri"/>
              </a:rPr>
              <a:t>- Quote conversion propensity scoring</a:t>
            </a:r>
          </a:p>
          <a:p>
            <a:pPr algn="l"/>
            <a:r>
              <a:rPr sz="900">
                <a:solidFill>
                  <a:srgbClr val="475569"/>
                </a:solidFill>
                <a:latin typeface="Calibri"/>
              </a:rPr>
              <a:t>- Demand forecasting by channel</a:t>
            </a:r>
          </a:p>
        </p:txBody>
      </p:sp>
      <p:sp>
        <p:nvSpPr>
          <p:cNvPr id="14" name="Rectangle 13"/>
          <p:cNvSpPr/>
          <p:nvPr/>
        </p:nvSpPr>
        <p:spPr>
          <a:xfrm>
            <a:off x="164592" y="4919472"/>
            <a:ext cx="2651760" cy="137160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7744" y="4965192"/>
            <a:ext cx="2514600" cy="182880"/>
          </a:xfrm>
          <a:prstGeom prst="rect">
            <a:avLst/>
          </a:prstGeom>
          <a:noFill/>
        </p:spPr>
        <p:txBody>
          <a:bodyPr wrap="square"/>
          <a:lstStyle/>
          <a:p>
            <a:pPr algn="l"/>
            <a:r>
              <a:rPr sz="800" b="1" i="0">
                <a:solidFill>
                  <a:srgbClr val="0F7AC5"/>
                </a:solidFill>
                <a:latin typeface="Calibri"/>
              </a:rPr>
              <a:t>Characteristics</a:t>
            </a:r>
          </a:p>
        </p:txBody>
      </p:sp>
      <p:sp>
        <p:nvSpPr>
          <p:cNvPr id="16" name="TextBox 15"/>
          <p:cNvSpPr txBox="1"/>
          <p:nvPr/>
        </p:nvSpPr>
        <p:spPr>
          <a:xfrm>
            <a:off x="237744" y="5175504"/>
            <a:ext cx="2514600" cy="1051560"/>
          </a:xfrm>
          <a:prstGeom prst="rect">
            <a:avLst/>
          </a:prstGeom>
          <a:noFill/>
        </p:spPr>
        <p:txBody>
          <a:bodyPr wrap="square"/>
          <a:lstStyle/>
          <a:p>
            <a:pPr algn="l"/>
            <a:r>
              <a:rPr sz="850" b="0" i="1">
                <a:solidFill>
                  <a:srgbClr val="475569"/>
                </a:solidFill>
                <a:latin typeface="Calibri"/>
              </a:rPr>
              <a:t>High accuracy on structured data. Explainable outputs. Production-proven at LBG scale. Low inference latency.</a:t>
            </a:r>
          </a:p>
        </p:txBody>
      </p:sp>
      <p:sp>
        <p:nvSpPr>
          <p:cNvPr id="17" name="Rectangle 16"/>
          <p:cNvSpPr/>
          <p:nvPr/>
        </p:nvSpPr>
        <p:spPr>
          <a:xfrm>
            <a:off x="2999232" y="804672"/>
            <a:ext cx="2651760" cy="5669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99232" y="804672"/>
            <a:ext cx="26517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90672" y="896112"/>
            <a:ext cx="2514600" cy="274320"/>
          </a:xfrm>
          <a:prstGeom prst="rect">
            <a:avLst/>
          </a:prstGeom>
          <a:noFill/>
        </p:spPr>
        <p:txBody>
          <a:bodyPr wrap="square"/>
          <a:lstStyle/>
          <a:p>
            <a:pPr algn="l"/>
            <a:r>
              <a:rPr sz="1200" b="1" i="0">
                <a:solidFill>
                  <a:srgbClr val="0A1628"/>
                </a:solidFill>
                <a:latin typeface="Calibri"/>
              </a:rPr>
              <a:t>Generative AI</a:t>
            </a:r>
          </a:p>
        </p:txBody>
      </p:sp>
      <p:sp>
        <p:nvSpPr>
          <p:cNvPr id="20" name="TextBox 19"/>
          <p:cNvSpPr txBox="1"/>
          <p:nvPr/>
        </p:nvSpPr>
        <p:spPr>
          <a:xfrm>
            <a:off x="3090672" y="1188720"/>
            <a:ext cx="2514600" cy="228600"/>
          </a:xfrm>
          <a:prstGeom prst="rect">
            <a:avLst/>
          </a:prstGeom>
          <a:noFill/>
        </p:spPr>
        <p:txBody>
          <a:bodyPr wrap="square"/>
          <a:lstStyle/>
          <a:p>
            <a:pPr algn="l"/>
            <a:r>
              <a:rPr sz="900" b="0" i="1">
                <a:solidFill>
                  <a:srgbClr val="0D9488"/>
                </a:solidFill>
                <a:latin typeface="Calibri"/>
              </a:rPr>
              <a:t>Analysis &amp; Synthesis</a:t>
            </a:r>
          </a:p>
        </p:txBody>
      </p:sp>
      <p:sp>
        <p:nvSpPr>
          <p:cNvPr id="21" name="TextBox 20"/>
          <p:cNvSpPr txBox="1"/>
          <p:nvPr/>
        </p:nvSpPr>
        <p:spPr>
          <a:xfrm>
            <a:off x="3090672" y="1490472"/>
            <a:ext cx="2514600" cy="3291840"/>
          </a:xfrm>
          <a:prstGeom prst="rect">
            <a:avLst/>
          </a:prstGeom>
          <a:noFill/>
        </p:spPr>
        <p:txBody>
          <a:bodyPr wrap="square">
            <a:spAutoFit/>
          </a:bodyPr>
          <a:lstStyle/>
          <a:p>
            <a:pPr algn="l"/>
            <a:r>
              <a:rPr sz="900">
                <a:solidFill>
                  <a:srgbClr val="475569"/>
                </a:solidFill>
                <a:latin typeface="Calibri"/>
              </a:rPr>
              <a:t>- Competitor proposition narrative summarisation</a:t>
            </a:r>
          </a:p>
          <a:p>
            <a:pPr algn="l"/>
            <a:r>
              <a:rPr sz="900">
                <a:solidFill>
                  <a:srgbClr val="475569"/>
                </a:solidFill>
                <a:latin typeface="Calibri"/>
              </a:rPr>
              <a:t>- Executive briefing generation</a:t>
            </a:r>
          </a:p>
          <a:p>
            <a:pPr algn="l"/>
            <a:r>
              <a:rPr sz="900">
                <a:solidFill>
                  <a:srgbClr val="475569"/>
                </a:solidFill>
                <a:latin typeface="Calibri"/>
              </a:rPr>
              <a:t>- Recommendation rationale drafting</a:t>
            </a:r>
          </a:p>
          <a:p>
            <a:pPr algn="l"/>
            <a:r>
              <a:rPr sz="900">
                <a:solidFill>
                  <a:srgbClr val="475569"/>
                </a:solidFill>
                <a:latin typeface="Calibri"/>
              </a:rPr>
              <a:t>- Market commentary synthesis</a:t>
            </a:r>
          </a:p>
          <a:p>
            <a:pPr algn="l"/>
            <a:r>
              <a:rPr sz="900">
                <a:solidFill>
                  <a:srgbClr val="475569"/>
                </a:solidFill>
                <a:latin typeface="Calibri"/>
              </a:rPr>
              <a:t>- Regulatory change impact assessment</a:t>
            </a:r>
          </a:p>
          <a:p>
            <a:pPr algn="l"/>
            <a:r>
              <a:rPr sz="900">
                <a:solidFill>
                  <a:srgbClr val="475569"/>
                </a:solidFill>
                <a:latin typeface="Calibri"/>
              </a:rPr>
              <a:t>- Customer review sentiment analysis</a:t>
            </a:r>
          </a:p>
        </p:txBody>
      </p:sp>
      <p:sp>
        <p:nvSpPr>
          <p:cNvPr id="22" name="Rectangle 21"/>
          <p:cNvSpPr/>
          <p:nvPr/>
        </p:nvSpPr>
        <p:spPr>
          <a:xfrm>
            <a:off x="2999232" y="4919472"/>
            <a:ext cx="2651760" cy="137160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72384" y="4965192"/>
            <a:ext cx="2514600" cy="182880"/>
          </a:xfrm>
          <a:prstGeom prst="rect">
            <a:avLst/>
          </a:prstGeom>
          <a:noFill/>
        </p:spPr>
        <p:txBody>
          <a:bodyPr wrap="square"/>
          <a:lstStyle/>
          <a:p>
            <a:pPr algn="l"/>
            <a:r>
              <a:rPr sz="800" b="1" i="0">
                <a:solidFill>
                  <a:srgbClr val="0D9488"/>
                </a:solidFill>
                <a:latin typeface="Calibri"/>
              </a:rPr>
              <a:t>Characteristics</a:t>
            </a:r>
          </a:p>
        </p:txBody>
      </p:sp>
      <p:sp>
        <p:nvSpPr>
          <p:cNvPr id="24" name="TextBox 23"/>
          <p:cNvSpPr txBox="1"/>
          <p:nvPr/>
        </p:nvSpPr>
        <p:spPr>
          <a:xfrm>
            <a:off x="3072384" y="5175504"/>
            <a:ext cx="2514600" cy="1051560"/>
          </a:xfrm>
          <a:prstGeom prst="rect">
            <a:avLst/>
          </a:prstGeom>
          <a:noFill/>
        </p:spPr>
        <p:txBody>
          <a:bodyPr wrap="square"/>
          <a:lstStyle/>
          <a:p>
            <a:pPr algn="l"/>
            <a:r>
              <a:rPr sz="850" b="0" i="1">
                <a:solidFill>
                  <a:srgbClr val="475569"/>
                </a:solidFill>
                <a:latin typeface="Calibri"/>
              </a:rPr>
              <a:t>Transforms unstructured data into actionable insight. Reduces analyst effort. Generates explainable, readable outputs.</a:t>
            </a:r>
          </a:p>
        </p:txBody>
      </p:sp>
      <p:sp>
        <p:nvSpPr>
          <p:cNvPr id="25" name="Rectangle 24"/>
          <p:cNvSpPr/>
          <p:nvPr/>
        </p:nvSpPr>
        <p:spPr>
          <a:xfrm>
            <a:off x="5833872" y="804672"/>
            <a:ext cx="2651760" cy="5669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33872" y="804672"/>
            <a:ext cx="26517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25312" y="896112"/>
            <a:ext cx="2514600" cy="274320"/>
          </a:xfrm>
          <a:prstGeom prst="rect">
            <a:avLst/>
          </a:prstGeom>
          <a:noFill/>
        </p:spPr>
        <p:txBody>
          <a:bodyPr wrap="square"/>
          <a:lstStyle/>
          <a:p>
            <a:pPr algn="l"/>
            <a:r>
              <a:rPr sz="1200" b="1" i="0">
                <a:solidFill>
                  <a:srgbClr val="0A1628"/>
                </a:solidFill>
                <a:latin typeface="Calibri"/>
              </a:rPr>
              <a:t>Agentic Automation</a:t>
            </a:r>
          </a:p>
        </p:txBody>
      </p:sp>
      <p:sp>
        <p:nvSpPr>
          <p:cNvPr id="28" name="TextBox 27"/>
          <p:cNvSpPr txBox="1"/>
          <p:nvPr/>
        </p:nvSpPr>
        <p:spPr>
          <a:xfrm>
            <a:off x="5925312" y="1188720"/>
            <a:ext cx="2514600" cy="228600"/>
          </a:xfrm>
          <a:prstGeom prst="rect">
            <a:avLst/>
          </a:prstGeom>
          <a:noFill/>
        </p:spPr>
        <p:txBody>
          <a:bodyPr wrap="square"/>
          <a:lstStyle/>
          <a:p>
            <a:pPr algn="l"/>
            <a:r>
              <a:rPr sz="900" b="0" i="1">
                <a:solidFill>
                  <a:srgbClr val="7C3AED"/>
                </a:solidFill>
                <a:latin typeface="Calibri"/>
              </a:rPr>
              <a:t>Orchestration &amp; Decision Support</a:t>
            </a:r>
          </a:p>
        </p:txBody>
      </p:sp>
      <p:sp>
        <p:nvSpPr>
          <p:cNvPr id="29" name="TextBox 28"/>
          <p:cNvSpPr txBox="1"/>
          <p:nvPr/>
        </p:nvSpPr>
        <p:spPr>
          <a:xfrm>
            <a:off x="5925312" y="1490472"/>
            <a:ext cx="2514600" cy="3291840"/>
          </a:xfrm>
          <a:prstGeom prst="rect">
            <a:avLst/>
          </a:prstGeom>
          <a:noFill/>
        </p:spPr>
        <p:txBody>
          <a:bodyPr wrap="square">
            <a:spAutoFit/>
          </a:bodyPr>
          <a:lstStyle/>
          <a:p>
            <a:pPr algn="l"/>
            <a:r>
              <a:rPr sz="900">
                <a:solidFill>
                  <a:srgbClr val="475569"/>
                </a:solidFill>
                <a:latin typeface="Calibri"/>
              </a:rPr>
              <a:t>- Multi-step competitor investigation workflows</a:t>
            </a:r>
          </a:p>
          <a:p>
            <a:pPr algn="l"/>
            <a:r>
              <a:rPr sz="900">
                <a:solidFill>
                  <a:srgbClr val="475569"/>
                </a:solidFill>
                <a:latin typeface="Calibri"/>
              </a:rPr>
              <a:t>- Autonomous PCW data collection and validation</a:t>
            </a:r>
          </a:p>
          <a:p>
            <a:pPr algn="l"/>
            <a:r>
              <a:rPr sz="900">
                <a:solidFill>
                  <a:srgbClr val="475569"/>
                </a:solidFill>
                <a:latin typeface="Calibri"/>
              </a:rPr>
              <a:t>- Triggered analysis on market movement events</a:t>
            </a:r>
          </a:p>
          <a:p>
            <a:pPr algn="l"/>
            <a:r>
              <a:rPr sz="900">
                <a:solidFill>
                  <a:srgbClr val="475569"/>
                </a:solidFill>
                <a:latin typeface="Calibri"/>
              </a:rPr>
              <a:t>- Cross-agent intelligence aggregation</a:t>
            </a:r>
          </a:p>
          <a:p>
            <a:pPr algn="l"/>
            <a:r>
              <a:rPr sz="900">
                <a:solidFill>
                  <a:srgbClr val="475569"/>
                </a:solidFill>
                <a:latin typeface="Calibri"/>
              </a:rPr>
              <a:t>- Simulation scenario orchestration</a:t>
            </a:r>
          </a:p>
          <a:p>
            <a:pPr algn="l"/>
            <a:r>
              <a:rPr sz="900">
                <a:solidFill>
                  <a:srgbClr val="475569"/>
                </a:solidFill>
                <a:latin typeface="Calibri"/>
              </a:rPr>
              <a:t>- Governance escalation routing</a:t>
            </a:r>
          </a:p>
        </p:txBody>
      </p:sp>
      <p:sp>
        <p:nvSpPr>
          <p:cNvPr id="30" name="Rectangle 29"/>
          <p:cNvSpPr/>
          <p:nvPr/>
        </p:nvSpPr>
        <p:spPr>
          <a:xfrm>
            <a:off x="5833872" y="4919472"/>
            <a:ext cx="2651760" cy="137160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07024" y="4965192"/>
            <a:ext cx="2514600" cy="182880"/>
          </a:xfrm>
          <a:prstGeom prst="rect">
            <a:avLst/>
          </a:prstGeom>
          <a:noFill/>
        </p:spPr>
        <p:txBody>
          <a:bodyPr wrap="square"/>
          <a:lstStyle/>
          <a:p>
            <a:pPr algn="l"/>
            <a:r>
              <a:rPr sz="800" b="1" i="0">
                <a:solidFill>
                  <a:srgbClr val="7C3AED"/>
                </a:solidFill>
                <a:latin typeface="Calibri"/>
              </a:rPr>
              <a:t>Characteristics</a:t>
            </a:r>
          </a:p>
        </p:txBody>
      </p:sp>
      <p:sp>
        <p:nvSpPr>
          <p:cNvPr id="32" name="TextBox 31"/>
          <p:cNvSpPr txBox="1"/>
          <p:nvPr/>
        </p:nvSpPr>
        <p:spPr>
          <a:xfrm>
            <a:off x="5907024" y="5175504"/>
            <a:ext cx="2514600" cy="1051560"/>
          </a:xfrm>
          <a:prstGeom prst="rect">
            <a:avLst/>
          </a:prstGeom>
          <a:noFill/>
        </p:spPr>
        <p:txBody>
          <a:bodyPr wrap="square"/>
          <a:lstStyle/>
          <a:p>
            <a:pPr algn="l"/>
            <a:r>
              <a:rPr sz="850" b="0" i="1">
                <a:solidFill>
                  <a:srgbClr val="475569"/>
                </a:solidFill>
                <a:latin typeface="Calibri"/>
              </a:rPr>
              <a:t>Combines ML and GenAI capabilities. Executes complex, multi-step workflows. Human oversight at defined decision gates.</a:t>
            </a:r>
          </a:p>
        </p:txBody>
      </p:sp>
      <p:sp>
        <p:nvSpPr>
          <p:cNvPr id="33" name="Rectangle 32"/>
          <p:cNvSpPr/>
          <p:nvPr/>
        </p:nvSpPr>
        <p:spPr>
          <a:xfrm>
            <a:off x="8394192" y="804672"/>
            <a:ext cx="3611880" cy="566928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896112"/>
            <a:ext cx="3429000" cy="274320"/>
          </a:xfrm>
          <a:prstGeom prst="rect">
            <a:avLst/>
          </a:prstGeom>
          <a:noFill/>
        </p:spPr>
        <p:txBody>
          <a:bodyPr wrap="square"/>
          <a:lstStyle/>
          <a:p>
            <a:pPr algn="l"/>
            <a:r>
              <a:rPr sz="1200" b="1" i="0">
                <a:solidFill>
                  <a:srgbClr val="C9A84C"/>
                </a:solidFill>
                <a:latin typeface="Calibri"/>
              </a:rPr>
              <a:t>LBG Platform</a:t>
            </a:r>
          </a:p>
        </p:txBody>
      </p:sp>
      <p:sp>
        <p:nvSpPr>
          <p:cNvPr id="35" name="TextBox 34"/>
          <p:cNvSpPr txBox="1"/>
          <p:nvPr/>
        </p:nvSpPr>
        <p:spPr>
          <a:xfrm>
            <a:off x="8503920" y="1188720"/>
            <a:ext cx="3429000" cy="201168"/>
          </a:xfrm>
          <a:prstGeom prst="rect">
            <a:avLst/>
          </a:prstGeom>
          <a:noFill/>
        </p:spPr>
        <p:txBody>
          <a:bodyPr wrap="square"/>
          <a:lstStyle/>
          <a:p>
            <a:pPr algn="l"/>
            <a:r>
              <a:rPr sz="850" b="0" i="1">
                <a:solidFill>
                  <a:srgbClr val="94A3B8"/>
                </a:solidFill>
                <a:latin typeface="Calibri"/>
              </a:rPr>
              <a:t>Foundation Capabilities</a:t>
            </a:r>
          </a:p>
        </p:txBody>
      </p:sp>
      <p:sp>
        <p:nvSpPr>
          <p:cNvPr id="36" name="Rectangle 35"/>
          <p:cNvSpPr/>
          <p:nvPr/>
        </p:nvSpPr>
        <p:spPr>
          <a:xfrm>
            <a:off x="8485632" y="1463040"/>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95360" y="1600200"/>
            <a:ext cx="3246120" cy="292608"/>
          </a:xfrm>
          <a:prstGeom prst="rect">
            <a:avLst/>
          </a:prstGeom>
          <a:noFill/>
        </p:spPr>
        <p:txBody>
          <a:bodyPr wrap="square"/>
          <a:lstStyle/>
          <a:p>
            <a:pPr algn="l"/>
            <a:r>
              <a:rPr sz="900" b="1" i="0">
                <a:solidFill>
                  <a:srgbClr val="FFFFFF"/>
                </a:solidFill>
                <a:latin typeface="Calibri"/>
              </a:rPr>
              <a:t>Cloud Infrastructure (Azure)</a:t>
            </a:r>
          </a:p>
        </p:txBody>
      </p:sp>
      <p:sp>
        <p:nvSpPr>
          <p:cNvPr id="38" name="Rectangle 37"/>
          <p:cNvSpPr/>
          <p:nvPr/>
        </p:nvSpPr>
        <p:spPr>
          <a:xfrm>
            <a:off x="8485632" y="2121408"/>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0" y="2258568"/>
            <a:ext cx="3246120" cy="292608"/>
          </a:xfrm>
          <a:prstGeom prst="rect">
            <a:avLst/>
          </a:prstGeom>
          <a:noFill/>
        </p:spPr>
        <p:txBody>
          <a:bodyPr wrap="square"/>
          <a:lstStyle/>
          <a:p>
            <a:pPr algn="l"/>
            <a:r>
              <a:rPr sz="900" b="1" i="0">
                <a:solidFill>
                  <a:srgbClr val="FFFFFF"/>
                </a:solidFill>
                <a:latin typeface="Calibri"/>
              </a:rPr>
              <a:t>Data Platform &amp; Feature Store</a:t>
            </a:r>
          </a:p>
        </p:txBody>
      </p:sp>
      <p:sp>
        <p:nvSpPr>
          <p:cNvPr id="40" name="Rectangle 39"/>
          <p:cNvSpPr/>
          <p:nvPr/>
        </p:nvSpPr>
        <p:spPr>
          <a:xfrm>
            <a:off x="8485632" y="2779776"/>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0" y="2916936"/>
            <a:ext cx="3246120" cy="292608"/>
          </a:xfrm>
          <a:prstGeom prst="rect">
            <a:avLst/>
          </a:prstGeom>
          <a:noFill/>
        </p:spPr>
        <p:txBody>
          <a:bodyPr wrap="square"/>
          <a:lstStyle/>
          <a:p>
            <a:pPr algn="l"/>
            <a:r>
              <a:rPr sz="900" b="1" i="0">
                <a:solidFill>
                  <a:srgbClr val="FFFFFF"/>
                </a:solidFill>
                <a:latin typeface="Calibri"/>
              </a:rPr>
              <a:t>MLOps &amp; Model Registry</a:t>
            </a:r>
          </a:p>
        </p:txBody>
      </p:sp>
      <p:sp>
        <p:nvSpPr>
          <p:cNvPr id="42" name="Rectangle 41"/>
          <p:cNvSpPr/>
          <p:nvPr/>
        </p:nvSpPr>
        <p:spPr>
          <a:xfrm>
            <a:off x="8485632" y="3438144"/>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95360" y="3575304"/>
            <a:ext cx="3246120" cy="292608"/>
          </a:xfrm>
          <a:prstGeom prst="rect">
            <a:avLst/>
          </a:prstGeom>
          <a:noFill/>
        </p:spPr>
        <p:txBody>
          <a:bodyPr wrap="square"/>
          <a:lstStyle/>
          <a:p>
            <a:pPr algn="l"/>
            <a:r>
              <a:rPr sz="900" b="1" i="0">
                <a:solidFill>
                  <a:srgbClr val="FFFFFF"/>
                </a:solidFill>
                <a:latin typeface="Calibri"/>
              </a:rPr>
              <a:t>LLM Gateway &amp; Prompt Layer</a:t>
            </a:r>
          </a:p>
        </p:txBody>
      </p:sp>
      <p:sp>
        <p:nvSpPr>
          <p:cNvPr id="44" name="Rectangle 43"/>
          <p:cNvSpPr/>
          <p:nvPr/>
        </p:nvSpPr>
        <p:spPr>
          <a:xfrm>
            <a:off x="8485632" y="4096512"/>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95360" y="4233672"/>
            <a:ext cx="3246120" cy="292608"/>
          </a:xfrm>
          <a:prstGeom prst="rect">
            <a:avLst/>
          </a:prstGeom>
          <a:noFill/>
        </p:spPr>
        <p:txBody>
          <a:bodyPr wrap="square"/>
          <a:lstStyle/>
          <a:p>
            <a:pPr algn="l"/>
            <a:r>
              <a:rPr sz="900" b="1" i="0">
                <a:solidFill>
                  <a:srgbClr val="FFFFFF"/>
                </a:solidFill>
                <a:latin typeface="Calibri"/>
              </a:rPr>
              <a:t>API Management (Apigee)</a:t>
            </a:r>
          </a:p>
        </p:txBody>
      </p:sp>
      <p:sp>
        <p:nvSpPr>
          <p:cNvPr id="46" name="Rectangle 45"/>
          <p:cNvSpPr/>
          <p:nvPr/>
        </p:nvSpPr>
        <p:spPr>
          <a:xfrm>
            <a:off x="8485632" y="4754879"/>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0" y="4892039"/>
            <a:ext cx="3246120" cy="292608"/>
          </a:xfrm>
          <a:prstGeom prst="rect">
            <a:avLst/>
          </a:prstGeom>
          <a:noFill/>
        </p:spPr>
        <p:txBody>
          <a:bodyPr wrap="square"/>
          <a:lstStyle/>
          <a:p>
            <a:pPr algn="l"/>
            <a:r>
              <a:rPr sz="900" b="1" i="0">
                <a:solidFill>
                  <a:srgbClr val="FFFFFF"/>
                </a:solidFill>
                <a:latin typeface="Calibri"/>
              </a:rPr>
              <a:t>Governance &amp; Audit Framework</a:t>
            </a:r>
          </a:p>
        </p:txBody>
      </p:sp>
      <p:sp>
        <p:nvSpPr>
          <p:cNvPr id="48" name="Rectangle 47"/>
          <p:cNvSpPr/>
          <p:nvPr/>
        </p:nvSpPr>
        <p:spPr>
          <a:xfrm>
            <a:off x="8485632" y="5413248"/>
            <a:ext cx="3429000" cy="54864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95360" y="5550408"/>
            <a:ext cx="3246120" cy="292608"/>
          </a:xfrm>
          <a:prstGeom prst="rect">
            <a:avLst/>
          </a:prstGeom>
          <a:noFill/>
        </p:spPr>
        <p:txBody>
          <a:bodyPr wrap="square"/>
          <a:lstStyle/>
          <a:p>
            <a:pPr algn="l"/>
            <a:r>
              <a:rPr sz="900" b="1" i="0">
                <a:solidFill>
                  <a:srgbClr val="FFFFFF"/>
                </a:solidFill>
                <a:latin typeface="Calibri"/>
              </a:rPr>
              <a:t>Pega Workflow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TARGET OPERATING MODEL</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Target Operating Model — AI-Powered Continuous Intelligence Cycle</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7 / 18</a:t>
            </a:r>
          </a:p>
        </p:txBody>
      </p:sp>
      <p:sp>
        <p:nvSpPr>
          <p:cNvPr id="9" name="Rectangle 8"/>
          <p:cNvSpPr/>
          <p:nvPr/>
        </p:nvSpPr>
        <p:spPr>
          <a:xfrm>
            <a:off x="164592"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1600200" cy="3657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 y="914400"/>
            <a:ext cx="1527048" cy="228600"/>
          </a:xfrm>
          <a:prstGeom prst="rect">
            <a:avLst/>
          </a:prstGeom>
          <a:noFill/>
        </p:spPr>
        <p:txBody>
          <a:bodyPr wrap="square"/>
          <a:lstStyle/>
          <a:p>
            <a:pPr algn="ctr"/>
            <a:r>
              <a:rPr sz="1000" b="1" i="0">
                <a:solidFill>
                  <a:srgbClr val="FFFFFF"/>
                </a:solidFill>
                <a:latin typeface="Calibri"/>
              </a:rPr>
              <a:t>SENSE</a:t>
            </a:r>
          </a:p>
        </p:txBody>
      </p:sp>
      <p:sp>
        <p:nvSpPr>
          <p:cNvPr id="12" name="TextBox 11"/>
          <p:cNvSpPr txBox="1"/>
          <p:nvPr/>
        </p:nvSpPr>
        <p:spPr>
          <a:xfrm>
            <a:off x="237744" y="1280160"/>
            <a:ext cx="1490472" cy="4206240"/>
          </a:xfrm>
          <a:prstGeom prst="rect">
            <a:avLst/>
          </a:prstGeom>
          <a:noFill/>
        </p:spPr>
        <p:txBody>
          <a:bodyPr wrap="square"/>
          <a:lstStyle/>
          <a:p>
            <a:pPr algn="l"/>
            <a:r>
              <a:rPr sz="850" b="0" i="0">
                <a:solidFill>
                  <a:srgbClr val="475569"/>
                </a:solidFill>
                <a:latin typeface="Calibri"/>
              </a:rPr>
              <a:t>Automated collection of PCW market data across all monitored competitors, channels and product lines. Triggered by schedule and event.</a:t>
            </a:r>
          </a:p>
        </p:txBody>
      </p:sp>
      <p:sp>
        <p:nvSpPr>
          <p:cNvPr id="13" name="TextBox 12"/>
          <p:cNvSpPr txBox="1"/>
          <p:nvPr/>
        </p:nvSpPr>
        <p:spPr>
          <a:xfrm>
            <a:off x="237744" y="5577840"/>
            <a:ext cx="1490472" cy="274320"/>
          </a:xfrm>
          <a:prstGeom prst="rect">
            <a:avLst/>
          </a:prstGeom>
          <a:noFill/>
        </p:spPr>
        <p:txBody>
          <a:bodyPr wrap="square"/>
          <a:lstStyle/>
          <a:p>
            <a:pPr algn="l"/>
            <a:r>
              <a:rPr sz="800" b="1" i="0">
                <a:solidFill>
                  <a:srgbClr val="0F7AC5"/>
                </a:solidFill>
                <a:latin typeface="Calibri"/>
              </a:rPr>
              <a:t>[ML + Agentic]</a:t>
            </a:r>
          </a:p>
        </p:txBody>
      </p:sp>
      <p:sp>
        <p:nvSpPr>
          <p:cNvPr id="14" name="Rectangle 13"/>
          <p:cNvSpPr/>
          <p:nvPr/>
        </p:nvSpPr>
        <p:spPr>
          <a:xfrm>
            <a:off x="1828800"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0" y="822960"/>
            <a:ext cx="1600200" cy="3657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74520" y="914400"/>
            <a:ext cx="1527048" cy="228600"/>
          </a:xfrm>
          <a:prstGeom prst="rect">
            <a:avLst/>
          </a:prstGeom>
          <a:noFill/>
        </p:spPr>
        <p:txBody>
          <a:bodyPr wrap="square"/>
          <a:lstStyle/>
          <a:p>
            <a:pPr algn="ctr"/>
            <a:r>
              <a:rPr sz="1000" b="1" i="0">
                <a:solidFill>
                  <a:srgbClr val="FFFFFF"/>
                </a:solidFill>
                <a:latin typeface="Calibri"/>
              </a:rPr>
              <a:t>ANALYSE</a:t>
            </a:r>
          </a:p>
        </p:txBody>
      </p:sp>
      <p:sp>
        <p:nvSpPr>
          <p:cNvPr id="17" name="TextBox 16"/>
          <p:cNvSpPr txBox="1"/>
          <p:nvPr/>
        </p:nvSpPr>
        <p:spPr>
          <a:xfrm>
            <a:off x="1901952" y="1280160"/>
            <a:ext cx="1490472" cy="4206240"/>
          </a:xfrm>
          <a:prstGeom prst="rect">
            <a:avLst/>
          </a:prstGeom>
          <a:noFill/>
        </p:spPr>
        <p:txBody>
          <a:bodyPr wrap="square"/>
          <a:lstStyle/>
          <a:p>
            <a:pPr algn="l"/>
            <a:r>
              <a:rPr sz="850" b="0" i="0">
                <a:solidFill>
                  <a:srgbClr val="475569"/>
                </a:solidFill>
                <a:latin typeface="Calibri"/>
              </a:rPr>
              <a:t>ML models detect ranking shifts, pricing anomalies and proposition changes. Patterns classified by significance, velocity and likely cause.</a:t>
            </a:r>
          </a:p>
        </p:txBody>
      </p:sp>
      <p:sp>
        <p:nvSpPr>
          <p:cNvPr id="18" name="TextBox 17"/>
          <p:cNvSpPr txBox="1"/>
          <p:nvPr/>
        </p:nvSpPr>
        <p:spPr>
          <a:xfrm>
            <a:off x="1901952" y="5577840"/>
            <a:ext cx="1490472" cy="274320"/>
          </a:xfrm>
          <a:prstGeom prst="rect">
            <a:avLst/>
          </a:prstGeom>
          <a:noFill/>
        </p:spPr>
        <p:txBody>
          <a:bodyPr wrap="square"/>
          <a:lstStyle/>
          <a:p>
            <a:pPr algn="l"/>
            <a:r>
              <a:rPr sz="800" b="1" i="0">
                <a:solidFill>
                  <a:srgbClr val="2563AB"/>
                </a:solidFill>
                <a:latin typeface="Calibri"/>
              </a:rPr>
              <a:t>[ML + GenAI]</a:t>
            </a:r>
          </a:p>
        </p:txBody>
      </p:sp>
      <p:sp>
        <p:nvSpPr>
          <p:cNvPr id="19" name="Rectangle 18"/>
          <p:cNvSpPr/>
          <p:nvPr/>
        </p:nvSpPr>
        <p:spPr>
          <a:xfrm>
            <a:off x="3493008"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93008" y="822960"/>
            <a:ext cx="1600200"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38728" y="914400"/>
            <a:ext cx="1527048" cy="228600"/>
          </a:xfrm>
          <a:prstGeom prst="rect">
            <a:avLst/>
          </a:prstGeom>
          <a:noFill/>
        </p:spPr>
        <p:txBody>
          <a:bodyPr wrap="square"/>
          <a:lstStyle/>
          <a:p>
            <a:pPr algn="ctr"/>
            <a:r>
              <a:rPr sz="1000" b="1" i="0">
                <a:solidFill>
                  <a:srgbClr val="FFFFFF"/>
                </a:solidFill>
                <a:latin typeface="Calibri"/>
              </a:rPr>
              <a:t>SIMULATE</a:t>
            </a:r>
          </a:p>
        </p:txBody>
      </p:sp>
      <p:sp>
        <p:nvSpPr>
          <p:cNvPr id="22" name="TextBox 21"/>
          <p:cNvSpPr txBox="1"/>
          <p:nvPr/>
        </p:nvSpPr>
        <p:spPr>
          <a:xfrm>
            <a:off x="3566160" y="1280160"/>
            <a:ext cx="1490472" cy="4206240"/>
          </a:xfrm>
          <a:prstGeom prst="rect">
            <a:avLst/>
          </a:prstGeom>
          <a:noFill/>
        </p:spPr>
        <p:txBody>
          <a:bodyPr wrap="square"/>
          <a:lstStyle/>
          <a:p>
            <a:pPr algn="l"/>
            <a:r>
              <a:rPr sz="850" b="0" i="0">
                <a:solidFill>
                  <a:srgbClr val="475569"/>
                </a:solidFill>
                <a:latin typeface="Calibri"/>
              </a:rPr>
              <a:t>Simulation models evaluate the likely commercial impact of potential interventions — pricing changes, excess adjustments, offer additions — before recommendation.</a:t>
            </a:r>
          </a:p>
        </p:txBody>
      </p:sp>
      <p:sp>
        <p:nvSpPr>
          <p:cNvPr id="23" name="TextBox 22"/>
          <p:cNvSpPr txBox="1"/>
          <p:nvPr/>
        </p:nvSpPr>
        <p:spPr>
          <a:xfrm>
            <a:off x="3566160" y="5577840"/>
            <a:ext cx="1490472" cy="274320"/>
          </a:xfrm>
          <a:prstGeom prst="rect">
            <a:avLst/>
          </a:prstGeom>
          <a:noFill/>
        </p:spPr>
        <p:txBody>
          <a:bodyPr wrap="square"/>
          <a:lstStyle/>
          <a:p>
            <a:pPr algn="l"/>
            <a:r>
              <a:rPr sz="800" b="1" i="0">
                <a:solidFill>
                  <a:srgbClr val="0D9488"/>
                </a:solidFill>
                <a:latin typeface="Calibri"/>
              </a:rPr>
              <a:t>[ML]</a:t>
            </a:r>
          </a:p>
        </p:txBody>
      </p:sp>
      <p:sp>
        <p:nvSpPr>
          <p:cNvPr id="24" name="Rectangle 23"/>
          <p:cNvSpPr/>
          <p:nvPr/>
        </p:nvSpPr>
        <p:spPr>
          <a:xfrm>
            <a:off x="5157216"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57216" y="822960"/>
            <a:ext cx="160020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02936" y="914400"/>
            <a:ext cx="1527048" cy="228600"/>
          </a:xfrm>
          <a:prstGeom prst="rect">
            <a:avLst/>
          </a:prstGeom>
          <a:noFill/>
        </p:spPr>
        <p:txBody>
          <a:bodyPr wrap="square"/>
          <a:lstStyle/>
          <a:p>
            <a:pPr algn="ctr"/>
            <a:r>
              <a:rPr sz="1000" b="1" i="0">
                <a:solidFill>
                  <a:srgbClr val="FFFFFF"/>
                </a:solidFill>
                <a:latin typeface="Calibri"/>
              </a:rPr>
              <a:t>RECOMMEND</a:t>
            </a:r>
          </a:p>
        </p:txBody>
      </p:sp>
      <p:sp>
        <p:nvSpPr>
          <p:cNvPr id="27" name="TextBox 26"/>
          <p:cNvSpPr txBox="1"/>
          <p:nvPr/>
        </p:nvSpPr>
        <p:spPr>
          <a:xfrm>
            <a:off x="5230368" y="1280160"/>
            <a:ext cx="1490472" cy="4206240"/>
          </a:xfrm>
          <a:prstGeom prst="rect">
            <a:avLst/>
          </a:prstGeom>
          <a:noFill/>
        </p:spPr>
        <p:txBody>
          <a:bodyPr wrap="square"/>
          <a:lstStyle/>
          <a:p>
            <a:pPr algn="l"/>
            <a:r>
              <a:rPr sz="850" b="0" i="0">
                <a:solidFill>
                  <a:srgbClr val="475569"/>
                </a:solidFill>
                <a:latin typeface="Calibri"/>
              </a:rPr>
              <a:t>GenAI synthesises analysis into clear, structured, explainable recommendations — pricing actions, product changes, offer adjustments — with supporting evidence.</a:t>
            </a:r>
          </a:p>
        </p:txBody>
      </p:sp>
      <p:sp>
        <p:nvSpPr>
          <p:cNvPr id="28" name="TextBox 27"/>
          <p:cNvSpPr txBox="1"/>
          <p:nvPr/>
        </p:nvSpPr>
        <p:spPr>
          <a:xfrm>
            <a:off x="5230368" y="5577840"/>
            <a:ext cx="1490472" cy="274320"/>
          </a:xfrm>
          <a:prstGeom prst="rect">
            <a:avLst/>
          </a:prstGeom>
          <a:noFill/>
        </p:spPr>
        <p:txBody>
          <a:bodyPr wrap="square"/>
          <a:lstStyle/>
          <a:p>
            <a:pPr algn="l"/>
            <a:r>
              <a:rPr sz="800" b="1" i="0">
                <a:solidFill>
                  <a:srgbClr val="7C3AED"/>
                </a:solidFill>
                <a:latin typeface="Calibri"/>
              </a:rPr>
              <a:t>[GenAI + Agentic]</a:t>
            </a:r>
          </a:p>
        </p:txBody>
      </p:sp>
      <p:sp>
        <p:nvSpPr>
          <p:cNvPr id="29" name="Rectangle 28"/>
          <p:cNvSpPr/>
          <p:nvPr/>
        </p:nvSpPr>
        <p:spPr>
          <a:xfrm>
            <a:off x="6821424"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21424" y="822960"/>
            <a:ext cx="1600200" cy="365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67144" y="914400"/>
            <a:ext cx="1527048" cy="228600"/>
          </a:xfrm>
          <a:prstGeom prst="rect">
            <a:avLst/>
          </a:prstGeom>
          <a:noFill/>
        </p:spPr>
        <p:txBody>
          <a:bodyPr wrap="square"/>
          <a:lstStyle/>
          <a:p>
            <a:pPr algn="ctr"/>
            <a:r>
              <a:rPr sz="1000" b="1" i="0">
                <a:solidFill>
                  <a:srgbClr val="FFFFFF"/>
                </a:solidFill>
                <a:latin typeface="Calibri"/>
              </a:rPr>
              <a:t>GOVERN</a:t>
            </a:r>
          </a:p>
        </p:txBody>
      </p:sp>
      <p:sp>
        <p:nvSpPr>
          <p:cNvPr id="32" name="TextBox 31"/>
          <p:cNvSpPr txBox="1"/>
          <p:nvPr/>
        </p:nvSpPr>
        <p:spPr>
          <a:xfrm>
            <a:off x="6894576" y="1280160"/>
            <a:ext cx="1490472" cy="4206240"/>
          </a:xfrm>
          <a:prstGeom prst="rect">
            <a:avLst/>
          </a:prstGeom>
          <a:noFill/>
        </p:spPr>
        <p:txBody>
          <a:bodyPr wrap="square"/>
          <a:lstStyle/>
          <a:p>
            <a:pPr algn="l"/>
            <a:r>
              <a:rPr sz="850" b="0" i="0">
                <a:solidFill>
                  <a:srgbClr val="475569"/>
                </a:solidFill>
                <a:latin typeface="Calibri"/>
              </a:rPr>
              <a:t>Recommendations routed to appropriate human approvers via Pega workflow. Full context, rationale and risk assessment provided. Approval, rejection or modification recorded.</a:t>
            </a:r>
          </a:p>
        </p:txBody>
      </p:sp>
      <p:sp>
        <p:nvSpPr>
          <p:cNvPr id="33" name="TextBox 32"/>
          <p:cNvSpPr txBox="1"/>
          <p:nvPr/>
        </p:nvSpPr>
        <p:spPr>
          <a:xfrm>
            <a:off x="6894576" y="5577840"/>
            <a:ext cx="1490472" cy="274320"/>
          </a:xfrm>
          <a:prstGeom prst="rect">
            <a:avLst/>
          </a:prstGeom>
          <a:noFill/>
        </p:spPr>
        <p:txBody>
          <a:bodyPr wrap="square"/>
          <a:lstStyle/>
          <a:p>
            <a:pPr algn="l"/>
            <a:r>
              <a:rPr sz="800" b="1" i="0">
                <a:solidFill>
                  <a:srgbClr val="C9A84C"/>
                </a:solidFill>
                <a:latin typeface="Calibri"/>
              </a:rPr>
              <a:t>[Human + Pega]</a:t>
            </a:r>
          </a:p>
        </p:txBody>
      </p:sp>
      <p:sp>
        <p:nvSpPr>
          <p:cNvPr id="34" name="Rectangle 33"/>
          <p:cNvSpPr/>
          <p:nvPr/>
        </p:nvSpPr>
        <p:spPr>
          <a:xfrm>
            <a:off x="8485632"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485632" y="822960"/>
            <a:ext cx="160020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31352" y="914400"/>
            <a:ext cx="1527048" cy="228600"/>
          </a:xfrm>
          <a:prstGeom prst="rect">
            <a:avLst/>
          </a:prstGeom>
          <a:noFill/>
        </p:spPr>
        <p:txBody>
          <a:bodyPr wrap="square"/>
          <a:lstStyle/>
          <a:p>
            <a:pPr algn="ctr"/>
            <a:r>
              <a:rPr sz="1000" b="1" i="0">
                <a:solidFill>
                  <a:srgbClr val="FFFFFF"/>
                </a:solidFill>
                <a:latin typeface="Calibri"/>
              </a:rPr>
              <a:t>EXECUTE</a:t>
            </a:r>
          </a:p>
        </p:txBody>
      </p:sp>
      <p:sp>
        <p:nvSpPr>
          <p:cNvPr id="37" name="TextBox 36"/>
          <p:cNvSpPr txBox="1"/>
          <p:nvPr/>
        </p:nvSpPr>
        <p:spPr>
          <a:xfrm>
            <a:off x="8558784" y="1280160"/>
            <a:ext cx="1490472" cy="4206240"/>
          </a:xfrm>
          <a:prstGeom prst="rect">
            <a:avLst/>
          </a:prstGeom>
          <a:noFill/>
        </p:spPr>
        <p:txBody>
          <a:bodyPr wrap="square"/>
          <a:lstStyle/>
          <a:p>
            <a:pPr algn="l"/>
            <a:r>
              <a:rPr sz="850" b="0" i="0">
                <a:solidFill>
                  <a:srgbClr val="475569"/>
                </a:solidFill>
                <a:latin typeface="Calibri"/>
              </a:rPr>
              <a:t>Approved changes implemented through AGGS, Duck Creek and Pricing Services APIs. Execution confirmed and logged. Change impact tracking initiated.</a:t>
            </a:r>
          </a:p>
        </p:txBody>
      </p:sp>
      <p:sp>
        <p:nvSpPr>
          <p:cNvPr id="38" name="TextBox 37"/>
          <p:cNvSpPr txBox="1"/>
          <p:nvPr/>
        </p:nvSpPr>
        <p:spPr>
          <a:xfrm>
            <a:off x="8558784" y="5577840"/>
            <a:ext cx="1490472" cy="274320"/>
          </a:xfrm>
          <a:prstGeom prst="rect">
            <a:avLst/>
          </a:prstGeom>
          <a:noFill/>
        </p:spPr>
        <p:txBody>
          <a:bodyPr wrap="square"/>
          <a:lstStyle/>
          <a:p>
            <a:pPr algn="l"/>
            <a:r>
              <a:rPr sz="800" b="1" i="0">
                <a:solidFill>
                  <a:srgbClr val="059669"/>
                </a:solidFill>
                <a:latin typeface="Calibri"/>
              </a:rPr>
              <a:t>[Agentic + Integration]</a:t>
            </a:r>
          </a:p>
        </p:txBody>
      </p:sp>
      <p:sp>
        <p:nvSpPr>
          <p:cNvPr id="39" name="Rectangle 38"/>
          <p:cNvSpPr/>
          <p:nvPr/>
        </p:nvSpPr>
        <p:spPr>
          <a:xfrm>
            <a:off x="10149840" y="822960"/>
            <a:ext cx="1600200" cy="5212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149840" y="822960"/>
            <a:ext cx="1600200" cy="3657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914400"/>
            <a:ext cx="1527048" cy="228600"/>
          </a:xfrm>
          <a:prstGeom prst="rect">
            <a:avLst/>
          </a:prstGeom>
          <a:noFill/>
        </p:spPr>
        <p:txBody>
          <a:bodyPr wrap="square"/>
          <a:lstStyle/>
          <a:p>
            <a:pPr algn="ctr"/>
            <a:r>
              <a:rPr sz="1000" b="1" i="0">
                <a:solidFill>
                  <a:srgbClr val="FFFFFF"/>
                </a:solidFill>
                <a:latin typeface="Calibri"/>
              </a:rPr>
              <a:t>LEARN</a:t>
            </a:r>
          </a:p>
        </p:txBody>
      </p:sp>
      <p:sp>
        <p:nvSpPr>
          <p:cNvPr id="42" name="TextBox 41"/>
          <p:cNvSpPr txBox="1"/>
          <p:nvPr/>
        </p:nvSpPr>
        <p:spPr>
          <a:xfrm>
            <a:off x="10222992" y="1280160"/>
            <a:ext cx="1490472" cy="4206240"/>
          </a:xfrm>
          <a:prstGeom prst="rect">
            <a:avLst/>
          </a:prstGeom>
          <a:noFill/>
        </p:spPr>
        <p:txBody>
          <a:bodyPr wrap="square"/>
          <a:lstStyle/>
          <a:p>
            <a:pPr algn="l"/>
            <a:r>
              <a:rPr sz="850" b="0" i="0">
                <a:solidFill>
                  <a:srgbClr val="475569"/>
                </a:solidFill>
                <a:latin typeface="Calibri"/>
              </a:rPr>
              <a:t>Outcome measurement compares pre- and post-intervention PCW performance. Model performance evaluated. Recommendation quality scores updated. Models retrained as required.</a:t>
            </a:r>
          </a:p>
        </p:txBody>
      </p:sp>
      <p:sp>
        <p:nvSpPr>
          <p:cNvPr id="43" name="TextBox 42"/>
          <p:cNvSpPr txBox="1"/>
          <p:nvPr/>
        </p:nvSpPr>
        <p:spPr>
          <a:xfrm>
            <a:off x="10222992" y="5577840"/>
            <a:ext cx="1490472" cy="274320"/>
          </a:xfrm>
          <a:prstGeom prst="rect">
            <a:avLst/>
          </a:prstGeom>
          <a:noFill/>
        </p:spPr>
        <p:txBody>
          <a:bodyPr wrap="square"/>
          <a:lstStyle/>
          <a:p>
            <a:pPr algn="l"/>
            <a:r>
              <a:rPr sz="800" b="1" i="0">
                <a:solidFill>
                  <a:srgbClr val="DC2626"/>
                </a:solidFill>
                <a:latin typeface="Calibri"/>
              </a:rPr>
              <a:t>[ML + GenAI]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PLATFORM CAPABILITIES</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LBG AI Platform — Existing Capabilities Leveraged</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8 / 18</a:t>
            </a:r>
          </a:p>
        </p:txBody>
      </p:sp>
      <p:sp>
        <p:nvSpPr>
          <p:cNvPr id="9" name="Rectangle 8"/>
          <p:cNvSpPr/>
          <p:nvPr/>
        </p:nvSpPr>
        <p:spPr>
          <a:xfrm>
            <a:off x="164592" y="8229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224028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914400"/>
            <a:ext cx="2130552" cy="256032"/>
          </a:xfrm>
          <a:prstGeom prst="rect">
            <a:avLst/>
          </a:prstGeom>
          <a:noFill/>
        </p:spPr>
        <p:txBody>
          <a:bodyPr wrap="square"/>
          <a:lstStyle/>
          <a:p>
            <a:pPr algn="l"/>
            <a:r>
              <a:rPr sz="950" b="1" i="0">
                <a:solidFill>
                  <a:srgbClr val="0A1628"/>
                </a:solidFill>
                <a:latin typeface="Calibri"/>
              </a:rPr>
              <a:t>Data Ingestion &amp; Enrichment</a:t>
            </a:r>
          </a:p>
        </p:txBody>
      </p:sp>
      <p:sp>
        <p:nvSpPr>
          <p:cNvPr id="12" name="TextBox 11"/>
          <p:cNvSpPr txBox="1"/>
          <p:nvPr/>
        </p:nvSpPr>
        <p:spPr>
          <a:xfrm>
            <a:off x="237744" y="1207008"/>
            <a:ext cx="2130552" cy="1280160"/>
          </a:xfrm>
          <a:prstGeom prst="rect">
            <a:avLst/>
          </a:prstGeom>
          <a:noFill/>
        </p:spPr>
        <p:txBody>
          <a:bodyPr wrap="square"/>
          <a:lstStyle/>
          <a:p>
            <a:pPr algn="l"/>
            <a:r>
              <a:rPr sz="850" b="0" i="0">
                <a:solidFill>
                  <a:srgbClr val="475569"/>
                </a:solidFill>
                <a:latin typeface="Calibri"/>
              </a:rPr>
              <a:t>Real-time and batch data pipelines. PCW data normalisation, validation and enrichment. Feature engineering for ML models. Data lineage and quality monitoring.</a:t>
            </a:r>
          </a:p>
        </p:txBody>
      </p:sp>
      <p:sp>
        <p:nvSpPr>
          <p:cNvPr id="13" name="Rectangle 12"/>
          <p:cNvSpPr/>
          <p:nvPr/>
        </p:nvSpPr>
        <p:spPr>
          <a:xfrm>
            <a:off x="2496312" y="8229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96312" y="822960"/>
            <a:ext cx="224028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914400"/>
            <a:ext cx="2130552" cy="256032"/>
          </a:xfrm>
          <a:prstGeom prst="rect">
            <a:avLst/>
          </a:prstGeom>
          <a:noFill/>
        </p:spPr>
        <p:txBody>
          <a:bodyPr wrap="square"/>
          <a:lstStyle/>
          <a:p>
            <a:pPr algn="l"/>
            <a:r>
              <a:rPr sz="950" b="1" i="0">
                <a:solidFill>
                  <a:srgbClr val="0A1628"/>
                </a:solidFill>
                <a:latin typeface="Calibri"/>
              </a:rPr>
              <a:t>ML Model Platform</a:t>
            </a:r>
          </a:p>
        </p:txBody>
      </p:sp>
      <p:sp>
        <p:nvSpPr>
          <p:cNvPr id="16" name="TextBox 15"/>
          <p:cNvSpPr txBox="1"/>
          <p:nvPr/>
        </p:nvSpPr>
        <p:spPr>
          <a:xfrm>
            <a:off x="2569464" y="1207008"/>
            <a:ext cx="2130552" cy="1280160"/>
          </a:xfrm>
          <a:prstGeom prst="rect">
            <a:avLst/>
          </a:prstGeom>
          <a:noFill/>
        </p:spPr>
        <p:txBody>
          <a:bodyPr wrap="square"/>
          <a:lstStyle/>
          <a:p>
            <a:pPr algn="l"/>
            <a:r>
              <a:rPr sz="850" b="0" i="0">
                <a:solidFill>
                  <a:srgbClr val="475569"/>
                </a:solidFill>
                <a:latin typeface="Calibri"/>
              </a:rPr>
              <a:t>Centrally managed model registry. A/B testing and champion/challenger framework. Automated retraining pipelines. Model performance dashboards. Explainability layer (SHAP/LIME).</a:t>
            </a:r>
          </a:p>
        </p:txBody>
      </p:sp>
      <p:sp>
        <p:nvSpPr>
          <p:cNvPr id="17" name="Rectangle 16"/>
          <p:cNvSpPr/>
          <p:nvPr/>
        </p:nvSpPr>
        <p:spPr>
          <a:xfrm>
            <a:off x="4828032" y="8229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828032" y="822960"/>
            <a:ext cx="224028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01184" y="914400"/>
            <a:ext cx="2130552" cy="256032"/>
          </a:xfrm>
          <a:prstGeom prst="rect">
            <a:avLst/>
          </a:prstGeom>
          <a:noFill/>
        </p:spPr>
        <p:txBody>
          <a:bodyPr wrap="square"/>
          <a:lstStyle/>
          <a:p>
            <a:pPr algn="l"/>
            <a:r>
              <a:rPr sz="950" b="1" i="0">
                <a:solidFill>
                  <a:srgbClr val="0A1628"/>
                </a:solidFill>
                <a:latin typeface="Calibri"/>
              </a:rPr>
              <a:t>LLM &amp; GenAI Gateway</a:t>
            </a:r>
          </a:p>
        </p:txBody>
      </p:sp>
      <p:sp>
        <p:nvSpPr>
          <p:cNvPr id="20" name="TextBox 19"/>
          <p:cNvSpPr txBox="1"/>
          <p:nvPr/>
        </p:nvSpPr>
        <p:spPr>
          <a:xfrm>
            <a:off x="4901184" y="1207008"/>
            <a:ext cx="2130552" cy="1280160"/>
          </a:xfrm>
          <a:prstGeom prst="rect">
            <a:avLst/>
          </a:prstGeom>
          <a:noFill/>
        </p:spPr>
        <p:txBody>
          <a:bodyPr wrap="square"/>
          <a:lstStyle/>
          <a:p>
            <a:pPr algn="l"/>
            <a:r>
              <a:rPr sz="850" b="0" i="0">
                <a:solidFill>
                  <a:srgbClr val="475569"/>
                </a:solidFill>
                <a:latin typeface="Calibri"/>
              </a:rPr>
              <a:t>Managed access to foundation models (Azure OpenAI). Prompt versioning and management. Response caching and cost governance. Hallucination detection and output validation.</a:t>
            </a:r>
          </a:p>
        </p:txBody>
      </p:sp>
      <p:sp>
        <p:nvSpPr>
          <p:cNvPr id="21" name="Rectangle 20"/>
          <p:cNvSpPr/>
          <p:nvPr/>
        </p:nvSpPr>
        <p:spPr>
          <a:xfrm>
            <a:off x="164592" y="26517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2651760"/>
            <a:ext cx="224028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7744" y="2743200"/>
            <a:ext cx="2130552" cy="256032"/>
          </a:xfrm>
          <a:prstGeom prst="rect">
            <a:avLst/>
          </a:prstGeom>
          <a:noFill/>
        </p:spPr>
        <p:txBody>
          <a:bodyPr wrap="square"/>
          <a:lstStyle/>
          <a:p>
            <a:pPr algn="l"/>
            <a:r>
              <a:rPr sz="950" b="1" i="0">
                <a:solidFill>
                  <a:srgbClr val="0A1628"/>
                </a:solidFill>
                <a:latin typeface="Calibri"/>
              </a:rPr>
              <a:t>Agentic Orchestration Layer</a:t>
            </a:r>
          </a:p>
        </p:txBody>
      </p:sp>
      <p:sp>
        <p:nvSpPr>
          <p:cNvPr id="24" name="TextBox 23"/>
          <p:cNvSpPr txBox="1"/>
          <p:nvPr/>
        </p:nvSpPr>
        <p:spPr>
          <a:xfrm>
            <a:off x="237744" y="3035808"/>
            <a:ext cx="2130552" cy="1280160"/>
          </a:xfrm>
          <a:prstGeom prst="rect">
            <a:avLst/>
          </a:prstGeom>
          <a:noFill/>
        </p:spPr>
        <p:txBody>
          <a:bodyPr wrap="square"/>
          <a:lstStyle/>
          <a:p>
            <a:pPr algn="l"/>
            <a:r>
              <a:rPr sz="850" b="0" i="0">
                <a:solidFill>
                  <a:srgbClr val="475569"/>
                </a:solidFill>
                <a:latin typeface="Calibri"/>
              </a:rPr>
              <a:t>Multi-agent workflow coordination. Tool use and API integration framework. State management and context persistence. Human-in-the-loop escalation triggers.</a:t>
            </a:r>
          </a:p>
        </p:txBody>
      </p:sp>
      <p:sp>
        <p:nvSpPr>
          <p:cNvPr id="25" name="Rectangle 24"/>
          <p:cNvSpPr/>
          <p:nvPr/>
        </p:nvSpPr>
        <p:spPr>
          <a:xfrm>
            <a:off x="2496312" y="26517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96312" y="2651760"/>
            <a:ext cx="224028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69464" y="2743200"/>
            <a:ext cx="2130552" cy="256032"/>
          </a:xfrm>
          <a:prstGeom prst="rect">
            <a:avLst/>
          </a:prstGeom>
          <a:noFill/>
        </p:spPr>
        <p:txBody>
          <a:bodyPr wrap="square"/>
          <a:lstStyle/>
          <a:p>
            <a:pPr algn="l"/>
            <a:r>
              <a:rPr sz="950" b="1" i="0">
                <a:solidFill>
                  <a:srgbClr val="0A1628"/>
                </a:solidFill>
                <a:latin typeface="Calibri"/>
              </a:rPr>
              <a:t>API &amp; Integration Layer</a:t>
            </a:r>
          </a:p>
        </p:txBody>
      </p:sp>
      <p:sp>
        <p:nvSpPr>
          <p:cNvPr id="28" name="TextBox 27"/>
          <p:cNvSpPr txBox="1"/>
          <p:nvPr/>
        </p:nvSpPr>
        <p:spPr>
          <a:xfrm>
            <a:off x="2569464" y="3035808"/>
            <a:ext cx="2130552" cy="1280160"/>
          </a:xfrm>
          <a:prstGeom prst="rect">
            <a:avLst/>
          </a:prstGeom>
          <a:noFill/>
        </p:spPr>
        <p:txBody>
          <a:bodyPr wrap="square"/>
          <a:lstStyle/>
          <a:p>
            <a:pPr algn="l"/>
            <a:r>
              <a:rPr sz="850" b="0" i="0">
                <a:solidFill>
                  <a:srgbClr val="475569"/>
                </a:solidFill>
                <a:latin typeface="Calibri"/>
              </a:rPr>
              <a:t>Apigee-managed API gateway. Pre-built connectors: AGGS, Duck Creek, Pega. Event-driven integration patterns. Rate limiting, security and audit logging.</a:t>
            </a:r>
          </a:p>
        </p:txBody>
      </p:sp>
      <p:sp>
        <p:nvSpPr>
          <p:cNvPr id="29" name="Rectangle 28"/>
          <p:cNvSpPr/>
          <p:nvPr/>
        </p:nvSpPr>
        <p:spPr>
          <a:xfrm>
            <a:off x="4828032" y="26517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28032" y="2651760"/>
            <a:ext cx="224028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01184" y="2743200"/>
            <a:ext cx="2130552" cy="256032"/>
          </a:xfrm>
          <a:prstGeom prst="rect">
            <a:avLst/>
          </a:prstGeom>
          <a:noFill/>
        </p:spPr>
        <p:txBody>
          <a:bodyPr wrap="square"/>
          <a:lstStyle/>
          <a:p>
            <a:pPr algn="l"/>
            <a:r>
              <a:rPr sz="950" b="1" i="0">
                <a:solidFill>
                  <a:srgbClr val="0A1628"/>
                </a:solidFill>
                <a:latin typeface="Calibri"/>
              </a:rPr>
              <a:t>Observability &amp; Monitoring</a:t>
            </a:r>
          </a:p>
        </p:txBody>
      </p:sp>
      <p:sp>
        <p:nvSpPr>
          <p:cNvPr id="32" name="TextBox 31"/>
          <p:cNvSpPr txBox="1"/>
          <p:nvPr/>
        </p:nvSpPr>
        <p:spPr>
          <a:xfrm>
            <a:off x="4901184" y="3035808"/>
            <a:ext cx="2130552" cy="1280160"/>
          </a:xfrm>
          <a:prstGeom prst="rect">
            <a:avLst/>
          </a:prstGeom>
          <a:noFill/>
        </p:spPr>
        <p:txBody>
          <a:bodyPr wrap="square"/>
          <a:lstStyle/>
          <a:p>
            <a:pPr algn="l"/>
            <a:r>
              <a:rPr sz="850" b="0" i="0">
                <a:solidFill>
                  <a:srgbClr val="475569"/>
                </a:solidFill>
                <a:latin typeface="Calibri"/>
              </a:rPr>
              <a:t>End-to-end pipeline monitoring. Model drift detection and alerting. Data quality scoring. Recommendation acceptance rate tracking. Business KPI dashboards.</a:t>
            </a:r>
          </a:p>
        </p:txBody>
      </p:sp>
      <p:sp>
        <p:nvSpPr>
          <p:cNvPr id="33" name="Rectangle 32"/>
          <p:cNvSpPr/>
          <p:nvPr/>
        </p:nvSpPr>
        <p:spPr>
          <a:xfrm>
            <a:off x="164592" y="44805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4592" y="4480560"/>
            <a:ext cx="224028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7744" y="4572000"/>
            <a:ext cx="2130552" cy="256032"/>
          </a:xfrm>
          <a:prstGeom prst="rect">
            <a:avLst/>
          </a:prstGeom>
          <a:noFill/>
        </p:spPr>
        <p:txBody>
          <a:bodyPr wrap="square"/>
          <a:lstStyle/>
          <a:p>
            <a:pPr algn="l"/>
            <a:r>
              <a:rPr sz="950" b="1" i="0">
                <a:solidFill>
                  <a:srgbClr val="0A1628"/>
                </a:solidFill>
                <a:latin typeface="Calibri"/>
              </a:rPr>
              <a:t>Governance &amp; Audit</a:t>
            </a:r>
          </a:p>
        </p:txBody>
      </p:sp>
      <p:sp>
        <p:nvSpPr>
          <p:cNvPr id="36" name="TextBox 35"/>
          <p:cNvSpPr txBox="1"/>
          <p:nvPr/>
        </p:nvSpPr>
        <p:spPr>
          <a:xfrm>
            <a:off x="237744" y="4864608"/>
            <a:ext cx="2130552" cy="1280160"/>
          </a:xfrm>
          <a:prstGeom prst="rect">
            <a:avLst/>
          </a:prstGeom>
          <a:noFill/>
        </p:spPr>
        <p:txBody>
          <a:bodyPr wrap="square"/>
          <a:lstStyle/>
          <a:p>
            <a:pPr algn="l"/>
            <a:r>
              <a:rPr sz="850" b="0" i="0">
                <a:solidFill>
                  <a:srgbClr val="475569"/>
                </a:solidFill>
                <a:latin typeface="Calibri"/>
              </a:rPr>
              <a:t>FCA-aligned model governance framework. Full decision lineage and audit trail. Role-based access controls. Approved model change process.</a:t>
            </a:r>
          </a:p>
        </p:txBody>
      </p:sp>
      <p:sp>
        <p:nvSpPr>
          <p:cNvPr id="37" name="Rectangle 36"/>
          <p:cNvSpPr/>
          <p:nvPr/>
        </p:nvSpPr>
        <p:spPr>
          <a:xfrm>
            <a:off x="2496312" y="44805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496312" y="4480560"/>
            <a:ext cx="224028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69464" y="4572000"/>
            <a:ext cx="2130552" cy="256032"/>
          </a:xfrm>
          <a:prstGeom prst="rect">
            <a:avLst/>
          </a:prstGeom>
          <a:noFill/>
        </p:spPr>
        <p:txBody>
          <a:bodyPr wrap="square"/>
          <a:lstStyle/>
          <a:p>
            <a:pPr algn="l"/>
            <a:r>
              <a:rPr sz="950" b="1" i="0">
                <a:solidFill>
                  <a:srgbClr val="0A1628"/>
                </a:solidFill>
                <a:latin typeface="Calibri"/>
              </a:rPr>
              <a:t>Pega Workflow Engine</a:t>
            </a:r>
          </a:p>
        </p:txBody>
      </p:sp>
      <p:sp>
        <p:nvSpPr>
          <p:cNvPr id="40" name="TextBox 39"/>
          <p:cNvSpPr txBox="1"/>
          <p:nvPr/>
        </p:nvSpPr>
        <p:spPr>
          <a:xfrm>
            <a:off x="2569464" y="4864608"/>
            <a:ext cx="2130552" cy="1280160"/>
          </a:xfrm>
          <a:prstGeom prst="rect">
            <a:avLst/>
          </a:prstGeom>
          <a:noFill/>
        </p:spPr>
        <p:txBody>
          <a:bodyPr wrap="square"/>
          <a:lstStyle/>
          <a:p>
            <a:pPr algn="l"/>
            <a:r>
              <a:rPr sz="850" b="0" i="0">
                <a:solidFill>
                  <a:srgbClr val="475569"/>
                </a:solidFill>
                <a:latin typeface="Calibri"/>
              </a:rPr>
              <a:t>Configurable approval workflows. SLA management and escalation rules. Decision record management. Integration with pricing and product teams.</a:t>
            </a:r>
          </a:p>
        </p:txBody>
      </p:sp>
      <p:sp>
        <p:nvSpPr>
          <p:cNvPr id="41" name="Rectangle 40"/>
          <p:cNvSpPr/>
          <p:nvPr/>
        </p:nvSpPr>
        <p:spPr>
          <a:xfrm>
            <a:off x="4828032" y="4480560"/>
            <a:ext cx="2240280" cy="17373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828032" y="4480560"/>
            <a:ext cx="224028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01184" y="4572000"/>
            <a:ext cx="2130552" cy="256032"/>
          </a:xfrm>
          <a:prstGeom prst="rect">
            <a:avLst/>
          </a:prstGeom>
          <a:noFill/>
        </p:spPr>
        <p:txBody>
          <a:bodyPr wrap="square"/>
          <a:lstStyle/>
          <a:p>
            <a:pPr algn="l"/>
            <a:r>
              <a:rPr sz="950" b="1" i="0">
                <a:solidFill>
                  <a:srgbClr val="0A1628"/>
                </a:solidFill>
                <a:latin typeface="Calibri"/>
              </a:rPr>
              <a:t>Security &amp; Compliance</a:t>
            </a:r>
          </a:p>
        </p:txBody>
      </p:sp>
      <p:sp>
        <p:nvSpPr>
          <p:cNvPr id="44" name="TextBox 43"/>
          <p:cNvSpPr txBox="1"/>
          <p:nvPr/>
        </p:nvSpPr>
        <p:spPr>
          <a:xfrm>
            <a:off x="4901184" y="4864608"/>
            <a:ext cx="2130552" cy="1280160"/>
          </a:xfrm>
          <a:prstGeom prst="rect">
            <a:avLst/>
          </a:prstGeom>
          <a:noFill/>
        </p:spPr>
        <p:txBody>
          <a:bodyPr wrap="square"/>
          <a:lstStyle/>
          <a:p>
            <a:pPr algn="l"/>
            <a:r>
              <a:rPr sz="850" b="0" i="0">
                <a:solidFill>
                  <a:srgbClr val="475569"/>
                </a:solidFill>
                <a:latin typeface="Calibri"/>
              </a:rPr>
              <a:t>PII detection and masking. Data residency controls (UK). Penetration-tested API layer. GDPR-aligned data retention policies.</a:t>
            </a:r>
          </a:p>
        </p:txBody>
      </p:sp>
      <p:sp>
        <p:nvSpPr>
          <p:cNvPr id="45" name="TextBox 44"/>
          <p:cNvSpPr txBox="1"/>
          <p:nvPr/>
        </p:nvSpPr>
        <p:spPr>
          <a:xfrm>
            <a:off x="7086600" y="822960"/>
            <a:ext cx="4846320" cy="256032"/>
          </a:xfrm>
          <a:prstGeom prst="rect">
            <a:avLst/>
          </a:prstGeom>
          <a:noFill/>
        </p:spPr>
        <p:txBody>
          <a:bodyPr wrap="square"/>
          <a:lstStyle/>
          <a:p>
            <a:pPr algn="l"/>
            <a:r>
              <a:rPr sz="1300" b="1" i="0">
                <a:solidFill>
                  <a:srgbClr val="0A1628"/>
                </a:solidFill>
                <a:latin typeface="Calibri"/>
              </a:rPr>
              <a:t>Build vs Reuse Principle</a:t>
            </a:r>
          </a:p>
        </p:txBody>
      </p:sp>
      <p:sp>
        <p:nvSpPr>
          <p:cNvPr id="46" name="Rectangle 45"/>
          <p:cNvSpPr/>
          <p:nvPr/>
        </p:nvSpPr>
        <p:spPr>
          <a:xfrm>
            <a:off x="7086600" y="1161288"/>
            <a:ext cx="4846320" cy="11887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086600" y="1161288"/>
            <a:ext cx="45720" cy="1188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96328" y="1252728"/>
            <a:ext cx="1097280" cy="256032"/>
          </a:xfrm>
          <a:prstGeom prst="rect">
            <a:avLst/>
          </a:prstGeom>
          <a:noFill/>
        </p:spPr>
        <p:txBody>
          <a:bodyPr wrap="square"/>
          <a:lstStyle/>
          <a:p>
            <a:pPr algn="l"/>
            <a:r>
              <a:rPr sz="900" b="1" i="0">
                <a:solidFill>
                  <a:srgbClr val="059669"/>
                </a:solidFill>
                <a:latin typeface="Calibri"/>
              </a:rPr>
              <a:t>REUSE</a:t>
            </a:r>
          </a:p>
        </p:txBody>
      </p:sp>
      <p:sp>
        <p:nvSpPr>
          <p:cNvPr id="49" name="TextBox 48"/>
          <p:cNvSpPr txBox="1"/>
          <p:nvPr/>
        </p:nvSpPr>
        <p:spPr>
          <a:xfrm>
            <a:off x="7196328" y="1508760"/>
            <a:ext cx="4663440" cy="777240"/>
          </a:xfrm>
          <a:prstGeom prst="rect">
            <a:avLst/>
          </a:prstGeom>
          <a:noFill/>
        </p:spPr>
        <p:txBody>
          <a:bodyPr wrap="square"/>
          <a:lstStyle/>
          <a:p>
            <a:pPr algn="l"/>
            <a:r>
              <a:rPr sz="900" b="0" i="0">
                <a:solidFill>
                  <a:srgbClr val="475569"/>
                </a:solidFill>
                <a:latin typeface="Calibri"/>
              </a:rPr>
              <a:t>Apigee, AGGS, Duck Creek, Pega and the existing data platform are reused. No parallel infrastructure created.</a:t>
            </a:r>
          </a:p>
        </p:txBody>
      </p:sp>
      <p:sp>
        <p:nvSpPr>
          <p:cNvPr id="50" name="Rectangle 49"/>
          <p:cNvSpPr/>
          <p:nvPr/>
        </p:nvSpPr>
        <p:spPr>
          <a:xfrm>
            <a:off x="7086600" y="2487168"/>
            <a:ext cx="4846320" cy="11887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086600" y="2487168"/>
            <a:ext cx="45720" cy="1188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96328" y="2578608"/>
            <a:ext cx="1097280" cy="256032"/>
          </a:xfrm>
          <a:prstGeom prst="rect">
            <a:avLst/>
          </a:prstGeom>
          <a:noFill/>
        </p:spPr>
        <p:txBody>
          <a:bodyPr wrap="square"/>
          <a:lstStyle/>
          <a:p>
            <a:pPr algn="l"/>
            <a:r>
              <a:rPr sz="900" b="1" i="0">
                <a:solidFill>
                  <a:srgbClr val="2563AB"/>
                </a:solidFill>
                <a:latin typeface="Calibri"/>
              </a:rPr>
              <a:t>EXTEND</a:t>
            </a:r>
          </a:p>
        </p:txBody>
      </p:sp>
      <p:sp>
        <p:nvSpPr>
          <p:cNvPr id="53" name="TextBox 52"/>
          <p:cNvSpPr txBox="1"/>
          <p:nvPr/>
        </p:nvSpPr>
        <p:spPr>
          <a:xfrm>
            <a:off x="7196328" y="2834640"/>
            <a:ext cx="4663440" cy="777240"/>
          </a:xfrm>
          <a:prstGeom prst="rect">
            <a:avLst/>
          </a:prstGeom>
          <a:noFill/>
        </p:spPr>
        <p:txBody>
          <a:bodyPr wrap="square"/>
          <a:lstStyle/>
          <a:p>
            <a:pPr algn="l"/>
            <a:r>
              <a:rPr sz="900" b="0" i="0">
                <a:solidFill>
                  <a:srgbClr val="475569"/>
                </a:solidFill>
                <a:latin typeface="Calibri"/>
              </a:rPr>
              <a:t>ML model platform and MLOps tooling extended with new PCW-specific features, models and pipelines.</a:t>
            </a:r>
          </a:p>
        </p:txBody>
      </p:sp>
      <p:sp>
        <p:nvSpPr>
          <p:cNvPr id="54" name="Rectangle 53"/>
          <p:cNvSpPr/>
          <p:nvPr/>
        </p:nvSpPr>
        <p:spPr>
          <a:xfrm>
            <a:off x="7086600" y="3813048"/>
            <a:ext cx="4846320" cy="11887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086600" y="3813048"/>
            <a:ext cx="45720" cy="1188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96328" y="3904488"/>
            <a:ext cx="1097280" cy="256032"/>
          </a:xfrm>
          <a:prstGeom prst="rect">
            <a:avLst/>
          </a:prstGeom>
          <a:noFill/>
        </p:spPr>
        <p:txBody>
          <a:bodyPr wrap="square"/>
          <a:lstStyle/>
          <a:p>
            <a:pPr algn="l"/>
            <a:r>
              <a:rPr sz="900" b="1" i="0">
                <a:solidFill>
                  <a:srgbClr val="0D9488"/>
                </a:solidFill>
                <a:latin typeface="Calibri"/>
              </a:rPr>
              <a:t>CONFIGURE</a:t>
            </a:r>
          </a:p>
        </p:txBody>
      </p:sp>
      <p:sp>
        <p:nvSpPr>
          <p:cNvPr id="57" name="TextBox 56"/>
          <p:cNvSpPr txBox="1"/>
          <p:nvPr/>
        </p:nvSpPr>
        <p:spPr>
          <a:xfrm>
            <a:off x="7196328" y="4160520"/>
            <a:ext cx="4663440" cy="777240"/>
          </a:xfrm>
          <a:prstGeom prst="rect">
            <a:avLst/>
          </a:prstGeom>
          <a:noFill/>
        </p:spPr>
        <p:txBody>
          <a:bodyPr wrap="square"/>
          <a:lstStyle/>
          <a:p>
            <a:pPr algn="l"/>
            <a:r>
              <a:rPr sz="900" b="0" i="0">
                <a:solidFill>
                  <a:srgbClr val="475569"/>
                </a:solidFill>
                <a:latin typeface="Calibri"/>
              </a:rPr>
              <a:t>LLM Gateway configured with PCW domain prompts, guardrails and output schemas.</a:t>
            </a:r>
          </a:p>
        </p:txBody>
      </p:sp>
      <p:sp>
        <p:nvSpPr>
          <p:cNvPr id="58" name="Rectangle 57"/>
          <p:cNvSpPr/>
          <p:nvPr/>
        </p:nvSpPr>
        <p:spPr>
          <a:xfrm>
            <a:off x="7086600" y="5138927"/>
            <a:ext cx="4846320" cy="11887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86600" y="5138927"/>
            <a:ext cx="45720" cy="1188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96328" y="5230367"/>
            <a:ext cx="1097280" cy="256032"/>
          </a:xfrm>
          <a:prstGeom prst="rect">
            <a:avLst/>
          </a:prstGeom>
          <a:noFill/>
        </p:spPr>
        <p:txBody>
          <a:bodyPr wrap="square"/>
          <a:lstStyle/>
          <a:p>
            <a:pPr algn="l"/>
            <a:r>
              <a:rPr sz="900" b="1" i="0">
                <a:solidFill>
                  <a:srgbClr val="0F7AC5"/>
                </a:solidFill>
                <a:latin typeface="Calibri"/>
              </a:rPr>
              <a:t>BUILD</a:t>
            </a:r>
          </a:p>
        </p:txBody>
      </p:sp>
      <p:sp>
        <p:nvSpPr>
          <p:cNvPr id="61" name="TextBox 60"/>
          <p:cNvSpPr txBox="1"/>
          <p:nvPr/>
        </p:nvSpPr>
        <p:spPr>
          <a:xfrm>
            <a:off x="7196328" y="5486399"/>
            <a:ext cx="4663440" cy="777240"/>
          </a:xfrm>
          <a:prstGeom prst="rect">
            <a:avLst/>
          </a:prstGeom>
          <a:noFill/>
        </p:spPr>
        <p:txBody>
          <a:bodyPr wrap="square"/>
          <a:lstStyle/>
          <a:p>
            <a:pPr algn="l"/>
            <a:r>
              <a:rPr sz="900" b="0" i="0">
                <a:solidFill>
                  <a:srgbClr val="475569"/>
                </a:solidFill>
                <a:latin typeface="Calibri"/>
              </a:rPr>
              <a:t>Agentic orchestration layer and PCW-specific agent logic are net-new capabilities built on the existing platform.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CAPABILITY ARCHITECTURE</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Platform Architecture — Five-Layer Capability Model</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9 / 18</a:t>
            </a:r>
          </a:p>
        </p:txBody>
      </p:sp>
      <p:sp>
        <p:nvSpPr>
          <p:cNvPr id="9" name="Rectangle 8"/>
          <p:cNvSpPr/>
          <p:nvPr/>
        </p:nvSpPr>
        <p:spPr>
          <a:xfrm>
            <a:off x="164592" y="804672"/>
            <a:ext cx="2240280" cy="5349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04672"/>
            <a:ext cx="2240280" cy="411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896112"/>
            <a:ext cx="2130552" cy="256032"/>
          </a:xfrm>
          <a:prstGeom prst="rect">
            <a:avLst/>
          </a:prstGeom>
          <a:noFill/>
        </p:spPr>
        <p:txBody>
          <a:bodyPr wrap="square"/>
          <a:lstStyle/>
          <a:p>
            <a:pPr algn="ctr"/>
            <a:r>
              <a:rPr sz="1100" b="1" i="0">
                <a:solidFill>
                  <a:srgbClr val="FFFFFF"/>
                </a:solidFill>
                <a:latin typeface="Calibri"/>
              </a:rPr>
              <a:t>Market Intelligence</a:t>
            </a:r>
          </a:p>
        </p:txBody>
      </p:sp>
      <p:sp>
        <p:nvSpPr>
          <p:cNvPr id="12" name="Rectangle 11"/>
          <p:cNvSpPr/>
          <p:nvPr/>
        </p:nvSpPr>
        <p:spPr>
          <a:xfrm>
            <a:off x="256032" y="1353312"/>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353312"/>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1444752"/>
            <a:ext cx="1920240" cy="502920"/>
          </a:xfrm>
          <a:prstGeom prst="rect">
            <a:avLst/>
          </a:prstGeom>
          <a:noFill/>
        </p:spPr>
        <p:txBody>
          <a:bodyPr wrap="square"/>
          <a:lstStyle/>
          <a:p>
            <a:pPr algn="l"/>
            <a:r>
              <a:rPr sz="850" b="0" i="0">
                <a:solidFill>
                  <a:srgbClr val="475569"/>
                </a:solidFill>
                <a:latin typeface="Calibri"/>
              </a:rPr>
              <a:t>PCW ranking capture (all channels)</a:t>
            </a:r>
          </a:p>
        </p:txBody>
      </p:sp>
      <p:sp>
        <p:nvSpPr>
          <p:cNvPr id="15" name="Rectangle 14"/>
          <p:cNvSpPr/>
          <p:nvPr/>
        </p:nvSpPr>
        <p:spPr>
          <a:xfrm>
            <a:off x="256032" y="2112264"/>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6032" y="2112264"/>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203704"/>
            <a:ext cx="1920240" cy="502920"/>
          </a:xfrm>
          <a:prstGeom prst="rect">
            <a:avLst/>
          </a:prstGeom>
          <a:noFill/>
        </p:spPr>
        <p:txBody>
          <a:bodyPr wrap="square"/>
          <a:lstStyle/>
          <a:p>
            <a:pPr algn="l"/>
            <a:r>
              <a:rPr sz="850" b="0" i="0">
                <a:solidFill>
                  <a:srgbClr val="475569"/>
                </a:solidFill>
                <a:latin typeface="Calibri"/>
              </a:rPr>
              <a:t>Competitor price monitoring</a:t>
            </a:r>
          </a:p>
        </p:txBody>
      </p:sp>
      <p:sp>
        <p:nvSpPr>
          <p:cNvPr id="18" name="Rectangle 17"/>
          <p:cNvSpPr/>
          <p:nvPr/>
        </p:nvSpPr>
        <p:spPr>
          <a:xfrm>
            <a:off x="256032" y="2871215"/>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2871215"/>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2962655"/>
            <a:ext cx="1920240" cy="502920"/>
          </a:xfrm>
          <a:prstGeom prst="rect">
            <a:avLst/>
          </a:prstGeom>
          <a:noFill/>
        </p:spPr>
        <p:txBody>
          <a:bodyPr wrap="square"/>
          <a:lstStyle/>
          <a:p>
            <a:pPr algn="l"/>
            <a:r>
              <a:rPr sz="850" b="0" i="0">
                <a:solidFill>
                  <a:srgbClr val="475569"/>
                </a:solidFill>
                <a:latin typeface="Calibri"/>
              </a:rPr>
              <a:t>Product &amp; excess tracking</a:t>
            </a:r>
          </a:p>
        </p:txBody>
      </p:sp>
      <p:sp>
        <p:nvSpPr>
          <p:cNvPr id="21" name="Rectangle 20"/>
          <p:cNvSpPr/>
          <p:nvPr/>
        </p:nvSpPr>
        <p:spPr>
          <a:xfrm>
            <a:off x="256032" y="3630168"/>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6032" y="3630168"/>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3721608"/>
            <a:ext cx="1920240" cy="502920"/>
          </a:xfrm>
          <a:prstGeom prst="rect">
            <a:avLst/>
          </a:prstGeom>
          <a:noFill/>
        </p:spPr>
        <p:txBody>
          <a:bodyPr wrap="square"/>
          <a:lstStyle/>
          <a:p>
            <a:pPr algn="l"/>
            <a:r>
              <a:rPr sz="850" b="0" i="0">
                <a:solidFill>
                  <a:srgbClr val="475569"/>
                </a:solidFill>
                <a:latin typeface="Calibri"/>
              </a:rPr>
              <a:t>Offer &amp; promotion detection</a:t>
            </a:r>
          </a:p>
        </p:txBody>
      </p:sp>
      <p:sp>
        <p:nvSpPr>
          <p:cNvPr id="24" name="Rectangle 23"/>
          <p:cNvSpPr/>
          <p:nvPr/>
        </p:nvSpPr>
        <p:spPr>
          <a:xfrm>
            <a:off x="256032" y="4389120"/>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6032" y="4389120"/>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 y="4480560"/>
            <a:ext cx="1920240" cy="502920"/>
          </a:xfrm>
          <a:prstGeom prst="rect">
            <a:avLst/>
          </a:prstGeom>
          <a:noFill/>
        </p:spPr>
        <p:txBody>
          <a:bodyPr wrap="square"/>
          <a:lstStyle/>
          <a:p>
            <a:pPr algn="l"/>
            <a:r>
              <a:rPr sz="850" b="0" i="0">
                <a:solidFill>
                  <a:srgbClr val="475569"/>
                </a:solidFill>
                <a:latin typeface="Calibri"/>
              </a:rPr>
              <a:t>Frequency: near real-time</a:t>
            </a:r>
          </a:p>
        </p:txBody>
      </p:sp>
      <p:sp>
        <p:nvSpPr>
          <p:cNvPr id="27" name="Rectangle 26"/>
          <p:cNvSpPr/>
          <p:nvPr/>
        </p:nvSpPr>
        <p:spPr>
          <a:xfrm>
            <a:off x="256032" y="5148071"/>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5148071"/>
            <a:ext cx="36576" cy="6583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5239511"/>
            <a:ext cx="1920240" cy="502920"/>
          </a:xfrm>
          <a:prstGeom prst="rect">
            <a:avLst/>
          </a:prstGeom>
          <a:noFill/>
        </p:spPr>
        <p:txBody>
          <a:bodyPr wrap="square"/>
          <a:lstStyle/>
          <a:p>
            <a:pPr algn="l"/>
            <a:r>
              <a:rPr sz="850" b="0" i="0">
                <a:solidFill>
                  <a:srgbClr val="475569"/>
                </a:solidFill>
                <a:latin typeface="Calibri"/>
              </a:rPr>
              <a:t>Coverage: all active PCWs</a:t>
            </a:r>
          </a:p>
        </p:txBody>
      </p:sp>
      <p:sp>
        <p:nvSpPr>
          <p:cNvPr id="30" name="Rectangle 29"/>
          <p:cNvSpPr/>
          <p:nvPr/>
        </p:nvSpPr>
        <p:spPr>
          <a:xfrm>
            <a:off x="2514600" y="804672"/>
            <a:ext cx="2240280" cy="5349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4600" y="804672"/>
            <a:ext cx="2240280" cy="4114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87752" y="896112"/>
            <a:ext cx="2130552" cy="256032"/>
          </a:xfrm>
          <a:prstGeom prst="rect">
            <a:avLst/>
          </a:prstGeom>
          <a:noFill/>
        </p:spPr>
        <p:txBody>
          <a:bodyPr wrap="square"/>
          <a:lstStyle/>
          <a:p>
            <a:pPr algn="ctr"/>
            <a:r>
              <a:rPr sz="1100" b="1" i="0">
                <a:solidFill>
                  <a:srgbClr val="FFFFFF"/>
                </a:solidFill>
                <a:latin typeface="Calibri"/>
              </a:rPr>
              <a:t>Insight Layer</a:t>
            </a:r>
          </a:p>
        </p:txBody>
      </p:sp>
      <p:sp>
        <p:nvSpPr>
          <p:cNvPr id="33" name="Rectangle 32"/>
          <p:cNvSpPr/>
          <p:nvPr/>
        </p:nvSpPr>
        <p:spPr>
          <a:xfrm>
            <a:off x="2606040" y="1353312"/>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606040" y="1353312"/>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97480" y="1444752"/>
            <a:ext cx="1920240" cy="502920"/>
          </a:xfrm>
          <a:prstGeom prst="rect">
            <a:avLst/>
          </a:prstGeom>
          <a:noFill/>
        </p:spPr>
        <p:txBody>
          <a:bodyPr wrap="square"/>
          <a:lstStyle/>
          <a:p>
            <a:pPr algn="l"/>
            <a:r>
              <a:rPr sz="850" b="0" i="0">
                <a:solidFill>
                  <a:srgbClr val="475569"/>
                </a:solidFill>
                <a:latin typeface="Calibri"/>
              </a:rPr>
              <a:t>ML trend detection models</a:t>
            </a:r>
          </a:p>
        </p:txBody>
      </p:sp>
      <p:sp>
        <p:nvSpPr>
          <p:cNvPr id="36" name="Rectangle 35"/>
          <p:cNvSpPr/>
          <p:nvPr/>
        </p:nvSpPr>
        <p:spPr>
          <a:xfrm>
            <a:off x="2606040" y="2112264"/>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06040" y="2112264"/>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2203704"/>
            <a:ext cx="1920240" cy="502920"/>
          </a:xfrm>
          <a:prstGeom prst="rect">
            <a:avLst/>
          </a:prstGeom>
          <a:noFill/>
        </p:spPr>
        <p:txBody>
          <a:bodyPr wrap="square"/>
          <a:lstStyle/>
          <a:p>
            <a:pPr algn="l"/>
            <a:r>
              <a:rPr sz="850" b="0" i="0">
                <a:solidFill>
                  <a:srgbClr val="475569"/>
                </a:solidFill>
                <a:latin typeface="Calibri"/>
              </a:rPr>
              <a:t>Ranking movement classification</a:t>
            </a:r>
          </a:p>
        </p:txBody>
      </p:sp>
      <p:sp>
        <p:nvSpPr>
          <p:cNvPr id="39" name="Rectangle 38"/>
          <p:cNvSpPr/>
          <p:nvPr/>
        </p:nvSpPr>
        <p:spPr>
          <a:xfrm>
            <a:off x="2606040" y="2871215"/>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606040" y="2871215"/>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97480" y="2962655"/>
            <a:ext cx="1920240" cy="502920"/>
          </a:xfrm>
          <a:prstGeom prst="rect">
            <a:avLst/>
          </a:prstGeom>
          <a:noFill/>
        </p:spPr>
        <p:txBody>
          <a:bodyPr wrap="square"/>
          <a:lstStyle/>
          <a:p>
            <a:pPr algn="l"/>
            <a:r>
              <a:rPr sz="850" b="0" i="0">
                <a:solidFill>
                  <a:srgbClr val="475569"/>
                </a:solidFill>
                <a:latin typeface="Calibri"/>
              </a:rPr>
              <a:t>Competitor strategy inference</a:t>
            </a:r>
          </a:p>
        </p:txBody>
      </p:sp>
      <p:sp>
        <p:nvSpPr>
          <p:cNvPr id="42" name="Rectangle 41"/>
          <p:cNvSpPr/>
          <p:nvPr/>
        </p:nvSpPr>
        <p:spPr>
          <a:xfrm>
            <a:off x="2606040" y="3630168"/>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06040" y="3630168"/>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7480" y="3721608"/>
            <a:ext cx="1920240" cy="502920"/>
          </a:xfrm>
          <a:prstGeom prst="rect">
            <a:avLst/>
          </a:prstGeom>
          <a:noFill/>
        </p:spPr>
        <p:txBody>
          <a:bodyPr wrap="square"/>
          <a:lstStyle/>
          <a:p>
            <a:pPr algn="l"/>
            <a:r>
              <a:rPr sz="850" b="0" i="0">
                <a:solidFill>
                  <a:srgbClr val="475569"/>
                </a:solidFill>
                <a:latin typeface="Calibri"/>
              </a:rPr>
              <a:t>Gap &amp; opportunity scoring</a:t>
            </a:r>
          </a:p>
        </p:txBody>
      </p:sp>
      <p:sp>
        <p:nvSpPr>
          <p:cNvPr id="45" name="Rectangle 44"/>
          <p:cNvSpPr/>
          <p:nvPr/>
        </p:nvSpPr>
        <p:spPr>
          <a:xfrm>
            <a:off x="2606040" y="4389120"/>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606040" y="4389120"/>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97480" y="4480560"/>
            <a:ext cx="1920240" cy="502920"/>
          </a:xfrm>
          <a:prstGeom prst="rect">
            <a:avLst/>
          </a:prstGeom>
          <a:noFill/>
        </p:spPr>
        <p:txBody>
          <a:bodyPr wrap="square"/>
          <a:lstStyle/>
          <a:p>
            <a:pPr algn="l"/>
            <a:r>
              <a:rPr sz="850" b="0" i="0">
                <a:solidFill>
                  <a:srgbClr val="475569"/>
                </a:solidFill>
                <a:latin typeface="Calibri"/>
              </a:rPr>
              <a:t>Anomaly flagging (price/product)</a:t>
            </a:r>
          </a:p>
        </p:txBody>
      </p:sp>
      <p:sp>
        <p:nvSpPr>
          <p:cNvPr id="48" name="Rectangle 47"/>
          <p:cNvSpPr/>
          <p:nvPr/>
        </p:nvSpPr>
        <p:spPr>
          <a:xfrm>
            <a:off x="2606040" y="5148071"/>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06040" y="5148071"/>
            <a:ext cx="36576"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5239511"/>
            <a:ext cx="1920240" cy="502920"/>
          </a:xfrm>
          <a:prstGeom prst="rect">
            <a:avLst/>
          </a:prstGeom>
          <a:noFill/>
        </p:spPr>
        <p:txBody>
          <a:bodyPr wrap="square"/>
          <a:lstStyle/>
          <a:p>
            <a:pPr algn="l"/>
            <a:r>
              <a:rPr sz="850" b="0" i="0">
                <a:solidFill>
                  <a:srgbClr val="475569"/>
                </a:solidFill>
                <a:latin typeface="Calibri"/>
              </a:rPr>
              <a:t>Insight confidence scoring</a:t>
            </a:r>
          </a:p>
        </p:txBody>
      </p:sp>
      <p:sp>
        <p:nvSpPr>
          <p:cNvPr id="51" name="Rectangle 50"/>
          <p:cNvSpPr/>
          <p:nvPr/>
        </p:nvSpPr>
        <p:spPr>
          <a:xfrm>
            <a:off x="4864608" y="804672"/>
            <a:ext cx="2240280" cy="5349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864608" y="804672"/>
            <a:ext cx="224028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37760" y="896112"/>
            <a:ext cx="2130552" cy="256032"/>
          </a:xfrm>
          <a:prstGeom prst="rect">
            <a:avLst/>
          </a:prstGeom>
          <a:noFill/>
        </p:spPr>
        <p:txBody>
          <a:bodyPr wrap="square"/>
          <a:lstStyle/>
          <a:p>
            <a:pPr algn="ctr"/>
            <a:r>
              <a:rPr sz="1100" b="1" i="0">
                <a:solidFill>
                  <a:srgbClr val="FFFFFF"/>
                </a:solidFill>
                <a:latin typeface="Calibri"/>
              </a:rPr>
              <a:t>Recommendation</a:t>
            </a:r>
          </a:p>
        </p:txBody>
      </p:sp>
      <p:sp>
        <p:nvSpPr>
          <p:cNvPr id="54" name="Rectangle 53"/>
          <p:cNvSpPr/>
          <p:nvPr/>
        </p:nvSpPr>
        <p:spPr>
          <a:xfrm>
            <a:off x="4956048" y="1353312"/>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956048" y="1353312"/>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47488" y="1444752"/>
            <a:ext cx="1920240" cy="502920"/>
          </a:xfrm>
          <a:prstGeom prst="rect">
            <a:avLst/>
          </a:prstGeom>
          <a:noFill/>
        </p:spPr>
        <p:txBody>
          <a:bodyPr wrap="square"/>
          <a:lstStyle/>
          <a:p>
            <a:pPr algn="l"/>
            <a:r>
              <a:rPr sz="850" b="0" i="0">
                <a:solidFill>
                  <a:srgbClr val="475569"/>
                </a:solidFill>
                <a:latin typeface="Calibri"/>
              </a:rPr>
              <a:t>Pricing action recommendations</a:t>
            </a:r>
          </a:p>
        </p:txBody>
      </p:sp>
      <p:sp>
        <p:nvSpPr>
          <p:cNvPr id="57" name="Rectangle 56"/>
          <p:cNvSpPr/>
          <p:nvPr/>
        </p:nvSpPr>
        <p:spPr>
          <a:xfrm>
            <a:off x="4956048" y="2112264"/>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956048" y="2112264"/>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47488" y="2203704"/>
            <a:ext cx="1920240" cy="502920"/>
          </a:xfrm>
          <a:prstGeom prst="rect">
            <a:avLst/>
          </a:prstGeom>
          <a:noFill/>
        </p:spPr>
        <p:txBody>
          <a:bodyPr wrap="square"/>
          <a:lstStyle/>
          <a:p>
            <a:pPr algn="l"/>
            <a:r>
              <a:rPr sz="850" b="0" i="0">
                <a:solidFill>
                  <a:srgbClr val="475569"/>
                </a:solidFill>
                <a:latin typeface="Calibri"/>
              </a:rPr>
              <a:t>Excess adjustment proposals</a:t>
            </a:r>
          </a:p>
        </p:txBody>
      </p:sp>
      <p:sp>
        <p:nvSpPr>
          <p:cNvPr id="60" name="Rectangle 59"/>
          <p:cNvSpPr/>
          <p:nvPr/>
        </p:nvSpPr>
        <p:spPr>
          <a:xfrm>
            <a:off x="4956048" y="2871215"/>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956048" y="2871215"/>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47488" y="2962655"/>
            <a:ext cx="1920240" cy="502920"/>
          </a:xfrm>
          <a:prstGeom prst="rect">
            <a:avLst/>
          </a:prstGeom>
          <a:noFill/>
        </p:spPr>
        <p:txBody>
          <a:bodyPr wrap="square"/>
          <a:lstStyle/>
          <a:p>
            <a:pPr algn="l"/>
            <a:r>
              <a:rPr sz="850" b="0" i="0">
                <a:solidFill>
                  <a:srgbClr val="475569"/>
                </a:solidFill>
                <a:latin typeface="Calibri"/>
              </a:rPr>
              <a:t>Offer optimisation suggestions</a:t>
            </a:r>
          </a:p>
        </p:txBody>
      </p:sp>
      <p:sp>
        <p:nvSpPr>
          <p:cNvPr id="63" name="Rectangle 62"/>
          <p:cNvSpPr/>
          <p:nvPr/>
        </p:nvSpPr>
        <p:spPr>
          <a:xfrm>
            <a:off x="4956048" y="3630168"/>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956048" y="3630168"/>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47488" y="3721608"/>
            <a:ext cx="1920240" cy="502920"/>
          </a:xfrm>
          <a:prstGeom prst="rect">
            <a:avLst/>
          </a:prstGeom>
          <a:noFill/>
        </p:spPr>
        <p:txBody>
          <a:bodyPr wrap="square"/>
          <a:lstStyle/>
          <a:p>
            <a:pPr algn="l"/>
            <a:r>
              <a:rPr sz="850" b="0" i="0">
                <a:solidFill>
                  <a:srgbClr val="475569"/>
                </a:solidFill>
                <a:latin typeface="Calibri"/>
              </a:rPr>
              <a:t>Product feature gap alerts</a:t>
            </a:r>
          </a:p>
        </p:txBody>
      </p:sp>
      <p:sp>
        <p:nvSpPr>
          <p:cNvPr id="66" name="Rectangle 65"/>
          <p:cNvSpPr/>
          <p:nvPr/>
        </p:nvSpPr>
        <p:spPr>
          <a:xfrm>
            <a:off x="4956048" y="4389120"/>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4956048" y="4389120"/>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47488" y="4480560"/>
            <a:ext cx="1920240" cy="502920"/>
          </a:xfrm>
          <a:prstGeom prst="rect">
            <a:avLst/>
          </a:prstGeom>
          <a:noFill/>
        </p:spPr>
        <p:txBody>
          <a:bodyPr wrap="square"/>
          <a:lstStyle/>
          <a:p>
            <a:pPr algn="l"/>
            <a:r>
              <a:rPr sz="850" b="0" i="0">
                <a:solidFill>
                  <a:srgbClr val="475569"/>
                </a:solidFill>
                <a:latin typeface="Calibri"/>
              </a:rPr>
              <a:t>Simulation-backed evidence</a:t>
            </a:r>
          </a:p>
        </p:txBody>
      </p:sp>
      <p:sp>
        <p:nvSpPr>
          <p:cNvPr id="69" name="Rectangle 68"/>
          <p:cNvSpPr/>
          <p:nvPr/>
        </p:nvSpPr>
        <p:spPr>
          <a:xfrm>
            <a:off x="4956048" y="5148071"/>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956048" y="5148071"/>
            <a:ext cx="36576"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47488" y="5239511"/>
            <a:ext cx="1920240" cy="502920"/>
          </a:xfrm>
          <a:prstGeom prst="rect">
            <a:avLst/>
          </a:prstGeom>
          <a:noFill/>
        </p:spPr>
        <p:txBody>
          <a:bodyPr wrap="square"/>
          <a:lstStyle/>
          <a:p>
            <a:pPr algn="l"/>
            <a:r>
              <a:rPr sz="850" b="0" i="0">
                <a:solidFill>
                  <a:srgbClr val="475569"/>
                </a:solidFill>
                <a:latin typeface="Calibri"/>
              </a:rPr>
              <a:t>Priority and urgency scoring</a:t>
            </a:r>
          </a:p>
        </p:txBody>
      </p:sp>
      <p:sp>
        <p:nvSpPr>
          <p:cNvPr id="72" name="Rectangle 71"/>
          <p:cNvSpPr/>
          <p:nvPr/>
        </p:nvSpPr>
        <p:spPr>
          <a:xfrm>
            <a:off x="7214616" y="804672"/>
            <a:ext cx="2240280" cy="5349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214616" y="804672"/>
            <a:ext cx="224028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87768" y="896112"/>
            <a:ext cx="2130552" cy="256032"/>
          </a:xfrm>
          <a:prstGeom prst="rect">
            <a:avLst/>
          </a:prstGeom>
          <a:noFill/>
        </p:spPr>
        <p:txBody>
          <a:bodyPr wrap="square"/>
          <a:lstStyle/>
          <a:p>
            <a:pPr algn="ctr"/>
            <a:r>
              <a:rPr sz="1100" b="1" i="0">
                <a:solidFill>
                  <a:srgbClr val="FFFFFF"/>
                </a:solidFill>
                <a:latin typeface="Calibri"/>
              </a:rPr>
              <a:t>Governance</a:t>
            </a:r>
          </a:p>
        </p:txBody>
      </p:sp>
      <p:sp>
        <p:nvSpPr>
          <p:cNvPr id="75" name="Rectangle 74"/>
          <p:cNvSpPr/>
          <p:nvPr/>
        </p:nvSpPr>
        <p:spPr>
          <a:xfrm>
            <a:off x="7306056" y="1353312"/>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306056" y="1353312"/>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97496" y="1444752"/>
            <a:ext cx="1920240" cy="502920"/>
          </a:xfrm>
          <a:prstGeom prst="rect">
            <a:avLst/>
          </a:prstGeom>
          <a:noFill/>
        </p:spPr>
        <p:txBody>
          <a:bodyPr wrap="square"/>
          <a:lstStyle/>
          <a:p>
            <a:pPr algn="l"/>
            <a:r>
              <a:rPr sz="850" b="0" i="0">
                <a:solidFill>
                  <a:srgbClr val="475569"/>
                </a:solidFill>
                <a:latin typeface="Calibri"/>
              </a:rPr>
              <a:t>Human approval via Pega</a:t>
            </a:r>
          </a:p>
        </p:txBody>
      </p:sp>
      <p:sp>
        <p:nvSpPr>
          <p:cNvPr id="78" name="Rectangle 77"/>
          <p:cNvSpPr/>
          <p:nvPr/>
        </p:nvSpPr>
        <p:spPr>
          <a:xfrm>
            <a:off x="7306056" y="2112264"/>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306056" y="2112264"/>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397496" y="2203704"/>
            <a:ext cx="1920240" cy="502920"/>
          </a:xfrm>
          <a:prstGeom prst="rect">
            <a:avLst/>
          </a:prstGeom>
          <a:noFill/>
        </p:spPr>
        <p:txBody>
          <a:bodyPr wrap="square"/>
          <a:lstStyle/>
          <a:p>
            <a:pPr algn="l"/>
            <a:r>
              <a:rPr sz="850" b="0" i="0">
                <a:solidFill>
                  <a:srgbClr val="475569"/>
                </a:solidFill>
                <a:latin typeface="Calibri"/>
              </a:rPr>
              <a:t>Tiered authorisation controls</a:t>
            </a:r>
          </a:p>
        </p:txBody>
      </p:sp>
      <p:sp>
        <p:nvSpPr>
          <p:cNvPr id="81" name="Rectangle 80"/>
          <p:cNvSpPr/>
          <p:nvPr/>
        </p:nvSpPr>
        <p:spPr>
          <a:xfrm>
            <a:off x="7306056" y="2871215"/>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306056" y="2871215"/>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397496" y="2962655"/>
            <a:ext cx="1920240" cy="502920"/>
          </a:xfrm>
          <a:prstGeom prst="rect">
            <a:avLst/>
          </a:prstGeom>
          <a:noFill/>
        </p:spPr>
        <p:txBody>
          <a:bodyPr wrap="square"/>
          <a:lstStyle/>
          <a:p>
            <a:pPr algn="l"/>
            <a:r>
              <a:rPr sz="850" b="0" i="0">
                <a:solidFill>
                  <a:srgbClr val="475569"/>
                </a:solidFill>
                <a:latin typeface="Calibri"/>
              </a:rPr>
              <a:t>Audit trail &amp; decision log</a:t>
            </a:r>
          </a:p>
        </p:txBody>
      </p:sp>
      <p:sp>
        <p:nvSpPr>
          <p:cNvPr id="84" name="Rectangle 83"/>
          <p:cNvSpPr/>
          <p:nvPr/>
        </p:nvSpPr>
        <p:spPr>
          <a:xfrm>
            <a:off x="7306056" y="3630168"/>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306056" y="3630168"/>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397496" y="3721608"/>
            <a:ext cx="1920240" cy="502920"/>
          </a:xfrm>
          <a:prstGeom prst="rect">
            <a:avLst/>
          </a:prstGeom>
          <a:noFill/>
        </p:spPr>
        <p:txBody>
          <a:bodyPr wrap="square"/>
          <a:lstStyle/>
          <a:p>
            <a:pPr algn="l"/>
            <a:r>
              <a:rPr sz="850" b="0" i="0">
                <a:solidFill>
                  <a:srgbClr val="475569"/>
                </a:solidFill>
                <a:latin typeface="Calibri"/>
              </a:rPr>
              <a:t>FCA explainability outputs</a:t>
            </a:r>
          </a:p>
        </p:txBody>
      </p:sp>
      <p:sp>
        <p:nvSpPr>
          <p:cNvPr id="87" name="Rectangle 86"/>
          <p:cNvSpPr/>
          <p:nvPr/>
        </p:nvSpPr>
        <p:spPr>
          <a:xfrm>
            <a:off x="7306056" y="4389120"/>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7306056" y="4389120"/>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397496" y="4480560"/>
            <a:ext cx="1920240" cy="502920"/>
          </a:xfrm>
          <a:prstGeom prst="rect">
            <a:avLst/>
          </a:prstGeom>
          <a:noFill/>
        </p:spPr>
        <p:txBody>
          <a:bodyPr wrap="square"/>
          <a:lstStyle/>
          <a:p>
            <a:pPr algn="l"/>
            <a:r>
              <a:rPr sz="850" b="0" i="0">
                <a:solidFill>
                  <a:srgbClr val="475569"/>
                </a:solidFill>
                <a:latin typeface="Calibri"/>
              </a:rPr>
              <a:t>Rejection feedback loop</a:t>
            </a:r>
          </a:p>
        </p:txBody>
      </p:sp>
      <p:sp>
        <p:nvSpPr>
          <p:cNvPr id="90" name="Rectangle 89"/>
          <p:cNvSpPr/>
          <p:nvPr/>
        </p:nvSpPr>
        <p:spPr>
          <a:xfrm>
            <a:off x="7306056" y="5148071"/>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306056" y="5148071"/>
            <a:ext cx="36576" cy="65836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97496" y="5239511"/>
            <a:ext cx="1920240" cy="502920"/>
          </a:xfrm>
          <a:prstGeom prst="rect">
            <a:avLst/>
          </a:prstGeom>
          <a:noFill/>
        </p:spPr>
        <p:txBody>
          <a:bodyPr wrap="square"/>
          <a:lstStyle/>
          <a:p>
            <a:pPr algn="l"/>
            <a:r>
              <a:rPr sz="850" b="0" i="0">
                <a:solidFill>
                  <a:srgbClr val="475569"/>
                </a:solidFill>
                <a:latin typeface="Calibri"/>
              </a:rPr>
              <a:t>Compliance change records</a:t>
            </a:r>
          </a:p>
        </p:txBody>
      </p:sp>
      <p:sp>
        <p:nvSpPr>
          <p:cNvPr id="93" name="Rectangle 92"/>
          <p:cNvSpPr/>
          <p:nvPr/>
        </p:nvSpPr>
        <p:spPr>
          <a:xfrm>
            <a:off x="9564624" y="804672"/>
            <a:ext cx="2240280" cy="53492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64624" y="804672"/>
            <a:ext cx="22402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637776" y="896112"/>
            <a:ext cx="2130552" cy="256032"/>
          </a:xfrm>
          <a:prstGeom prst="rect">
            <a:avLst/>
          </a:prstGeom>
          <a:noFill/>
        </p:spPr>
        <p:txBody>
          <a:bodyPr wrap="square"/>
          <a:lstStyle/>
          <a:p>
            <a:pPr algn="ctr"/>
            <a:r>
              <a:rPr sz="1100" b="1" i="0">
                <a:solidFill>
                  <a:srgbClr val="FFFFFF"/>
                </a:solidFill>
                <a:latin typeface="Calibri"/>
              </a:rPr>
              <a:t>Execution</a:t>
            </a:r>
          </a:p>
        </p:txBody>
      </p:sp>
      <p:sp>
        <p:nvSpPr>
          <p:cNvPr id="96" name="Rectangle 95"/>
          <p:cNvSpPr/>
          <p:nvPr/>
        </p:nvSpPr>
        <p:spPr>
          <a:xfrm>
            <a:off x="9656064" y="1353312"/>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656064" y="1353312"/>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747504" y="1444752"/>
            <a:ext cx="1920240" cy="502920"/>
          </a:xfrm>
          <a:prstGeom prst="rect">
            <a:avLst/>
          </a:prstGeom>
          <a:noFill/>
        </p:spPr>
        <p:txBody>
          <a:bodyPr wrap="square"/>
          <a:lstStyle/>
          <a:p>
            <a:pPr algn="l"/>
            <a:r>
              <a:rPr sz="850" b="0" i="0">
                <a:solidFill>
                  <a:srgbClr val="475569"/>
                </a:solidFill>
                <a:latin typeface="Calibri"/>
              </a:rPr>
              <a:t>AGGS rate submissions</a:t>
            </a:r>
          </a:p>
        </p:txBody>
      </p:sp>
      <p:sp>
        <p:nvSpPr>
          <p:cNvPr id="99" name="Rectangle 98"/>
          <p:cNvSpPr/>
          <p:nvPr/>
        </p:nvSpPr>
        <p:spPr>
          <a:xfrm>
            <a:off x="9656064" y="2112264"/>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656064" y="2112264"/>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747504" y="2203704"/>
            <a:ext cx="1920240" cy="502920"/>
          </a:xfrm>
          <a:prstGeom prst="rect">
            <a:avLst/>
          </a:prstGeom>
          <a:noFill/>
        </p:spPr>
        <p:txBody>
          <a:bodyPr wrap="square"/>
          <a:lstStyle/>
          <a:p>
            <a:pPr algn="l"/>
            <a:r>
              <a:rPr sz="850" b="0" i="0">
                <a:solidFill>
                  <a:srgbClr val="475569"/>
                </a:solidFill>
                <a:latin typeface="Calibri"/>
              </a:rPr>
              <a:t>Duck Creek policy updates</a:t>
            </a:r>
          </a:p>
        </p:txBody>
      </p:sp>
      <p:sp>
        <p:nvSpPr>
          <p:cNvPr id="102" name="Rectangle 101"/>
          <p:cNvSpPr/>
          <p:nvPr/>
        </p:nvSpPr>
        <p:spPr>
          <a:xfrm>
            <a:off x="9656064" y="2871215"/>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9656064" y="2871215"/>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747504" y="2962655"/>
            <a:ext cx="1920240" cy="502920"/>
          </a:xfrm>
          <a:prstGeom prst="rect">
            <a:avLst/>
          </a:prstGeom>
          <a:noFill/>
        </p:spPr>
        <p:txBody>
          <a:bodyPr wrap="square"/>
          <a:lstStyle/>
          <a:p>
            <a:pPr algn="l"/>
            <a:r>
              <a:rPr sz="850" b="0" i="0">
                <a:solidFill>
                  <a:srgbClr val="475569"/>
                </a:solidFill>
                <a:latin typeface="Calibri"/>
              </a:rPr>
              <a:t>Pricing Services API calls</a:t>
            </a:r>
          </a:p>
        </p:txBody>
      </p:sp>
      <p:sp>
        <p:nvSpPr>
          <p:cNvPr id="105" name="Rectangle 104"/>
          <p:cNvSpPr/>
          <p:nvPr/>
        </p:nvSpPr>
        <p:spPr>
          <a:xfrm>
            <a:off x="9656064" y="3630168"/>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656064" y="3630168"/>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747504" y="3721608"/>
            <a:ext cx="1920240" cy="502920"/>
          </a:xfrm>
          <a:prstGeom prst="rect">
            <a:avLst/>
          </a:prstGeom>
          <a:noFill/>
        </p:spPr>
        <p:txBody>
          <a:bodyPr wrap="square"/>
          <a:lstStyle/>
          <a:p>
            <a:pPr algn="l"/>
            <a:r>
              <a:rPr sz="850" b="0" i="0">
                <a:solidFill>
                  <a:srgbClr val="475569"/>
                </a:solidFill>
                <a:latin typeface="Calibri"/>
              </a:rPr>
              <a:t>Product config updates</a:t>
            </a:r>
          </a:p>
        </p:txBody>
      </p:sp>
      <p:sp>
        <p:nvSpPr>
          <p:cNvPr id="108" name="Rectangle 107"/>
          <p:cNvSpPr/>
          <p:nvPr/>
        </p:nvSpPr>
        <p:spPr>
          <a:xfrm>
            <a:off x="9656064" y="4389120"/>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656064" y="4389120"/>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747504" y="4480560"/>
            <a:ext cx="1920240" cy="502920"/>
          </a:xfrm>
          <a:prstGeom prst="rect">
            <a:avLst/>
          </a:prstGeom>
          <a:noFill/>
        </p:spPr>
        <p:txBody>
          <a:bodyPr wrap="square"/>
          <a:lstStyle/>
          <a:p>
            <a:pPr algn="l"/>
            <a:r>
              <a:rPr sz="850" b="0" i="0">
                <a:solidFill>
                  <a:srgbClr val="475569"/>
                </a:solidFill>
                <a:latin typeface="Calibri"/>
              </a:rPr>
              <a:t>Execution confirmation logging</a:t>
            </a:r>
          </a:p>
        </p:txBody>
      </p:sp>
      <p:sp>
        <p:nvSpPr>
          <p:cNvPr id="111" name="Rectangle 110"/>
          <p:cNvSpPr/>
          <p:nvPr/>
        </p:nvSpPr>
        <p:spPr>
          <a:xfrm>
            <a:off x="9656064" y="5148071"/>
            <a:ext cx="20574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9656064" y="5148071"/>
            <a:ext cx="36576"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747504" y="5239511"/>
            <a:ext cx="1920240" cy="502920"/>
          </a:xfrm>
          <a:prstGeom prst="rect">
            <a:avLst/>
          </a:prstGeom>
          <a:noFill/>
        </p:spPr>
        <p:txBody>
          <a:bodyPr wrap="square"/>
          <a:lstStyle/>
          <a:p>
            <a:pPr algn="l"/>
            <a:r>
              <a:rPr sz="850" b="0" i="0">
                <a:solidFill>
                  <a:srgbClr val="475569"/>
                </a:solidFill>
                <a:latin typeface="Calibri"/>
              </a:rPr>
              <a:t>Post-change monitoring trigger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INTELLIGENCE ARCHITECTURE</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Multi-Agent Intelligence Architecture</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10 / 18</a:t>
            </a:r>
          </a:p>
        </p:txBody>
      </p:sp>
      <p:sp>
        <p:nvSpPr>
          <p:cNvPr id="9" name="Rectangle 8"/>
          <p:cNvSpPr/>
          <p:nvPr/>
        </p:nvSpPr>
        <p:spPr>
          <a:xfrm>
            <a:off x="164592" y="822960"/>
            <a:ext cx="11859768" cy="77724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73152" cy="7772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896112"/>
            <a:ext cx="4572000" cy="201168"/>
          </a:xfrm>
          <a:prstGeom prst="rect">
            <a:avLst/>
          </a:prstGeom>
          <a:noFill/>
        </p:spPr>
        <p:txBody>
          <a:bodyPr wrap="square"/>
          <a:lstStyle/>
          <a:p>
            <a:pPr algn="l"/>
            <a:r>
              <a:rPr sz="900" b="1" i="0">
                <a:solidFill>
                  <a:srgbClr val="C9A84C"/>
                </a:solidFill>
                <a:latin typeface="Calibri"/>
              </a:rPr>
              <a:t>ORCHESTRATOR AGENT</a:t>
            </a:r>
          </a:p>
        </p:txBody>
      </p:sp>
      <p:sp>
        <p:nvSpPr>
          <p:cNvPr id="12" name="TextBox 11"/>
          <p:cNvSpPr txBox="1"/>
          <p:nvPr/>
        </p:nvSpPr>
        <p:spPr>
          <a:xfrm>
            <a:off x="320040" y="1115568"/>
            <a:ext cx="11594592" cy="411480"/>
          </a:xfrm>
          <a:prstGeom prst="rect">
            <a:avLst/>
          </a:prstGeom>
          <a:noFill/>
        </p:spPr>
        <p:txBody>
          <a:bodyPr wrap="square"/>
          <a:lstStyle/>
          <a:p>
            <a:pPr algn="l"/>
            <a:r>
              <a:rPr sz="850" b="0" i="0">
                <a:solidFill>
                  <a:srgbClr val="94A3B8"/>
                </a:solidFill>
                <a:latin typeface="Calibri"/>
              </a:rPr>
              <a:t>Coordinates end-to-end workflow. Routes tasks between specialist agents. Manages execution state, handles failures, aggregates outputs and escalates to human governance tiers. Implemented as an Agentic AI controller with tool-use capability.</a:t>
            </a:r>
          </a:p>
        </p:txBody>
      </p:sp>
      <p:sp>
        <p:nvSpPr>
          <p:cNvPr id="13" name="Rectangle 12"/>
          <p:cNvSpPr/>
          <p:nvPr/>
        </p:nvSpPr>
        <p:spPr>
          <a:xfrm>
            <a:off x="164592" y="173736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4592" y="1737360"/>
            <a:ext cx="27432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032" y="1828800"/>
            <a:ext cx="2606040" cy="256032"/>
          </a:xfrm>
          <a:prstGeom prst="rect">
            <a:avLst/>
          </a:prstGeom>
          <a:noFill/>
        </p:spPr>
        <p:txBody>
          <a:bodyPr wrap="square"/>
          <a:lstStyle/>
          <a:p>
            <a:pPr algn="l"/>
            <a:r>
              <a:rPr sz="950" b="1" i="0">
                <a:solidFill>
                  <a:srgbClr val="0A1628"/>
                </a:solidFill>
                <a:latin typeface="Calibri"/>
              </a:rPr>
              <a:t>Market Collection Agent</a:t>
            </a:r>
          </a:p>
        </p:txBody>
      </p:sp>
      <p:sp>
        <p:nvSpPr>
          <p:cNvPr id="16" name="TextBox 15"/>
          <p:cNvSpPr txBox="1"/>
          <p:nvPr/>
        </p:nvSpPr>
        <p:spPr>
          <a:xfrm>
            <a:off x="256032" y="2121408"/>
            <a:ext cx="2606040" cy="1463040"/>
          </a:xfrm>
          <a:prstGeom prst="rect">
            <a:avLst/>
          </a:prstGeom>
          <a:noFill/>
        </p:spPr>
        <p:txBody>
          <a:bodyPr wrap="square"/>
          <a:lstStyle/>
          <a:p>
            <a:pPr algn="l"/>
            <a:r>
              <a:rPr sz="850" b="0" i="0">
                <a:solidFill>
                  <a:srgbClr val="475569"/>
                </a:solidFill>
                <a:latin typeface="Calibri"/>
              </a:rPr>
              <a:t>Autonomously navigates PCW data sources. Collects pricing, product, excess and offer data across all monitored competitors. Validates data integrity and enriches with metadata.</a:t>
            </a:r>
          </a:p>
        </p:txBody>
      </p:sp>
      <p:sp>
        <p:nvSpPr>
          <p:cNvPr id="17" name="TextBox 16"/>
          <p:cNvSpPr txBox="1"/>
          <p:nvPr/>
        </p:nvSpPr>
        <p:spPr>
          <a:xfrm>
            <a:off x="256032" y="3730752"/>
            <a:ext cx="2606040" cy="274320"/>
          </a:xfrm>
          <a:prstGeom prst="rect">
            <a:avLst/>
          </a:prstGeom>
          <a:noFill/>
        </p:spPr>
        <p:txBody>
          <a:bodyPr wrap="square"/>
          <a:lstStyle/>
          <a:p>
            <a:pPr algn="l"/>
            <a:r>
              <a:rPr sz="800" b="1" i="0">
                <a:solidFill>
                  <a:srgbClr val="0F7AC5"/>
                </a:solidFill>
                <a:latin typeface="Calibri"/>
              </a:rPr>
              <a:t>Technology: Agentic + ML validation</a:t>
            </a:r>
          </a:p>
        </p:txBody>
      </p:sp>
      <p:sp>
        <p:nvSpPr>
          <p:cNvPr id="18" name="Rectangle 17"/>
          <p:cNvSpPr/>
          <p:nvPr/>
        </p:nvSpPr>
        <p:spPr>
          <a:xfrm>
            <a:off x="3090672" y="173736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90672" y="1737360"/>
            <a:ext cx="27432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82112" y="1828800"/>
            <a:ext cx="2606040" cy="256032"/>
          </a:xfrm>
          <a:prstGeom prst="rect">
            <a:avLst/>
          </a:prstGeom>
          <a:noFill/>
        </p:spPr>
        <p:txBody>
          <a:bodyPr wrap="square"/>
          <a:lstStyle/>
          <a:p>
            <a:pPr algn="l"/>
            <a:r>
              <a:rPr sz="950" b="1" i="0">
                <a:solidFill>
                  <a:srgbClr val="0A1628"/>
                </a:solidFill>
                <a:latin typeface="Calibri"/>
              </a:rPr>
              <a:t>Position Intelligence Agent</a:t>
            </a:r>
          </a:p>
        </p:txBody>
      </p:sp>
      <p:sp>
        <p:nvSpPr>
          <p:cNvPr id="21" name="TextBox 20"/>
          <p:cNvSpPr txBox="1"/>
          <p:nvPr/>
        </p:nvSpPr>
        <p:spPr>
          <a:xfrm>
            <a:off x="3182112" y="2121408"/>
            <a:ext cx="2606040" cy="1463040"/>
          </a:xfrm>
          <a:prstGeom prst="rect">
            <a:avLst/>
          </a:prstGeom>
          <a:noFill/>
        </p:spPr>
        <p:txBody>
          <a:bodyPr wrap="square"/>
          <a:lstStyle/>
          <a:p>
            <a:pPr algn="l"/>
            <a:r>
              <a:rPr sz="850" b="0" i="0">
                <a:solidFill>
                  <a:srgbClr val="475569"/>
                </a:solidFill>
                <a:latin typeface="Calibri"/>
              </a:rPr>
              <a:t>Analyses ranking movement across PCW channels. Detects velocity and direction of rank changes. Classifies movements by significance and likely driver.</a:t>
            </a:r>
          </a:p>
        </p:txBody>
      </p:sp>
      <p:sp>
        <p:nvSpPr>
          <p:cNvPr id="22" name="TextBox 21"/>
          <p:cNvSpPr txBox="1"/>
          <p:nvPr/>
        </p:nvSpPr>
        <p:spPr>
          <a:xfrm>
            <a:off x="3182112" y="3730752"/>
            <a:ext cx="2606040" cy="274320"/>
          </a:xfrm>
          <a:prstGeom prst="rect">
            <a:avLst/>
          </a:prstGeom>
          <a:noFill/>
        </p:spPr>
        <p:txBody>
          <a:bodyPr wrap="square"/>
          <a:lstStyle/>
          <a:p>
            <a:pPr algn="l"/>
            <a:r>
              <a:rPr sz="800" b="1" i="0">
                <a:solidFill>
                  <a:srgbClr val="2563AB"/>
                </a:solidFill>
                <a:latin typeface="Calibri"/>
              </a:rPr>
              <a:t>Technology: ML (time-series, classification)</a:t>
            </a:r>
          </a:p>
        </p:txBody>
      </p:sp>
      <p:sp>
        <p:nvSpPr>
          <p:cNvPr id="23" name="Rectangle 22"/>
          <p:cNvSpPr/>
          <p:nvPr/>
        </p:nvSpPr>
        <p:spPr>
          <a:xfrm>
            <a:off x="6016752" y="173736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16752" y="1737360"/>
            <a:ext cx="27432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8192" y="1828800"/>
            <a:ext cx="2606040" cy="256032"/>
          </a:xfrm>
          <a:prstGeom prst="rect">
            <a:avLst/>
          </a:prstGeom>
          <a:noFill/>
        </p:spPr>
        <p:txBody>
          <a:bodyPr wrap="square"/>
          <a:lstStyle/>
          <a:p>
            <a:pPr algn="l"/>
            <a:r>
              <a:rPr sz="950" b="1" i="0">
                <a:solidFill>
                  <a:srgbClr val="0A1628"/>
                </a:solidFill>
                <a:latin typeface="Calibri"/>
              </a:rPr>
              <a:t>Competitor Analysis Agent</a:t>
            </a:r>
          </a:p>
        </p:txBody>
      </p:sp>
      <p:sp>
        <p:nvSpPr>
          <p:cNvPr id="26" name="TextBox 25"/>
          <p:cNvSpPr txBox="1"/>
          <p:nvPr/>
        </p:nvSpPr>
        <p:spPr>
          <a:xfrm>
            <a:off x="6108192" y="2121408"/>
            <a:ext cx="2606040" cy="1463040"/>
          </a:xfrm>
          <a:prstGeom prst="rect">
            <a:avLst/>
          </a:prstGeom>
          <a:noFill/>
        </p:spPr>
        <p:txBody>
          <a:bodyPr wrap="square"/>
          <a:lstStyle/>
          <a:p>
            <a:pPr algn="l"/>
            <a:r>
              <a:rPr sz="850" b="0" i="0">
                <a:solidFill>
                  <a:srgbClr val="475569"/>
                </a:solidFill>
                <a:latin typeface="Calibri"/>
              </a:rPr>
              <a:t>Investigates identified market changes to determine root cause. Cross-references pricing, product and offer data. Produces structured competitive assessments.</a:t>
            </a:r>
          </a:p>
        </p:txBody>
      </p:sp>
      <p:sp>
        <p:nvSpPr>
          <p:cNvPr id="27" name="TextBox 26"/>
          <p:cNvSpPr txBox="1"/>
          <p:nvPr/>
        </p:nvSpPr>
        <p:spPr>
          <a:xfrm>
            <a:off x="6108192" y="3730752"/>
            <a:ext cx="2606040" cy="274320"/>
          </a:xfrm>
          <a:prstGeom prst="rect">
            <a:avLst/>
          </a:prstGeom>
          <a:noFill/>
        </p:spPr>
        <p:txBody>
          <a:bodyPr wrap="square"/>
          <a:lstStyle/>
          <a:p>
            <a:pPr algn="l"/>
            <a:r>
              <a:rPr sz="800" b="1" i="0">
                <a:solidFill>
                  <a:srgbClr val="0D9488"/>
                </a:solidFill>
                <a:latin typeface="Calibri"/>
              </a:rPr>
              <a:t>Technology: GenAI + ML</a:t>
            </a:r>
          </a:p>
        </p:txBody>
      </p:sp>
      <p:sp>
        <p:nvSpPr>
          <p:cNvPr id="28" name="Rectangle 27"/>
          <p:cNvSpPr/>
          <p:nvPr/>
        </p:nvSpPr>
        <p:spPr>
          <a:xfrm>
            <a:off x="8942832" y="173736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42832" y="1737360"/>
            <a:ext cx="27432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34272" y="1828800"/>
            <a:ext cx="2606040" cy="256032"/>
          </a:xfrm>
          <a:prstGeom prst="rect">
            <a:avLst/>
          </a:prstGeom>
          <a:noFill/>
        </p:spPr>
        <p:txBody>
          <a:bodyPr wrap="square"/>
          <a:lstStyle/>
          <a:p>
            <a:pPr algn="l"/>
            <a:r>
              <a:rPr sz="950" b="1" i="0">
                <a:solidFill>
                  <a:srgbClr val="0A1628"/>
                </a:solidFill>
                <a:latin typeface="Calibri"/>
              </a:rPr>
              <a:t>Pricing Intelligence Agent</a:t>
            </a:r>
          </a:p>
        </p:txBody>
      </p:sp>
      <p:sp>
        <p:nvSpPr>
          <p:cNvPr id="31" name="TextBox 30"/>
          <p:cNvSpPr txBox="1"/>
          <p:nvPr/>
        </p:nvSpPr>
        <p:spPr>
          <a:xfrm>
            <a:off x="9034272" y="2121408"/>
            <a:ext cx="2606040" cy="1463040"/>
          </a:xfrm>
          <a:prstGeom prst="rect">
            <a:avLst/>
          </a:prstGeom>
          <a:noFill/>
        </p:spPr>
        <p:txBody>
          <a:bodyPr wrap="square"/>
          <a:lstStyle/>
          <a:p>
            <a:pPr algn="l"/>
            <a:r>
              <a:rPr sz="850" b="0" i="0">
                <a:solidFill>
                  <a:srgbClr val="475569"/>
                </a:solidFill>
                <a:latin typeface="Calibri"/>
              </a:rPr>
              <a:t>Evaluates LBG pricing competitiveness at segment and risk-group level. Identifies pricing gaps and over-competitiveness. Feeds pricing team recommendations.</a:t>
            </a:r>
          </a:p>
        </p:txBody>
      </p:sp>
      <p:sp>
        <p:nvSpPr>
          <p:cNvPr id="32" name="TextBox 31"/>
          <p:cNvSpPr txBox="1"/>
          <p:nvPr/>
        </p:nvSpPr>
        <p:spPr>
          <a:xfrm>
            <a:off x="9034272" y="3730752"/>
            <a:ext cx="2606040" cy="274320"/>
          </a:xfrm>
          <a:prstGeom prst="rect">
            <a:avLst/>
          </a:prstGeom>
          <a:noFill/>
        </p:spPr>
        <p:txBody>
          <a:bodyPr wrap="square"/>
          <a:lstStyle/>
          <a:p>
            <a:pPr algn="l"/>
            <a:r>
              <a:rPr sz="800" b="1" i="0">
                <a:solidFill>
                  <a:srgbClr val="7C3AED"/>
                </a:solidFill>
                <a:latin typeface="Calibri"/>
              </a:rPr>
              <a:t>Technology: ML (regression, optimisation)</a:t>
            </a:r>
          </a:p>
        </p:txBody>
      </p:sp>
      <p:sp>
        <p:nvSpPr>
          <p:cNvPr id="33" name="Rectangle 32"/>
          <p:cNvSpPr/>
          <p:nvPr/>
        </p:nvSpPr>
        <p:spPr>
          <a:xfrm>
            <a:off x="164592" y="420624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4592" y="4206240"/>
            <a:ext cx="27432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4297680"/>
            <a:ext cx="2606040" cy="256032"/>
          </a:xfrm>
          <a:prstGeom prst="rect">
            <a:avLst/>
          </a:prstGeom>
          <a:noFill/>
        </p:spPr>
        <p:txBody>
          <a:bodyPr wrap="square"/>
          <a:lstStyle/>
          <a:p>
            <a:pPr algn="l"/>
            <a:r>
              <a:rPr sz="950" b="1" i="0">
                <a:solidFill>
                  <a:srgbClr val="0A1628"/>
                </a:solidFill>
                <a:latin typeface="Calibri"/>
              </a:rPr>
              <a:t>Proposition Intelligence Agent</a:t>
            </a:r>
          </a:p>
        </p:txBody>
      </p:sp>
      <p:sp>
        <p:nvSpPr>
          <p:cNvPr id="36" name="TextBox 35"/>
          <p:cNvSpPr txBox="1"/>
          <p:nvPr/>
        </p:nvSpPr>
        <p:spPr>
          <a:xfrm>
            <a:off x="256032" y="4590288"/>
            <a:ext cx="2606040" cy="1463040"/>
          </a:xfrm>
          <a:prstGeom prst="rect">
            <a:avLst/>
          </a:prstGeom>
          <a:noFill/>
        </p:spPr>
        <p:txBody>
          <a:bodyPr wrap="square"/>
          <a:lstStyle/>
          <a:p>
            <a:pPr algn="l"/>
            <a:r>
              <a:rPr sz="850" b="0" i="0">
                <a:solidFill>
                  <a:srgbClr val="475569"/>
                </a:solidFill>
                <a:latin typeface="Calibri"/>
              </a:rPr>
              <a:t>Monitors competitor product features, excess structures and optional covers. Identifies proposition gaps and differentiators. Tracks cover innovation across the market.</a:t>
            </a:r>
          </a:p>
        </p:txBody>
      </p:sp>
      <p:sp>
        <p:nvSpPr>
          <p:cNvPr id="37" name="TextBox 36"/>
          <p:cNvSpPr txBox="1"/>
          <p:nvPr/>
        </p:nvSpPr>
        <p:spPr>
          <a:xfrm>
            <a:off x="256032" y="6199632"/>
            <a:ext cx="2606040" cy="274320"/>
          </a:xfrm>
          <a:prstGeom prst="rect">
            <a:avLst/>
          </a:prstGeom>
          <a:noFill/>
        </p:spPr>
        <p:txBody>
          <a:bodyPr wrap="square"/>
          <a:lstStyle/>
          <a:p>
            <a:pPr algn="l"/>
            <a:r>
              <a:rPr sz="800" b="1" i="0">
                <a:solidFill>
                  <a:srgbClr val="C9A84C"/>
                </a:solidFill>
                <a:latin typeface="Calibri"/>
              </a:rPr>
              <a:t>Technology: GenAI + ML</a:t>
            </a:r>
          </a:p>
        </p:txBody>
      </p:sp>
      <p:sp>
        <p:nvSpPr>
          <p:cNvPr id="38" name="Rectangle 37"/>
          <p:cNvSpPr/>
          <p:nvPr/>
        </p:nvSpPr>
        <p:spPr>
          <a:xfrm>
            <a:off x="3090672" y="420624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090672" y="4206240"/>
            <a:ext cx="274320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82112" y="4297680"/>
            <a:ext cx="2606040" cy="256032"/>
          </a:xfrm>
          <a:prstGeom prst="rect">
            <a:avLst/>
          </a:prstGeom>
          <a:noFill/>
        </p:spPr>
        <p:txBody>
          <a:bodyPr wrap="square"/>
          <a:lstStyle/>
          <a:p>
            <a:pPr algn="l"/>
            <a:r>
              <a:rPr sz="950" b="1" i="0">
                <a:solidFill>
                  <a:srgbClr val="0A1628"/>
                </a:solidFill>
                <a:latin typeface="Calibri"/>
              </a:rPr>
              <a:t>Simulation Agent</a:t>
            </a:r>
          </a:p>
        </p:txBody>
      </p:sp>
      <p:sp>
        <p:nvSpPr>
          <p:cNvPr id="41" name="TextBox 40"/>
          <p:cNvSpPr txBox="1"/>
          <p:nvPr/>
        </p:nvSpPr>
        <p:spPr>
          <a:xfrm>
            <a:off x="3182112" y="4590288"/>
            <a:ext cx="2606040" cy="1463040"/>
          </a:xfrm>
          <a:prstGeom prst="rect">
            <a:avLst/>
          </a:prstGeom>
          <a:noFill/>
        </p:spPr>
        <p:txBody>
          <a:bodyPr wrap="square"/>
          <a:lstStyle/>
          <a:p>
            <a:pPr algn="l"/>
            <a:r>
              <a:rPr sz="850" b="0" i="0">
                <a:solidFill>
                  <a:srgbClr val="475569"/>
                </a:solidFill>
                <a:latin typeface="Calibri"/>
              </a:rPr>
              <a:t>Models the likely commercial outcomes of proposed interventions. Runs pricing elasticity simulations. Quantifies expected ranking, volume and margin impact.</a:t>
            </a:r>
          </a:p>
        </p:txBody>
      </p:sp>
      <p:sp>
        <p:nvSpPr>
          <p:cNvPr id="42" name="TextBox 41"/>
          <p:cNvSpPr txBox="1"/>
          <p:nvPr/>
        </p:nvSpPr>
        <p:spPr>
          <a:xfrm>
            <a:off x="3182112" y="6199632"/>
            <a:ext cx="2606040" cy="274320"/>
          </a:xfrm>
          <a:prstGeom prst="rect">
            <a:avLst/>
          </a:prstGeom>
          <a:noFill/>
        </p:spPr>
        <p:txBody>
          <a:bodyPr wrap="square"/>
          <a:lstStyle/>
          <a:p>
            <a:pPr algn="l"/>
            <a:r>
              <a:rPr sz="800" b="1" i="0">
                <a:solidFill>
                  <a:srgbClr val="DC2626"/>
                </a:solidFill>
                <a:latin typeface="Calibri"/>
              </a:rPr>
              <a:t>Technology: ML (simulation, elasticity)</a:t>
            </a:r>
          </a:p>
        </p:txBody>
      </p:sp>
      <p:sp>
        <p:nvSpPr>
          <p:cNvPr id="43" name="Rectangle 42"/>
          <p:cNvSpPr/>
          <p:nvPr/>
        </p:nvSpPr>
        <p:spPr>
          <a:xfrm>
            <a:off x="6016752" y="420624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016752" y="4206240"/>
            <a:ext cx="274320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08192" y="4297680"/>
            <a:ext cx="2606040" cy="256032"/>
          </a:xfrm>
          <a:prstGeom prst="rect">
            <a:avLst/>
          </a:prstGeom>
          <a:noFill/>
        </p:spPr>
        <p:txBody>
          <a:bodyPr wrap="square"/>
          <a:lstStyle/>
          <a:p>
            <a:pPr algn="l"/>
            <a:r>
              <a:rPr sz="950" b="1" i="0">
                <a:solidFill>
                  <a:srgbClr val="0A1628"/>
                </a:solidFill>
                <a:latin typeface="Calibri"/>
              </a:rPr>
              <a:t>Recommendation Agent</a:t>
            </a:r>
          </a:p>
        </p:txBody>
      </p:sp>
      <p:sp>
        <p:nvSpPr>
          <p:cNvPr id="46" name="TextBox 45"/>
          <p:cNvSpPr txBox="1"/>
          <p:nvPr/>
        </p:nvSpPr>
        <p:spPr>
          <a:xfrm>
            <a:off x="6108192" y="4590288"/>
            <a:ext cx="2606040" cy="1463040"/>
          </a:xfrm>
          <a:prstGeom prst="rect">
            <a:avLst/>
          </a:prstGeom>
          <a:noFill/>
        </p:spPr>
        <p:txBody>
          <a:bodyPr wrap="square"/>
          <a:lstStyle/>
          <a:p>
            <a:pPr algn="l"/>
            <a:r>
              <a:rPr sz="850" b="0" i="0">
                <a:solidFill>
                  <a:srgbClr val="475569"/>
                </a:solidFill>
                <a:latin typeface="Calibri"/>
              </a:rPr>
              <a:t>Synthesises all agent outputs into prioritised, structured recommendations. Generates human-readable rationale. Assigns confidence and urgency scores.</a:t>
            </a:r>
          </a:p>
        </p:txBody>
      </p:sp>
      <p:sp>
        <p:nvSpPr>
          <p:cNvPr id="47" name="TextBox 46"/>
          <p:cNvSpPr txBox="1"/>
          <p:nvPr/>
        </p:nvSpPr>
        <p:spPr>
          <a:xfrm>
            <a:off x="6108192" y="6199632"/>
            <a:ext cx="2606040" cy="274320"/>
          </a:xfrm>
          <a:prstGeom prst="rect">
            <a:avLst/>
          </a:prstGeom>
          <a:noFill/>
        </p:spPr>
        <p:txBody>
          <a:bodyPr wrap="square"/>
          <a:lstStyle/>
          <a:p>
            <a:pPr algn="l"/>
            <a:r>
              <a:rPr sz="800" b="1" i="0">
                <a:solidFill>
                  <a:srgbClr val="059669"/>
                </a:solidFill>
                <a:latin typeface="Calibri"/>
              </a:rPr>
              <a:t>Technology: GenAI (structured output)</a:t>
            </a:r>
          </a:p>
        </p:txBody>
      </p:sp>
      <p:sp>
        <p:nvSpPr>
          <p:cNvPr id="48" name="Rectangle 47"/>
          <p:cNvSpPr/>
          <p:nvPr/>
        </p:nvSpPr>
        <p:spPr>
          <a:xfrm>
            <a:off x="8942832" y="4206240"/>
            <a:ext cx="2743200"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42832" y="4206240"/>
            <a:ext cx="274320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34272" y="4297680"/>
            <a:ext cx="2606040" cy="256032"/>
          </a:xfrm>
          <a:prstGeom prst="rect">
            <a:avLst/>
          </a:prstGeom>
          <a:noFill/>
        </p:spPr>
        <p:txBody>
          <a:bodyPr wrap="square"/>
          <a:lstStyle/>
          <a:p>
            <a:pPr algn="l"/>
            <a:r>
              <a:rPr sz="950" b="1" i="0">
                <a:solidFill>
                  <a:srgbClr val="0A1628"/>
                </a:solidFill>
                <a:latin typeface="Calibri"/>
              </a:rPr>
              <a:t>Learning Agent</a:t>
            </a:r>
          </a:p>
        </p:txBody>
      </p:sp>
      <p:sp>
        <p:nvSpPr>
          <p:cNvPr id="51" name="TextBox 50"/>
          <p:cNvSpPr txBox="1"/>
          <p:nvPr/>
        </p:nvSpPr>
        <p:spPr>
          <a:xfrm>
            <a:off x="9034272" y="4590288"/>
            <a:ext cx="2606040" cy="1463040"/>
          </a:xfrm>
          <a:prstGeom prst="rect">
            <a:avLst/>
          </a:prstGeom>
          <a:noFill/>
        </p:spPr>
        <p:txBody>
          <a:bodyPr wrap="square"/>
          <a:lstStyle/>
          <a:p>
            <a:pPr algn="l"/>
            <a:r>
              <a:rPr sz="850" b="0" i="0">
                <a:solidFill>
                  <a:srgbClr val="475569"/>
                </a:solidFill>
                <a:latin typeface="Calibri"/>
              </a:rPr>
              <a:t>Tracks recommendation acceptance and outcome performance. Updates model feature stores with intervention outcomes. Identifies systematic recommendation errors.</a:t>
            </a:r>
          </a:p>
        </p:txBody>
      </p:sp>
      <p:sp>
        <p:nvSpPr>
          <p:cNvPr id="52" name="TextBox 51"/>
          <p:cNvSpPr txBox="1"/>
          <p:nvPr/>
        </p:nvSpPr>
        <p:spPr>
          <a:xfrm>
            <a:off x="9034272" y="6199632"/>
            <a:ext cx="2606040" cy="274320"/>
          </a:xfrm>
          <a:prstGeom prst="rect">
            <a:avLst/>
          </a:prstGeom>
          <a:noFill/>
        </p:spPr>
        <p:txBody>
          <a:bodyPr wrap="square"/>
          <a:lstStyle/>
          <a:p>
            <a:pPr algn="l"/>
            <a:r>
              <a:rPr sz="800" b="1" i="0">
                <a:solidFill>
                  <a:srgbClr val="0891B2"/>
                </a:solidFill>
                <a:latin typeface="Calibri"/>
              </a:rPr>
              <a:t>Technology: ML + GenAI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INTEGRATION ARCHITECTURE</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Integration with LBG Technology Estate</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11 / 18</a:t>
            </a:r>
          </a:p>
        </p:txBody>
      </p:sp>
      <p:sp>
        <p:nvSpPr>
          <p:cNvPr id="9" name="TextBox 8"/>
          <p:cNvSpPr txBox="1"/>
          <p:nvPr/>
        </p:nvSpPr>
        <p:spPr>
          <a:xfrm>
            <a:off x="164592" y="804672"/>
            <a:ext cx="6949440" cy="256032"/>
          </a:xfrm>
          <a:prstGeom prst="rect">
            <a:avLst/>
          </a:prstGeom>
          <a:noFill/>
        </p:spPr>
        <p:txBody>
          <a:bodyPr wrap="square"/>
          <a:lstStyle/>
          <a:p>
            <a:pPr algn="l"/>
            <a:r>
              <a:rPr sz="1300" b="1" i="0">
                <a:solidFill>
                  <a:srgbClr val="0A1628"/>
                </a:solidFill>
                <a:latin typeface="Calibri"/>
              </a:rPr>
              <a:t>Existing Strategic Investments</a:t>
            </a:r>
          </a:p>
        </p:txBody>
      </p:sp>
      <p:sp>
        <p:nvSpPr>
          <p:cNvPr id="10" name="Rectangle 9"/>
          <p:cNvSpPr/>
          <p:nvPr/>
        </p:nvSpPr>
        <p:spPr>
          <a:xfrm>
            <a:off x="164592" y="1115568"/>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2" y="111556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1170432"/>
            <a:ext cx="1645920" cy="320040"/>
          </a:xfrm>
          <a:prstGeom prst="rect">
            <a:avLst/>
          </a:prstGeom>
          <a:noFill/>
        </p:spPr>
        <p:txBody>
          <a:bodyPr wrap="square"/>
          <a:lstStyle/>
          <a:p>
            <a:pPr algn="l"/>
            <a:r>
              <a:rPr sz="1000" b="1" i="0">
                <a:solidFill>
                  <a:srgbClr val="0A1628"/>
                </a:solidFill>
                <a:latin typeface="Calibri"/>
              </a:rPr>
              <a:t>AGGS</a:t>
            </a:r>
          </a:p>
        </p:txBody>
      </p:sp>
      <p:sp>
        <p:nvSpPr>
          <p:cNvPr id="13" name="TextBox 12"/>
          <p:cNvSpPr txBox="1"/>
          <p:nvPr/>
        </p:nvSpPr>
        <p:spPr>
          <a:xfrm>
            <a:off x="1993392" y="1170432"/>
            <a:ext cx="4937760" cy="320040"/>
          </a:xfrm>
          <a:prstGeom prst="rect">
            <a:avLst/>
          </a:prstGeom>
          <a:noFill/>
        </p:spPr>
        <p:txBody>
          <a:bodyPr wrap="square"/>
          <a:lstStyle/>
          <a:p>
            <a:pPr algn="l"/>
            <a:r>
              <a:rPr sz="900" b="0" i="0">
                <a:solidFill>
                  <a:srgbClr val="475569"/>
                </a:solidFill>
                <a:latin typeface="Calibri"/>
              </a:rPr>
              <a:t>Quote aggregation &amp; PCW submission</a:t>
            </a:r>
          </a:p>
        </p:txBody>
      </p:sp>
      <p:sp>
        <p:nvSpPr>
          <p:cNvPr id="14" name="Rectangle 13"/>
          <p:cNvSpPr/>
          <p:nvPr/>
        </p:nvSpPr>
        <p:spPr>
          <a:xfrm>
            <a:off x="164592" y="1664207"/>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592" y="1664207"/>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1719071"/>
            <a:ext cx="1645920" cy="320040"/>
          </a:xfrm>
          <a:prstGeom prst="rect">
            <a:avLst/>
          </a:prstGeom>
          <a:noFill/>
        </p:spPr>
        <p:txBody>
          <a:bodyPr wrap="square"/>
          <a:lstStyle/>
          <a:p>
            <a:pPr algn="l"/>
            <a:r>
              <a:rPr sz="1000" b="1" i="0">
                <a:solidFill>
                  <a:srgbClr val="0A1628"/>
                </a:solidFill>
                <a:latin typeface="Calibri"/>
              </a:rPr>
              <a:t>Apigee</a:t>
            </a:r>
          </a:p>
        </p:txBody>
      </p:sp>
      <p:sp>
        <p:nvSpPr>
          <p:cNvPr id="17" name="TextBox 16"/>
          <p:cNvSpPr txBox="1"/>
          <p:nvPr/>
        </p:nvSpPr>
        <p:spPr>
          <a:xfrm>
            <a:off x="1993392" y="1719071"/>
            <a:ext cx="4937760" cy="320040"/>
          </a:xfrm>
          <a:prstGeom prst="rect">
            <a:avLst/>
          </a:prstGeom>
          <a:noFill/>
        </p:spPr>
        <p:txBody>
          <a:bodyPr wrap="square"/>
          <a:lstStyle/>
          <a:p>
            <a:pPr algn="l"/>
            <a:r>
              <a:rPr sz="900" b="0" i="0">
                <a:solidFill>
                  <a:srgbClr val="475569"/>
                </a:solidFill>
                <a:latin typeface="Calibri"/>
              </a:rPr>
              <a:t>API gateway &amp; security</a:t>
            </a:r>
          </a:p>
        </p:txBody>
      </p:sp>
      <p:sp>
        <p:nvSpPr>
          <p:cNvPr id="18" name="Rectangle 17"/>
          <p:cNvSpPr/>
          <p:nvPr/>
        </p:nvSpPr>
        <p:spPr>
          <a:xfrm>
            <a:off x="164592" y="2212848"/>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4592" y="221284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2267712"/>
            <a:ext cx="1645920" cy="320040"/>
          </a:xfrm>
          <a:prstGeom prst="rect">
            <a:avLst/>
          </a:prstGeom>
          <a:noFill/>
        </p:spPr>
        <p:txBody>
          <a:bodyPr wrap="square"/>
          <a:lstStyle/>
          <a:p>
            <a:pPr algn="l"/>
            <a:r>
              <a:rPr sz="1000" b="1" i="0">
                <a:solidFill>
                  <a:srgbClr val="0A1628"/>
                </a:solidFill>
                <a:latin typeface="Calibri"/>
              </a:rPr>
              <a:t>Pega</a:t>
            </a:r>
          </a:p>
        </p:txBody>
      </p:sp>
      <p:sp>
        <p:nvSpPr>
          <p:cNvPr id="21" name="TextBox 20"/>
          <p:cNvSpPr txBox="1"/>
          <p:nvPr/>
        </p:nvSpPr>
        <p:spPr>
          <a:xfrm>
            <a:off x="1993392" y="2267712"/>
            <a:ext cx="4937760" cy="320040"/>
          </a:xfrm>
          <a:prstGeom prst="rect">
            <a:avLst/>
          </a:prstGeom>
          <a:noFill/>
        </p:spPr>
        <p:txBody>
          <a:bodyPr wrap="square"/>
          <a:lstStyle/>
          <a:p>
            <a:pPr algn="l"/>
            <a:r>
              <a:rPr sz="900" b="0" i="0">
                <a:solidFill>
                  <a:srgbClr val="475569"/>
                </a:solidFill>
                <a:latin typeface="Calibri"/>
              </a:rPr>
              <a:t>Governance workflow &amp; approvals</a:t>
            </a:r>
          </a:p>
        </p:txBody>
      </p:sp>
      <p:sp>
        <p:nvSpPr>
          <p:cNvPr id="22" name="Rectangle 21"/>
          <p:cNvSpPr/>
          <p:nvPr/>
        </p:nvSpPr>
        <p:spPr>
          <a:xfrm>
            <a:off x="164592" y="2761487"/>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592" y="2761487"/>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2816351"/>
            <a:ext cx="1645920" cy="320040"/>
          </a:xfrm>
          <a:prstGeom prst="rect">
            <a:avLst/>
          </a:prstGeom>
          <a:noFill/>
        </p:spPr>
        <p:txBody>
          <a:bodyPr wrap="square"/>
          <a:lstStyle/>
          <a:p>
            <a:pPr algn="l"/>
            <a:r>
              <a:rPr sz="1000" b="1" i="0">
                <a:solidFill>
                  <a:srgbClr val="0A1628"/>
                </a:solidFill>
                <a:latin typeface="Calibri"/>
              </a:rPr>
              <a:t>Duck Creek</a:t>
            </a:r>
          </a:p>
        </p:txBody>
      </p:sp>
      <p:sp>
        <p:nvSpPr>
          <p:cNvPr id="25" name="TextBox 24"/>
          <p:cNvSpPr txBox="1"/>
          <p:nvPr/>
        </p:nvSpPr>
        <p:spPr>
          <a:xfrm>
            <a:off x="1993392" y="2816351"/>
            <a:ext cx="4937760" cy="320040"/>
          </a:xfrm>
          <a:prstGeom prst="rect">
            <a:avLst/>
          </a:prstGeom>
          <a:noFill/>
        </p:spPr>
        <p:txBody>
          <a:bodyPr wrap="square"/>
          <a:lstStyle/>
          <a:p>
            <a:pPr algn="l"/>
            <a:r>
              <a:rPr sz="900" b="0" i="0">
                <a:solidFill>
                  <a:srgbClr val="475569"/>
                </a:solidFill>
                <a:latin typeface="Calibri"/>
              </a:rPr>
              <a:t>Policy administration &amp; rating</a:t>
            </a:r>
          </a:p>
        </p:txBody>
      </p:sp>
      <p:sp>
        <p:nvSpPr>
          <p:cNvPr id="26" name="Rectangle 25"/>
          <p:cNvSpPr/>
          <p:nvPr/>
        </p:nvSpPr>
        <p:spPr>
          <a:xfrm>
            <a:off x="164592" y="3310128"/>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64592" y="3310128"/>
            <a:ext cx="45720"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3364992"/>
            <a:ext cx="1645920" cy="320040"/>
          </a:xfrm>
          <a:prstGeom prst="rect">
            <a:avLst/>
          </a:prstGeom>
          <a:noFill/>
        </p:spPr>
        <p:txBody>
          <a:bodyPr wrap="square"/>
          <a:lstStyle/>
          <a:p>
            <a:pPr algn="l"/>
            <a:r>
              <a:rPr sz="1000" b="1" i="0">
                <a:solidFill>
                  <a:srgbClr val="0A1628"/>
                </a:solidFill>
                <a:latin typeface="Calibri"/>
              </a:rPr>
              <a:t>Pricing Services</a:t>
            </a:r>
          </a:p>
        </p:txBody>
      </p:sp>
      <p:sp>
        <p:nvSpPr>
          <p:cNvPr id="29" name="TextBox 28"/>
          <p:cNvSpPr txBox="1"/>
          <p:nvPr/>
        </p:nvSpPr>
        <p:spPr>
          <a:xfrm>
            <a:off x="1993392" y="3364992"/>
            <a:ext cx="4937760" cy="320040"/>
          </a:xfrm>
          <a:prstGeom prst="rect">
            <a:avLst/>
          </a:prstGeom>
          <a:noFill/>
        </p:spPr>
        <p:txBody>
          <a:bodyPr wrap="square"/>
          <a:lstStyle/>
          <a:p>
            <a:pPr algn="l"/>
            <a:r>
              <a:rPr sz="900" b="0" i="0">
                <a:solidFill>
                  <a:srgbClr val="475569"/>
                </a:solidFill>
                <a:latin typeface="Calibri"/>
              </a:rPr>
              <a:t>Rate engine &amp; band management</a:t>
            </a:r>
          </a:p>
        </p:txBody>
      </p:sp>
      <p:sp>
        <p:nvSpPr>
          <p:cNvPr id="30" name="Rectangle 29"/>
          <p:cNvSpPr/>
          <p:nvPr/>
        </p:nvSpPr>
        <p:spPr>
          <a:xfrm>
            <a:off x="164592" y="3858768"/>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592" y="3858768"/>
            <a:ext cx="4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3913632"/>
            <a:ext cx="1645920" cy="320040"/>
          </a:xfrm>
          <a:prstGeom prst="rect">
            <a:avLst/>
          </a:prstGeom>
          <a:noFill/>
        </p:spPr>
        <p:txBody>
          <a:bodyPr wrap="square"/>
          <a:lstStyle/>
          <a:p>
            <a:pPr algn="l"/>
            <a:r>
              <a:rPr sz="1000" b="1" i="0">
                <a:solidFill>
                  <a:srgbClr val="0A1628"/>
                </a:solidFill>
                <a:latin typeface="Calibri"/>
              </a:rPr>
              <a:t>Product Services</a:t>
            </a:r>
          </a:p>
        </p:txBody>
      </p:sp>
      <p:sp>
        <p:nvSpPr>
          <p:cNvPr id="33" name="TextBox 32"/>
          <p:cNvSpPr txBox="1"/>
          <p:nvPr/>
        </p:nvSpPr>
        <p:spPr>
          <a:xfrm>
            <a:off x="1993392" y="3913632"/>
            <a:ext cx="4937760" cy="320040"/>
          </a:xfrm>
          <a:prstGeom prst="rect">
            <a:avLst/>
          </a:prstGeom>
          <a:noFill/>
        </p:spPr>
        <p:txBody>
          <a:bodyPr wrap="square"/>
          <a:lstStyle/>
          <a:p>
            <a:pPr algn="l"/>
            <a:r>
              <a:rPr sz="900" b="0" i="0">
                <a:solidFill>
                  <a:srgbClr val="475569"/>
                </a:solidFill>
                <a:latin typeface="Calibri"/>
              </a:rPr>
              <a:t>Cover configuration &amp; rules</a:t>
            </a:r>
          </a:p>
        </p:txBody>
      </p:sp>
      <p:sp>
        <p:nvSpPr>
          <p:cNvPr id="34" name="Rectangle 33"/>
          <p:cNvSpPr/>
          <p:nvPr/>
        </p:nvSpPr>
        <p:spPr>
          <a:xfrm>
            <a:off x="164592" y="4407407"/>
            <a:ext cx="6949440" cy="47548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64592" y="4407407"/>
            <a:ext cx="45720" cy="47548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 y="4462271"/>
            <a:ext cx="1645920" cy="320040"/>
          </a:xfrm>
          <a:prstGeom prst="rect">
            <a:avLst/>
          </a:prstGeom>
          <a:noFill/>
        </p:spPr>
        <p:txBody>
          <a:bodyPr wrap="square"/>
          <a:lstStyle/>
          <a:p>
            <a:pPr algn="l"/>
            <a:r>
              <a:rPr sz="1000" b="1" i="0">
                <a:solidFill>
                  <a:srgbClr val="0A1628"/>
                </a:solidFill>
                <a:latin typeface="Calibri"/>
              </a:rPr>
              <a:t>Data Platform</a:t>
            </a:r>
          </a:p>
        </p:txBody>
      </p:sp>
      <p:sp>
        <p:nvSpPr>
          <p:cNvPr id="37" name="TextBox 36"/>
          <p:cNvSpPr txBox="1"/>
          <p:nvPr/>
        </p:nvSpPr>
        <p:spPr>
          <a:xfrm>
            <a:off x="1993392" y="4462271"/>
            <a:ext cx="4937760" cy="320040"/>
          </a:xfrm>
          <a:prstGeom prst="rect">
            <a:avLst/>
          </a:prstGeom>
          <a:noFill/>
        </p:spPr>
        <p:txBody>
          <a:bodyPr wrap="square"/>
          <a:lstStyle/>
          <a:p>
            <a:pPr algn="l"/>
            <a:r>
              <a:rPr sz="900" b="0" i="0">
                <a:solidFill>
                  <a:srgbClr val="475569"/>
                </a:solidFill>
                <a:latin typeface="Calibri"/>
              </a:rPr>
              <a:t>Feature store &amp; ML pipelines</a:t>
            </a:r>
          </a:p>
        </p:txBody>
      </p:sp>
      <p:sp>
        <p:nvSpPr>
          <p:cNvPr id="38" name="Rectangle 37"/>
          <p:cNvSpPr/>
          <p:nvPr/>
        </p:nvSpPr>
        <p:spPr>
          <a:xfrm>
            <a:off x="164592" y="5029200"/>
            <a:ext cx="6949440" cy="105156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4592" y="5029200"/>
            <a:ext cx="45720" cy="10515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5120640"/>
            <a:ext cx="6766560" cy="228600"/>
          </a:xfrm>
          <a:prstGeom prst="rect">
            <a:avLst/>
          </a:prstGeom>
          <a:noFill/>
        </p:spPr>
        <p:txBody>
          <a:bodyPr wrap="square"/>
          <a:lstStyle/>
          <a:p>
            <a:pPr algn="l"/>
            <a:r>
              <a:rPr sz="900" b="1" i="0">
                <a:solidFill>
                  <a:srgbClr val="0A1628"/>
                </a:solidFill>
                <a:latin typeface="Calibri"/>
              </a:rPr>
              <a:t>Architecture Principle</a:t>
            </a:r>
          </a:p>
        </p:txBody>
      </p:sp>
      <p:sp>
        <p:nvSpPr>
          <p:cNvPr id="41" name="TextBox 40"/>
          <p:cNvSpPr txBox="1"/>
          <p:nvPr/>
        </p:nvSpPr>
        <p:spPr>
          <a:xfrm>
            <a:off x="274320" y="5376672"/>
            <a:ext cx="6766560" cy="640080"/>
          </a:xfrm>
          <a:prstGeom prst="rect">
            <a:avLst/>
          </a:prstGeom>
          <a:noFill/>
        </p:spPr>
        <p:txBody>
          <a:bodyPr wrap="square"/>
          <a:lstStyle/>
          <a:p>
            <a:pPr algn="l"/>
            <a:r>
              <a:rPr sz="900" b="0" i="1">
                <a:solidFill>
                  <a:srgbClr val="475569"/>
                </a:solidFill>
                <a:latin typeface="Calibri"/>
              </a:rPr>
              <a:t>The platform is designed as a capability layer on top of LBG's existing technology estate. No duplication of core systems. All changes flow through established integration patterns with full audit and governance.</a:t>
            </a:r>
          </a:p>
        </p:txBody>
      </p:sp>
      <p:sp>
        <p:nvSpPr>
          <p:cNvPr id="42" name="Rectangle 41"/>
          <p:cNvSpPr/>
          <p:nvPr/>
        </p:nvSpPr>
        <p:spPr>
          <a:xfrm>
            <a:off x="7360920" y="804672"/>
            <a:ext cx="4663440" cy="5943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0648" y="969264"/>
            <a:ext cx="4480560" cy="320040"/>
          </a:xfrm>
          <a:prstGeom prst="rect">
            <a:avLst/>
          </a:prstGeom>
          <a:noFill/>
        </p:spPr>
        <p:txBody>
          <a:bodyPr wrap="square"/>
          <a:lstStyle/>
          <a:p>
            <a:pPr algn="l"/>
            <a:r>
              <a:rPr sz="900" b="1" i="0">
                <a:solidFill>
                  <a:srgbClr val="FFFFFF"/>
                </a:solidFill>
                <a:latin typeface="Calibri"/>
              </a:rPr>
              <a:t>PCWs -- Real-Time Market Data</a:t>
            </a:r>
          </a:p>
        </p:txBody>
      </p:sp>
      <p:sp>
        <p:nvSpPr>
          <p:cNvPr id="44" name="TextBox 43"/>
          <p:cNvSpPr txBox="1"/>
          <p:nvPr/>
        </p:nvSpPr>
        <p:spPr>
          <a:xfrm>
            <a:off x="9555480" y="1417320"/>
            <a:ext cx="274320" cy="91440"/>
          </a:xfrm>
          <a:prstGeom prst="rect">
            <a:avLst/>
          </a:prstGeom>
          <a:noFill/>
        </p:spPr>
        <p:txBody>
          <a:bodyPr wrap="square"/>
          <a:lstStyle/>
          <a:p>
            <a:pPr algn="ctr"/>
            <a:r>
              <a:rPr sz="700" b="0" i="0">
                <a:solidFill>
                  <a:srgbClr val="94A3B8"/>
                </a:solidFill>
                <a:latin typeface="Calibri"/>
              </a:rPr>
              <a:t>v</a:t>
            </a:r>
          </a:p>
        </p:txBody>
      </p:sp>
      <p:sp>
        <p:nvSpPr>
          <p:cNvPr id="45" name="Rectangle 44"/>
          <p:cNvSpPr/>
          <p:nvPr/>
        </p:nvSpPr>
        <p:spPr>
          <a:xfrm>
            <a:off x="7360920" y="1517904"/>
            <a:ext cx="4663440" cy="5943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70648" y="1682496"/>
            <a:ext cx="4480560" cy="320040"/>
          </a:xfrm>
          <a:prstGeom prst="rect">
            <a:avLst/>
          </a:prstGeom>
          <a:noFill/>
        </p:spPr>
        <p:txBody>
          <a:bodyPr wrap="square"/>
          <a:lstStyle/>
          <a:p>
            <a:pPr algn="l"/>
            <a:r>
              <a:rPr sz="900" b="1" i="0">
                <a:solidFill>
                  <a:srgbClr val="FFFFFF"/>
                </a:solidFill>
                <a:latin typeface="Calibri"/>
              </a:rPr>
              <a:t>Competitive Intelligence Platform -- AI Agents &amp; Models</a:t>
            </a:r>
          </a:p>
        </p:txBody>
      </p:sp>
      <p:sp>
        <p:nvSpPr>
          <p:cNvPr id="47" name="TextBox 46"/>
          <p:cNvSpPr txBox="1"/>
          <p:nvPr/>
        </p:nvSpPr>
        <p:spPr>
          <a:xfrm>
            <a:off x="9555480" y="2130552"/>
            <a:ext cx="274320" cy="91440"/>
          </a:xfrm>
          <a:prstGeom prst="rect">
            <a:avLst/>
          </a:prstGeom>
          <a:noFill/>
        </p:spPr>
        <p:txBody>
          <a:bodyPr wrap="square"/>
          <a:lstStyle/>
          <a:p>
            <a:pPr algn="ctr"/>
            <a:r>
              <a:rPr sz="700" b="0" i="0">
                <a:solidFill>
                  <a:srgbClr val="94A3B8"/>
                </a:solidFill>
                <a:latin typeface="Calibri"/>
              </a:rPr>
              <a:t>v</a:t>
            </a:r>
          </a:p>
        </p:txBody>
      </p:sp>
      <p:sp>
        <p:nvSpPr>
          <p:cNvPr id="48" name="Rectangle 47"/>
          <p:cNvSpPr/>
          <p:nvPr/>
        </p:nvSpPr>
        <p:spPr>
          <a:xfrm>
            <a:off x="7360920" y="2231136"/>
            <a:ext cx="4663440" cy="5943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70648" y="2395728"/>
            <a:ext cx="4480560" cy="320040"/>
          </a:xfrm>
          <a:prstGeom prst="rect">
            <a:avLst/>
          </a:prstGeom>
          <a:noFill/>
        </p:spPr>
        <p:txBody>
          <a:bodyPr wrap="square"/>
          <a:lstStyle/>
          <a:p>
            <a:pPr algn="l"/>
            <a:r>
              <a:rPr sz="900" b="1" i="0">
                <a:solidFill>
                  <a:srgbClr val="FFFFFF"/>
                </a:solidFill>
                <a:latin typeface="Calibri"/>
              </a:rPr>
              <a:t>LBG Data Platform -- Feature Store &amp; ML Registry</a:t>
            </a:r>
          </a:p>
        </p:txBody>
      </p:sp>
      <p:sp>
        <p:nvSpPr>
          <p:cNvPr id="50" name="TextBox 49"/>
          <p:cNvSpPr txBox="1"/>
          <p:nvPr/>
        </p:nvSpPr>
        <p:spPr>
          <a:xfrm>
            <a:off x="9555480" y="2843784"/>
            <a:ext cx="274320" cy="91440"/>
          </a:xfrm>
          <a:prstGeom prst="rect">
            <a:avLst/>
          </a:prstGeom>
          <a:noFill/>
        </p:spPr>
        <p:txBody>
          <a:bodyPr wrap="square"/>
          <a:lstStyle/>
          <a:p>
            <a:pPr algn="ctr"/>
            <a:r>
              <a:rPr sz="700" b="0" i="0">
                <a:solidFill>
                  <a:srgbClr val="94A3B8"/>
                </a:solidFill>
                <a:latin typeface="Calibri"/>
              </a:rPr>
              <a:t>v</a:t>
            </a:r>
          </a:p>
        </p:txBody>
      </p:sp>
      <p:sp>
        <p:nvSpPr>
          <p:cNvPr id="51" name="Rectangle 50"/>
          <p:cNvSpPr/>
          <p:nvPr/>
        </p:nvSpPr>
        <p:spPr>
          <a:xfrm>
            <a:off x="7360920" y="2944368"/>
            <a:ext cx="4663440" cy="59436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0648" y="3108960"/>
            <a:ext cx="4480560" cy="320040"/>
          </a:xfrm>
          <a:prstGeom prst="rect">
            <a:avLst/>
          </a:prstGeom>
          <a:noFill/>
        </p:spPr>
        <p:txBody>
          <a:bodyPr wrap="square"/>
          <a:lstStyle/>
          <a:p>
            <a:pPr algn="l"/>
            <a:r>
              <a:rPr sz="900" b="1" i="0">
                <a:solidFill>
                  <a:srgbClr val="FFFFFF"/>
                </a:solidFill>
                <a:latin typeface="Calibri"/>
              </a:rPr>
              <a:t>Apigee -- API Management &amp; Security</a:t>
            </a:r>
          </a:p>
        </p:txBody>
      </p:sp>
      <p:sp>
        <p:nvSpPr>
          <p:cNvPr id="53" name="TextBox 52"/>
          <p:cNvSpPr txBox="1"/>
          <p:nvPr/>
        </p:nvSpPr>
        <p:spPr>
          <a:xfrm>
            <a:off x="9555480" y="3557016"/>
            <a:ext cx="274320" cy="91440"/>
          </a:xfrm>
          <a:prstGeom prst="rect">
            <a:avLst/>
          </a:prstGeom>
          <a:noFill/>
        </p:spPr>
        <p:txBody>
          <a:bodyPr wrap="square"/>
          <a:lstStyle/>
          <a:p>
            <a:pPr algn="ctr"/>
            <a:r>
              <a:rPr sz="700" b="0" i="0">
                <a:solidFill>
                  <a:srgbClr val="94A3B8"/>
                </a:solidFill>
                <a:latin typeface="Calibri"/>
              </a:rPr>
              <a:t>v</a:t>
            </a:r>
          </a:p>
        </p:txBody>
      </p:sp>
      <p:sp>
        <p:nvSpPr>
          <p:cNvPr id="54" name="Rectangle 53"/>
          <p:cNvSpPr/>
          <p:nvPr/>
        </p:nvSpPr>
        <p:spPr>
          <a:xfrm>
            <a:off x="7360920" y="3657600"/>
            <a:ext cx="4663440" cy="5943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70648" y="3822192"/>
            <a:ext cx="4480560" cy="320040"/>
          </a:xfrm>
          <a:prstGeom prst="rect">
            <a:avLst/>
          </a:prstGeom>
          <a:noFill/>
        </p:spPr>
        <p:txBody>
          <a:bodyPr wrap="square"/>
          <a:lstStyle/>
          <a:p>
            <a:pPr algn="l"/>
            <a:r>
              <a:rPr sz="900" b="1" i="0">
                <a:solidFill>
                  <a:srgbClr val="FFFFFF"/>
                </a:solidFill>
                <a:latin typeface="Calibri"/>
              </a:rPr>
              <a:t>AGGS / Duck Creek / Pricing Services</a:t>
            </a:r>
          </a:p>
        </p:txBody>
      </p:sp>
      <p:sp>
        <p:nvSpPr>
          <p:cNvPr id="56" name="TextBox 55"/>
          <p:cNvSpPr txBox="1"/>
          <p:nvPr/>
        </p:nvSpPr>
        <p:spPr>
          <a:xfrm>
            <a:off x="9555480" y="4270248"/>
            <a:ext cx="274320" cy="91440"/>
          </a:xfrm>
          <a:prstGeom prst="rect">
            <a:avLst/>
          </a:prstGeom>
          <a:noFill/>
        </p:spPr>
        <p:txBody>
          <a:bodyPr wrap="square"/>
          <a:lstStyle/>
          <a:p>
            <a:pPr algn="ctr"/>
            <a:r>
              <a:rPr sz="700" b="0" i="0">
                <a:solidFill>
                  <a:srgbClr val="94A3B8"/>
                </a:solidFill>
                <a:latin typeface="Calibri"/>
              </a:rPr>
              <a:t>v</a:t>
            </a:r>
          </a:p>
        </p:txBody>
      </p:sp>
      <p:sp>
        <p:nvSpPr>
          <p:cNvPr id="57" name="Rectangle 56"/>
          <p:cNvSpPr/>
          <p:nvPr/>
        </p:nvSpPr>
        <p:spPr>
          <a:xfrm>
            <a:off x="7360920" y="4370832"/>
            <a:ext cx="466344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70648" y="4535424"/>
            <a:ext cx="4480560" cy="320040"/>
          </a:xfrm>
          <a:prstGeom prst="rect">
            <a:avLst/>
          </a:prstGeom>
          <a:noFill/>
        </p:spPr>
        <p:txBody>
          <a:bodyPr wrap="square"/>
          <a:lstStyle/>
          <a:p>
            <a:pPr algn="l"/>
            <a:r>
              <a:rPr sz="900" b="1" i="0">
                <a:solidFill>
                  <a:srgbClr val="FFFFFF"/>
                </a:solidFill>
                <a:latin typeface="Calibri"/>
              </a:rPr>
              <a:t>Pega -- Governance Workflow &amp; Approval</a:t>
            </a:r>
          </a:p>
        </p:txBody>
      </p:sp>
      <p:sp>
        <p:nvSpPr>
          <p:cNvPr id="59" name="TextBox 58"/>
          <p:cNvSpPr txBox="1"/>
          <p:nvPr/>
        </p:nvSpPr>
        <p:spPr>
          <a:xfrm>
            <a:off x="9555480" y="4983480"/>
            <a:ext cx="274320" cy="91440"/>
          </a:xfrm>
          <a:prstGeom prst="rect">
            <a:avLst/>
          </a:prstGeom>
          <a:noFill/>
        </p:spPr>
        <p:txBody>
          <a:bodyPr wrap="square"/>
          <a:lstStyle/>
          <a:p>
            <a:pPr algn="ctr"/>
            <a:r>
              <a:rPr sz="700" b="0" i="0">
                <a:solidFill>
                  <a:srgbClr val="94A3B8"/>
                </a:solidFill>
                <a:latin typeface="Calibri"/>
              </a:rPr>
              <a:t>v</a:t>
            </a:r>
          </a:p>
        </p:txBody>
      </p:sp>
      <p:sp>
        <p:nvSpPr>
          <p:cNvPr id="60" name="Rectangle 59"/>
          <p:cNvSpPr/>
          <p:nvPr/>
        </p:nvSpPr>
        <p:spPr>
          <a:xfrm>
            <a:off x="7360920" y="5084064"/>
            <a:ext cx="4663440" cy="5943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70648" y="5248656"/>
            <a:ext cx="4480560" cy="320040"/>
          </a:xfrm>
          <a:prstGeom prst="rect">
            <a:avLst/>
          </a:prstGeom>
          <a:noFill/>
        </p:spPr>
        <p:txBody>
          <a:bodyPr wrap="square"/>
          <a:lstStyle/>
          <a:p>
            <a:pPr algn="l"/>
            <a:r>
              <a:rPr sz="900" b="1" i="0">
                <a:solidFill>
                  <a:srgbClr val="FFFFFF"/>
                </a:solidFill>
                <a:latin typeface="Calibri"/>
              </a:rPr>
              <a:t>Business Users -- Review, Approve &amp; Monitor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GOVERNANCE MODEL</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Human-in-the-Loop Governance Framework</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12 / 18</a:t>
            </a:r>
          </a:p>
        </p:txBody>
      </p:sp>
      <p:sp>
        <p:nvSpPr>
          <p:cNvPr id="9" name="Rectangle 8"/>
          <p:cNvSpPr/>
          <p:nvPr/>
        </p:nvSpPr>
        <p:spPr>
          <a:xfrm>
            <a:off x="164592" y="822960"/>
            <a:ext cx="11859768" cy="9875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1371600" cy="98755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14400"/>
            <a:ext cx="1280160" cy="228600"/>
          </a:xfrm>
          <a:prstGeom prst="rect">
            <a:avLst/>
          </a:prstGeom>
          <a:noFill/>
        </p:spPr>
        <p:txBody>
          <a:bodyPr wrap="square"/>
          <a:lstStyle/>
          <a:p>
            <a:pPr algn="l"/>
            <a:r>
              <a:rPr sz="800" b="1" i="0">
                <a:solidFill>
                  <a:srgbClr val="FFFFFF"/>
                </a:solidFill>
                <a:latin typeface="Calibri"/>
              </a:rPr>
              <a:t>Tier 1</a:t>
            </a:r>
          </a:p>
        </p:txBody>
      </p:sp>
      <p:sp>
        <p:nvSpPr>
          <p:cNvPr id="12" name="TextBox 11"/>
          <p:cNvSpPr txBox="1"/>
          <p:nvPr/>
        </p:nvSpPr>
        <p:spPr>
          <a:xfrm>
            <a:off x="201168" y="1152144"/>
            <a:ext cx="1280160" cy="320040"/>
          </a:xfrm>
          <a:prstGeom prst="rect">
            <a:avLst/>
          </a:prstGeom>
          <a:noFill/>
        </p:spPr>
        <p:txBody>
          <a:bodyPr wrap="square"/>
          <a:lstStyle/>
          <a:p>
            <a:pPr algn="l"/>
            <a:r>
              <a:rPr sz="1000" b="1" i="0">
                <a:solidFill>
                  <a:srgbClr val="FFFFFF"/>
                </a:solidFill>
                <a:latin typeface="Calibri"/>
              </a:rPr>
              <a:t>AUTO</a:t>
            </a:r>
          </a:p>
        </p:txBody>
      </p:sp>
      <p:sp>
        <p:nvSpPr>
          <p:cNvPr id="13" name="TextBox 12"/>
          <p:cNvSpPr txBox="1"/>
          <p:nvPr/>
        </p:nvSpPr>
        <p:spPr>
          <a:xfrm>
            <a:off x="1664208" y="896112"/>
            <a:ext cx="9601200" cy="274320"/>
          </a:xfrm>
          <a:prstGeom prst="rect">
            <a:avLst/>
          </a:prstGeom>
          <a:noFill/>
        </p:spPr>
        <p:txBody>
          <a:bodyPr wrap="square"/>
          <a:lstStyle/>
          <a:p>
            <a:pPr algn="l"/>
            <a:r>
              <a:rPr sz="1050" b="1" i="0">
                <a:solidFill>
                  <a:srgbClr val="0A1628"/>
                </a:solidFill>
                <a:latin typeface="Calibri"/>
              </a:rPr>
              <a:t>Market Monitoring &amp; Data Collection</a:t>
            </a:r>
          </a:p>
        </p:txBody>
      </p:sp>
      <p:sp>
        <p:nvSpPr>
          <p:cNvPr id="14" name="TextBox 13"/>
          <p:cNvSpPr txBox="1"/>
          <p:nvPr/>
        </p:nvSpPr>
        <p:spPr>
          <a:xfrm>
            <a:off x="1664208" y="1207008"/>
            <a:ext cx="9601200" cy="548640"/>
          </a:xfrm>
          <a:prstGeom prst="rect">
            <a:avLst/>
          </a:prstGeom>
          <a:noFill/>
        </p:spPr>
        <p:txBody>
          <a:bodyPr wrap="square"/>
          <a:lstStyle/>
          <a:p>
            <a:pPr algn="l"/>
            <a:r>
              <a:rPr sz="900" b="0" i="0">
                <a:solidFill>
                  <a:srgbClr val="475569"/>
                </a:solidFill>
                <a:latin typeface="Calibri"/>
              </a:rPr>
              <a:t>Fully automated. ML and Agentic agents continuously collect, validate and process PCW market data. No human intervention required in steady-state operation. Exceptions escalated automatically. SLA: continuous, &lt;15 min data freshness.</a:t>
            </a:r>
          </a:p>
        </p:txBody>
      </p:sp>
      <p:sp>
        <p:nvSpPr>
          <p:cNvPr id="15" name="Rectangle 14"/>
          <p:cNvSpPr/>
          <p:nvPr/>
        </p:nvSpPr>
        <p:spPr>
          <a:xfrm>
            <a:off x="164592" y="1883664"/>
            <a:ext cx="11859768" cy="9875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4592" y="1883664"/>
            <a:ext cx="1371600" cy="9875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 y="1975104"/>
            <a:ext cx="1280160" cy="228600"/>
          </a:xfrm>
          <a:prstGeom prst="rect">
            <a:avLst/>
          </a:prstGeom>
          <a:noFill/>
        </p:spPr>
        <p:txBody>
          <a:bodyPr wrap="square"/>
          <a:lstStyle/>
          <a:p>
            <a:pPr algn="l"/>
            <a:r>
              <a:rPr sz="800" b="1" i="0">
                <a:solidFill>
                  <a:srgbClr val="FFFFFF"/>
                </a:solidFill>
                <a:latin typeface="Calibri"/>
              </a:rPr>
              <a:t>Tier 2</a:t>
            </a:r>
          </a:p>
        </p:txBody>
      </p:sp>
      <p:sp>
        <p:nvSpPr>
          <p:cNvPr id="18" name="TextBox 17"/>
          <p:cNvSpPr txBox="1"/>
          <p:nvPr/>
        </p:nvSpPr>
        <p:spPr>
          <a:xfrm>
            <a:off x="201168" y="2212848"/>
            <a:ext cx="1280160" cy="320040"/>
          </a:xfrm>
          <a:prstGeom prst="rect">
            <a:avLst/>
          </a:prstGeom>
          <a:noFill/>
        </p:spPr>
        <p:txBody>
          <a:bodyPr wrap="square"/>
          <a:lstStyle/>
          <a:p>
            <a:pPr algn="l"/>
            <a:r>
              <a:rPr sz="1000" b="1" i="0">
                <a:solidFill>
                  <a:srgbClr val="FFFFFF"/>
                </a:solidFill>
                <a:latin typeface="Calibri"/>
              </a:rPr>
              <a:t>ANALYSE</a:t>
            </a:r>
          </a:p>
        </p:txBody>
      </p:sp>
      <p:sp>
        <p:nvSpPr>
          <p:cNvPr id="19" name="TextBox 18"/>
          <p:cNvSpPr txBox="1"/>
          <p:nvPr/>
        </p:nvSpPr>
        <p:spPr>
          <a:xfrm>
            <a:off x="1664208" y="1956816"/>
            <a:ext cx="9601200" cy="274320"/>
          </a:xfrm>
          <a:prstGeom prst="rect">
            <a:avLst/>
          </a:prstGeom>
          <a:noFill/>
        </p:spPr>
        <p:txBody>
          <a:bodyPr wrap="square"/>
          <a:lstStyle/>
          <a:p>
            <a:pPr algn="l"/>
            <a:r>
              <a:rPr sz="1050" b="1" i="0">
                <a:solidFill>
                  <a:srgbClr val="0A1628"/>
                </a:solidFill>
                <a:latin typeface="Calibri"/>
              </a:rPr>
              <a:t>Intelligence Generation &amp; Analysis</a:t>
            </a:r>
          </a:p>
        </p:txBody>
      </p:sp>
      <p:sp>
        <p:nvSpPr>
          <p:cNvPr id="20" name="TextBox 19"/>
          <p:cNvSpPr txBox="1"/>
          <p:nvPr/>
        </p:nvSpPr>
        <p:spPr>
          <a:xfrm>
            <a:off x="1664208" y="2267712"/>
            <a:ext cx="9601200" cy="548640"/>
          </a:xfrm>
          <a:prstGeom prst="rect">
            <a:avLst/>
          </a:prstGeom>
          <a:noFill/>
        </p:spPr>
        <p:txBody>
          <a:bodyPr wrap="square"/>
          <a:lstStyle/>
          <a:p>
            <a:pPr algn="l"/>
            <a:r>
              <a:rPr sz="900" b="0" i="0">
                <a:solidFill>
                  <a:srgbClr val="475569"/>
                </a:solidFill>
                <a:latin typeface="Calibri"/>
              </a:rPr>
              <a:t>AI-driven. ML models and GenAI analyse collected data, detect patterns, assess significance and generate contextual intelligence. Outputs reviewed by automated quality checks before escalation. SLA: &lt;30 minutes from data collection to insight.</a:t>
            </a:r>
          </a:p>
        </p:txBody>
      </p:sp>
      <p:sp>
        <p:nvSpPr>
          <p:cNvPr id="21" name="Rectangle 20"/>
          <p:cNvSpPr/>
          <p:nvPr/>
        </p:nvSpPr>
        <p:spPr>
          <a:xfrm>
            <a:off x="164592" y="2944368"/>
            <a:ext cx="11859768" cy="9875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2944368"/>
            <a:ext cx="1371600" cy="9875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 y="3035808"/>
            <a:ext cx="1280160" cy="228600"/>
          </a:xfrm>
          <a:prstGeom prst="rect">
            <a:avLst/>
          </a:prstGeom>
          <a:noFill/>
        </p:spPr>
        <p:txBody>
          <a:bodyPr wrap="square"/>
          <a:lstStyle/>
          <a:p>
            <a:pPr algn="l"/>
            <a:r>
              <a:rPr sz="800" b="1" i="0">
                <a:solidFill>
                  <a:srgbClr val="FFFFFF"/>
                </a:solidFill>
                <a:latin typeface="Calibri"/>
              </a:rPr>
              <a:t>Tier 3</a:t>
            </a:r>
          </a:p>
        </p:txBody>
      </p:sp>
      <p:sp>
        <p:nvSpPr>
          <p:cNvPr id="24" name="TextBox 23"/>
          <p:cNvSpPr txBox="1"/>
          <p:nvPr/>
        </p:nvSpPr>
        <p:spPr>
          <a:xfrm>
            <a:off x="201168" y="3273552"/>
            <a:ext cx="1280160" cy="320040"/>
          </a:xfrm>
          <a:prstGeom prst="rect">
            <a:avLst/>
          </a:prstGeom>
          <a:noFill/>
        </p:spPr>
        <p:txBody>
          <a:bodyPr wrap="square"/>
          <a:lstStyle/>
          <a:p>
            <a:pPr algn="l"/>
            <a:r>
              <a:rPr sz="1000" b="1" i="0">
                <a:solidFill>
                  <a:srgbClr val="FFFFFF"/>
                </a:solidFill>
                <a:latin typeface="Calibri"/>
              </a:rPr>
              <a:t>RECOMMEND</a:t>
            </a:r>
          </a:p>
        </p:txBody>
      </p:sp>
      <p:sp>
        <p:nvSpPr>
          <p:cNvPr id="25" name="TextBox 24"/>
          <p:cNvSpPr txBox="1"/>
          <p:nvPr/>
        </p:nvSpPr>
        <p:spPr>
          <a:xfrm>
            <a:off x="1664208" y="3017520"/>
            <a:ext cx="9601200" cy="274320"/>
          </a:xfrm>
          <a:prstGeom prst="rect">
            <a:avLst/>
          </a:prstGeom>
          <a:noFill/>
        </p:spPr>
        <p:txBody>
          <a:bodyPr wrap="square"/>
          <a:lstStyle/>
          <a:p>
            <a:pPr algn="l"/>
            <a:r>
              <a:rPr sz="1050" b="1" i="0">
                <a:solidFill>
                  <a:srgbClr val="0A1628"/>
                </a:solidFill>
                <a:latin typeface="Calibri"/>
              </a:rPr>
              <a:t>Recommendation Review &amp; Refinement</a:t>
            </a:r>
          </a:p>
        </p:txBody>
      </p:sp>
      <p:sp>
        <p:nvSpPr>
          <p:cNvPr id="26" name="TextBox 25"/>
          <p:cNvSpPr txBox="1"/>
          <p:nvPr/>
        </p:nvSpPr>
        <p:spPr>
          <a:xfrm>
            <a:off x="1664208" y="3328416"/>
            <a:ext cx="9601200" cy="548640"/>
          </a:xfrm>
          <a:prstGeom prst="rect">
            <a:avLst/>
          </a:prstGeom>
          <a:noFill/>
        </p:spPr>
        <p:txBody>
          <a:bodyPr wrap="square"/>
          <a:lstStyle/>
          <a:p>
            <a:pPr algn="l"/>
            <a:r>
              <a:rPr sz="900" b="0" i="0">
                <a:solidFill>
                  <a:srgbClr val="475569"/>
                </a:solidFill>
                <a:latin typeface="Calibri"/>
              </a:rPr>
              <a:t>Human review required. Pricing and proposition teams receive AI-generated recommendations with full evidence, rationale and simulated impact. Teams can approve, modify or reject. All decisions recorded in audit log. SLA: same-day review for urgent signals.</a:t>
            </a:r>
          </a:p>
        </p:txBody>
      </p:sp>
      <p:sp>
        <p:nvSpPr>
          <p:cNvPr id="27" name="Rectangle 26"/>
          <p:cNvSpPr/>
          <p:nvPr/>
        </p:nvSpPr>
        <p:spPr>
          <a:xfrm>
            <a:off x="164592" y="4005072"/>
            <a:ext cx="11859768" cy="9875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4005072"/>
            <a:ext cx="1371600" cy="9875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1168" y="4096512"/>
            <a:ext cx="1280160" cy="228600"/>
          </a:xfrm>
          <a:prstGeom prst="rect">
            <a:avLst/>
          </a:prstGeom>
          <a:noFill/>
        </p:spPr>
        <p:txBody>
          <a:bodyPr wrap="square"/>
          <a:lstStyle/>
          <a:p>
            <a:pPr algn="l"/>
            <a:r>
              <a:rPr sz="800" b="1" i="0">
                <a:solidFill>
                  <a:srgbClr val="FFFFFF"/>
                </a:solidFill>
                <a:latin typeface="Calibri"/>
              </a:rPr>
              <a:t>Tier 4</a:t>
            </a:r>
          </a:p>
        </p:txBody>
      </p:sp>
      <p:sp>
        <p:nvSpPr>
          <p:cNvPr id="30" name="TextBox 29"/>
          <p:cNvSpPr txBox="1"/>
          <p:nvPr/>
        </p:nvSpPr>
        <p:spPr>
          <a:xfrm>
            <a:off x="201168" y="4334256"/>
            <a:ext cx="1280160" cy="320040"/>
          </a:xfrm>
          <a:prstGeom prst="rect">
            <a:avLst/>
          </a:prstGeom>
          <a:noFill/>
        </p:spPr>
        <p:txBody>
          <a:bodyPr wrap="square"/>
          <a:lstStyle/>
          <a:p>
            <a:pPr algn="l"/>
            <a:r>
              <a:rPr sz="1000" b="1" i="0">
                <a:solidFill>
                  <a:srgbClr val="FFFFFF"/>
                </a:solidFill>
                <a:latin typeface="Calibri"/>
              </a:rPr>
              <a:t>APPROVE</a:t>
            </a:r>
          </a:p>
        </p:txBody>
      </p:sp>
      <p:sp>
        <p:nvSpPr>
          <p:cNvPr id="31" name="TextBox 30"/>
          <p:cNvSpPr txBox="1"/>
          <p:nvPr/>
        </p:nvSpPr>
        <p:spPr>
          <a:xfrm>
            <a:off x="1664208" y="4078224"/>
            <a:ext cx="9601200" cy="274320"/>
          </a:xfrm>
          <a:prstGeom prst="rect">
            <a:avLst/>
          </a:prstGeom>
          <a:noFill/>
        </p:spPr>
        <p:txBody>
          <a:bodyPr wrap="square"/>
          <a:lstStyle/>
          <a:p>
            <a:pPr algn="l"/>
            <a:r>
              <a:rPr sz="1050" b="1" i="0">
                <a:solidFill>
                  <a:srgbClr val="0A1628"/>
                </a:solidFill>
                <a:latin typeface="Calibri"/>
              </a:rPr>
              <a:t>Governance Approval &amp; Sign-Off</a:t>
            </a:r>
          </a:p>
        </p:txBody>
      </p:sp>
      <p:sp>
        <p:nvSpPr>
          <p:cNvPr id="32" name="TextBox 31"/>
          <p:cNvSpPr txBox="1"/>
          <p:nvPr/>
        </p:nvSpPr>
        <p:spPr>
          <a:xfrm>
            <a:off x="1664208" y="4389120"/>
            <a:ext cx="9601200" cy="548640"/>
          </a:xfrm>
          <a:prstGeom prst="rect">
            <a:avLst/>
          </a:prstGeom>
          <a:noFill/>
        </p:spPr>
        <p:txBody>
          <a:bodyPr wrap="square"/>
          <a:lstStyle/>
          <a:p>
            <a:pPr algn="l"/>
            <a:r>
              <a:rPr sz="900" b="0" i="0">
                <a:solidFill>
                  <a:srgbClr val="475569"/>
                </a:solidFill>
                <a:latin typeface="Calibri"/>
              </a:rPr>
              <a:t>Senior approval required for material changes. Delegated authority framework applied. Pega workflow manages routing, escalation and SLA compliance. Full decision record created. Compliance team notified for significant pricing movements.</a:t>
            </a:r>
          </a:p>
        </p:txBody>
      </p:sp>
      <p:sp>
        <p:nvSpPr>
          <p:cNvPr id="33" name="Rectangle 32"/>
          <p:cNvSpPr/>
          <p:nvPr/>
        </p:nvSpPr>
        <p:spPr>
          <a:xfrm>
            <a:off x="164592" y="5065776"/>
            <a:ext cx="11859768" cy="9875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4592" y="5065776"/>
            <a:ext cx="1371600" cy="9875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1168" y="5157216"/>
            <a:ext cx="1280160" cy="228600"/>
          </a:xfrm>
          <a:prstGeom prst="rect">
            <a:avLst/>
          </a:prstGeom>
          <a:noFill/>
        </p:spPr>
        <p:txBody>
          <a:bodyPr wrap="square"/>
          <a:lstStyle/>
          <a:p>
            <a:pPr algn="l"/>
            <a:r>
              <a:rPr sz="800" b="1" i="0">
                <a:solidFill>
                  <a:srgbClr val="FFFFFF"/>
                </a:solidFill>
                <a:latin typeface="Calibri"/>
              </a:rPr>
              <a:t>Tier 5</a:t>
            </a:r>
          </a:p>
        </p:txBody>
      </p:sp>
      <p:sp>
        <p:nvSpPr>
          <p:cNvPr id="36" name="TextBox 35"/>
          <p:cNvSpPr txBox="1"/>
          <p:nvPr/>
        </p:nvSpPr>
        <p:spPr>
          <a:xfrm>
            <a:off x="201168" y="5394960"/>
            <a:ext cx="1280160" cy="320040"/>
          </a:xfrm>
          <a:prstGeom prst="rect">
            <a:avLst/>
          </a:prstGeom>
          <a:noFill/>
        </p:spPr>
        <p:txBody>
          <a:bodyPr wrap="square"/>
          <a:lstStyle/>
          <a:p>
            <a:pPr algn="l"/>
            <a:r>
              <a:rPr sz="1000" b="1" i="0">
                <a:solidFill>
                  <a:srgbClr val="FFFFFF"/>
                </a:solidFill>
                <a:latin typeface="Calibri"/>
              </a:rPr>
              <a:t>EXECUTE &amp; LEARN</a:t>
            </a:r>
          </a:p>
        </p:txBody>
      </p:sp>
      <p:sp>
        <p:nvSpPr>
          <p:cNvPr id="37" name="TextBox 36"/>
          <p:cNvSpPr txBox="1"/>
          <p:nvPr/>
        </p:nvSpPr>
        <p:spPr>
          <a:xfrm>
            <a:off x="1664208" y="5138928"/>
            <a:ext cx="9601200" cy="274320"/>
          </a:xfrm>
          <a:prstGeom prst="rect">
            <a:avLst/>
          </a:prstGeom>
          <a:noFill/>
        </p:spPr>
        <p:txBody>
          <a:bodyPr wrap="square"/>
          <a:lstStyle/>
          <a:p>
            <a:pPr algn="l"/>
            <a:r>
              <a:rPr sz="1050" b="1" i="0">
                <a:solidFill>
                  <a:srgbClr val="0A1628"/>
                </a:solidFill>
                <a:latin typeface="Calibri"/>
              </a:rPr>
              <a:t>Execution &amp; Outcome Measurement</a:t>
            </a:r>
          </a:p>
        </p:txBody>
      </p:sp>
      <p:sp>
        <p:nvSpPr>
          <p:cNvPr id="38" name="TextBox 37"/>
          <p:cNvSpPr txBox="1"/>
          <p:nvPr/>
        </p:nvSpPr>
        <p:spPr>
          <a:xfrm>
            <a:off x="1664208" y="5449824"/>
            <a:ext cx="9601200" cy="548640"/>
          </a:xfrm>
          <a:prstGeom prst="rect">
            <a:avLst/>
          </a:prstGeom>
          <a:noFill/>
        </p:spPr>
        <p:txBody>
          <a:bodyPr wrap="square"/>
          <a:lstStyle/>
          <a:p>
            <a:pPr algn="l"/>
            <a:r>
              <a:rPr sz="900" b="0" i="0">
                <a:solidFill>
                  <a:srgbClr val="475569"/>
                </a:solidFill>
                <a:latin typeface="Calibri"/>
              </a:rPr>
              <a:t>Approved changes implemented through API integrations. Change confirmation logged. Post-implementation monitoring initiated automatically. Outcome data fed back to Learning Agent within defined measurement window.</a:t>
            </a:r>
          </a:p>
        </p:txBody>
      </p:sp>
      <p:sp>
        <p:nvSpPr>
          <p:cNvPr id="39" name="Rectangle 38"/>
          <p:cNvSpPr/>
          <p:nvPr/>
        </p:nvSpPr>
        <p:spPr>
          <a:xfrm>
            <a:off x="164592" y="5943600"/>
            <a:ext cx="11859768" cy="59436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 y="6080760"/>
            <a:ext cx="11594592" cy="365760"/>
          </a:xfrm>
          <a:prstGeom prst="rect">
            <a:avLst/>
          </a:prstGeom>
          <a:noFill/>
        </p:spPr>
        <p:txBody>
          <a:bodyPr wrap="square"/>
          <a:lstStyle/>
          <a:p>
            <a:pPr algn="ctr"/>
            <a:r>
              <a:rPr sz="1100" b="1" i="1">
                <a:solidFill>
                  <a:srgbClr val="FFFFFF"/>
                </a:solidFill>
                <a:latin typeface="Calibri"/>
              </a:rPr>
              <a:t>The platform recommends. People decide. Systems execute. Outcomes measured. Always.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GOVERNANCE &amp; RISK</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Governance &amp; Risk Framework</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13 / 18</a:t>
            </a:r>
          </a:p>
        </p:txBody>
      </p:sp>
      <p:sp>
        <p:nvSpPr>
          <p:cNvPr id="9" name="Rectangle 8"/>
          <p:cNvSpPr/>
          <p:nvPr/>
        </p:nvSpPr>
        <p:spPr>
          <a:xfrm>
            <a:off x="164592" y="822960"/>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22960"/>
            <a:ext cx="3749039"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914400"/>
            <a:ext cx="3566159" cy="274320"/>
          </a:xfrm>
          <a:prstGeom prst="rect">
            <a:avLst/>
          </a:prstGeom>
          <a:noFill/>
        </p:spPr>
        <p:txBody>
          <a:bodyPr wrap="square"/>
          <a:lstStyle/>
          <a:p>
            <a:pPr algn="l"/>
            <a:r>
              <a:rPr sz="1100" b="1" i="0">
                <a:solidFill>
                  <a:srgbClr val="0A1628"/>
                </a:solidFill>
                <a:latin typeface="Calibri"/>
              </a:rPr>
              <a:t>FCA Alignment</a:t>
            </a:r>
          </a:p>
        </p:txBody>
      </p:sp>
      <p:sp>
        <p:nvSpPr>
          <p:cNvPr id="12" name="TextBox 11"/>
          <p:cNvSpPr txBox="1"/>
          <p:nvPr/>
        </p:nvSpPr>
        <p:spPr>
          <a:xfrm>
            <a:off x="274320" y="1261872"/>
            <a:ext cx="3566159" cy="1828800"/>
          </a:xfrm>
          <a:prstGeom prst="rect">
            <a:avLst/>
          </a:prstGeom>
          <a:noFill/>
        </p:spPr>
        <p:txBody>
          <a:bodyPr wrap="square"/>
          <a:lstStyle/>
          <a:p>
            <a:pPr algn="l"/>
            <a:r>
              <a:rPr sz="850" b="0" i="0">
                <a:solidFill>
                  <a:srgbClr val="475569"/>
                </a:solidFill>
                <a:latin typeface="Calibri"/>
              </a:rPr>
              <a:t>Consumer Duty obligations met through explainable AI outputs and human decision accountability. Pricing decisions remain with authorised individuals. AI provides decision support, not autonomous pricing. Regular review of AI outputs against FCA fair value requirements.</a:t>
            </a:r>
          </a:p>
        </p:txBody>
      </p:sp>
      <p:sp>
        <p:nvSpPr>
          <p:cNvPr id="13" name="Rectangle 12"/>
          <p:cNvSpPr/>
          <p:nvPr/>
        </p:nvSpPr>
        <p:spPr>
          <a:xfrm>
            <a:off x="4023359" y="822960"/>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23359" y="822960"/>
            <a:ext cx="3749039"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33087" y="914400"/>
            <a:ext cx="3566159" cy="274320"/>
          </a:xfrm>
          <a:prstGeom prst="rect">
            <a:avLst/>
          </a:prstGeom>
          <a:noFill/>
        </p:spPr>
        <p:txBody>
          <a:bodyPr wrap="square"/>
          <a:lstStyle/>
          <a:p>
            <a:pPr algn="l"/>
            <a:r>
              <a:rPr sz="1100" b="1" i="0">
                <a:solidFill>
                  <a:srgbClr val="0A1628"/>
                </a:solidFill>
                <a:latin typeface="Calibri"/>
              </a:rPr>
              <a:t>Auditability</a:t>
            </a:r>
          </a:p>
        </p:txBody>
      </p:sp>
      <p:sp>
        <p:nvSpPr>
          <p:cNvPr id="16" name="TextBox 15"/>
          <p:cNvSpPr txBox="1"/>
          <p:nvPr/>
        </p:nvSpPr>
        <p:spPr>
          <a:xfrm>
            <a:off x="4133087" y="1261872"/>
            <a:ext cx="3566159" cy="1828800"/>
          </a:xfrm>
          <a:prstGeom prst="rect">
            <a:avLst/>
          </a:prstGeom>
          <a:noFill/>
        </p:spPr>
        <p:txBody>
          <a:bodyPr wrap="square"/>
          <a:lstStyle/>
          <a:p>
            <a:pPr algn="l"/>
            <a:r>
              <a:rPr sz="850" b="0" i="0">
                <a:solidFill>
                  <a:srgbClr val="475569"/>
                </a:solidFill>
                <a:latin typeface="Calibri"/>
              </a:rPr>
              <a:t>Complete decision lineage from market data collection through to executed change. Every recommendation, approval, modification and rejection recorded with timestamp, user identity and rationale. Audit trail accessible for regulatory review within defined SLAs.</a:t>
            </a:r>
          </a:p>
        </p:txBody>
      </p:sp>
      <p:sp>
        <p:nvSpPr>
          <p:cNvPr id="17" name="Rectangle 16"/>
          <p:cNvSpPr/>
          <p:nvPr/>
        </p:nvSpPr>
        <p:spPr>
          <a:xfrm>
            <a:off x="7882126" y="822960"/>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82126" y="822960"/>
            <a:ext cx="3749039"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91854" y="914400"/>
            <a:ext cx="3566159" cy="274320"/>
          </a:xfrm>
          <a:prstGeom prst="rect">
            <a:avLst/>
          </a:prstGeom>
          <a:noFill/>
        </p:spPr>
        <p:txBody>
          <a:bodyPr wrap="square"/>
          <a:lstStyle/>
          <a:p>
            <a:pPr algn="l"/>
            <a:r>
              <a:rPr sz="1100" b="1" i="0">
                <a:solidFill>
                  <a:srgbClr val="0A1628"/>
                </a:solidFill>
                <a:latin typeface="Calibri"/>
              </a:rPr>
              <a:t>Explainability</a:t>
            </a:r>
          </a:p>
        </p:txBody>
      </p:sp>
      <p:sp>
        <p:nvSpPr>
          <p:cNvPr id="20" name="TextBox 19"/>
          <p:cNvSpPr txBox="1"/>
          <p:nvPr/>
        </p:nvSpPr>
        <p:spPr>
          <a:xfrm>
            <a:off x="7991854" y="1261872"/>
            <a:ext cx="3566159" cy="1828800"/>
          </a:xfrm>
          <a:prstGeom prst="rect">
            <a:avLst/>
          </a:prstGeom>
          <a:noFill/>
        </p:spPr>
        <p:txBody>
          <a:bodyPr wrap="square"/>
          <a:lstStyle/>
          <a:p>
            <a:pPr algn="l"/>
            <a:r>
              <a:rPr sz="850" b="0" i="0">
                <a:solidFill>
                  <a:srgbClr val="475569"/>
                </a:solidFill>
                <a:latin typeface="Calibri"/>
              </a:rPr>
              <a:t>All AI recommendations accompanied by human-readable rationale. ML model outputs include feature importance and confidence scores. GenAI outputs include source data references. Pricing teams able to interrogate and challenge recommendations before approving.</a:t>
            </a:r>
          </a:p>
        </p:txBody>
      </p:sp>
      <p:sp>
        <p:nvSpPr>
          <p:cNvPr id="21" name="Rectangle 20"/>
          <p:cNvSpPr/>
          <p:nvPr/>
        </p:nvSpPr>
        <p:spPr>
          <a:xfrm>
            <a:off x="164592" y="3264408"/>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3264408"/>
            <a:ext cx="3749039"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355848"/>
            <a:ext cx="3566159" cy="274320"/>
          </a:xfrm>
          <a:prstGeom prst="rect">
            <a:avLst/>
          </a:prstGeom>
          <a:noFill/>
        </p:spPr>
        <p:txBody>
          <a:bodyPr wrap="square"/>
          <a:lstStyle/>
          <a:p>
            <a:pPr algn="l"/>
            <a:r>
              <a:rPr sz="1100" b="1" i="0">
                <a:solidFill>
                  <a:srgbClr val="0A1628"/>
                </a:solidFill>
                <a:latin typeface="Calibri"/>
              </a:rPr>
              <a:t>Data Protection &amp; Privacy</a:t>
            </a:r>
          </a:p>
        </p:txBody>
      </p:sp>
      <p:sp>
        <p:nvSpPr>
          <p:cNvPr id="24" name="TextBox 23"/>
          <p:cNvSpPr txBox="1"/>
          <p:nvPr/>
        </p:nvSpPr>
        <p:spPr>
          <a:xfrm>
            <a:off x="274320" y="3703320"/>
            <a:ext cx="3566159" cy="1828800"/>
          </a:xfrm>
          <a:prstGeom prst="rect">
            <a:avLst/>
          </a:prstGeom>
          <a:noFill/>
        </p:spPr>
        <p:txBody>
          <a:bodyPr wrap="square"/>
          <a:lstStyle/>
          <a:p>
            <a:pPr algn="l"/>
            <a:r>
              <a:rPr sz="850" b="0" i="0">
                <a:solidFill>
                  <a:srgbClr val="475569"/>
                </a:solidFill>
                <a:latin typeface="Calibri"/>
              </a:rPr>
              <a:t>No customer PII used in competitive intelligence workflows. Competitor market data treated as commercially sensitive. Role-based access controls applied. Data minimisation principles applied throughout. UK data residency maintained.</a:t>
            </a:r>
          </a:p>
        </p:txBody>
      </p:sp>
      <p:sp>
        <p:nvSpPr>
          <p:cNvPr id="25" name="Rectangle 24"/>
          <p:cNvSpPr/>
          <p:nvPr/>
        </p:nvSpPr>
        <p:spPr>
          <a:xfrm>
            <a:off x="4023359" y="3264408"/>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23359" y="3264408"/>
            <a:ext cx="3749039"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33087" y="3355848"/>
            <a:ext cx="3566159" cy="274320"/>
          </a:xfrm>
          <a:prstGeom prst="rect">
            <a:avLst/>
          </a:prstGeom>
          <a:noFill/>
        </p:spPr>
        <p:txBody>
          <a:bodyPr wrap="square"/>
          <a:lstStyle/>
          <a:p>
            <a:pPr algn="l"/>
            <a:r>
              <a:rPr sz="1100" b="1" i="0">
                <a:solidFill>
                  <a:srgbClr val="0A1628"/>
                </a:solidFill>
                <a:latin typeface="Calibri"/>
              </a:rPr>
              <a:t>Model Governance</a:t>
            </a:r>
          </a:p>
        </p:txBody>
      </p:sp>
      <p:sp>
        <p:nvSpPr>
          <p:cNvPr id="28" name="TextBox 27"/>
          <p:cNvSpPr txBox="1"/>
          <p:nvPr/>
        </p:nvSpPr>
        <p:spPr>
          <a:xfrm>
            <a:off x="4133087" y="3703320"/>
            <a:ext cx="3566159" cy="1828800"/>
          </a:xfrm>
          <a:prstGeom prst="rect">
            <a:avLst/>
          </a:prstGeom>
          <a:noFill/>
        </p:spPr>
        <p:txBody>
          <a:bodyPr wrap="square"/>
          <a:lstStyle/>
          <a:p>
            <a:pPr algn="l"/>
            <a:r>
              <a:rPr sz="850" b="0" i="0">
                <a:solidFill>
                  <a:srgbClr val="475569"/>
                </a:solidFill>
                <a:latin typeface="Calibri"/>
              </a:rPr>
              <a:t>All ML models subject to LBG model governance policy. Pre-deployment validation, champion/challenger testing and post-deployment monitoring mandatory. Model performance reviewed quarterly. Retraining triggered automatically on drift detection.</a:t>
            </a:r>
          </a:p>
        </p:txBody>
      </p:sp>
      <p:sp>
        <p:nvSpPr>
          <p:cNvPr id="29" name="Rectangle 28"/>
          <p:cNvSpPr/>
          <p:nvPr/>
        </p:nvSpPr>
        <p:spPr>
          <a:xfrm>
            <a:off x="7882126" y="3264408"/>
            <a:ext cx="3749039" cy="233172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82126" y="3264408"/>
            <a:ext cx="3749039"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91854" y="3355848"/>
            <a:ext cx="3566159" cy="274320"/>
          </a:xfrm>
          <a:prstGeom prst="rect">
            <a:avLst/>
          </a:prstGeom>
          <a:noFill/>
        </p:spPr>
        <p:txBody>
          <a:bodyPr wrap="square"/>
          <a:lstStyle/>
          <a:p>
            <a:pPr algn="l"/>
            <a:r>
              <a:rPr sz="1100" b="1" i="0">
                <a:solidFill>
                  <a:srgbClr val="0A1628"/>
                </a:solidFill>
                <a:latin typeface="Calibri"/>
              </a:rPr>
              <a:t>Operational Resilience</a:t>
            </a:r>
          </a:p>
        </p:txBody>
      </p:sp>
      <p:sp>
        <p:nvSpPr>
          <p:cNvPr id="32" name="TextBox 31"/>
          <p:cNvSpPr txBox="1"/>
          <p:nvPr/>
        </p:nvSpPr>
        <p:spPr>
          <a:xfrm>
            <a:off x="7991854" y="3703320"/>
            <a:ext cx="3566159" cy="1828800"/>
          </a:xfrm>
          <a:prstGeom prst="rect">
            <a:avLst/>
          </a:prstGeom>
          <a:noFill/>
        </p:spPr>
        <p:txBody>
          <a:bodyPr wrap="square"/>
          <a:lstStyle/>
          <a:p>
            <a:pPr algn="l"/>
            <a:r>
              <a:rPr sz="850" b="0" i="0">
                <a:solidFill>
                  <a:srgbClr val="475569"/>
                </a:solidFill>
                <a:latin typeface="Calibri"/>
              </a:rPr>
              <a:t>Platform designed for graceful degradation — core pricing operations continue if intelligence platform is unavailable. Recovery time objectives defined per component. Manual fallback procedures documented and tested. Third-party dependency risk assessed and mitigated.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MEASUREMENT FRAMEWORK</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KPI &amp; Measurement Framework</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14 / 18</a:t>
            </a:r>
          </a:p>
        </p:txBody>
      </p:sp>
      <p:sp>
        <p:nvSpPr>
          <p:cNvPr id="9" name="Rectangle 8"/>
          <p:cNvSpPr/>
          <p:nvPr/>
        </p:nvSpPr>
        <p:spPr>
          <a:xfrm>
            <a:off x="164592" y="804672"/>
            <a:ext cx="2834640" cy="5486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04672"/>
            <a:ext cx="2834640" cy="411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896112"/>
            <a:ext cx="2724912" cy="256032"/>
          </a:xfrm>
          <a:prstGeom prst="rect">
            <a:avLst/>
          </a:prstGeom>
          <a:noFill/>
        </p:spPr>
        <p:txBody>
          <a:bodyPr wrap="square"/>
          <a:lstStyle/>
          <a:p>
            <a:pPr algn="ctr"/>
            <a:r>
              <a:rPr sz="1100" b="1" i="0">
                <a:solidFill>
                  <a:srgbClr val="FFFFFF"/>
                </a:solidFill>
                <a:latin typeface="Calibri"/>
              </a:rPr>
              <a:t>COMMERCIAL</a:t>
            </a:r>
          </a:p>
        </p:txBody>
      </p:sp>
      <p:sp>
        <p:nvSpPr>
          <p:cNvPr id="12" name="Rectangle 11"/>
          <p:cNvSpPr/>
          <p:nvPr/>
        </p:nvSpPr>
        <p:spPr>
          <a:xfrm>
            <a:off x="237744" y="130759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37744" y="1307592"/>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 y="1417320"/>
            <a:ext cx="2560320" cy="530352"/>
          </a:xfrm>
          <a:prstGeom prst="rect">
            <a:avLst/>
          </a:prstGeom>
          <a:noFill/>
        </p:spPr>
        <p:txBody>
          <a:bodyPr wrap="square"/>
          <a:lstStyle/>
          <a:p>
            <a:pPr algn="l"/>
            <a:r>
              <a:rPr sz="850" b="0" i="0">
                <a:solidFill>
                  <a:srgbClr val="475569"/>
                </a:solidFill>
                <a:latin typeface="Calibri"/>
              </a:rPr>
              <a:t>PCW ranking position (by channel, brand, product)</a:t>
            </a:r>
          </a:p>
        </p:txBody>
      </p:sp>
      <p:sp>
        <p:nvSpPr>
          <p:cNvPr id="15" name="Rectangle 14"/>
          <p:cNvSpPr/>
          <p:nvPr/>
        </p:nvSpPr>
        <p:spPr>
          <a:xfrm>
            <a:off x="237744" y="2112264"/>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 y="2112264"/>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221992"/>
            <a:ext cx="2560320" cy="530352"/>
          </a:xfrm>
          <a:prstGeom prst="rect">
            <a:avLst/>
          </a:prstGeom>
          <a:noFill/>
        </p:spPr>
        <p:txBody>
          <a:bodyPr wrap="square"/>
          <a:lstStyle/>
          <a:p>
            <a:pPr algn="l"/>
            <a:r>
              <a:rPr sz="850" b="0" i="0">
                <a:solidFill>
                  <a:srgbClr val="475569"/>
                </a:solidFill>
                <a:latin typeface="Calibri"/>
              </a:rPr>
              <a:t>Quote conversion rate (PCW-sourced)</a:t>
            </a:r>
          </a:p>
        </p:txBody>
      </p:sp>
      <p:sp>
        <p:nvSpPr>
          <p:cNvPr id="18" name="Rectangle 17"/>
          <p:cNvSpPr/>
          <p:nvPr/>
        </p:nvSpPr>
        <p:spPr>
          <a:xfrm>
            <a:off x="237744" y="2916936"/>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7744" y="2916936"/>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9184" y="3026664"/>
            <a:ext cx="2560320" cy="530352"/>
          </a:xfrm>
          <a:prstGeom prst="rect">
            <a:avLst/>
          </a:prstGeom>
          <a:noFill/>
        </p:spPr>
        <p:txBody>
          <a:bodyPr wrap="square"/>
          <a:lstStyle/>
          <a:p>
            <a:pPr algn="l"/>
            <a:r>
              <a:rPr sz="850" b="0" i="0">
                <a:solidFill>
                  <a:srgbClr val="475569"/>
                </a:solidFill>
                <a:latin typeface="Calibri"/>
              </a:rPr>
              <a:t>New business volume (PCW channel)</a:t>
            </a:r>
          </a:p>
        </p:txBody>
      </p:sp>
      <p:sp>
        <p:nvSpPr>
          <p:cNvPr id="21" name="Rectangle 20"/>
          <p:cNvSpPr/>
          <p:nvPr/>
        </p:nvSpPr>
        <p:spPr>
          <a:xfrm>
            <a:off x="237744" y="3721608"/>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37744" y="3721608"/>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9184" y="3831336"/>
            <a:ext cx="2560320" cy="530352"/>
          </a:xfrm>
          <a:prstGeom prst="rect">
            <a:avLst/>
          </a:prstGeom>
          <a:noFill/>
        </p:spPr>
        <p:txBody>
          <a:bodyPr wrap="square"/>
          <a:lstStyle/>
          <a:p>
            <a:pPr algn="l"/>
            <a:r>
              <a:rPr sz="850" b="0" i="0">
                <a:solidFill>
                  <a:srgbClr val="475569"/>
                </a:solidFill>
                <a:latin typeface="Calibri"/>
              </a:rPr>
              <a:t>Revenue per PCW quote</a:t>
            </a:r>
          </a:p>
        </p:txBody>
      </p:sp>
      <p:sp>
        <p:nvSpPr>
          <p:cNvPr id="24" name="Rectangle 23"/>
          <p:cNvSpPr/>
          <p:nvPr/>
        </p:nvSpPr>
        <p:spPr>
          <a:xfrm>
            <a:off x="237744" y="4526280"/>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 y="4526280"/>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4636008"/>
            <a:ext cx="2560320" cy="530352"/>
          </a:xfrm>
          <a:prstGeom prst="rect">
            <a:avLst/>
          </a:prstGeom>
          <a:noFill/>
        </p:spPr>
        <p:txBody>
          <a:bodyPr wrap="square"/>
          <a:lstStyle/>
          <a:p>
            <a:pPr algn="l"/>
            <a:r>
              <a:rPr sz="850" b="0" i="0">
                <a:solidFill>
                  <a:srgbClr val="475569"/>
                </a:solidFill>
                <a:latin typeface="Calibri"/>
              </a:rPr>
              <a:t>Market share by PCW (where measurable)</a:t>
            </a:r>
          </a:p>
        </p:txBody>
      </p:sp>
      <p:sp>
        <p:nvSpPr>
          <p:cNvPr id="27" name="Rectangle 26"/>
          <p:cNvSpPr/>
          <p:nvPr/>
        </p:nvSpPr>
        <p:spPr>
          <a:xfrm>
            <a:off x="237744" y="533095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37744" y="5330952"/>
            <a:ext cx="36576" cy="71323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 y="5440680"/>
            <a:ext cx="2560320" cy="530352"/>
          </a:xfrm>
          <a:prstGeom prst="rect">
            <a:avLst/>
          </a:prstGeom>
          <a:noFill/>
        </p:spPr>
        <p:txBody>
          <a:bodyPr wrap="square"/>
          <a:lstStyle/>
          <a:p>
            <a:pPr algn="l"/>
            <a:r>
              <a:rPr sz="850" b="0" i="0">
                <a:solidFill>
                  <a:srgbClr val="475569"/>
                </a:solidFill>
                <a:latin typeface="Calibri"/>
              </a:rPr>
              <a:t>Competitive win/loss rate</a:t>
            </a:r>
          </a:p>
        </p:txBody>
      </p:sp>
      <p:sp>
        <p:nvSpPr>
          <p:cNvPr id="30" name="Rectangle 29"/>
          <p:cNvSpPr/>
          <p:nvPr/>
        </p:nvSpPr>
        <p:spPr>
          <a:xfrm>
            <a:off x="3090672" y="804672"/>
            <a:ext cx="2834640" cy="5486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090672" y="804672"/>
            <a:ext cx="2834640" cy="4114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63824" y="896112"/>
            <a:ext cx="2724912" cy="256032"/>
          </a:xfrm>
          <a:prstGeom prst="rect">
            <a:avLst/>
          </a:prstGeom>
          <a:noFill/>
        </p:spPr>
        <p:txBody>
          <a:bodyPr wrap="square"/>
          <a:lstStyle/>
          <a:p>
            <a:pPr algn="ctr"/>
            <a:r>
              <a:rPr sz="1100" b="1" i="0">
                <a:solidFill>
                  <a:srgbClr val="FFFFFF"/>
                </a:solidFill>
                <a:latin typeface="Calibri"/>
              </a:rPr>
              <a:t>OPERATIONAL</a:t>
            </a:r>
          </a:p>
        </p:txBody>
      </p:sp>
      <p:sp>
        <p:nvSpPr>
          <p:cNvPr id="33" name="Rectangle 32"/>
          <p:cNvSpPr/>
          <p:nvPr/>
        </p:nvSpPr>
        <p:spPr>
          <a:xfrm>
            <a:off x="3163824" y="130759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63824" y="1307592"/>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55264" y="1417320"/>
            <a:ext cx="2560320" cy="530352"/>
          </a:xfrm>
          <a:prstGeom prst="rect">
            <a:avLst/>
          </a:prstGeom>
          <a:noFill/>
        </p:spPr>
        <p:txBody>
          <a:bodyPr wrap="square"/>
          <a:lstStyle/>
          <a:p>
            <a:pPr algn="l"/>
            <a:r>
              <a:rPr sz="850" b="0" i="0">
                <a:solidFill>
                  <a:srgbClr val="475569"/>
                </a:solidFill>
                <a:latin typeface="Calibri"/>
              </a:rPr>
              <a:t>Market data freshness (minutes)</a:t>
            </a:r>
          </a:p>
        </p:txBody>
      </p:sp>
      <p:sp>
        <p:nvSpPr>
          <p:cNvPr id="36" name="Rectangle 35"/>
          <p:cNvSpPr/>
          <p:nvPr/>
        </p:nvSpPr>
        <p:spPr>
          <a:xfrm>
            <a:off x="3163824" y="2112264"/>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163824" y="2112264"/>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55264" y="2221992"/>
            <a:ext cx="2560320" cy="530352"/>
          </a:xfrm>
          <a:prstGeom prst="rect">
            <a:avLst/>
          </a:prstGeom>
          <a:noFill/>
        </p:spPr>
        <p:txBody>
          <a:bodyPr wrap="square"/>
          <a:lstStyle/>
          <a:p>
            <a:pPr algn="l"/>
            <a:r>
              <a:rPr sz="850" b="0" i="0">
                <a:solidFill>
                  <a:srgbClr val="475569"/>
                </a:solidFill>
                <a:latin typeface="Calibri"/>
              </a:rPr>
              <a:t>Time: signal to insight (target &lt;30 min)</a:t>
            </a:r>
          </a:p>
        </p:txBody>
      </p:sp>
      <p:sp>
        <p:nvSpPr>
          <p:cNvPr id="39" name="Rectangle 38"/>
          <p:cNvSpPr/>
          <p:nvPr/>
        </p:nvSpPr>
        <p:spPr>
          <a:xfrm>
            <a:off x="3163824" y="2916936"/>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63824" y="2916936"/>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55264" y="3026664"/>
            <a:ext cx="2560320" cy="530352"/>
          </a:xfrm>
          <a:prstGeom prst="rect">
            <a:avLst/>
          </a:prstGeom>
          <a:noFill/>
        </p:spPr>
        <p:txBody>
          <a:bodyPr wrap="square"/>
          <a:lstStyle/>
          <a:p>
            <a:pPr algn="l"/>
            <a:r>
              <a:rPr sz="850" b="0" i="0">
                <a:solidFill>
                  <a:srgbClr val="475569"/>
                </a:solidFill>
                <a:latin typeface="Calibri"/>
              </a:rPr>
              <a:t>Time: insight to recommendation (target &lt;2 hrs)</a:t>
            </a:r>
          </a:p>
        </p:txBody>
      </p:sp>
      <p:sp>
        <p:nvSpPr>
          <p:cNvPr id="42" name="Rectangle 41"/>
          <p:cNvSpPr/>
          <p:nvPr/>
        </p:nvSpPr>
        <p:spPr>
          <a:xfrm>
            <a:off x="3163824" y="3721608"/>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163824" y="3721608"/>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55264" y="3831336"/>
            <a:ext cx="2560320" cy="530352"/>
          </a:xfrm>
          <a:prstGeom prst="rect">
            <a:avLst/>
          </a:prstGeom>
          <a:noFill/>
        </p:spPr>
        <p:txBody>
          <a:bodyPr wrap="square"/>
          <a:lstStyle/>
          <a:p>
            <a:pPr algn="l"/>
            <a:r>
              <a:rPr sz="850" b="0" i="0">
                <a:solidFill>
                  <a:srgbClr val="475569"/>
                </a:solidFill>
                <a:latin typeface="Calibri"/>
              </a:rPr>
              <a:t>Time: recommendation to decision (target same day)</a:t>
            </a:r>
          </a:p>
        </p:txBody>
      </p:sp>
      <p:sp>
        <p:nvSpPr>
          <p:cNvPr id="45" name="Rectangle 44"/>
          <p:cNvSpPr/>
          <p:nvPr/>
        </p:nvSpPr>
        <p:spPr>
          <a:xfrm>
            <a:off x="3163824" y="4526280"/>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63824" y="4526280"/>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55264" y="4636008"/>
            <a:ext cx="2560320" cy="530352"/>
          </a:xfrm>
          <a:prstGeom prst="rect">
            <a:avLst/>
          </a:prstGeom>
          <a:noFill/>
        </p:spPr>
        <p:txBody>
          <a:bodyPr wrap="square"/>
          <a:lstStyle/>
          <a:p>
            <a:pPr algn="l"/>
            <a:r>
              <a:rPr sz="850" b="0" i="0">
                <a:solidFill>
                  <a:srgbClr val="475569"/>
                </a:solidFill>
                <a:latin typeface="Calibri"/>
              </a:rPr>
              <a:t>FTE hours saved (monitoring &amp; analysis)</a:t>
            </a:r>
          </a:p>
        </p:txBody>
      </p:sp>
      <p:sp>
        <p:nvSpPr>
          <p:cNvPr id="48" name="Rectangle 47"/>
          <p:cNvSpPr/>
          <p:nvPr/>
        </p:nvSpPr>
        <p:spPr>
          <a:xfrm>
            <a:off x="3163824" y="533095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163824" y="5330952"/>
            <a:ext cx="36576" cy="71323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55264" y="5440680"/>
            <a:ext cx="2560320" cy="530352"/>
          </a:xfrm>
          <a:prstGeom prst="rect">
            <a:avLst/>
          </a:prstGeom>
          <a:noFill/>
        </p:spPr>
        <p:txBody>
          <a:bodyPr wrap="square"/>
          <a:lstStyle/>
          <a:p>
            <a:pPr algn="l"/>
            <a:r>
              <a:rPr sz="850" b="0" i="0">
                <a:solidFill>
                  <a:srgbClr val="475569"/>
                </a:solidFill>
                <a:latin typeface="Calibri"/>
              </a:rPr>
              <a:t>Recommendation throughput (per week)</a:t>
            </a:r>
          </a:p>
        </p:txBody>
      </p:sp>
      <p:sp>
        <p:nvSpPr>
          <p:cNvPr id="51" name="Rectangle 50"/>
          <p:cNvSpPr/>
          <p:nvPr/>
        </p:nvSpPr>
        <p:spPr>
          <a:xfrm>
            <a:off x="6016752" y="804672"/>
            <a:ext cx="2834640" cy="5486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016752" y="804672"/>
            <a:ext cx="283464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89904" y="896112"/>
            <a:ext cx="2724912" cy="256032"/>
          </a:xfrm>
          <a:prstGeom prst="rect">
            <a:avLst/>
          </a:prstGeom>
          <a:noFill/>
        </p:spPr>
        <p:txBody>
          <a:bodyPr wrap="square"/>
          <a:lstStyle/>
          <a:p>
            <a:pPr algn="ctr"/>
            <a:r>
              <a:rPr sz="1100" b="1" i="0">
                <a:solidFill>
                  <a:srgbClr val="FFFFFF"/>
                </a:solidFill>
                <a:latin typeface="Calibri"/>
              </a:rPr>
              <a:t>STRATEGIC</a:t>
            </a:r>
          </a:p>
        </p:txBody>
      </p:sp>
      <p:sp>
        <p:nvSpPr>
          <p:cNvPr id="54" name="Rectangle 53"/>
          <p:cNvSpPr/>
          <p:nvPr/>
        </p:nvSpPr>
        <p:spPr>
          <a:xfrm>
            <a:off x="6089904" y="130759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089904" y="1307592"/>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81344" y="1417320"/>
            <a:ext cx="2560320" cy="530352"/>
          </a:xfrm>
          <a:prstGeom prst="rect">
            <a:avLst/>
          </a:prstGeom>
          <a:noFill/>
        </p:spPr>
        <p:txBody>
          <a:bodyPr wrap="square"/>
          <a:lstStyle/>
          <a:p>
            <a:pPr algn="l"/>
            <a:r>
              <a:rPr sz="850" b="0" i="0">
                <a:solidFill>
                  <a:srgbClr val="475569"/>
                </a:solidFill>
                <a:latin typeface="Calibri"/>
              </a:rPr>
              <a:t>Competitor coverage breadth (% of market monitored)</a:t>
            </a:r>
          </a:p>
        </p:txBody>
      </p:sp>
      <p:sp>
        <p:nvSpPr>
          <p:cNvPr id="57" name="Rectangle 56"/>
          <p:cNvSpPr/>
          <p:nvPr/>
        </p:nvSpPr>
        <p:spPr>
          <a:xfrm>
            <a:off x="6089904" y="2112264"/>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089904" y="2112264"/>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81344" y="2221992"/>
            <a:ext cx="2560320" cy="530352"/>
          </a:xfrm>
          <a:prstGeom prst="rect">
            <a:avLst/>
          </a:prstGeom>
          <a:noFill/>
        </p:spPr>
        <p:txBody>
          <a:bodyPr wrap="square"/>
          <a:lstStyle/>
          <a:p>
            <a:pPr algn="l"/>
            <a:r>
              <a:rPr sz="850" b="0" i="0">
                <a:solidFill>
                  <a:srgbClr val="475569"/>
                </a:solidFill>
                <a:latin typeface="Calibri"/>
              </a:rPr>
              <a:t>Recommendation adoption rate (%)</a:t>
            </a:r>
          </a:p>
        </p:txBody>
      </p:sp>
      <p:sp>
        <p:nvSpPr>
          <p:cNvPr id="60" name="Rectangle 59"/>
          <p:cNvSpPr/>
          <p:nvPr/>
        </p:nvSpPr>
        <p:spPr>
          <a:xfrm>
            <a:off x="6089904" y="2916936"/>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089904" y="2916936"/>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81344" y="3026664"/>
            <a:ext cx="2560320" cy="530352"/>
          </a:xfrm>
          <a:prstGeom prst="rect">
            <a:avLst/>
          </a:prstGeom>
          <a:noFill/>
        </p:spPr>
        <p:txBody>
          <a:bodyPr wrap="square"/>
          <a:lstStyle/>
          <a:p>
            <a:pPr algn="l"/>
            <a:r>
              <a:rPr sz="850" b="0" i="0">
                <a:solidFill>
                  <a:srgbClr val="475569"/>
                </a:solidFill>
                <a:latin typeface="Calibri"/>
              </a:rPr>
              <a:t>Recommendation accuracy (post-outcome)</a:t>
            </a:r>
          </a:p>
        </p:txBody>
      </p:sp>
      <p:sp>
        <p:nvSpPr>
          <p:cNvPr id="63" name="Rectangle 62"/>
          <p:cNvSpPr/>
          <p:nvPr/>
        </p:nvSpPr>
        <p:spPr>
          <a:xfrm>
            <a:off x="6089904" y="3721608"/>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89904" y="3721608"/>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81344" y="3831336"/>
            <a:ext cx="2560320" cy="530352"/>
          </a:xfrm>
          <a:prstGeom prst="rect">
            <a:avLst/>
          </a:prstGeom>
          <a:noFill/>
        </p:spPr>
        <p:txBody>
          <a:bodyPr wrap="square"/>
          <a:lstStyle/>
          <a:p>
            <a:pPr algn="l"/>
            <a:r>
              <a:rPr sz="850" b="0" i="0">
                <a:solidFill>
                  <a:srgbClr val="475569"/>
                </a:solidFill>
                <a:latin typeface="Calibri"/>
              </a:rPr>
              <a:t>Intelligence latency vs competitors (estimated)</a:t>
            </a:r>
          </a:p>
        </p:txBody>
      </p:sp>
      <p:sp>
        <p:nvSpPr>
          <p:cNvPr id="66" name="Rectangle 65"/>
          <p:cNvSpPr/>
          <p:nvPr/>
        </p:nvSpPr>
        <p:spPr>
          <a:xfrm>
            <a:off x="6089904" y="4526280"/>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089904" y="4526280"/>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81344" y="4636008"/>
            <a:ext cx="2560320" cy="530352"/>
          </a:xfrm>
          <a:prstGeom prst="rect">
            <a:avLst/>
          </a:prstGeom>
          <a:noFill/>
        </p:spPr>
        <p:txBody>
          <a:bodyPr wrap="square"/>
          <a:lstStyle/>
          <a:p>
            <a:pPr algn="l"/>
            <a:r>
              <a:rPr sz="850" b="0" i="0">
                <a:solidFill>
                  <a:srgbClr val="475569"/>
                </a:solidFill>
                <a:latin typeface="Calibri"/>
              </a:rPr>
              <a:t>Platform reuse across GI product lines</a:t>
            </a:r>
          </a:p>
        </p:txBody>
      </p:sp>
      <p:sp>
        <p:nvSpPr>
          <p:cNvPr id="69" name="Rectangle 68"/>
          <p:cNvSpPr/>
          <p:nvPr/>
        </p:nvSpPr>
        <p:spPr>
          <a:xfrm>
            <a:off x="6089904" y="533095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9904" y="5330952"/>
            <a:ext cx="36576" cy="71323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81344" y="5440680"/>
            <a:ext cx="2560320" cy="530352"/>
          </a:xfrm>
          <a:prstGeom prst="rect">
            <a:avLst/>
          </a:prstGeom>
          <a:noFill/>
        </p:spPr>
        <p:txBody>
          <a:bodyPr wrap="square"/>
          <a:lstStyle/>
          <a:p>
            <a:pPr algn="l"/>
            <a:r>
              <a:rPr sz="850" b="0" i="0">
                <a:solidFill>
                  <a:srgbClr val="475569"/>
                </a:solidFill>
                <a:latin typeface="Calibri"/>
              </a:rPr>
              <a:t>Stakeholder satisfaction score (NPS)</a:t>
            </a:r>
          </a:p>
        </p:txBody>
      </p:sp>
      <p:sp>
        <p:nvSpPr>
          <p:cNvPr id="72" name="Rectangle 71"/>
          <p:cNvSpPr/>
          <p:nvPr/>
        </p:nvSpPr>
        <p:spPr>
          <a:xfrm>
            <a:off x="8942832" y="804672"/>
            <a:ext cx="2834640" cy="5486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942832" y="804672"/>
            <a:ext cx="2834640"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15984" y="896112"/>
            <a:ext cx="2724912" cy="256032"/>
          </a:xfrm>
          <a:prstGeom prst="rect">
            <a:avLst/>
          </a:prstGeom>
          <a:noFill/>
        </p:spPr>
        <p:txBody>
          <a:bodyPr wrap="square"/>
          <a:lstStyle/>
          <a:p>
            <a:pPr algn="ctr"/>
            <a:r>
              <a:rPr sz="1100" b="1" i="0">
                <a:solidFill>
                  <a:srgbClr val="FFFFFF"/>
                </a:solidFill>
                <a:latin typeface="Calibri"/>
              </a:rPr>
              <a:t>RISK &amp; MODEL</a:t>
            </a:r>
          </a:p>
        </p:txBody>
      </p:sp>
      <p:sp>
        <p:nvSpPr>
          <p:cNvPr id="75" name="Rectangle 74"/>
          <p:cNvSpPr/>
          <p:nvPr/>
        </p:nvSpPr>
        <p:spPr>
          <a:xfrm>
            <a:off x="9015984" y="130759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015984" y="1307592"/>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07424" y="1417320"/>
            <a:ext cx="2560320" cy="530352"/>
          </a:xfrm>
          <a:prstGeom prst="rect">
            <a:avLst/>
          </a:prstGeom>
          <a:noFill/>
        </p:spPr>
        <p:txBody>
          <a:bodyPr wrap="square"/>
          <a:lstStyle/>
          <a:p>
            <a:pPr algn="l"/>
            <a:r>
              <a:rPr sz="850" b="0" i="0">
                <a:solidFill>
                  <a:srgbClr val="475569"/>
                </a:solidFill>
                <a:latin typeface="Calibri"/>
              </a:rPr>
              <a:t>Audit compliance rate (100% target)</a:t>
            </a:r>
          </a:p>
        </p:txBody>
      </p:sp>
      <p:sp>
        <p:nvSpPr>
          <p:cNvPr id="78" name="Rectangle 77"/>
          <p:cNvSpPr/>
          <p:nvPr/>
        </p:nvSpPr>
        <p:spPr>
          <a:xfrm>
            <a:off x="9015984" y="2112264"/>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015984" y="2112264"/>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107424" y="2221992"/>
            <a:ext cx="2560320" cy="530352"/>
          </a:xfrm>
          <a:prstGeom prst="rect">
            <a:avLst/>
          </a:prstGeom>
          <a:noFill/>
        </p:spPr>
        <p:txBody>
          <a:bodyPr wrap="square"/>
          <a:lstStyle/>
          <a:p>
            <a:pPr algn="l"/>
            <a:r>
              <a:rPr sz="850" b="0" i="0">
                <a:solidFill>
                  <a:srgbClr val="475569"/>
                </a:solidFill>
                <a:latin typeface="Calibri"/>
              </a:rPr>
              <a:t>Model performance vs baseline (monthly)</a:t>
            </a:r>
          </a:p>
        </p:txBody>
      </p:sp>
      <p:sp>
        <p:nvSpPr>
          <p:cNvPr id="81" name="Rectangle 80"/>
          <p:cNvSpPr/>
          <p:nvPr/>
        </p:nvSpPr>
        <p:spPr>
          <a:xfrm>
            <a:off x="9015984" y="2916936"/>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9015984" y="2916936"/>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107424" y="3026664"/>
            <a:ext cx="2560320" cy="530352"/>
          </a:xfrm>
          <a:prstGeom prst="rect">
            <a:avLst/>
          </a:prstGeom>
          <a:noFill/>
        </p:spPr>
        <p:txBody>
          <a:bodyPr wrap="square"/>
          <a:lstStyle/>
          <a:p>
            <a:pPr algn="l"/>
            <a:r>
              <a:rPr sz="850" b="0" i="0">
                <a:solidFill>
                  <a:srgbClr val="475569"/>
                </a:solidFill>
                <a:latin typeface="Calibri"/>
              </a:rPr>
              <a:t>Data quality score (% clean records)</a:t>
            </a:r>
          </a:p>
        </p:txBody>
      </p:sp>
      <p:sp>
        <p:nvSpPr>
          <p:cNvPr id="84" name="Rectangle 83"/>
          <p:cNvSpPr/>
          <p:nvPr/>
        </p:nvSpPr>
        <p:spPr>
          <a:xfrm>
            <a:off x="9015984" y="3721608"/>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015984" y="3721608"/>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07424" y="3831336"/>
            <a:ext cx="2560320" cy="530352"/>
          </a:xfrm>
          <a:prstGeom prst="rect">
            <a:avLst/>
          </a:prstGeom>
          <a:noFill/>
        </p:spPr>
        <p:txBody>
          <a:bodyPr wrap="square"/>
          <a:lstStyle/>
          <a:p>
            <a:pPr algn="l"/>
            <a:r>
              <a:rPr sz="850" b="0" i="0">
                <a:solidFill>
                  <a:srgbClr val="475569"/>
                </a:solidFill>
                <a:latin typeface="Calibri"/>
              </a:rPr>
              <a:t>Governance SLA compliance (%)</a:t>
            </a:r>
          </a:p>
        </p:txBody>
      </p:sp>
      <p:sp>
        <p:nvSpPr>
          <p:cNvPr id="87" name="Rectangle 86"/>
          <p:cNvSpPr/>
          <p:nvPr/>
        </p:nvSpPr>
        <p:spPr>
          <a:xfrm>
            <a:off x="9015984" y="4526280"/>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015984" y="4526280"/>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107424" y="4636008"/>
            <a:ext cx="2560320" cy="530352"/>
          </a:xfrm>
          <a:prstGeom prst="rect">
            <a:avLst/>
          </a:prstGeom>
          <a:noFill/>
        </p:spPr>
        <p:txBody>
          <a:bodyPr wrap="square"/>
          <a:lstStyle/>
          <a:p>
            <a:pPr algn="l"/>
            <a:r>
              <a:rPr sz="850" b="0" i="0">
                <a:solidFill>
                  <a:srgbClr val="475569"/>
                </a:solidFill>
                <a:latin typeface="Calibri"/>
              </a:rPr>
              <a:t>Model drift incidents (target zero)</a:t>
            </a:r>
          </a:p>
        </p:txBody>
      </p:sp>
      <p:sp>
        <p:nvSpPr>
          <p:cNvPr id="90" name="Rectangle 89"/>
          <p:cNvSpPr/>
          <p:nvPr/>
        </p:nvSpPr>
        <p:spPr>
          <a:xfrm>
            <a:off x="9015984" y="5330952"/>
            <a:ext cx="2688336"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015984" y="5330952"/>
            <a:ext cx="36576" cy="71323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107424" y="5440680"/>
            <a:ext cx="2560320" cy="530352"/>
          </a:xfrm>
          <a:prstGeom prst="rect">
            <a:avLst/>
          </a:prstGeom>
          <a:noFill/>
        </p:spPr>
        <p:txBody>
          <a:bodyPr wrap="square"/>
          <a:lstStyle/>
          <a:p>
            <a:pPr algn="l"/>
            <a:r>
              <a:rPr sz="850" b="0" i="0">
                <a:solidFill>
                  <a:srgbClr val="475569"/>
                </a:solidFill>
                <a:latin typeface="Calibri"/>
              </a:rPr>
              <a:t>FCA review findings (target zero)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DELIVERY ROADMAP</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Phased Delivery Roadmap — Four Waves to Full Capability</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15 / 18</a:t>
            </a:r>
          </a:p>
        </p:txBody>
      </p:sp>
      <p:sp>
        <p:nvSpPr>
          <p:cNvPr id="9" name="Rectangle 8"/>
          <p:cNvSpPr/>
          <p:nvPr/>
        </p:nvSpPr>
        <p:spPr>
          <a:xfrm>
            <a:off x="164592" y="804672"/>
            <a:ext cx="2834640" cy="55778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04672"/>
            <a:ext cx="2834640" cy="5486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032" y="850392"/>
            <a:ext cx="2697480" cy="201168"/>
          </a:xfrm>
          <a:prstGeom prst="rect">
            <a:avLst/>
          </a:prstGeom>
          <a:noFill/>
        </p:spPr>
        <p:txBody>
          <a:bodyPr wrap="square"/>
          <a:lstStyle/>
          <a:p>
            <a:pPr algn="l"/>
            <a:r>
              <a:rPr sz="850" b="1" i="0">
                <a:solidFill>
                  <a:srgbClr val="FFFFFF"/>
                </a:solidFill>
                <a:latin typeface="Calibri"/>
              </a:rPr>
              <a:t>Wave 1</a:t>
            </a:r>
          </a:p>
        </p:txBody>
      </p:sp>
      <p:sp>
        <p:nvSpPr>
          <p:cNvPr id="12" name="TextBox 11"/>
          <p:cNvSpPr txBox="1"/>
          <p:nvPr/>
        </p:nvSpPr>
        <p:spPr>
          <a:xfrm>
            <a:off x="256032" y="1060704"/>
            <a:ext cx="2697480" cy="228600"/>
          </a:xfrm>
          <a:prstGeom prst="rect">
            <a:avLst/>
          </a:prstGeom>
          <a:noFill/>
        </p:spPr>
        <p:txBody>
          <a:bodyPr wrap="square"/>
          <a:lstStyle/>
          <a:p>
            <a:pPr algn="l"/>
            <a:r>
              <a:rPr sz="1000" b="1" i="0">
                <a:solidFill>
                  <a:srgbClr val="FFFFFF"/>
                </a:solidFill>
                <a:latin typeface="Calibri"/>
              </a:rPr>
              <a:t>Market Visibility</a:t>
            </a:r>
          </a:p>
        </p:txBody>
      </p:sp>
      <p:sp>
        <p:nvSpPr>
          <p:cNvPr id="13" name="TextBox 12"/>
          <p:cNvSpPr txBox="1"/>
          <p:nvPr/>
        </p:nvSpPr>
        <p:spPr>
          <a:xfrm>
            <a:off x="256032" y="1280160"/>
            <a:ext cx="2697480" cy="182880"/>
          </a:xfrm>
          <a:prstGeom prst="rect">
            <a:avLst/>
          </a:prstGeom>
          <a:noFill/>
        </p:spPr>
        <p:txBody>
          <a:bodyPr wrap="square"/>
          <a:lstStyle/>
          <a:p>
            <a:pPr algn="l"/>
            <a:r>
              <a:rPr sz="800" b="0" i="0">
                <a:solidFill>
                  <a:srgbClr val="E8E8E8"/>
                </a:solidFill>
                <a:latin typeface="Calibri"/>
              </a:rPr>
              <a:t>Months 1-3</a:t>
            </a:r>
          </a:p>
        </p:txBody>
      </p:sp>
      <p:sp>
        <p:nvSpPr>
          <p:cNvPr id="14" name="Rectangle 13"/>
          <p:cNvSpPr/>
          <p:nvPr/>
        </p:nvSpPr>
        <p:spPr>
          <a:xfrm>
            <a:off x="256032" y="14630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146304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1554480"/>
            <a:ext cx="2514600" cy="384048"/>
          </a:xfrm>
          <a:prstGeom prst="rect">
            <a:avLst/>
          </a:prstGeom>
          <a:noFill/>
        </p:spPr>
        <p:txBody>
          <a:bodyPr wrap="square"/>
          <a:lstStyle/>
          <a:p>
            <a:pPr algn="l"/>
            <a:r>
              <a:rPr sz="850" b="0" i="0">
                <a:solidFill>
                  <a:srgbClr val="475569"/>
                </a:solidFill>
                <a:latin typeface="Calibri"/>
              </a:rPr>
              <a:t>PCW data collection pipeline</a:t>
            </a:r>
          </a:p>
        </p:txBody>
      </p:sp>
      <p:sp>
        <p:nvSpPr>
          <p:cNvPr id="17" name="Rectangle 16"/>
          <p:cNvSpPr/>
          <p:nvPr/>
        </p:nvSpPr>
        <p:spPr>
          <a:xfrm>
            <a:off x="256032" y="20574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6032" y="205740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 y="2148840"/>
            <a:ext cx="2514600" cy="384048"/>
          </a:xfrm>
          <a:prstGeom prst="rect">
            <a:avLst/>
          </a:prstGeom>
          <a:noFill/>
        </p:spPr>
        <p:txBody>
          <a:bodyPr wrap="square"/>
          <a:lstStyle/>
          <a:p>
            <a:pPr algn="l"/>
            <a:r>
              <a:rPr sz="850" b="0" i="0">
                <a:solidFill>
                  <a:srgbClr val="475569"/>
                </a:solidFill>
                <a:latin typeface="Calibri"/>
              </a:rPr>
              <a:t>Competitor baseline dataset</a:t>
            </a:r>
          </a:p>
        </p:txBody>
      </p:sp>
      <p:sp>
        <p:nvSpPr>
          <p:cNvPr id="20" name="Rectangle 19"/>
          <p:cNvSpPr/>
          <p:nvPr/>
        </p:nvSpPr>
        <p:spPr>
          <a:xfrm>
            <a:off x="256032" y="26517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 y="265176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7472" y="2743200"/>
            <a:ext cx="2514600" cy="384048"/>
          </a:xfrm>
          <a:prstGeom prst="rect">
            <a:avLst/>
          </a:prstGeom>
          <a:noFill/>
        </p:spPr>
        <p:txBody>
          <a:bodyPr wrap="square"/>
          <a:lstStyle/>
          <a:p>
            <a:pPr algn="l"/>
            <a:r>
              <a:rPr sz="850" b="0" i="0">
                <a:solidFill>
                  <a:srgbClr val="475569"/>
                </a:solidFill>
                <a:latin typeface="Calibri"/>
              </a:rPr>
              <a:t>Ranking capture (2 PCWs)</a:t>
            </a:r>
          </a:p>
        </p:txBody>
      </p:sp>
      <p:sp>
        <p:nvSpPr>
          <p:cNvPr id="23" name="Rectangle 22"/>
          <p:cNvSpPr/>
          <p:nvPr/>
        </p:nvSpPr>
        <p:spPr>
          <a:xfrm>
            <a:off x="256032" y="324612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56032" y="324612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3337560"/>
            <a:ext cx="2514600" cy="384048"/>
          </a:xfrm>
          <a:prstGeom prst="rect">
            <a:avLst/>
          </a:prstGeom>
          <a:noFill/>
        </p:spPr>
        <p:txBody>
          <a:bodyPr wrap="square"/>
          <a:lstStyle/>
          <a:p>
            <a:pPr algn="l"/>
            <a:r>
              <a:rPr sz="850" b="0" i="0">
                <a:solidFill>
                  <a:srgbClr val="475569"/>
                </a:solidFill>
                <a:latin typeface="Calibri"/>
              </a:rPr>
              <a:t>Data quality framework</a:t>
            </a:r>
          </a:p>
        </p:txBody>
      </p:sp>
      <p:sp>
        <p:nvSpPr>
          <p:cNvPr id="26" name="Rectangle 25"/>
          <p:cNvSpPr/>
          <p:nvPr/>
        </p:nvSpPr>
        <p:spPr>
          <a:xfrm>
            <a:off x="256032" y="384048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84048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 y="3931920"/>
            <a:ext cx="2514600" cy="384048"/>
          </a:xfrm>
          <a:prstGeom prst="rect">
            <a:avLst/>
          </a:prstGeom>
          <a:noFill/>
        </p:spPr>
        <p:txBody>
          <a:bodyPr wrap="square"/>
          <a:lstStyle/>
          <a:p>
            <a:pPr algn="l"/>
            <a:r>
              <a:rPr sz="850" b="0" i="0">
                <a:solidFill>
                  <a:srgbClr val="475569"/>
                </a:solidFill>
                <a:latin typeface="Calibri"/>
              </a:rPr>
              <a:t>Executive monitoring dashboard</a:t>
            </a:r>
          </a:p>
        </p:txBody>
      </p:sp>
      <p:sp>
        <p:nvSpPr>
          <p:cNvPr id="29" name="Rectangle 28"/>
          <p:cNvSpPr/>
          <p:nvPr/>
        </p:nvSpPr>
        <p:spPr>
          <a:xfrm>
            <a:off x="256032" y="44348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6032" y="443484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472" y="4526280"/>
            <a:ext cx="2514600" cy="384048"/>
          </a:xfrm>
          <a:prstGeom prst="rect">
            <a:avLst/>
          </a:prstGeom>
          <a:noFill/>
        </p:spPr>
        <p:txBody>
          <a:bodyPr wrap="square"/>
          <a:lstStyle/>
          <a:p>
            <a:pPr algn="l"/>
            <a:r>
              <a:rPr sz="850" b="0" i="0">
                <a:solidFill>
                  <a:srgbClr val="475569"/>
                </a:solidFill>
                <a:latin typeface="Calibri"/>
              </a:rPr>
              <a:t>Initial ML anomaly detection</a:t>
            </a:r>
          </a:p>
        </p:txBody>
      </p:sp>
      <p:sp>
        <p:nvSpPr>
          <p:cNvPr id="32" name="Rectangle 31"/>
          <p:cNvSpPr/>
          <p:nvPr/>
        </p:nvSpPr>
        <p:spPr>
          <a:xfrm>
            <a:off x="256032" y="50292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56032" y="502920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7472" y="5120640"/>
            <a:ext cx="2514600" cy="384048"/>
          </a:xfrm>
          <a:prstGeom prst="rect">
            <a:avLst/>
          </a:prstGeom>
          <a:noFill/>
        </p:spPr>
        <p:txBody>
          <a:bodyPr wrap="square"/>
          <a:lstStyle/>
          <a:p>
            <a:pPr algn="l"/>
            <a:r>
              <a:rPr sz="850" b="0" i="0">
                <a:solidFill>
                  <a:srgbClr val="475569"/>
                </a:solidFill>
                <a:latin typeface="Calibri"/>
              </a:rPr>
              <a:t>Platform infrastructure setup</a:t>
            </a:r>
          </a:p>
        </p:txBody>
      </p:sp>
      <p:sp>
        <p:nvSpPr>
          <p:cNvPr id="35" name="Rectangle 34"/>
          <p:cNvSpPr/>
          <p:nvPr/>
        </p:nvSpPr>
        <p:spPr>
          <a:xfrm>
            <a:off x="256032" y="56235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56032" y="5623560"/>
            <a:ext cx="36576" cy="53035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 y="5715000"/>
            <a:ext cx="2514600" cy="384048"/>
          </a:xfrm>
          <a:prstGeom prst="rect">
            <a:avLst/>
          </a:prstGeom>
          <a:noFill/>
        </p:spPr>
        <p:txBody>
          <a:bodyPr wrap="square"/>
          <a:lstStyle/>
          <a:p>
            <a:pPr algn="l"/>
            <a:r>
              <a:rPr sz="850" b="0" i="0">
                <a:solidFill>
                  <a:srgbClr val="475569"/>
                </a:solidFill>
                <a:latin typeface="Calibri"/>
              </a:rPr>
              <a:t>Team onboarding &amp; training</a:t>
            </a:r>
          </a:p>
        </p:txBody>
      </p:sp>
      <p:sp>
        <p:nvSpPr>
          <p:cNvPr id="38" name="Rectangle 37"/>
          <p:cNvSpPr/>
          <p:nvPr/>
        </p:nvSpPr>
        <p:spPr>
          <a:xfrm>
            <a:off x="3108960" y="804672"/>
            <a:ext cx="2834640" cy="55778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108960" y="804672"/>
            <a:ext cx="2834640" cy="5486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00400" y="850392"/>
            <a:ext cx="2697480" cy="201168"/>
          </a:xfrm>
          <a:prstGeom prst="rect">
            <a:avLst/>
          </a:prstGeom>
          <a:noFill/>
        </p:spPr>
        <p:txBody>
          <a:bodyPr wrap="square"/>
          <a:lstStyle/>
          <a:p>
            <a:pPr algn="l"/>
            <a:r>
              <a:rPr sz="850" b="1" i="0">
                <a:solidFill>
                  <a:srgbClr val="FFFFFF"/>
                </a:solidFill>
                <a:latin typeface="Calibri"/>
              </a:rPr>
              <a:t>Wave 2</a:t>
            </a:r>
          </a:p>
        </p:txBody>
      </p:sp>
      <p:sp>
        <p:nvSpPr>
          <p:cNvPr id="41" name="TextBox 40"/>
          <p:cNvSpPr txBox="1"/>
          <p:nvPr/>
        </p:nvSpPr>
        <p:spPr>
          <a:xfrm>
            <a:off x="3200400" y="1060704"/>
            <a:ext cx="2697480" cy="228600"/>
          </a:xfrm>
          <a:prstGeom prst="rect">
            <a:avLst/>
          </a:prstGeom>
          <a:noFill/>
        </p:spPr>
        <p:txBody>
          <a:bodyPr wrap="square"/>
          <a:lstStyle/>
          <a:p>
            <a:pPr algn="l"/>
            <a:r>
              <a:rPr sz="1000" b="1" i="0">
                <a:solidFill>
                  <a:srgbClr val="FFFFFF"/>
                </a:solidFill>
                <a:latin typeface="Calibri"/>
              </a:rPr>
              <a:t>Intelligence</a:t>
            </a:r>
          </a:p>
        </p:txBody>
      </p:sp>
      <p:sp>
        <p:nvSpPr>
          <p:cNvPr id="42" name="TextBox 41"/>
          <p:cNvSpPr txBox="1"/>
          <p:nvPr/>
        </p:nvSpPr>
        <p:spPr>
          <a:xfrm>
            <a:off x="3200400" y="1280160"/>
            <a:ext cx="2697480" cy="182880"/>
          </a:xfrm>
          <a:prstGeom prst="rect">
            <a:avLst/>
          </a:prstGeom>
          <a:noFill/>
        </p:spPr>
        <p:txBody>
          <a:bodyPr wrap="square"/>
          <a:lstStyle/>
          <a:p>
            <a:pPr algn="l"/>
            <a:r>
              <a:rPr sz="800" b="0" i="0">
                <a:solidFill>
                  <a:srgbClr val="E8E8E8"/>
                </a:solidFill>
                <a:latin typeface="Calibri"/>
              </a:rPr>
              <a:t>Months 4-6</a:t>
            </a:r>
          </a:p>
        </p:txBody>
      </p:sp>
      <p:sp>
        <p:nvSpPr>
          <p:cNvPr id="43" name="Rectangle 42"/>
          <p:cNvSpPr/>
          <p:nvPr/>
        </p:nvSpPr>
        <p:spPr>
          <a:xfrm>
            <a:off x="3200400" y="14630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00400" y="146304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91840" y="1554480"/>
            <a:ext cx="2514600" cy="384048"/>
          </a:xfrm>
          <a:prstGeom prst="rect">
            <a:avLst/>
          </a:prstGeom>
          <a:noFill/>
        </p:spPr>
        <p:txBody>
          <a:bodyPr wrap="square"/>
          <a:lstStyle/>
          <a:p>
            <a:pPr algn="l"/>
            <a:r>
              <a:rPr sz="850" b="0" i="0">
                <a:solidFill>
                  <a:srgbClr val="475569"/>
                </a:solidFill>
                <a:latin typeface="Calibri"/>
              </a:rPr>
              <a:t>ML trend detection models</a:t>
            </a:r>
          </a:p>
        </p:txBody>
      </p:sp>
      <p:sp>
        <p:nvSpPr>
          <p:cNvPr id="46" name="Rectangle 45"/>
          <p:cNvSpPr/>
          <p:nvPr/>
        </p:nvSpPr>
        <p:spPr>
          <a:xfrm>
            <a:off x="3200400" y="20574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00400" y="205740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91840" y="2148840"/>
            <a:ext cx="2514600" cy="384048"/>
          </a:xfrm>
          <a:prstGeom prst="rect">
            <a:avLst/>
          </a:prstGeom>
          <a:noFill/>
        </p:spPr>
        <p:txBody>
          <a:bodyPr wrap="square"/>
          <a:lstStyle/>
          <a:p>
            <a:pPr algn="l"/>
            <a:r>
              <a:rPr sz="850" b="0" i="0">
                <a:solidFill>
                  <a:srgbClr val="475569"/>
                </a:solidFill>
                <a:latin typeface="Calibri"/>
              </a:rPr>
              <a:t>Competitor profiling capability</a:t>
            </a:r>
          </a:p>
        </p:txBody>
      </p:sp>
      <p:sp>
        <p:nvSpPr>
          <p:cNvPr id="49" name="Rectangle 48"/>
          <p:cNvSpPr/>
          <p:nvPr/>
        </p:nvSpPr>
        <p:spPr>
          <a:xfrm>
            <a:off x="3200400" y="26517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200400" y="265176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1840" y="2743200"/>
            <a:ext cx="2514600" cy="384048"/>
          </a:xfrm>
          <a:prstGeom prst="rect">
            <a:avLst/>
          </a:prstGeom>
          <a:noFill/>
        </p:spPr>
        <p:txBody>
          <a:bodyPr wrap="square"/>
          <a:lstStyle/>
          <a:p>
            <a:pPr algn="l"/>
            <a:r>
              <a:rPr sz="850" b="0" i="0">
                <a:solidFill>
                  <a:srgbClr val="475569"/>
                </a:solidFill>
                <a:latin typeface="Calibri"/>
              </a:rPr>
              <a:t>GenAI analysis summaries</a:t>
            </a:r>
          </a:p>
        </p:txBody>
      </p:sp>
      <p:sp>
        <p:nvSpPr>
          <p:cNvPr id="52" name="Rectangle 51"/>
          <p:cNvSpPr/>
          <p:nvPr/>
        </p:nvSpPr>
        <p:spPr>
          <a:xfrm>
            <a:off x="3200400" y="324612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200400" y="324612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91840" y="3337560"/>
            <a:ext cx="2514600" cy="384048"/>
          </a:xfrm>
          <a:prstGeom prst="rect">
            <a:avLst/>
          </a:prstGeom>
          <a:noFill/>
        </p:spPr>
        <p:txBody>
          <a:bodyPr wrap="square"/>
          <a:lstStyle/>
          <a:p>
            <a:pPr algn="l"/>
            <a:r>
              <a:rPr sz="850" b="0" i="0">
                <a:solidFill>
                  <a:srgbClr val="475569"/>
                </a:solidFill>
                <a:latin typeface="Calibri"/>
              </a:rPr>
              <a:t>Opportunity identification engine</a:t>
            </a:r>
          </a:p>
        </p:txBody>
      </p:sp>
      <p:sp>
        <p:nvSpPr>
          <p:cNvPr id="55" name="Rectangle 54"/>
          <p:cNvSpPr/>
          <p:nvPr/>
        </p:nvSpPr>
        <p:spPr>
          <a:xfrm>
            <a:off x="3200400" y="384048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200400" y="384048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91840" y="3931920"/>
            <a:ext cx="2514600" cy="384048"/>
          </a:xfrm>
          <a:prstGeom prst="rect">
            <a:avLst/>
          </a:prstGeom>
          <a:noFill/>
        </p:spPr>
        <p:txBody>
          <a:bodyPr wrap="square"/>
          <a:lstStyle/>
          <a:p>
            <a:pPr algn="l"/>
            <a:r>
              <a:rPr sz="850" b="0" i="0">
                <a:solidFill>
                  <a:srgbClr val="475569"/>
                </a:solidFill>
                <a:latin typeface="Calibri"/>
              </a:rPr>
              <a:t>Expanded PCW coverage (all channels)</a:t>
            </a:r>
          </a:p>
        </p:txBody>
      </p:sp>
      <p:sp>
        <p:nvSpPr>
          <p:cNvPr id="58" name="Rectangle 57"/>
          <p:cNvSpPr/>
          <p:nvPr/>
        </p:nvSpPr>
        <p:spPr>
          <a:xfrm>
            <a:off x="3200400" y="44348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200400" y="443484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291840" y="4526280"/>
            <a:ext cx="2514600" cy="384048"/>
          </a:xfrm>
          <a:prstGeom prst="rect">
            <a:avLst/>
          </a:prstGeom>
          <a:noFill/>
        </p:spPr>
        <p:txBody>
          <a:bodyPr wrap="square"/>
          <a:lstStyle/>
          <a:p>
            <a:pPr algn="l"/>
            <a:r>
              <a:rPr sz="850" b="0" i="0">
                <a:solidFill>
                  <a:srgbClr val="475569"/>
                </a:solidFill>
                <a:latin typeface="Calibri"/>
              </a:rPr>
              <a:t>Intelligence distribution workflow</a:t>
            </a:r>
          </a:p>
        </p:txBody>
      </p:sp>
      <p:sp>
        <p:nvSpPr>
          <p:cNvPr id="61" name="Rectangle 60"/>
          <p:cNvSpPr/>
          <p:nvPr/>
        </p:nvSpPr>
        <p:spPr>
          <a:xfrm>
            <a:off x="3200400" y="50292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200400" y="502920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91840" y="5120640"/>
            <a:ext cx="2514600" cy="384048"/>
          </a:xfrm>
          <a:prstGeom prst="rect">
            <a:avLst/>
          </a:prstGeom>
          <a:noFill/>
        </p:spPr>
        <p:txBody>
          <a:bodyPr wrap="square"/>
          <a:lstStyle/>
          <a:p>
            <a:pPr algn="l"/>
            <a:r>
              <a:rPr sz="850" b="0" i="0">
                <a:solidFill>
                  <a:srgbClr val="475569"/>
                </a:solidFill>
                <a:latin typeface="Calibri"/>
              </a:rPr>
              <a:t>Model performance monitoring</a:t>
            </a:r>
          </a:p>
        </p:txBody>
      </p:sp>
      <p:sp>
        <p:nvSpPr>
          <p:cNvPr id="64" name="Rectangle 63"/>
          <p:cNvSpPr/>
          <p:nvPr/>
        </p:nvSpPr>
        <p:spPr>
          <a:xfrm>
            <a:off x="3200400" y="56235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200400" y="5623560"/>
            <a:ext cx="36576" cy="53035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91840" y="5715000"/>
            <a:ext cx="2514600" cy="384048"/>
          </a:xfrm>
          <a:prstGeom prst="rect">
            <a:avLst/>
          </a:prstGeom>
          <a:noFill/>
        </p:spPr>
        <p:txBody>
          <a:bodyPr wrap="square"/>
          <a:lstStyle/>
          <a:p>
            <a:pPr algn="l"/>
            <a:r>
              <a:rPr sz="850" b="0" i="0">
                <a:solidFill>
                  <a:srgbClr val="475569"/>
                </a:solidFill>
                <a:latin typeface="Calibri"/>
              </a:rPr>
              <a:t>Stakeholder feedback loop</a:t>
            </a:r>
          </a:p>
        </p:txBody>
      </p:sp>
      <p:sp>
        <p:nvSpPr>
          <p:cNvPr id="67" name="Rectangle 66"/>
          <p:cNvSpPr/>
          <p:nvPr/>
        </p:nvSpPr>
        <p:spPr>
          <a:xfrm>
            <a:off x="6053328" y="804672"/>
            <a:ext cx="2834640" cy="55778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53328" y="804672"/>
            <a:ext cx="2834640"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44768" y="850392"/>
            <a:ext cx="2697480" cy="201168"/>
          </a:xfrm>
          <a:prstGeom prst="rect">
            <a:avLst/>
          </a:prstGeom>
          <a:noFill/>
        </p:spPr>
        <p:txBody>
          <a:bodyPr wrap="square"/>
          <a:lstStyle/>
          <a:p>
            <a:pPr algn="l"/>
            <a:r>
              <a:rPr sz="850" b="1" i="0">
                <a:solidFill>
                  <a:srgbClr val="FFFFFF"/>
                </a:solidFill>
                <a:latin typeface="Calibri"/>
              </a:rPr>
              <a:t>Wave 3</a:t>
            </a:r>
          </a:p>
        </p:txBody>
      </p:sp>
      <p:sp>
        <p:nvSpPr>
          <p:cNvPr id="70" name="TextBox 69"/>
          <p:cNvSpPr txBox="1"/>
          <p:nvPr/>
        </p:nvSpPr>
        <p:spPr>
          <a:xfrm>
            <a:off x="6144768" y="1060704"/>
            <a:ext cx="2697480" cy="228600"/>
          </a:xfrm>
          <a:prstGeom prst="rect">
            <a:avLst/>
          </a:prstGeom>
          <a:noFill/>
        </p:spPr>
        <p:txBody>
          <a:bodyPr wrap="square"/>
          <a:lstStyle/>
          <a:p>
            <a:pPr algn="l"/>
            <a:r>
              <a:rPr sz="1000" b="1" i="0">
                <a:solidFill>
                  <a:srgbClr val="FFFFFF"/>
                </a:solidFill>
                <a:latin typeface="Calibri"/>
              </a:rPr>
              <a:t>Decision Support</a:t>
            </a:r>
          </a:p>
        </p:txBody>
      </p:sp>
      <p:sp>
        <p:nvSpPr>
          <p:cNvPr id="71" name="TextBox 70"/>
          <p:cNvSpPr txBox="1"/>
          <p:nvPr/>
        </p:nvSpPr>
        <p:spPr>
          <a:xfrm>
            <a:off x="6144768" y="1280160"/>
            <a:ext cx="2697480" cy="182880"/>
          </a:xfrm>
          <a:prstGeom prst="rect">
            <a:avLst/>
          </a:prstGeom>
          <a:noFill/>
        </p:spPr>
        <p:txBody>
          <a:bodyPr wrap="square"/>
          <a:lstStyle/>
          <a:p>
            <a:pPr algn="l"/>
            <a:r>
              <a:rPr sz="800" b="0" i="0">
                <a:solidFill>
                  <a:srgbClr val="E8E8E8"/>
                </a:solidFill>
                <a:latin typeface="Calibri"/>
              </a:rPr>
              <a:t>Months 7-9</a:t>
            </a:r>
          </a:p>
        </p:txBody>
      </p:sp>
      <p:sp>
        <p:nvSpPr>
          <p:cNvPr id="72" name="Rectangle 71"/>
          <p:cNvSpPr/>
          <p:nvPr/>
        </p:nvSpPr>
        <p:spPr>
          <a:xfrm>
            <a:off x="6144768" y="14630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44768" y="146304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36208" y="1554480"/>
            <a:ext cx="2514600" cy="384048"/>
          </a:xfrm>
          <a:prstGeom prst="rect">
            <a:avLst/>
          </a:prstGeom>
          <a:noFill/>
        </p:spPr>
        <p:txBody>
          <a:bodyPr wrap="square"/>
          <a:lstStyle/>
          <a:p>
            <a:pPr algn="l"/>
            <a:r>
              <a:rPr sz="850" b="0" i="0">
                <a:solidFill>
                  <a:srgbClr val="475569"/>
                </a:solidFill>
                <a:latin typeface="Calibri"/>
              </a:rPr>
              <a:t>Recommendation engine (ML+GenAI)</a:t>
            </a:r>
          </a:p>
        </p:txBody>
      </p:sp>
      <p:sp>
        <p:nvSpPr>
          <p:cNvPr id="75" name="Rectangle 74"/>
          <p:cNvSpPr/>
          <p:nvPr/>
        </p:nvSpPr>
        <p:spPr>
          <a:xfrm>
            <a:off x="6144768" y="20574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144768" y="205740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36208" y="2148840"/>
            <a:ext cx="2514600" cy="384048"/>
          </a:xfrm>
          <a:prstGeom prst="rect">
            <a:avLst/>
          </a:prstGeom>
          <a:noFill/>
        </p:spPr>
        <p:txBody>
          <a:bodyPr wrap="square"/>
          <a:lstStyle/>
          <a:p>
            <a:pPr algn="l"/>
            <a:r>
              <a:rPr sz="850" b="0" i="0">
                <a:solidFill>
                  <a:srgbClr val="475569"/>
                </a:solidFill>
                <a:latin typeface="Calibri"/>
              </a:rPr>
              <a:t>Pega governance integration</a:t>
            </a:r>
          </a:p>
        </p:txBody>
      </p:sp>
      <p:sp>
        <p:nvSpPr>
          <p:cNvPr id="78" name="Rectangle 77"/>
          <p:cNvSpPr/>
          <p:nvPr/>
        </p:nvSpPr>
        <p:spPr>
          <a:xfrm>
            <a:off x="6144768" y="26517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44768" y="265176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36208" y="2743200"/>
            <a:ext cx="2514600" cy="384048"/>
          </a:xfrm>
          <a:prstGeom prst="rect">
            <a:avLst/>
          </a:prstGeom>
          <a:noFill/>
        </p:spPr>
        <p:txBody>
          <a:bodyPr wrap="square"/>
          <a:lstStyle/>
          <a:p>
            <a:pPr algn="l"/>
            <a:r>
              <a:rPr sz="850" b="0" i="0">
                <a:solidFill>
                  <a:srgbClr val="475569"/>
                </a:solidFill>
                <a:latin typeface="Calibri"/>
              </a:rPr>
              <a:t>Tiered approval workflows</a:t>
            </a:r>
          </a:p>
        </p:txBody>
      </p:sp>
      <p:sp>
        <p:nvSpPr>
          <p:cNvPr id="81" name="Rectangle 80"/>
          <p:cNvSpPr/>
          <p:nvPr/>
        </p:nvSpPr>
        <p:spPr>
          <a:xfrm>
            <a:off x="6144768" y="324612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144768" y="324612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36208" y="3337560"/>
            <a:ext cx="2514600" cy="384048"/>
          </a:xfrm>
          <a:prstGeom prst="rect">
            <a:avLst/>
          </a:prstGeom>
          <a:noFill/>
        </p:spPr>
        <p:txBody>
          <a:bodyPr wrap="square"/>
          <a:lstStyle/>
          <a:p>
            <a:pPr algn="l"/>
            <a:r>
              <a:rPr sz="850" b="0" i="0">
                <a:solidFill>
                  <a:srgbClr val="475569"/>
                </a:solidFill>
                <a:latin typeface="Calibri"/>
              </a:rPr>
              <a:t>Simulation capability (pricing)</a:t>
            </a:r>
          </a:p>
        </p:txBody>
      </p:sp>
      <p:sp>
        <p:nvSpPr>
          <p:cNvPr id="84" name="Rectangle 83"/>
          <p:cNvSpPr/>
          <p:nvPr/>
        </p:nvSpPr>
        <p:spPr>
          <a:xfrm>
            <a:off x="6144768" y="384048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144768" y="384048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36208" y="3931920"/>
            <a:ext cx="2514600" cy="384048"/>
          </a:xfrm>
          <a:prstGeom prst="rect">
            <a:avLst/>
          </a:prstGeom>
          <a:noFill/>
        </p:spPr>
        <p:txBody>
          <a:bodyPr wrap="square"/>
          <a:lstStyle/>
          <a:p>
            <a:pPr algn="l"/>
            <a:r>
              <a:rPr sz="850" b="0" i="0">
                <a:solidFill>
                  <a:srgbClr val="475569"/>
                </a:solidFill>
                <a:latin typeface="Calibri"/>
              </a:rPr>
              <a:t>AGGS &amp; Duck Creek integration</a:t>
            </a:r>
          </a:p>
        </p:txBody>
      </p:sp>
      <p:sp>
        <p:nvSpPr>
          <p:cNvPr id="87" name="Rectangle 86"/>
          <p:cNvSpPr/>
          <p:nvPr/>
        </p:nvSpPr>
        <p:spPr>
          <a:xfrm>
            <a:off x="6144768" y="44348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144768" y="443484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36208" y="4526280"/>
            <a:ext cx="2514600" cy="384048"/>
          </a:xfrm>
          <a:prstGeom prst="rect">
            <a:avLst/>
          </a:prstGeom>
          <a:noFill/>
        </p:spPr>
        <p:txBody>
          <a:bodyPr wrap="square"/>
          <a:lstStyle/>
          <a:p>
            <a:pPr algn="l"/>
            <a:r>
              <a:rPr sz="850" b="0" i="0">
                <a:solidFill>
                  <a:srgbClr val="475569"/>
                </a:solidFill>
                <a:latin typeface="Calibri"/>
              </a:rPr>
              <a:t>Pricing team change management</a:t>
            </a:r>
          </a:p>
        </p:txBody>
      </p:sp>
      <p:sp>
        <p:nvSpPr>
          <p:cNvPr id="90" name="Rectangle 89"/>
          <p:cNvSpPr/>
          <p:nvPr/>
        </p:nvSpPr>
        <p:spPr>
          <a:xfrm>
            <a:off x="6144768" y="50292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144768" y="502920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236208" y="5120640"/>
            <a:ext cx="2514600" cy="384048"/>
          </a:xfrm>
          <a:prstGeom prst="rect">
            <a:avLst/>
          </a:prstGeom>
          <a:noFill/>
        </p:spPr>
        <p:txBody>
          <a:bodyPr wrap="square"/>
          <a:lstStyle/>
          <a:p>
            <a:pPr algn="l"/>
            <a:r>
              <a:rPr sz="850" b="0" i="0">
                <a:solidFill>
                  <a:srgbClr val="475569"/>
                </a:solidFill>
                <a:latin typeface="Calibri"/>
              </a:rPr>
              <a:t>Delegated authority framework</a:t>
            </a:r>
          </a:p>
        </p:txBody>
      </p:sp>
      <p:sp>
        <p:nvSpPr>
          <p:cNvPr id="93" name="Rectangle 92"/>
          <p:cNvSpPr/>
          <p:nvPr/>
        </p:nvSpPr>
        <p:spPr>
          <a:xfrm>
            <a:off x="6144768" y="56235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144768" y="5623560"/>
            <a:ext cx="36576" cy="53035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236208" y="5715000"/>
            <a:ext cx="2514600" cy="384048"/>
          </a:xfrm>
          <a:prstGeom prst="rect">
            <a:avLst/>
          </a:prstGeom>
          <a:noFill/>
        </p:spPr>
        <p:txBody>
          <a:bodyPr wrap="square"/>
          <a:lstStyle/>
          <a:p>
            <a:pPr algn="l"/>
            <a:r>
              <a:rPr sz="850" b="0" i="0">
                <a:solidFill>
                  <a:srgbClr val="475569"/>
                </a:solidFill>
                <a:latin typeface="Calibri"/>
              </a:rPr>
              <a:t>Audit &amp; compliance tooling</a:t>
            </a:r>
          </a:p>
        </p:txBody>
      </p:sp>
      <p:sp>
        <p:nvSpPr>
          <p:cNvPr id="96" name="Rectangle 95"/>
          <p:cNvSpPr/>
          <p:nvPr/>
        </p:nvSpPr>
        <p:spPr>
          <a:xfrm>
            <a:off x="8997696" y="804672"/>
            <a:ext cx="2834640" cy="55778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997696" y="804672"/>
            <a:ext cx="283464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089136" y="850392"/>
            <a:ext cx="2697480" cy="201168"/>
          </a:xfrm>
          <a:prstGeom prst="rect">
            <a:avLst/>
          </a:prstGeom>
          <a:noFill/>
        </p:spPr>
        <p:txBody>
          <a:bodyPr wrap="square"/>
          <a:lstStyle/>
          <a:p>
            <a:pPr algn="l"/>
            <a:r>
              <a:rPr sz="850" b="1" i="0">
                <a:solidFill>
                  <a:srgbClr val="FFFFFF"/>
                </a:solidFill>
                <a:latin typeface="Calibri"/>
              </a:rPr>
              <a:t>Wave 4</a:t>
            </a:r>
          </a:p>
        </p:txBody>
      </p:sp>
      <p:sp>
        <p:nvSpPr>
          <p:cNvPr id="99" name="TextBox 98"/>
          <p:cNvSpPr txBox="1"/>
          <p:nvPr/>
        </p:nvSpPr>
        <p:spPr>
          <a:xfrm>
            <a:off x="9089136" y="1060704"/>
            <a:ext cx="2697480" cy="228600"/>
          </a:xfrm>
          <a:prstGeom prst="rect">
            <a:avLst/>
          </a:prstGeom>
          <a:noFill/>
        </p:spPr>
        <p:txBody>
          <a:bodyPr wrap="square"/>
          <a:lstStyle/>
          <a:p>
            <a:pPr algn="l"/>
            <a:r>
              <a:rPr sz="1000" b="1" i="0">
                <a:solidFill>
                  <a:srgbClr val="FFFFFF"/>
                </a:solidFill>
                <a:latin typeface="Calibri"/>
              </a:rPr>
              <a:t>Optimisation</a:t>
            </a:r>
          </a:p>
        </p:txBody>
      </p:sp>
      <p:sp>
        <p:nvSpPr>
          <p:cNvPr id="100" name="TextBox 99"/>
          <p:cNvSpPr txBox="1"/>
          <p:nvPr/>
        </p:nvSpPr>
        <p:spPr>
          <a:xfrm>
            <a:off x="9089136" y="1280160"/>
            <a:ext cx="2697480" cy="182880"/>
          </a:xfrm>
          <a:prstGeom prst="rect">
            <a:avLst/>
          </a:prstGeom>
          <a:noFill/>
        </p:spPr>
        <p:txBody>
          <a:bodyPr wrap="square"/>
          <a:lstStyle/>
          <a:p>
            <a:pPr algn="l"/>
            <a:r>
              <a:rPr sz="800" b="0" i="0">
                <a:solidFill>
                  <a:srgbClr val="E8E8E8"/>
                </a:solidFill>
                <a:latin typeface="Calibri"/>
              </a:rPr>
              <a:t>Months 10-12</a:t>
            </a:r>
          </a:p>
        </p:txBody>
      </p:sp>
      <p:sp>
        <p:nvSpPr>
          <p:cNvPr id="101" name="Rectangle 100"/>
          <p:cNvSpPr/>
          <p:nvPr/>
        </p:nvSpPr>
        <p:spPr>
          <a:xfrm>
            <a:off x="9089136" y="14630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089136" y="146304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180576" y="1554480"/>
            <a:ext cx="2514600" cy="384048"/>
          </a:xfrm>
          <a:prstGeom prst="rect">
            <a:avLst/>
          </a:prstGeom>
          <a:noFill/>
        </p:spPr>
        <p:txBody>
          <a:bodyPr wrap="square"/>
          <a:lstStyle/>
          <a:p>
            <a:pPr algn="l"/>
            <a:r>
              <a:rPr sz="850" b="0" i="0">
                <a:solidFill>
                  <a:srgbClr val="475569"/>
                </a:solidFill>
                <a:latin typeface="Calibri"/>
              </a:rPr>
              <a:t>Closed-loop Learning Agent</a:t>
            </a:r>
          </a:p>
        </p:txBody>
      </p:sp>
      <p:sp>
        <p:nvSpPr>
          <p:cNvPr id="104" name="Rectangle 103"/>
          <p:cNvSpPr/>
          <p:nvPr/>
        </p:nvSpPr>
        <p:spPr>
          <a:xfrm>
            <a:off x="9089136" y="20574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089136" y="205740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180576" y="2148840"/>
            <a:ext cx="2514600" cy="384048"/>
          </a:xfrm>
          <a:prstGeom prst="rect">
            <a:avLst/>
          </a:prstGeom>
          <a:noFill/>
        </p:spPr>
        <p:txBody>
          <a:bodyPr wrap="square"/>
          <a:lstStyle/>
          <a:p>
            <a:pPr algn="l"/>
            <a:r>
              <a:rPr sz="850" b="0" i="0">
                <a:solidFill>
                  <a:srgbClr val="475569"/>
                </a:solidFill>
                <a:latin typeface="Calibri"/>
              </a:rPr>
              <a:t>Continuous optimisation models</a:t>
            </a:r>
          </a:p>
        </p:txBody>
      </p:sp>
      <p:sp>
        <p:nvSpPr>
          <p:cNvPr id="107" name="Rectangle 106"/>
          <p:cNvSpPr/>
          <p:nvPr/>
        </p:nvSpPr>
        <p:spPr>
          <a:xfrm>
            <a:off x="9089136" y="26517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089136" y="265176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80576" y="2743200"/>
            <a:ext cx="2514600" cy="384048"/>
          </a:xfrm>
          <a:prstGeom prst="rect">
            <a:avLst/>
          </a:prstGeom>
          <a:noFill/>
        </p:spPr>
        <p:txBody>
          <a:bodyPr wrap="square"/>
          <a:lstStyle/>
          <a:p>
            <a:pPr algn="l"/>
            <a:r>
              <a:rPr sz="850" b="0" i="0">
                <a:solidFill>
                  <a:srgbClr val="475569"/>
                </a:solidFill>
                <a:latin typeface="Calibri"/>
              </a:rPr>
              <a:t>Advanced simulation (full proposition)</a:t>
            </a:r>
          </a:p>
        </p:txBody>
      </p:sp>
      <p:sp>
        <p:nvSpPr>
          <p:cNvPr id="110" name="Rectangle 109"/>
          <p:cNvSpPr/>
          <p:nvPr/>
        </p:nvSpPr>
        <p:spPr>
          <a:xfrm>
            <a:off x="9089136" y="324612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089136" y="324612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180576" y="3337560"/>
            <a:ext cx="2514600" cy="384048"/>
          </a:xfrm>
          <a:prstGeom prst="rect">
            <a:avLst/>
          </a:prstGeom>
          <a:noFill/>
        </p:spPr>
        <p:txBody>
          <a:bodyPr wrap="square"/>
          <a:lstStyle/>
          <a:p>
            <a:pPr algn="l"/>
            <a:r>
              <a:rPr sz="850" b="0" i="0">
                <a:solidFill>
                  <a:srgbClr val="475569"/>
                </a:solidFill>
                <a:latin typeface="Calibri"/>
              </a:rPr>
              <a:t>Full agentic orchestration</a:t>
            </a:r>
          </a:p>
        </p:txBody>
      </p:sp>
      <p:sp>
        <p:nvSpPr>
          <p:cNvPr id="113" name="Rectangle 112"/>
          <p:cNvSpPr/>
          <p:nvPr/>
        </p:nvSpPr>
        <p:spPr>
          <a:xfrm>
            <a:off x="9089136" y="384048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089136" y="384048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180576" y="3931920"/>
            <a:ext cx="2514600" cy="384048"/>
          </a:xfrm>
          <a:prstGeom prst="rect">
            <a:avLst/>
          </a:prstGeom>
          <a:noFill/>
        </p:spPr>
        <p:txBody>
          <a:bodyPr wrap="square"/>
          <a:lstStyle/>
          <a:p>
            <a:pPr algn="l"/>
            <a:r>
              <a:rPr sz="850" b="0" i="0">
                <a:solidFill>
                  <a:srgbClr val="475569"/>
                </a:solidFill>
                <a:latin typeface="Calibri"/>
              </a:rPr>
              <a:t>Platform extensibility (other GI lines)</a:t>
            </a:r>
          </a:p>
        </p:txBody>
      </p:sp>
      <p:sp>
        <p:nvSpPr>
          <p:cNvPr id="116" name="Rectangle 115"/>
          <p:cNvSpPr/>
          <p:nvPr/>
        </p:nvSpPr>
        <p:spPr>
          <a:xfrm>
            <a:off x="9089136" y="443484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089136" y="443484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180576" y="4526280"/>
            <a:ext cx="2514600" cy="384048"/>
          </a:xfrm>
          <a:prstGeom prst="rect">
            <a:avLst/>
          </a:prstGeom>
          <a:noFill/>
        </p:spPr>
        <p:txBody>
          <a:bodyPr wrap="square"/>
          <a:lstStyle/>
          <a:p>
            <a:pPr algn="l"/>
            <a:r>
              <a:rPr sz="850" b="0" i="0">
                <a:solidFill>
                  <a:srgbClr val="475569"/>
                </a:solidFill>
                <a:latin typeface="Calibri"/>
              </a:rPr>
              <a:t>Performance benchmarking</a:t>
            </a:r>
          </a:p>
        </p:txBody>
      </p:sp>
      <p:sp>
        <p:nvSpPr>
          <p:cNvPr id="119" name="Rectangle 118"/>
          <p:cNvSpPr/>
          <p:nvPr/>
        </p:nvSpPr>
        <p:spPr>
          <a:xfrm>
            <a:off x="9089136" y="502920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089136" y="502920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80576" y="5120640"/>
            <a:ext cx="2514600" cy="384048"/>
          </a:xfrm>
          <a:prstGeom prst="rect">
            <a:avLst/>
          </a:prstGeom>
          <a:noFill/>
        </p:spPr>
        <p:txBody>
          <a:bodyPr wrap="square"/>
          <a:lstStyle/>
          <a:p>
            <a:pPr algn="l"/>
            <a:r>
              <a:rPr sz="850" b="0" i="0">
                <a:solidFill>
                  <a:srgbClr val="475569"/>
                </a:solidFill>
                <a:latin typeface="Calibri"/>
              </a:rPr>
              <a:t>Retraining automation</a:t>
            </a:r>
          </a:p>
        </p:txBody>
      </p:sp>
      <p:sp>
        <p:nvSpPr>
          <p:cNvPr id="122" name="Rectangle 121"/>
          <p:cNvSpPr/>
          <p:nvPr/>
        </p:nvSpPr>
        <p:spPr>
          <a:xfrm>
            <a:off x="9089136" y="5623560"/>
            <a:ext cx="265176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089136" y="5623560"/>
            <a:ext cx="36576" cy="5303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180576" y="5715000"/>
            <a:ext cx="2514600" cy="384048"/>
          </a:xfrm>
          <a:prstGeom prst="rect">
            <a:avLst/>
          </a:prstGeom>
          <a:noFill/>
        </p:spPr>
        <p:txBody>
          <a:bodyPr wrap="square"/>
          <a:lstStyle/>
          <a:p>
            <a:pPr algn="l"/>
            <a:r>
              <a:rPr sz="850" b="0" i="0">
                <a:solidFill>
                  <a:srgbClr val="475569"/>
                </a:solidFill>
                <a:latin typeface="Calibri"/>
              </a:rPr>
              <a:t>Scale &amp; operate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BUSINESS VALUE</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Business Value Summary — The Case for Investment</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16 / 18</a:t>
            </a:r>
          </a:p>
        </p:txBody>
      </p:sp>
      <p:sp>
        <p:nvSpPr>
          <p:cNvPr id="9" name="Rectangle 8"/>
          <p:cNvSpPr/>
          <p:nvPr/>
        </p:nvSpPr>
        <p:spPr>
          <a:xfrm>
            <a:off x="164592" y="804672"/>
            <a:ext cx="576072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804672"/>
            <a:ext cx="5760720" cy="640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2" y="804672"/>
            <a:ext cx="64008" cy="2606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 y="941832"/>
            <a:ext cx="5532120" cy="292608"/>
          </a:xfrm>
          <a:prstGeom prst="rect">
            <a:avLst/>
          </a:prstGeom>
          <a:noFill/>
        </p:spPr>
        <p:txBody>
          <a:bodyPr wrap="square"/>
          <a:lstStyle/>
          <a:p>
            <a:pPr algn="l"/>
            <a:r>
              <a:rPr sz="1300" b="1" i="0">
                <a:solidFill>
                  <a:srgbClr val="0A1628"/>
                </a:solidFill>
                <a:latin typeface="Calibri"/>
              </a:rPr>
              <a:t>Faster Market Response</a:t>
            </a:r>
          </a:p>
        </p:txBody>
      </p:sp>
      <p:sp>
        <p:nvSpPr>
          <p:cNvPr id="13" name="TextBox 12"/>
          <p:cNvSpPr txBox="1"/>
          <p:nvPr/>
        </p:nvSpPr>
        <p:spPr>
          <a:xfrm>
            <a:off x="329184" y="1307592"/>
            <a:ext cx="5532120" cy="1965960"/>
          </a:xfrm>
          <a:prstGeom prst="rect">
            <a:avLst/>
          </a:prstGeom>
          <a:noFill/>
        </p:spPr>
        <p:txBody>
          <a:bodyPr wrap="square"/>
          <a:lstStyle/>
          <a:p>
            <a:pPr algn="l"/>
            <a:r>
              <a:rPr sz="1000" b="0" i="0">
                <a:solidFill>
                  <a:srgbClr val="475569"/>
                </a:solidFill>
                <a:latin typeface="Calibri"/>
              </a:rPr>
              <a:t>Reduce competitor response time from days to hours. Continuous sensing eliminates blindspots across all PCW channels simultaneously. Event-triggered alerts ensure material market movements are surfaced immediately to decision-makers — not discovered in the next scheduled review.</a:t>
            </a:r>
          </a:p>
        </p:txBody>
      </p:sp>
      <p:sp>
        <p:nvSpPr>
          <p:cNvPr id="14" name="Rectangle 13"/>
          <p:cNvSpPr/>
          <p:nvPr/>
        </p:nvSpPr>
        <p:spPr>
          <a:xfrm>
            <a:off x="6062472" y="804672"/>
            <a:ext cx="576072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62472" y="804672"/>
            <a:ext cx="5760720" cy="6400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62472" y="804672"/>
            <a:ext cx="64008" cy="2606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7064" y="941832"/>
            <a:ext cx="5532120" cy="292608"/>
          </a:xfrm>
          <a:prstGeom prst="rect">
            <a:avLst/>
          </a:prstGeom>
          <a:noFill/>
        </p:spPr>
        <p:txBody>
          <a:bodyPr wrap="square"/>
          <a:lstStyle/>
          <a:p>
            <a:pPr algn="l"/>
            <a:r>
              <a:rPr sz="1300" b="1" i="0">
                <a:solidFill>
                  <a:srgbClr val="0A1628"/>
                </a:solidFill>
                <a:latin typeface="Calibri"/>
              </a:rPr>
              <a:t>Better Commercial Outcomes</a:t>
            </a:r>
          </a:p>
        </p:txBody>
      </p:sp>
      <p:sp>
        <p:nvSpPr>
          <p:cNvPr id="18" name="TextBox 17"/>
          <p:cNvSpPr txBox="1"/>
          <p:nvPr/>
        </p:nvSpPr>
        <p:spPr>
          <a:xfrm>
            <a:off x="6227064" y="1307592"/>
            <a:ext cx="5532120" cy="1965960"/>
          </a:xfrm>
          <a:prstGeom prst="rect">
            <a:avLst/>
          </a:prstGeom>
          <a:noFill/>
        </p:spPr>
        <p:txBody>
          <a:bodyPr wrap="square"/>
          <a:lstStyle/>
          <a:p>
            <a:pPr algn="l"/>
            <a:r>
              <a:rPr sz="1000" b="0" i="0">
                <a:solidFill>
                  <a:srgbClr val="475569"/>
                </a:solidFill>
                <a:latin typeface="Calibri"/>
              </a:rPr>
              <a:t>Data-driven recommendations improve PCW ranking position and conversion performance. Simulation capability ensures interventions are targeted and evidence-based. Closed-loop learning means recommendation quality improves continuously — compounding commercial benefit over time.</a:t>
            </a:r>
          </a:p>
        </p:txBody>
      </p:sp>
      <p:sp>
        <p:nvSpPr>
          <p:cNvPr id="19" name="Rectangle 18"/>
          <p:cNvSpPr/>
          <p:nvPr/>
        </p:nvSpPr>
        <p:spPr>
          <a:xfrm>
            <a:off x="164592" y="3547872"/>
            <a:ext cx="576072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4592" y="3547872"/>
            <a:ext cx="5760720"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64592" y="3547872"/>
            <a:ext cx="64008" cy="26060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 y="3685032"/>
            <a:ext cx="5532120" cy="292608"/>
          </a:xfrm>
          <a:prstGeom prst="rect">
            <a:avLst/>
          </a:prstGeom>
          <a:noFill/>
        </p:spPr>
        <p:txBody>
          <a:bodyPr wrap="square"/>
          <a:lstStyle/>
          <a:p>
            <a:pPr algn="l"/>
            <a:r>
              <a:rPr sz="1300" b="1" i="0">
                <a:solidFill>
                  <a:srgbClr val="0A1628"/>
                </a:solidFill>
                <a:latin typeface="Calibri"/>
              </a:rPr>
              <a:t>Operational Efficiency</a:t>
            </a:r>
          </a:p>
        </p:txBody>
      </p:sp>
      <p:sp>
        <p:nvSpPr>
          <p:cNvPr id="23" name="TextBox 22"/>
          <p:cNvSpPr txBox="1"/>
          <p:nvPr/>
        </p:nvSpPr>
        <p:spPr>
          <a:xfrm>
            <a:off x="329184" y="4050792"/>
            <a:ext cx="5532120" cy="1965960"/>
          </a:xfrm>
          <a:prstGeom prst="rect">
            <a:avLst/>
          </a:prstGeom>
          <a:noFill/>
        </p:spPr>
        <p:txBody>
          <a:bodyPr wrap="square"/>
          <a:lstStyle/>
          <a:p>
            <a:pPr algn="l"/>
            <a:r>
              <a:rPr sz="1000" b="0" i="0">
                <a:solidFill>
                  <a:srgbClr val="475569"/>
                </a:solidFill>
                <a:latin typeface="Calibri"/>
              </a:rPr>
              <a:t>Automated data collection and analysis significantly reduces FTE effort on low-value monitoring tasks. Pricing and proposition teams redirected to higher-value judgement work. Scalable architecture means broader market coverage without proportional headcount growth.</a:t>
            </a:r>
          </a:p>
        </p:txBody>
      </p:sp>
      <p:sp>
        <p:nvSpPr>
          <p:cNvPr id="24" name="Rectangle 23"/>
          <p:cNvSpPr/>
          <p:nvPr/>
        </p:nvSpPr>
        <p:spPr>
          <a:xfrm>
            <a:off x="6062472" y="3547872"/>
            <a:ext cx="5760720" cy="260604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62472" y="3547872"/>
            <a:ext cx="5760720" cy="6400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62472" y="3547872"/>
            <a:ext cx="64008" cy="2606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27064" y="3685032"/>
            <a:ext cx="5532120" cy="292608"/>
          </a:xfrm>
          <a:prstGeom prst="rect">
            <a:avLst/>
          </a:prstGeom>
          <a:noFill/>
        </p:spPr>
        <p:txBody>
          <a:bodyPr wrap="square"/>
          <a:lstStyle/>
          <a:p>
            <a:pPr algn="l"/>
            <a:r>
              <a:rPr sz="1300" b="1" i="0">
                <a:solidFill>
                  <a:srgbClr val="0A1628"/>
                </a:solidFill>
                <a:latin typeface="Calibri"/>
              </a:rPr>
              <a:t>Reusable Strategic Platform</a:t>
            </a:r>
          </a:p>
        </p:txBody>
      </p:sp>
      <p:sp>
        <p:nvSpPr>
          <p:cNvPr id="28" name="TextBox 27"/>
          <p:cNvSpPr txBox="1"/>
          <p:nvPr/>
        </p:nvSpPr>
        <p:spPr>
          <a:xfrm>
            <a:off x="6227064" y="4050792"/>
            <a:ext cx="5532120" cy="1965960"/>
          </a:xfrm>
          <a:prstGeom prst="rect">
            <a:avLst/>
          </a:prstGeom>
          <a:noFill/>
        </p:spPr>
        <p:txBody>
          <a:bodyPr wrap="square"/>
          <a:lstStyle/>
          <a:p>
            <a:pPr algn="l"/>
            <a:r>
              <a:rPr sz="1000" b="0" i="0">
                <a:solidFill>
                  <a:srgbClr val="475569"/>
                </a:solidFill>
                <a:latin typeface="Calibri"/>
              </a:rPr>
              <a:t>Architecture is designed for extensibility beyond PCW competitive intelligence. ML models, GenAI capabilities and Agentic orchestration patterns are reusable across other LBG General Insurance use cases — broker channel monitoring, claims analytics, product performance intelligence.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93992"/>
            <a:ext cx="12188952" cy="640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 y="118872"/>
            <a:ext cx="9144000" cy="201168"/>
          </a:xfrm>
          <a:prstGeom prst="rect">
            <a:avLst/>
          </a:prstGeom>
          <a:noFill/>
        </p:spPr>
        <p:txBody>
          <a:bodyPr wrap="square"/>
          <a:lstStyle/>
          <a:p>
            <a:pPr algn="l"/>
            <a:r>
              <a:rPr sz="700" b="1" i="0">
                <a:solidFill>
                  <a:srgbClr val="2563AB"/>
                </a:solidFill>
                <a:latin typeface="Calibri"/>
              </a:rPr>
              <a:t>RISK MANAGEMENT</a:t>
            </a:r>
          </a:p>
        </p:txBody>
      </p:sp>
      <p:sp>
        <p:nvSpPr>
          <p:cNvPr id="6" name="TextBox 5"/>
          <p:cNvSpPr txBox="1"/>
          <p:nvPr/>
        </p:nvSpPr>
        <p:spPr>
          <a:xfrm>
            <a:off x="164592" y="301752"/>
            <a:ext cx="10515600" cy="384048"/>
          </a:xfrm>
          <a:prstGeom prst="rect">
            <a:avLst/>
          </a:prstGeom>
          <a:noFill/>
        </p:spPr>
        <p:txBody>
          <a:bodyPr wrap="square"/>
          <a:lstStyle/>
          <a:p>
            <a:pPr algn="l"/>
            <a:r>
              <a:rPr sz="1600" b="1" i="0">
                <a:solidFill>
                  <a:srgbClr val="0A1628"/>
                </a:solidFill>
                <a:latin typeface="Calibri"/>
              </a:rPr>
              <a:t>Key Risks, Assumptions &amp; Mitigations</a:t>
            </a:r>
          </a:p>
        </p:txBody>
      </p:sp>
      <p:sp>
        <p:nvSpPr>
          <p:cNvPr id="7" name="Rectangle 6"/>
          <p:cNvSpPr/>
          <p:nvPr/>
        </p:nvSpPr>
        <p:spPr>
          <a:xfrm>
            <a:off x="164592" y="694944"/>
            <a:ext cx="11704320" cy="3200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17 / 18</a:t>
            </a:r>
          </a:p>
        </p:txBody>
      </p:sp>
      <p:sp>
        <p:nvSpPr>
          <p:cNvPr id="9" name="TextBox 8"/>
          <p:cNvSpPr txBox="1"/>
          <p:nvPr/>
        </p:nvSpPr>
        <p:spPr>
          <a:xfrm>
            <a:off x="164592" y="822960"/>
            <a:ext cx="7132320" cy="256032"/>
          </a:xfrm>
          <a:prstGeom prst="rect">
            <a:avLst/>
          </a:prstGeom>
          <a:noFill/>
        </p:spPr>
        <p:txBody>
          <a:bodyPr wrap="square"/>
          <a:lstStyle/>
          <a:p>
            <a:pPr algn="l"/>
            <a:r>
              <a:rPr sz="1200" b="1" i="0">
                <a:solidFill>
                  <a:srgbClr val="0A1628"/>
                </a:solidFill>
                <a:latin typeface="Calibri"/>
              </a:rPr>
              <a:t>Risk Register</a:t>
            </a:r>
          </a:p>
        </p:txBody>
      </p:sp>
      <p:sp>
        <p:nvSpPr>
          <p:cNvPr id="10" name="Rectangle 9"/>
          <p:cNvSpPr/>
          <p:nvPr/>
        </p:nvSpPr>
        <p:spPr>
          <a:xfrm>
            <a:off x="164592" y="1115568"/>
            <a:ext cx="7132320" cy="29260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 y="1161288"/>
            <a:ext cx="2670048" cy="201168"/>
          </a:xfrm>
          <a:prstGeom prst="rect">
            <a:avLst/>
          </a:prstGeom>
          <a:noFill/>
        </p:spPr>
        <p:txBody>
          <a:bodyPr wrap="square"/>
          <a:lstStyle/>
          <a:p>
            <a:pPr algn="l"/>
            <a:r>
              <a:rPr sz="850" b="1" i="0">
                <a:solidFill>
                  <a:srgbClr val="FFFFFF"/>
                </a:solidFill>
                <a:latin typeface="Calibri"/>
              </a:rPr>
              <a:t>Risk</a:t>
            </a:r>
          </a:p>
        </p:txBody>
      </p:sp>
      <p:sp>
        <p:nvSpPr>
          <p:cNvPr id="12" name="TextBox 11"/>
          <p:cNvSpPr txBox="1"/>
          <p:nvPr/>
        </p:nvSpPr>
        <p:spPr>
          <a:xfrm>
            <a:off x="2953512" y="1161288"/>
            <a:ext cx="749808" cy="201168"/>
          </a:xfrm>
          <a:prstGeom prst="rect">
            <a:avLst/>
          </a:prstGeom>
          <a:noFill/>
        </p:spPr>
        <p:txBody>
          <a:bodyPr wrap="square"/>
          <a:lstStyle/>
          <a:p>
            <a:pPr algn="l"/>
            <a:r>
              <a:rPr sz="850" b="1" i="0">
                <a:solidFill>
                  <a:srgbClr val="FFFFFF"/>
                </a:solidFill>
                <a:latin typeface="Calibri"/>
              </a:rPr>
              <a:t>Likelihood</a:t>
            </a:r>
          </a:p>
        </p:txBody>
      </p:sp>
      <p:sp>
        <p:nvSpPr>
          <p:cNvPr id="13" name="TextBox 12"/>
          <p:cNvSpPr txBox="1"/>
          <p:nvPr/>
        </p:nvSpPr>
        <p:spPr>
          <a:xfrm>
            <a:off x="3776472" y="1161288"/>
            <a:ext cx="566928" cy="201168"/>
          </a:xfrm>
          <a:prstGeom prst="rect">
            <a:avLst/>
          </a:prstGeom>
          <a:noFill/>
        </p:spPr>
        <p:txBody>
          <a:bodyPr wrap="square"/>
          <a:lstStyle/>
          <a:p>
            <a:pPr algn="l"/>
            <a:r>
              <a:rPr sz="850" b="1" i="0">
                <a:solidFill>
                  <a:srgbClr val="FFFFFF"/>
                </a:solidFill>
                <a:latin typeface="Calibri"/>
              </a:rPr>
              <a:t>Impact</a:t>
            </a:r>
          </a:p>
        </p:txBody>
      </p:sp>
      <p:sp>
        <p:nvSpPr>
          <p:cNvPr id="14" name="TextBox 13"/>
          <p:cNvSpPr txBox="1"/>
          <p:nvPr/>
        </p:nvSpPr>
        <p:spPr>
          <a:xfrm>
            <a:off x="4416552" y="1161288"/>
            <a:ext cx="2852928" cy="201168"/>
          </a:xfrm>
          <a:prstGeom prst="rect">
            <a:avLst/>
          </a:prstGeom>
          <a:noFill/>
        </p:spPr>
        <p:txBody>
          <a:bodyPr wrap="square"/>
          <a:lstStyle/>
          <a:p>
            <a:pPr algn="l"/>
            <a:r>
              <a:rPr sz="850" b="1" i="0">
                <a:solidFill>
                  <a:srgbClr val="FFFFFF"/>
                </a:solidFill>
                <a:latin typeface="Calibri"/>
              </a:rPr>
              <a:t>Mitigation</a:t>
            </a:r>
          </a:p>
        </p:txBody>
      </p:sp>
      <p:sp>
        <p:nvSpPr>
          <p:cNvPr id="15" name="Rectangle 14"/>
          <p:cNvSpPr/>
          <p:nvPr/>
        </p:nvSpPr>
        <p:spPr>
          <a:xfrm>
            <a:off x="164592" y="1408176"/>
            <a:ext cx="71323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4592" y="1408176"/>
            <a:ext cx="45720" cy="8046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744" y="1499616"/>
            <a:ext cx="2633472" cy="667512"/>
          </a:xfrm>
          <a:prstGeom prst="rect">
            <a:avLst/>
          </a:prstGeom>
          <a:noFill/>
        </p:spPr>
        <p:txBody>
          <a:bodyPr wrap="square"/>
          <a:lstStyle/>
          <a:p>
            <a:pPr algn="l"/>
            <a:r>
              <a:rPr sz="850" b="0" i="0">
                <a:solidFill>
                  <a:srgbClr val="475569"/>
                </a:solidFill>
                <a:latin typeface="Calibri"/>
              </a:rPr>
              <a:t>Data quality and availability from PCW channels</a:t>
            </a:r>
          </a:p>
        </p:txBody>
      </p:sp>
      <p:sp>
        <p:nvSpPr>
          <p:cNvPr id="18" name="TextBox 17"/>
          <p:cNvSpPr txBox="1"/>
          <p:nvPr/>
        </p:nvSpPr>
        <p:spPr>
          <a:xfrm>
            <a:off x="2980944" y="1499616"/>
            <a:ext cx="713232" cy="667512"/>
          </a:xfrm>
          <a:prstGeom prst="rect">
            <a:avLst/>
          </a:prstGeom>
          <a:noFill/>
        </p:spPr>
        <p:txBody>
          <a:bodyPr wrap="square"/>
          <a:lstStyle/>
          <a:p>
            <a:pPr algn="l"/>
            <a:r>
              <a:rPr sz="850" b="0" i="0">
                <a:solidFill>
                  <a:srgbClr val="475569"/>
                </a:solidFill>
                <a:latin typeface="Calibri"/>
              </a:rPr>
              <a:t>Medium</a:t>
            </a:r>
          </a:p>
        </p:txBody>
      </p:sp>
      <p:sp>
        <p:nvSpPr>
          <p:cNvPr id="19" name="TextBox 18"/>
          <p:cNvSpPr txBox="1"/>
          <p:nvPr/>
        </p:nvSpPr>
        <p:spPr>
          <a:xfrm>
            <a:off x="3803904" y="1499616"/>
            <a:ext cx="530352" cy="667512"/>
          </a:xfrm>
          <a:prstGeom prst="rect">
            <a:avLst/>
          </a:prstGeom>
          <a:noFill/>
        </p:spPr>
        <p:txBody>
          <a:bodyPr wrap="square"/>
          <a:lstStyle/>
          <a:p>
            <a:pPr algn="l"/>
            <a:r>
              <a:rPr sz="850" b="0" i="0">
                <a:solidFill>
                  <a:srgbClr val="475569"/>
                </a:solidFill>
                <a:latin typeface="Calibri"/>
              </a:rPr>
              <a:t>High</a:t>
            </a:r>
          </a:p>
        </p:txBody>
      </p:sp>
      <p:sp>
        <p:nvSpPr>
          <p:cNvPr id="20" name="TextBox 19"/>
          <p:cNvSpPr txBox="1"/>
          <p:nvPr/>
        </p:nvSpPr>
        <p:spPr>
          <a:xfrm>
            <a:off x="4443984" y="1499616"/>
            <a:ext cx="2816352" cy="667512"/>
          </a:xfrm>
          <a:prstGeom prst="rect">
            <a:avLst/>
          </a:prstGeom>
          <a:noFill/>
        </p:spPr>
        <p:txBody>
          <a:bodyPr wrap="square"/>
          <a:lstStyle/>
          <a:p>
            <a:pPr algn="l"/>
            <a:r>
              <a:rPr sz="850" b="0" i="0">
                <a:solidFill>
                  <a:srgbClr val="475569"/>
                </a:solidFill>
                <a:latin typeface="Calibri"/>
              </a:rPr>
              <a:t>Data validation layer with quality scoring. Manual fallback procedures. Vendor relationships for data access.</a:t>
            </a:r>
          </a:p>
        </p:txBody>
      </p:sp>
      <p:sp>
        <p:nvSpPr>
          <p:cNvPr id="21" name="Rectangle 20"/>
          <p:cNvSpPr/>
          <p:nvPr/>
        </p:nvSpPr>
        <p:spPr>
          <a:xfrm>
            <a:off x="164592" y="2258568"/>
            <a:ext cx="71323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 y="2258568"/>
            <a:ext cx="45720" cy="8046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7744" y="2350008"/>
            <a:ext cx="2633472" cy="667512"/>
          </a:xfrm>
          <a:prstGeom prst="rect">
            <a:avLst/>
          </a:prstGeom>
          <a:noFill/>
        </p:spPr>
        <p:txBody>
          <a:bodyPr wrap="square"/>
          <a:lstStyle/>
          <a:p>
            <a:pPr algn="l"/>
            <a:r>
              <a:rPr sz="850" b="0" i="0">
                <a:solidFill>
                  <a:srgbClr val="475569"/>
                </a:solidFill>
                <a:latin typeface="Calibri"/>
              </a:rPr>
              <a:t>AI model accuracy below required threshold</a:t>
            </a:r>
          </a:p>
        </p:txBody>
      </p:sp>
      <p:sp>
        <p:nvSpPr>
          <p:cNvPr id="24" name="TextBox 23"/>
          <p:cNvSpPr txBox="1"/>
          <p:nvPr/>
        </p:nvSpPr>
        <p:spPr>
          <a:xfrm>
            <a:off x="2980944" y="2350008"/>
            <a:ext cx="713232" cy="667512"/>
          </a:xfrm>
          <a:prstGeom prst="rect">
            <a:avLst/>
          </a:prstGeom>
          <a:noFill/>
        </p:spPr>
        <p:txBody>
          <a:bodyPr wrap="square"/>
          <a:lstStyle/>
          <a:p>
            <a:pPr algn="l"/>
            <a:r>
              <a:rPr sz="850" b="0" i="0">
                <a:solidFill>
                  <a:srgbClr val="475569"/>
                </a:solidFill>
                <a:latin typeface="Calibri"/>
              </a:rPr>
              <a:t>Medium</a:t>
            </a:r>
          </a:p>
        </p:txBody>
      </p:sp>
      <p:sp>
        <p:nvSpPr>
          <p:cNvPr id="25" name="TextBox 24"/>
          <p:cNvSpPr txBox="1"/>
          <p:nvPr/>
        </p:nvSpPr>
        <p:spPr>
          <a:xfrm>
            <a:off x="3803904" y="2350008"/>
            <a:ext cx="530352" cy="667512"/>
          </a:xfrm>
          <a:prstGeom prst="rect">
            <a:avLst/>
          </a:prstGeom>
          <a:noFill/>
        </p:spPr>
        <p:txBody>
          <a:bodyPr wrap="square"/>
          <a:lstStyle/>
          <a:p>
            <a:pPr algn="l"/>
            <a:r>
              <a:rPr sz="850" b="0" i="0">
                <a:solidFill>
                  <a:srgbClr val="475569"/>
                </a:solidFill>
                <a:latin typeface="Calibri"/>
              </a:rPr>
              <a:t>High</a:t>
            </a:r>
          </a:p>
        </p:txBody>
      </p:sp>
      <p:sp>
        <p:nvSpPr>
          <p:cNvPr id="26" name="TextBox 25"/>
          <p:cNvSpPr txBox="1"/>
          <p:nvPr/>
        </p:nvSpPr>
        <p:spPr>
          <a:xfrm>
            <a:off x="4443984" y="2350008"/>
            <a:ext cx="2816352" cy="667512"/>
          </a:xfrm>
          <a:prstGeom prst="rect">
            <a:avLst/>
          </a:prstGeom>
          <a:noFill/>
        </p:spPr>
        <p:txBody>
          <a:bodyPr wrap="square"/>
          <a:lstStyle/>
          <a:p>
            <a:pPr algn="l"/>
            <a:r>
              <a:rPr sz="850" b="0" i="0">
                <a:solidFill>
                  <a:srgbClr val="475569"/>
                </a:solidFill>
                <a:latin typeface="Calibri"/>
              </a:rPr>
              <a:t>Champion/challenger framework. Phased rollout with human validation. Clear accuracy acceptance criteria before production.</a:t>
            </a:r>
          </a:p>
        </p:txBody>
      </p:sp>
      <p:sp>
        <p:nvSpPr>
          <p:cNvPr id="27" name="Rectangle 26"/>
          <p:cNvSpPr/>
          <p:nvPr/>
        </p:nvSpPr>
        <p:spPr>
          <a:xfrm>
            <a:off x="164592" y="3108960"/>
            <a:ext cx="71323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4592" y="3108960"/>
            <a:ext cx="45720" cy="8046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7744" y="3200400"/>
            <a:ext cx="2633472" cy="667512"/>
          </a:xfrm>
          <a:prstGeom prst="rect">
            <a:avLst/>
          </a:prstGeom>
          <a:noFill/>
        </p:spPr>
        <p:txBody>
          <a:bodyPr wrap="square"/>
          <a:lstStyle/>
          <a:p>
            <a:pPr algn="l"/>
            <a:r>
              <a:rPr sz="850" b="0" i="0">
                <a:solidFill>
                  <a:srgbClr val="475569"/>
                </a:solidFill>
                <a:latin typeface="Calibri"/>
              </a:rPr>
              <a:t>Business adoption and change management</a:t>
            </a:r>
          </a:p>
        </p:txBody>
      </p:sp>
      <p:sp>
        <p:nvSpPr>
          <p:cNvPr id="30" name="TextBox 29"/>
          <p:cNvSpPr txBox="1"/>
          <p:nvPr/>
        </p:nvSpPr>
        <p:spPr>
          <a:xfrm>
            <a:off x="2980944" y="3200400"/>
            <a:ext cx="713232" cy="667512"/>
          </a:xfrm>
          <a:prstGeom prst="rect">
            <a:avLst/>
          </a:prstGeom>
          <a:noFill/>
        </p:spPr>
        <p:txBody>
          <a:bodyPr wrap="square"/>
          <a:lstStyle/>
          <a:p>
            <a:pPr algn="l"/>
            <a:r>
              <a:rPr sz="850" b="0" i="0">
                <a:solidFill>
                  <a:srgbClr val="475569"/>
                </a:solidFill>
                <a:latin typeface="Calibri"/>
              </a:rPr>
              <a:t>Medium</a:t>
            </a:r>
          </a:p>
        </p:txBody>
      </p:sp>
      <p:sp>
        <p:nvSpPr>
          <p:cNvPr id="31" name="TextBox 30"/>
          <p:cNvSpPr txBox="1"/>
          <p:nvPr/>
        </p:nvSpPr>
        <p:spPr>
          <a:xfrm>
            <a:off x="3803904" y="3200400"/>
            <a:ext cx="530352" cy="667512"/>
          </a:xfrm>
          <a:prstGeom prst="rect">
            <a:avLst/>
          </a:prstGeom>
          <a:noFill/>
        </p:spPr>
        <p:txBody>
          <a:bodyPr wrap="square"/>
          <a:lstStyle/>
          <a:p>
            <a:pPr algn="l"/>
            <a:r>
              <a:rPr sz="850" b="0" i="0">
                <a:solidFill>
                  <a:srgbClr val="475569"/>
                </a:solidFill>
                <a:latin typeface="Calibri"/>
              </a:rPr>
              <a:t>Medium</a:t>
            </a:r>
          </a:p>
        </p:txBody>
      </p:sp>
      <p:sp>
        <p:nvSpPr>
          <p:cNvPr id="32" name="TextBox 31"/>
          <p:cNvSpPr txBox="1"/>
          <p:nvPr/>
        </p:nvSpPr>
        <p:spPr>
          <a:xfrm>
            <a:off x="4443984" y="3200400"/>
            <a:ext cx="2816352" cy="667512"/>
          </a:xfrm>
          <a:prstGeom prst="rect">
            <a:avLst/>
          </a:prstGeom>
          <a:noFill/>
        </p:spPr>
        <p:txBody>
          <a:bodyPr wrap="square"/>
          <a:lstStyle/>
          <a:p>
            <a:pPr algn="l"/>
            <a:r>
              <a:rPr sz="850" b="0" i="0">
                <a:solidFill>
                  <a:srgbClr val="475569"/>
                </a:solidFill>
                <a:latin typeface="Calibri"/>
              </a:rPr>
              <a:t>Pricing team co-design from Wave 1. Change management programme. Recommendation transparency builds trust incrementally.</a:t>
            </a:r>
          </a:p>
        </p:txBody>
      </p:sp>
      <p:sp>
        <p:nvSpPr>
          <p:cNvPr id="33" name="Rectangle 32"/>
          <p:cNvSpPr/>
          <p:nvPr/>
        </p:nvSpPr>
        <p:spPr>
          <a:xfrm>
            <a:off x="164592" y="3959352"/>
            <a:ext cx="71323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64592" y="3959352"/>
            <a:ext cx="45720" cy="8046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7744" y="4050792"/>
            <a:ext cx="2633472" cy="667512"/>
          </a:xfrm>
          <a:prstGeom prst="rect">
            <a:avLst/>
          </a:prstGeom>
          <a:noFill/>
        </p:spPr>
        <p:txBody>
          <a:bodyPr wrap="square"/>
          <a:lstStyle/>
          <a:p>
            <a:pPr algn="l"/>
            <a:r>
              <a:rPr sz="850" b="0" i="0">
                <a:solidFill>
                  <a:srgbClr val="475569"/>
                </a:solidFill>
                <a:latin typeface="Calibri"/>
              </a:rPr>
              <a:t>FCA scrutiny of AI-driven pricing inputs</a:t>
            </a:r>
          </a:p>
        </p:txBody>
      </p:sp>
      <p:sp>
        <p:nvSpPr>
          <p:cNvPr id="36" name="TextBox 35"/>
          <p:cNvSpPr txBox="1"/>
          <p:nvPr/>
        </p:nvSpPr>
        <p:spPr>
          <a:xfrm>
            <a:off x="2980944" y="4050792"/>
            <a:ext cx="713232" cy="667512"/>
          </a:xfrm>
          <a:prstGeom prst="rect">
            <a:avLst/>
          </a:prstGeom>
          <a:noFill/>
        </p:spPr>
        <p:txBody>
          <a:bodyPr wrap="square"/>
          <a:lstStyle/>
          <a:p>
            <a:pPr algn="l"/>
            <a:r>
              <a:rPr sz="850" b="0" i="0">
                <a:solidFill>
                  <a:srgbClr val="475569"/>
                </a:solidFill>
                <a:latin typeface="Calibri"/>
              </a:rPr>
              <a:t>Low</a:t>
            </a:r>
          </a:p>
        </p:txBody>
      </p:sp>
      <p:sp>
        <p:nvSpPr>
          <p:cNvPr id="37" name="TextBox 36"/>
          <p:cNvSpPr txBox="1"/>
          <p:nvPr/>
        </p:nvSpPr>
        <p:spPr>
          <a:xfrm>
            <a:off x="3803904" y="4050792"/>
            <a:ext cx="530352" cy="667512"/>
          </a:xfrm>
          <a:prstGeom prst="rect">
            <a:avLst/>
          </a:prstGeom>
          <a:noFill/>
        </p:spPr>
        <p:txBody>
          <a:bodyPr wrap="square"/>
          <a:lstStyle/>
          <a:p>
            <a:pPr algn="l"/>
            <a:r>
              <a:rPr sz="850" b="0" i="0">
                <a:solidFill>
                  <a:srgbClr val="475569"/>
                </a:solidFill>
                <a:latin typeface="Calibri"/>
              </a:rPr>
              <a:t>High</a:t>
            </a:r>
          </a:p>
        </p:txBody>
      </p:sp>
      <p:sp>
        <p:nvSpPr>
          <p:cNvPr id="38" name="TextBox 37"/>
          <p:cNvSpPr txBox="1"/>
          <p:nvPr/>
        </p:nvSpPr>
        <p:spPr>
          <a:xfrm>
            <a:off x="4443984" y="4050792"/>
            <a:ext cx="2816352" cy="667512"/>
          </a:xfrm>
          <a:prstGeom prst="rect">
            <a:avLst/>
          </a:prstGeom>
          <a:noFill/>
        </p:spPr>
        <p:txBody>
          <a:bodyPr wrap="square"/>
          <a:lstStyle/>
          <a:p>
            <a:pPr algn="l"/>
            <a:r>
              <a:rPr sz="850" b="0" i="0">
                <a:solidFill>
                  <a:srgbClr val="475569"/>
                </a:solidFill>
                <a:latin typeface="Calibri"/>
              </a:rPr>
              <a:t>Human decision accountability maintained throughout. Full explainability and audit trail. Legal &amp; Compliance review at each wave gate.</a:t>
            </a:r>
          </a:p>
        </p:txBody>
      </p:sp>
      <p:sp>
        <p:nvSpPr>
          <p:cNvPr id="39" name="Rectangle 38"/>
          <p:cNvSpPr/>
          <p:nvPr/>
        </p:nvSpPr>
        <p:spPr>
          <a:xfrm>
            <a:off x="164592" y="4809744"/>
            <a:ext cx="7132320" cy="8046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4592" y="4809744"/>
            <a:ext cx="45720" cy="80467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7744" y="4901184"/>
            <a:ext cx="2633472" cy="667512"/>
          </a:xfrm>
          <a:prstGeom prst="rect">
            <a:avLst/>
          </a:prstGeom>
          <a:noFill/>
        </p:spPr>
        <p:txBody>
          <a:bodyPr wrap="square"/>
          <a:lstStyle/>
          <a:p>
            <a:pPr algn="l"/>
            <a:r>
              <a:rPr sz="850" b="0" i="0">
                <a:solidFill>
                  <a:srgbClr val="475569"/>
                </a:solidFill>
                <a:latin typeface="Calibri"/>
              </a:rPr>
              <a:t>Integration complexity with core systems</a:t>
            </a:r>
          </a:p>
        </p:txBody>
      </p:sp>
      <p:sp>
        <p:nvSpPr>
          <p:cNvPr id="42" name="TextBox 41"/>
          <p:cNvSpPr txBox="1"/>
          <p:nvPr/>
        </p:nvSpPr>
        <p:spPr>
          <a:xfrm>
            <a:off x="2980944" y="4901184"/>
            <a:ext cx="713232" cy="667512"/>
          </a:xfrm>
          <a:prstGeom prst="rect">
            <a:avLst/>
          </a:prstGeom>
          <a:noFill/>
        </p:spPr>
        <p:txBody>
          <a:bodyPr wrap="square"/>
          <a:lstStyle/>
          <a:p>
            <a:pPr algn="l"/>
            <a:r>
              <a:rPr sz="850" b="0" i="0">
                <a:solidFill>
                  <a:srgbClr val="475569"/>
                </a:solidFill>
                <a:latin typeface="Calibri"/>
              </a:rPr>
              <a:t>Low</a:t>
            </a:r>
          </a:p>
        </p:txBody>
      </p:sp>
      <p:sp>
        <p:nvSpPr>
          <p:cNvPr id="43" name="TextBox 42"/>
          <p:cNvSpPr txBox="1"/>
          <p:nvPr/>
        </p:nvSpPr>
        <p:spPr>
          <a:xfrm>
            <a:off x="3803904" y="4901184"/>
            <a:ext cx="530352" cy="667512"/>
          </a:xfrm>
          <a:prstGeom prst="rect">
            <a:avLst/>
          </a:prstGeom>
          <a:noFill/>
        </p:spPr>
        <p:txBody>
          <a:bodyPr wrap="square"/>
          <a:lstStyle/>
          <a:p>
            <a:pPr algn="l"/>
            <a:r>
              <a:rPr sz="850" b="0" i="0">
                <a:solidFill>
                  <a:srgbClr val="475569"/>
                </a:solidFill>
                <a:latin typeface="Calibri"/>
              </a:rPr>
              <a:t>Medium</a:t>
            </a:r>
          </a:p>
        </p:txBody>
      </p:sp>
      <p:sp>
        <p:nvSpPr>
          <p:cNvPr id="44" name="TextBox 43"/>
          <p:cNvSpPr txBox="1"/>
          <p:nvPr/>
        </p:nvSpPr>
        <p:spPr>
          <a:xfrm>
            <a:off x="4443984" y="4901184"/>
            <a:ext cx="2816352" cy="667512"/>
          </a:xfrm>
          <a:prstGeom prst="rect">
            <a:avLst/>
          </a:prstGeom>
          <a:noFill/>
        </p:spPr>
        <p:txBody>
          <a:bodyPr wrap="square"/>
          <a:lstStyle/>
          <a:p>
            <a:pPr algn="l"/>
            <a:r>
              <a:rPr sz="850" b="0" i="0">
                <a:solidFill>
                  <a:srgbClr val="475569"/>
                </a:solidFill>
                <a:latin typeface="Calibri"/>
              </a:rPr>
              <a:t>Existing API patterns reused. Integration spikes in Wave 1. Apigee abstraction layer reduces coupling.</a:t>
            </a:r>
          </a:p>
        </p:txBody>
      </p:sp>
      <p:sp>
        <p:nvSpPr>
          <p:cNvPr id="45" name="TextBox 44"/>
          <p:cNvSpPr txBox="1"/>
          <p:nvPr/>
        </p:nvSpPr>
        <p:spPr>
          <a:xfrm>
            <a:off x="7406640" y="822960"/>
            <a:ext cx="4572000" cy="256032"/>
          </a:xfrm>
          <a:prstGeom prst="rect">
            <a:avLst/>
          </a:prstGeom>
          <a:noFill/>
        </p:spPr>
        <p:txBody>
          <a:bodyPr wrap="square"/>
          <a:lstStyle/>
          <a:p>
            <a:pPr algn="l"/>
            <a:r>
              <a:rPr sz="1200" b="1" i="0">
                <a:solidFill>
                  <a:srgbClr val="0A1628"/>
                </a:solidFill>
                <a:latin typeface="Calibri"/>
              </a:rPr>
              <a:t>Key Assumptions</a:t>
            </a:r>
          </a:p>
        </p:txBody>
      </p:sp>
      <p:sp>
        <p:nvSpPr>
          <p:cNvPr id="46" name="Rectangle 45"/>
          <p:cNvSpPr/>
          <p:nvPr/>
        </p:nvSpPr>
        <p:spPr>
          <a:xfrm>
            <a:off x="7406640" y="1115568"/>
            <a:ext cx="4572000" cy="86868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06640" y="1115568"/>
            <a:ext cx="45720" cy="8686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16368" y="1207008"/>
            <a:ext cx="4389120" cy="758952"/>
          </a:xfrm>
          <a:prstGeom prst="rect">
            <a:avLst/>
          </a:prstGeom>
          <a:noFill/>
        </p:spPr>
        <p:txBody>
          <a:bodyPr wrap="square"/>
          <a:lstStyle/>
          <a:p>
            <a:pPr algn="l"/>
            <a:r>
              <a:rPr sz="850" b="0" i="0">
                <a:solidFill>
                  <a:srgbClr val="475569"/>
                </a:solidFill>
                <a:latin typeface="Calibri"/>
              </a:rPr>
              <a:t>PCW data is available and accessible at sufficient frequency and quality to support near-real-time monitoring</a:t>
            </a:r>
          </a:p>
        </p:txBody>
      </p:sp>
      <p:sp>
        <p:nvSpPr>
          <p:cNvPr id="49" name="Rectangle 48"/>
          <p:cNvSpPr/>
          <p:nvPr/>
        </p:nvSpPr>
        <p:spPr>
          <a:xfrm>
            <a:off x="7406640" y="2075688"/>
            <a:ext cx="4572000" cy="86868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406640" y="2075688"/>
            <a:ext cx="45720" cy="8686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16368" y="2167128"/>
            <a:ext cx="4389120" cy="758952"/>
          </a:xfrm>
          <a:prstGeom prst="rect">
            <a:avLst/>
          </a:prstGeom>
          <a:noFill/>
        </p:spPr>
        <p:txBody>
          <a:bodyPr wrap="square"/>
          <a:lstStyle/>
          <a:p>
            <a:pPr algn="l"/>
            <a:r>
              <a:rPr sz="850" b="0" i="0">
                <a:solidFill>
                  <a:srgbClr val="475569"/>
                </a:solidFill>
                <a:latin typeface="Calibri"/>
              </a:rPr>
              <a:t>LBG's existing cloud and data platform can support the additional workloads introduced by the CI platform</a:t>
            </a:r>
          </a:p>
        </p:txBody>
      </p:sp>
      <p:sp>
        <p:nvSpPr>
          <p:cNvPr id="52" name="Rectangle 51"/>
          <p:cNvSpPr/>
          <p:nvPr/>
        </p:nvSpPr>
        <p:spPr>
          <a:xfrm>
            <a:off x="7406640" y="3035808"/>
            <a:ext cx="4572000" cy="86868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406640" y="3035808"/>
            <a:ext cx="45720" cy="8686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16368" y="3127248"/>
            <a:ext cx="4389120" cy="758952"/>
          </a:xfrm>
          <a:prstGeom prst="rect">
            <a:avLst/>
          </a:prstGeom>
          <a:noFill/>
        </p:spPr>
        <p:txBody>
          <a:bodyPr wrap="square"/>
          <a:lstStyle/>
          <a:p>
            <a:pPr algn="l"/>
            <a:r>
              <a:rPr sz="850" b="0" i="0">
                <a:solidFill>
                  <a:srgbClr val="475569"/>
                </a:solidFill>
                <a:latin typeface="Calibri"/>
              </a:rPr>
              <a:t>Pricing and proposition teams have capacity to engage in co-design and adopt AI-assisted workflows</a:t>
            </a:r>
          </a:p>
        </p:txBody>
      </p:sp>
      <p:sp>
        <p:nvSpPr>
          <p:cNvPr id="55" name="Rectangle 54"/>
          <p:cNvSpPr/>
          <p:nvPr/>
        </p:nvSpPr>
        <p:spPr>
          <a:xfrm>
            <a:off x="7406640" y="3995928"/>
            <a:ext cx="4572000" cy="86868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406640" y="3995928"/>
            <a:ext cx="45720" cy="8686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16368" y="4087368"/>
            <a:ext cx="4389120" cy="758952"/>
          </a:xfrm>
          <a:prstGeom prst="rect">
            <a:avLst/>
          </a:prstGeom>
          <a:noFill/>
        </p:spPr>
        <p:txBody>
          <a:bodyPr wrap="square"/>
          <a:lstStyle/>
          <a:p>
            <a:pPr algn="l"/>
            <a:r>
              <a:rPr sz="850" b="0" i="0">
                <a:solidFill>
                  <a:srgbClr val="475569"/>
                </a:solidFill>
                <a:latin typeface="Calibri"/>
              </a:rPr>
              <a:t>Regulatory environment does not materially change the framework for AI-assisted pricing decisions during delivery</a:t>
            </a:r>
          </a:p>
        </p:txBody>
      </p:sp>
      <p:sp>
        <p:nvSpPr>
          <p:cNvPr id="58" name="Rectangle 57"/>
          <p:cNvSpPr/>
          <p:nvPr/>
        </p:nvSpPr>
        <p:spPr>
          <a:xfrm>
            <a:off x="7406640" y="4956048"/>
            <a:ext cx="4572000" cy="86868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406640" y="4956048"/>
            <a:ext cx="45720" cy="8686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16368" y="5047488"/>
            <a:ext cx="4389120" cy="758952"/>
          </a:xfrm>
          <a:prstGeom prst="rect">
            <a:avLst/>
          </a:prstGeom>
          <a:noFill/>
        </p:spPr>
        <p:txBody>
          <a:bodyPr wrap="square"/>
          <a:lstStyle/>
          <a:p>
            <a:pPr algn="l"/>
            <a:r>
              <a:rPr sz="850" b="0" i="0">
                <a:solidFill>
                  <a:srgbClr val="475569"/>
                </a:solidFill>
                <a:latin typeface="Calibri"/>
              </a:rPr>
              <a:t>Business sponsorship and funding are confirmed prior to Wave 1 commencement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82880"/>
            <a:ext cx="8229600" cy="274320"/>
          </a:xfrm>
          <a:prstGeom prst="rect">
            <a:avLst/>
          </a:prstGeom>
          <a:noFill/>
        </p:spPr>
        <p:txBody>
          <a:bodyPr wrap="square"/>
          <a:lstStyle/>
          <a:p>
            <a:pPr algn="l"/>
            <a:r>
              <a:rPr sz="900" b="1" i="0">
                <a:solidFill>
                  <a:srgbClr val="C9A84C"/>
                </a:solidFill>
                <a:latin typeface="Calibri"/>
              </a:rPr>
              <a:t>RECOMMENDATION &amp; DECISION REQUIRED</a:t>
            </a:r>
          </a:p>
        </p:txBody>
      </p:sp>
      <p:sp>
        <p:nvSpPr>
          <p:cNvPr id="6" name="Rectangle 5"/>
          <p:cNvSpPr/>
          <p:nvPr/>
        </p:nvSpPr>
        <p:spPr>
          <a:xfrm>
            <a:off x="228600" y="548640"/>
            <a:ext cx="11731752" cy="123444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548640"/>
            <a:ext cx="64008" cy="12344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621792"/>
            <a:ext cx="11503152" cy="1051560"/>
          </a:xfrm>
          <a:prstGeom prst="rect">
            <a:avLst/>
          </a:prstGeom>
          <a:noFill/>
        </p:spPr>
        <p:txBody>
          <a:bodyPr wrap="square"/>
          <a:lstStyle/>
          <a:p>
            <a:pPr algn="l"/>
            <a:r>
              <a:rPr sz="1200" b="0" i="0">
                <a:solidFill>
                  <a:srgbClr val="FFFFFF"/>
                </a:solidFill>
                <a:latin typeface="Calibri"/>
              </a:rPr>
              <a:t>Proceed with a focused MVP targeting a single PCW channel and a defined set of pricing and proposition use cases. The MVP should validate the end-to-end workflow from data collection through to governed recommendation delivery — establishing confidence in the AI capability, governance model and commercial impact before scaling.</a:t>
            </a:r>
          </a:p>
        </p:txBody>
      </p:sp>
      <p:sp>
        <p:nvSpPr>
          <p:cNvPr id="9" name="TextBox 8"/>
          <p:cNvSpPr txBox="1"/>
          <p:nvPr/>
        </p:nvSpPr>
        <p:spPr>
          <a:xfrm>
            <a:off x="228600" y="1920240"/>
            <a:ext cx="4572000" cy="256032"/>
          </a:xfrm>
          <a:prstGeom prst="rect">
            <a:avLst/>
          </a:prstGeom>
          <a:noFill/>
        </p:spPr>
        <p:txBody>
          <a:bodyPr wrap="square"/>
          <a:lstStyle/>
          <a:p>
            <a:pPr algn="l"/>
            <a:r>
              <a:rPr sz="900" b="1" i="0">
                <a:solidFill>
                  <a:srgbClr val="B0BBCC"/>
                </a:solidFill>
                <a:latin typeface="Calibri"/>
              </a:rPr>
              <a:t>IMMEDIATE NEXT STEPS</a:t>
            </a:r>
          </a:p>
        </p:txBody>
      </p:sp>
      <p:sp>
        <p:nvSpPr>
          <p:cNvPr id="10" name="Rectangle 9"/>
          <p:cNvSpPr/>
          <p:nvPr/>
        </p:nvSpPr>
        <p:spPr>
          <a:xfrm>
            <a:off x="228600" y="2240280"/>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 y="2240280"/>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2514600"/>
            <a:ext cx="475488" cy="384048"/>
          </a:xfrm>
          <a:prstGeom prst="rect">
            <a:avLst/>
          </a:prstGeom>
          <a:noFill/>
        </p:spPr>
        <p:txBody>
          <a:bodyPr wrap="square"/>
          <a:lstStyle/>
          <a:p>
            <a:pPr algn="ctr"/>
            <a:r>
              <a:rPr sz="1600" b="1" i="0">
                <a:solidFill>
                  <a:srgbClr val="0A1628"/>
                </a:solidFill>
                <a:latin typeface="Calibri"/>
              </a:rPr>
              <a:t>1</a:t>
            </a:r>
          </a:p>
        </p:txBody>
      </p:sp>
      <p:sp>
        <p:nvSpPr>
          <p:cNvPr id="13" name="TextBox 12"/>
          <p:cNvSpPr txBox="1"/>
          <p:nvPr/>
        </p:nvSpPr>
        <p:spPr>
          <a:xfrm>
            <a:off x="868680" y="2377440"/>
            <a:ext cx="4892040" cy="685800"/>
          </a:xfrm>
          <a:prstGeom prst="rect">
            <a:avLst/>
          </a:prstGeom>
          <a:noFill/>
        </p:spPr>
        <p:txBody>
          <a:bodyPr wrap="square"/>
          <a:lstStyle/>
          <a:p>
            <a:pPr algn="l"/>
            <a:r>
              <a:rPr sz="950" b="0" i="0">
                <a:solidFill>
                  <a:srgbClr val="FFFFFF"/>
                </a:solidFill>
                <a:latin typeface="Calibri"/>
              </a:rPr>
              <a:t>Confirm executive sponsorship and investment approval for Wave 1</a:t>
            </a:r>
          </a:p>
        </p:txBody>
      </p:sp>
      <p:sp>
        <p:nvSpPr>
          <p:cNvPr id="14" name="Rectangle 13"/>
          <p:cNvSpPr/>
          <p:nvPr/>
        </p:nvSpPr>
        <p:spPr>
          <a:xfrm>
            <a:off x="6080760" y="2240280"/>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2240280"/>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2514600"/>
            <a:ext cx="475488" cy="384048"/>
          </a:xfrm>
          <a:prstGeom prst="rect">
            <a:avLst/>
          </a:prstGeom>
          <a:noFill/>
        </p:spPr>
        <p:txBody>
          <a:bodyPr wrap="square"/>
          <a:lstStyle/>
          <a:p>
            <a:pPr algn="ctr"/>
            <a:r>
              <a:rPr sz="1600" b="1" i="0">
                <a:solidFill>
                  <a:srgbClr val="0A1628"/>
                </a:solidFill>
                <a:latin typeface="Calibri"/>
              </a:rPr>
              <a:t>2</a:t>
            </a:r>
          </a:p>
        </p:txBody>
      </p:sp>
      <p:sp>
        <p:nvSpPr>
          <p:cNvPr id="17" name="TextBox 16"/>
          <p:cNvSpPr txBox="1"/>
          <p:nvPr/>
        </p:nvSpPr>
        <p:spPr>
          <a:xfrm>
            <a:off x="6720840" y="2377440"/>
            <a:ext cx="4892040" cy="685800"/>
          </a:xfrm>
          <a:prstGeom prst="rect">
            <a:avLst/>
          </a:prstGeom>
          <a:noFill/>
        </p:spPr>
        <p:txBody>
          <a:bodyPr wrap="square"/>
          <a:lstStyle/>
          <a:p>
            <a:pPr algn="l"/>
            <a:r>
              <a:rPr sz="950" b="0" i="0">
                <a:solidFill>
                  <a:srgbClr val="FFFFFF"/>
                </a:solidFill>
                <a:latin typeface="Calibri"/>
              </a:rPr>
              <a:t>Establish cross-functional delivery team (Pricing, Product, Technology, Risk)</a:t>
            </a:r>
          </a:p>
        </p:txBody>
      </p:sp>
      <p:sp>
        <p:nvSpPr>
          <p:cNvPr id="18" name="Rectangle 17"/>
          <p:cNvSpPr/>
          <p:nvPr/>
        </p:nvSpPr>
        <p:spPr>
          <a:xfrm>
            <a:off x="228600" y="3264408"/>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28600" y="3264408"/>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538728"/>
            <a:ext cx="475488" cy="384048"/>
          </a:xfrm>
          <a:prstGeom prst="rect">
            <a:avLst/>
          </a:prstGeom>
          <a:noFill/>
        </p:spPr>
        <p:txBody>
          <a:bodyPr wrap="square"/>
          <a:lstStyle/>
          <a:p>
            <a:pPr algn="ctr"/>
            <a:r>
              <a:rPr sz="1600" b="1" i="0">
                <a:solidFill>
                  <a:srgbClr val="0A1628"/>
                </a:solidFill>
                <a:latin typeface="Calibri"/>
              </a:rPr>
              <a:t>3</a:t>
            </a:r>
          </a:p>
        </p:txBody>
      </p:sp>
      <p:sp>
        <p:nvSpPr>
          <p:cNvPr id="21" name="TextBox 20"/>
          <p:cNvSpPr txBox="1"/>
          <p:nvPr/>
        </p:nvSpPr>
        <p:spPr>
          <a:xfrm>
            <a:off x="868680" y="3401568"/>
            <a:ext cx="4892040" cy="685800"/>
          </a:xfrm>
          <a:prstGeom prst="rect">
            <a:avLst/>
          </a:prstGeom>
          <a:noFill/>
        </p:spPr>
        <p:txBody>
          <a:bodyPr wrap="square"/>
          <a:lstStyle/>
          <a:p>
            <a:pPr algn="l"/>
            <a:r>
              <a:rPr sz="950" b="0" i="0">
                <a:solidFill>
                  <a:srgbClr val="FFFFFF"/>
                </a:solidFill>
                <a:latin typeface="Calibri"/>
              </a:rPr>
              <a:t>Select pilot PCW channel and define MVP scope with pricing team</a:t>
            </a:r>
          </a:p>
        </p:txBody>
      </p:sp>
      <p:sp>
        <p:nvSpPr>
          <p:cNvPr id="22" name="Rectangle 21"/>
          <p:cNvSpPr/>
          <p:nvPr/>
        </p:nvSpPr>
        <p:spPr>
          <a:xfrm>
            <a:off x="6080760" y="3264408"/>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80760" y="3264408"/>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3538728"/>
            <a:ext cx="475488" cy="384048"/>
          </a:xfrm>
          <a:prstGeom prst="rect">
            <a:avLst/>
          </a:prstGeom>
          <a:noFill/>
        </p:spPr>
        <p:txBody>
          <a:bodyPr wrap="square"/>
          <a:lstStyle/>
          <a:p>
            <a:pPr algn="ctr"/>
            <a:r>
              <a:rPr sz="1600" b="1" i="0">
                <a:solidFill>
                  <a:srgbClr val="0A1628"/>
                </a:solidFill>
                <a:latin typeface="Calibri"/>
              </a:rPr>
              <a:t>4</a:t>
            </a:r>
          </a:p>
        </p:txBody>
      </p:sp>
      <p:sp>
        <p:nvSpPr>
          <p:cNvPr id="25" name="TextBox 24"/>
          <p:cNvSpPr txBox="1"/>
          <p:nvPr/>
        </p:nvSpPr>
        <p:spPr>
          <a:xfrm>
            <a:off x="6720840" y="3401568"/>
            <a:ext cx="4892040" cy="685800"/>
          </a:xfrm>
          <a:prstGeom prst="rect">
            <a:avLst/>
          </a:prstGeom>
          <a:noFill/>
        </p:spPr>
        <p:txBody>
          <a:bodyPr wrap="square"/>
          <a:lstStyle/>
          <a:p>
            <a:pPr algn="l"/>
            <a:r>
              <a:rPr sz="950" b="0" i="0">
                <a:solidFill>
                  <a:srgbClr val="FFFFFF"/>
                </a:solidFill>
                <a:latin typeface="Calibri"/>
              </a:rPr>
              <a:t>Conduct data availability assessment and PCW integration spike</a:t>
            </a:r>
          </a:p>
        </p:txBody>
      </p:sp>
      <p:sp>
        <p:nvSpPr>
          <p:cNvPr id="26" name="Rectangle 25"/>
          <p:cNvSpPr/>
          <p:nvPr/>
        </p:nvSpPr>
        <p:spPr>
          <a:xfrm>
            <a:off x="228600" y="4288536"/>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8600" y="4288536"/>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562856"/>
            <a:ext cx="475488" cy="384048"/>
          </a:xfrm>
          <a:prstGeom prst="rect">
            <a:avLst/>
          </a:prstGeom>
          <a:noFill/>
        </p:spPr>
        <p:txBody>
          <a:bodyPr wrap="square"/>
          <a:lstStyle/>
          <a:p>
            <a:pPr algn="ctr"/>
            <a:r>
              <a:rPr sz="1600" b="1" i="0">
                <a:solidFill>
                  <a:srgbClr val="0A1628"/>
                </a:solidFill>
                <a:latin typeface="Calibri"/>
              </a:rPr>
              <a:t>5</a:t>
            </a:r>
          </a:p>
        </p:txBody>
      </p:sp>
      <p:sp>
        <p:nvSpPr>
          <p:cNvPr id="29" name="TextBox 28"/>
          <p:cNvSpPr txBox="1"/>
          <p:nvPr/>
        </p:nvSpPr>
        <p:spPr>
          <a:xfrm>
            <a:off x="868680" y="4425696"/>
            <a:ext cx="4892040" cy="685800"/>
          </a:xfrm>
          <a:prstGeom prst="rect">
            <a:avLst/>
          </a:prstGeom>
          <a:noFill/>
        </p:spPr>
        <p:txBody>
          <a:bodyPr wrap="square"/>
          <a:lstStyle/>
          <a:p>
            <a:pPr algn="l"/>
            <a:r>
              <a:rPr sz="950" b="0" i="0">
                <a:solidFill>
                  <a:srgbClr val="FFFFFF"/>
                </a:solidFill>
                <a:latin typeface="Calibri"/>
              </a:rPr>
              <a:t>Define success criteria, baseline KPIs and measurement framework</a:t>
            </a:r>
          </a:p>
        </p:txBody>
      </p:sp>
      <p:sp>
        <p:nvSpPr>
          <p:cNvPr id="30" name="Rectangle 29"/>
          <p:cNvSpPr/>
          <p:nvPr/>
        </p:nvSpPr>
        <p:spPr>
          <a:xfrm>
            <a:off x="6080760" y="4288536"/>
            <a:ext cx="5669280" cy="91440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80760" y="4288536"/>
            <a:ext cx="54864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6480" y="4562856"/>
            <a:ext cx="475488" cy="384048"/>
          </a:xfrm>
          <a:prstGeom prst="rect">
            <a:avLst/>
          </a:prstGeom>
          <a:noFill/>
        </p:spPr>
        <p:txBody>
          <a:bodyPr wrap="square"/>
          <a:lstStyle/>
          <a:p>
            <a:pPr algn="ctr"/>
            <a:r>
              <a:rPr sz="1600" b="1" i="0">
                <a:solidFill>
                  <a:srgbClr val="0A1628"/>
                </a:solidFill>
                <a:latin typeface="Calibri"/>
              </a:rPr>
              <a:t>6</a:t>
            </a:r>
          </a:p>
        </p:txBody>
      </p:sp>
      <p:sp>
        <p:nvSpPr>
          <p:cNvPr id="33" name="TextBox 32"/>
          <p:cNvSpPr txBox="1"/>
          <p:nvPr/>
        </p:nvSpPr>
        <p:spPr>
          <a:xfrm>
            <a:off x="6720840" y="4425696"/>
            <a:ext cx="4892040" cy="685800"/>
          </a:xfrm>
          <a:prstGeom prst="rect">
            <a:avLst/>
          </a:prstGeom>
          <a:noFill/>
        </p:spPr>
        <p:txBody>
          <a:bodyPr wrap="square"/>
          <a:lstStyle/>
          <a:p>
            <a:pPr algn="l"/>
            <a:r>
              <a:rPr sz="950" b="0" i="0">
                <a:solidFill>
                  <a:srgbClr val="FFFFFF"/>
                </a:solidFill>
                <a:latin typeface="Calibri"/>
              </a:rPr>
              <a:t>Commence Wave 1 delivery: platform infrastructure and data pipeline</a:t>
            </a:r>
          </a:p>
        </p:txBody>
      </p:sp>
      <p:sp>
        <p:nvSpPr>
          <p:cNvPr id="34" name="TextBox 33"/>
          <p:cNvSpPr txBox="1"/>
          <p:nvPr/>
        </p:nvSpPr>
        <p:spPr>
          <a:xfrm>
            <a:off x="11247120" y="6565392"/>
            <a:ext cx="822960" cy="228600"/>
          </a:xfrm>
          <a:prstGeom prst="rect">
            <a:avLst/>
          </a:prstGeom>
          <a:noFill/>
        </p:spPr>
        <p:txBody>
          <a:bodyPr wrap="square"/>
          <a:lstStyle/>
          <a:p>
            <a:pPr algn="r"/>
            <a:r>
              <a:rPr sz="750" b="0" i="0">
                <a:solidFill>
                  <a:srgbClr val="94A3B8"/>
                </a:solidFill>
                <a:latin typeface="Calibri"/>
              </a:rPr>
              <a:t>18 / 18</a:t>
            </a:r>
          </a:p>
        </p:txBody>
      </p:sp>
      <p:sp>
        <p:nvSpPr>
          <p:cNvPr id="35" name="Rectangle 34"/>
          <p:cNvSpPr/>
          <p:nvPr/>
        </p:nvSpPr>
        <p:spPr>
          <a:xfrm>
            <a:off x="228600" y="6263640"/>
            <a:ext cx="11731752" cy="411480"/>
          </a:xfrm>
          <a:prstGeom prst="rect">
            <a:avLst/>
          </a:prstGeom>
          <a:solidFill>
            <a:srgbClr val="0C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336792"/>
            <a:ext cx="11457432" cy="292608"/>
          </a:xfrm>
          <a:prstGeom prst="rect">
            <a:avLst/>
          </a:prstGeom>
          <a:noFill/>
        </p:spPr>
        <p:txBody>
          <a:bodyPr wrap="square"/>
          <a:lstStyle/>
          <a:p>
            <a:pPr algn="ctr"/>
            <a:r>
              <a:rPr sz="900" b="0" i="1">
                <a:solidFill>
                  <a:srgbClr val="94A3B8"/>
                </a:solidFill>
                <a:latin typeface="Calibri"/>
              </a:rPr>
              <a:t>Transforming competitor monitoring into continuous competitive intelligence and optimisation -- powered by ML, GenAI and Agentic AI, governed by human oversight.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