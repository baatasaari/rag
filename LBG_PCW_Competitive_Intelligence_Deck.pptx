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0" y="73152"/>
            <a:ext cx="3776472" cy="6784848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Calibri"/>
              </a:rPr>
              <a:t>LLOYDS BANKING GROUP  ·  GENERAL INSURANCE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PCW Competitive Intelligence
&amp; Optimisation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88920"/>
            <a:ext cx="64008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Transforming Market Monitoring into Continuous Competitive Advantage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429000"/>
            <a:ext cx="2011680" cy="292608"/>
          </a:xfrm>
          <a:prstGeom prst="rect">
            <a:avLst/>
          </a:prstGeom>
          <a:noFill/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46557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  <a:latin typeface="Calibri"/>
              </a:rPr>
              <a:t>Agentic Intelligence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3429000"/>
            <a:ext cx="2011680" cy="292608"/>
          </a:xfrm>
          <a:prstGeom prst="rect">
            <a:avLst/>
          </a:prstGeom>
          <a:noFill/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346557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  <a:latin typeface="Calibri"/>
              </a:rPr>
              <a:t>Human-Governed Decisioning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3429000"/>
            <a:ext cx="2011680" cy="292608"/>
          </a:xfrm>
          <a:prstGeom prst="rect">
            <a:avLst/>
          </a:prstGeom>
          <a:noFill/>
          <a:ln w="952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346557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  <a:latin typeface="Calibri"/>
              </a:rPr>
              <a:t>Closed-Loop Optimisation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77639"/>
            <a:ext cx="7589520" cy="777240"/>
          </a:xfrm>
          <a:prstGeom prst="rect">
            <a:avLst/>
          </a:prstGeom>
          <a:solidFill>
            <a:srgbClr val="12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977639"/>
            <a:ext cx="54864" cy="7772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041648"/>
            <a:ext cx="7315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CCD6E8"/>
                </a:solidFill>
                <a:latin typeface="Calibri"/>
              </a:rPr>
              <a:t>Move from periodic competitor reviews to continuous market sensing, intelligence generation and optimisation recommendations across all Price Comparison Website channels.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10972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Calibri"/>
              </a:rPr>
              <a:t>DELIVERY TIMELINE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95360" y="1463040"/>
            <a:ext cx="3291840" cy="566928"/>
          </a:xfrm>
          <a:prstGeom prst="rect">
            <a:avLst/>
          </a:prstGeom>
          <a:solidFill>
            <a:srgbClr val="14284A"/>
          </a:solidFill>
          <a:ln w="635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151790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Wave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170078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Market Visibility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1865376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Months 1–3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5360" y="2103120"/>
            <a:ext cx="3291840" cy="566928"/>
          </a:xfrm>
          <a:prstGeom prst="rect">
            <a:avLst/>
          </a:prstGeom>
          <a:solidFill>
            <a:srgbClr val="14284A"/>
          </a:solidFill>
          <a:ln w="635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0" y="215798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Wave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234086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Intelligence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2505456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Months 4–6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95360" y="2743200"/>
            <a:ext cx="3291840" cy="566928"/>
          </a:xfrm>
          <a:prstGeom prst="rect">
            <a:avLst/>
          </a:prstGeom>
          <a:solidFill>
            <a:srgbClr val="14284A"/>
          </a:solidFill>
          <a:ln w="635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0" y="279806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Wave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298094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Decision Support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3145536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Months 7–9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95360" y="3383280"/>
            <a:ext cx="3291840" cy="566928"/>
          </a:xfrm>
          <a:prstGeom prst="rect">
            <a:avLst/>
          </a:prstGeom>
          <a:solidFill>
            <a:srgbClr val="14284A"/>
          </a:solidFill>
          <a:ln w="6350">
            <a:solidFill>
              <a:srgbClr val="1B3A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0" y="3438144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Wave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362102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Optimisation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3785616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4A3B8"/>
                </a:solidFill>
                <a:latin typeface="Calibri"/>
              </a:rPr>
              <a:t>Months 10–12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83112" y="6537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01 / 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25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7AC5"/>
                </a:solidFill>
                <a:latin typeface="Calibri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628"/>
                </a:solidFill>
                <a:latin typeface="Calibri"/>
              </a:rPr>
              <a:t>Strategic Context &amp; Recommendation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4572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solidFill>
            <a:srgbClr val="F4F6F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43000"/>
            <a:ext cx="3749039" cy="45720"/>
          </a:xfrm>
          <a:prstGeom prst="rect">
            <a:avLst/>
          </a:prstGeom>
          <a:solidFill>
            <a:srgbClr val="0F7A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261872"/>
            <a:ext cx="34747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7AC5"/>
                </a:solidFill>
                <a:latin typeface="Calibri"/>
              </a:rPr>
              <a:t>THE OPPORTUNITY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508760"/>
            <a:ext cx="34747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628"/>
                </a:solidFill>
                <a:latin typeface="Calibri"/>
              </a:rPr>
              <a:t>PCWs remain a primary acquisition channel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103120"/>
            <a:ext cx="347471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Price Comparison Websites continue to shape customer acquisition at scale, creating significant leverage for firms that can optimise positioning effectively.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399" y="1143000"/>
            <a:ext cx="3749039" cy="3291840"/>
          </a:xfrm>
          <a:prstGeom prst="rect">
            <a:avLst/>
          </a:prstGeom>
          <a:solidFill>
            <a:srgbClr val="F4F6F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399" y="1143000"/>
            <a:ext cx="3749039" cy="45720"/>
          </a:xfrm>
          <a:prstGeom prst="rect">
            <a:avLst/>
          </a:prstGeom>
          <a:solidFill>
            <a:srgbClr val="25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1" y="1261872"/>
            <a:ext cx="34747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F7AC5"/>
                </a:solidFill>
                <a:latin typeface="Calibri"/>
              </a:rPr>
              <a:t>THE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1" y="1508760"/>
            <a:ext cx="34747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628"/>
                </a:solidFill>
                <a:latin typeface="Calibri"/>
              </a:rPr>
              <a:t>Responses are fragmented and reactive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1" y="2103120"/>
            <a:ext cx="347471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Manual, periodic reviews are unable to keep pace with the velocity and complexity of market movements across all PCW channels simultaneously.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598" y="1143000"/>
            <a:ext cx="3749039" cy="3291840"/>
          </a:xfrm>
          <a:prstGeom prst="rect">
            <a:avLst/>
          </a:prstGeom>
          <a:solidFill>
            <a:srgbClr val="0A1628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598" y="1143000"/>
            <a:ext cx="3749039" cy="457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94190" y="1261872"/>
            <a:ext cx="34747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THE RECOMMENDATION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0" y="1508760"/>
            <a:ext cx="34747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Establish an Agentic AI-powered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0" y="2103120"/>
            <a:ext cx="3474719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8"/>
                </a:solidFill>
                <a:latin typeface="Calibri"/>
              </a:rPr>
              <a:t>Continuously monitor, analyse and recommend actions across pricing, product and proposition — governed by human oversight at every decision point.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5720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94A3B8"/>
                </a:solidFill>
                <a:latin typeface="Calibri"/>
              </a:rPr>
              <a:t>EXPECTED OUTCOMES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846320"/>
            <a:ext cx="2240280" cy="457200"/>
          </a:xfrm>
          <a:prstGeom prst="rect">
            <a:avLst/>
          </a:prstGeom>
          <a:solidFill>
            <a:srgbClr val="E8EDF5"/>
          </a:solidFill>
          <a:ln w="63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846320"/>
            <a:ext cx="4572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928" y="4910328"/>
            <a:ext cx="20756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Improved PCW ranking visibility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88920" y="4846320"/>
            <a:ext cx="2240280" cy="457200"/>
          </a:xfrm>
          <a:prstGeom prst="rect">
            <a:avLst/>
          </a:prstGeom>
          <a:solidFill>
            <a:srgbClr val="E8EDF5"/>
          </a:solidFill>
          <a:ln w="63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88920" y="4846320"/>
            <a:ext cx="4572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98648" y="4910328"/>
            <a:ext cx="20756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Faster competitor response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20640" y="4846320"/>
            <a:ext cx="2240280" cy="457200"/>
          </a:xfrm>
          <a:prstGeom prst="rect">
            <a:avLst/>
          </a:prstGeom>
          <a:solidFill>
            <a:srgbClr val="E8EDF5"/>
          </a:solidFill>
          <a:ln w="63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120640" y="4846320"/>
            <a:ext cx="4572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230368" y="4910328"/>
            <a:ext cx="20756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Better-informed pricing decisions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52360" y="4846320"/>
            <a:ext cx="2240280" cy="457200"/>
          </a:xfrm>
          <a:prstGeom prst="rect">
            <a:avLst/>
          </a:prstGeom>
          <a:solidFill>
            <a:srgbClr val="E8EDF5"/>
          </a:solidFill>
          <a:ln w="63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52360" y="4846320"/>
            <a:ext cx="4572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62088" y="4910328"/>
            <a:ext cx="20756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Reduced manual effort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84080" y="4846320"/>
            <a:ext cx="2240280" cy="457200"/>
          </a:xfrm>
          <a:prstGeom prst="rect">
            <a:avLst/>
          </a:prstGeom>
          <a:solidFill>
            <a:srgbClr val="E8EDF5"/>
          </a:solidFill>
          <a:ln w="63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784080" y="4846320"/>
            <a:ext cx="4572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93808" y="4910328"/>
            <a:ext cx="207568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Calibri"/>
              </a:rPr>
              <a:t>Reusable strategic capability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83112" y="6537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02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25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7AC5"/>
                </a:solidFill>
                <a:latin typeface="Calibri"/>
              </a:rPr>
              <a:t>MARKET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628"/>
                </a:solidFill>
                <a:latin typeface="Calibri"/>
              </a:rPr>
              <a:t>Why This Matters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4572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5577840" cy="2377440"/>
          </a:xfrm>
          <a:prstGeom prst="rect">
            <a:avLst/>
          </a:prstGeom>
          <a:solidFill>
            <a:srgbClr val="F4F6F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43000"/>
            <a:ext cx="5577840" cy="45720"/>
          </a:xfrm>
          <a:prstGeom prst="rect">
            <a:avLst/>
          </a:prstGeom>
          <a:solidFill>
            <a:srgbClr val="0F7A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801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Calibri"/>
              </a:rPr>
              <a:t>PCWs Drive Customer Acquisition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9164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50">
                <a:solidFill>
                  <a:srgbClr val="475569"/>
                </a:solidFill>
                <a:latin typeface="Calibri"/>
              </a:rPr>
              <a:t>–  Price, excess and product features compared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475569"/>
                </a:solidFill>
                <a:latin typeface="Calibri"/>
              </a:rPr>
              <a:t>–  Optional add-ons influence decisions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475569"/>
                </a:solidFill>
                <a:latin typeface="Calibri"/>
              </a:rPr>
              <a:t>–  Brand perception shapes customer choice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143000"/>
            <a:ext cx="5577840" cy="2377440"/>
          </a:xfrm>
          <a:prstGeom prst="rect">
            <a:avLst/>
          </a:prstGeom>
          <a:solidFill>
            <a:srgbClr val="F4F6F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143000"/>
            <a:ext cx="557784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2801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Calibri"/>
              </a:rPr>
              <a:t>Ranking Position Drives Outcomes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69164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50">
                <a:solidFill>
                  <a:srgbClr val="475569"/>
                </a:solidFill>
                <a:latin typeface="Calibri"/>
              </a:rPr>
              <a:t>–  Quote volumes sensitive to rank position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475569"/>
                </a:solidFill>
                <a:latin typeface="Calibri"/>
              </a:rPr>
              <a:t>–  Conversion rates materially affected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475569"/>
                </a:solidFill>
                <a:latin typeface="Calibri"/>
              </a:rPr>
              <a:t>–  New business growth directly at stake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49039"/>
            <a:ext cx="5577840" cy="2377440"/>
          </a:xfrm>
          <a:prstGeom prst="rect">
            <a:avLst/>
          </a:prstGeom>
          <a:solidFill>
            <a:srgbClr val="F4F6F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557784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88619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Calibri"/>
              </a:rPr>
              <a:t>Market Dynamics Change Daily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97679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50">
                <a:solidFill>
                  <a:srgbClr val="475569"/>
                </a:solidFill>
                <a:latin typeface="Calibri"/>
              </a:rPr>
              <a:t>–  Competitor pricing adjustments are frequent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475569"/>
                </a:solidFill>
                <a:latin typeface="Calibri"/>
              </a:rPr>
              <a:t>–  Offer and promotion changes are ongoing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475569"/>
                </a:solidFill>
                <a:latin typeface="Calibri"/>
              </a:rPr>
              <a:t>–  Product enhancements occur continuously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749039"/>
            <a:ext cx="5577840" cy="2377440"/>
          </a:xfrm>
          <a:prstGeom prst="rect">
            <a:avLst/>
          </a:prstGeom>
          <a:solidFill>
            <a:srgbClr val="F4F6F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3749039"/>
            <a:ext cx="5577840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88619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Calibri"/>
              </a:rPr>
              <a:t>Current Monitoring Cannot Scale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297679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50">
                <a:solidFill>
                  <a:srgbClr val="475569"/>
                </a:solidFill>
                <a:latin typeface="Calibri"/>
              </a:rPr>
              <a:t>–  Manual processes lag market movement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475569"/>
                </a:solidFill>
                <a:latin typeface="Calibri"/>
              </a:rPr>
              <a:t>–  Analysis siloed across teams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475569"/>
                </a:solidFill>
                <a:latin typeface="Calibri"/>
              </a:rPr>
              <a:t>–  Response latency creates competitive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3112" y="6537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25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7AC5"/>
                </a:solidFill>
                <a:latin typeface="Calibri"/>
              </a:rPr>
              <a:t>CURRENT STATE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628"/>
                </a:solidFill>
                <a:latin typeface="Calibri"/>
              </a:rPr>
              <a:t>How We Operate Today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4572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2194560" cy="2926080"/>
          </a:xfrm>
          <a:prstGeom prst="rect">
            <a:avLst/>
          </a:prstGeom>
          <a:solidFill>
            <a:srgbClr val="F4F6F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8016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1D9E8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8308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1628"/>
                </a:solidFill>
                <a:latin typeface="Calibri"/>
              </a:rPr>
              <a:t>MONITORING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121408"/>
            <a:ext cx="320040" cy="27432"/>
          </a:xfrm>
          <a:prstGeom prst="rect">
            <a:avLst/>
          </a:prstGeom>
          <a:solidFill>
            <a:srgbClr val="0F7A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194560"/>
            <a:ext cx="1965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Market reviews performed periodically across multiple PCWs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377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1188720"/>
            <a:ext cx="2194560" cy="2926080"/>
          </a:xfrm>
          <a:prstGeom prst="rect">
            <a:avLst/>
          </a:prstGeom>
          <a:solidFill>
            <a:srgbClr val="F4F6F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128016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1D9E8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178308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1628"/>
                </a:solidFill>
                <a:latin typeface="Calibri"/>
              </a:rPr>
              <a:t>ANALYSIS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2121408"/>
            <a:ext cx="320040" cy="27432"/>
          </a:xfrm>
          <a:prstGeom prst="rect">
            <a:avLst/>
          </a:prstGeom>
          <a:solidFill>
            <a:srgbClr val="0F7A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2194560"/>
            <a:ext cx="1965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Information collected manually, interpreted separately by teams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2377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0" y="1188720"/>
            <a:ext cx="2194560" cy="2926080"/>
          </a:xfrm>
          <a:prstGeom prst="rect">
            <a:avLst/>
          </a:prstGeom>
          <a:solidFill>
            <a:srgbClr val="F4F6F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57800" y="128016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1D9E8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178308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1628"/>
                </a:solidFill>
                <a:latin typeface="Calibri"/>
              </a:rPr>
              <a:t>DECISIONS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57800" y="2121408"/>
            <a:ext cx="320040" cy="27432"/>
          </a:xfrm>
          <a:prstGeom prst="rect">
            <a:avLst/>
          </a:prstGeom>
          <a:solidFill>
            <a:srgbClr val="0F7A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57800" y="2194560"/>
            <a:ext cx="1965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Pricing changes initiated after trends become visible — often delayed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2377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52360" y="1188720"/>
            <a:ext cx="2194560" cy="2926080"/>
          </a:xfrm>
          <a:prstGeom prst="rect">
            <a:avLst/>
          </a:prstGeom>
          <a:solidFill>
            <a:srgbClr val="F4F6F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0" y="128016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1D9E8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178308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1628"/>
                </a:solidFill>
                <a:latin typeface="Calibri"/>
              </a:rPr>
              <a:t>EXECUTION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89520" y="2121408"/>
            <a:ext cx="320040" cy="27432"/>
          </a:xfrm>
          <a:prstGeom prst="rect">
            <a:avLst/>
          </a:prstGeom>
          <a:solidFill>
            <a:srgbClr val="0F7A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89520" y="2194560"/>
            <a:ext cx="1965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Multiple handoffs across pricing, product and operations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2377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  <a:latin typeface="Calibri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84080" y="1188720"/>
            <a:ext cx="2194560" cy="2926080"/>
          </a:xfrm>
          <a:prstGeom prst="rect">
            <a:avLst/>
          </a:prstGeom>
          <a:solidFill>
            <a:srgbClr val="F4F6F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921240" y="1280160"/>
            <a:ext cx="1965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1D9E8"/>
                </a:solidFill>
                <a:latin typeface="Calibri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40" y="178308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A1628"/>
                </a:solidFill>
                <a:latin typeface="Calibri"/>
              </a:rPr>
              <a:t>OUTCOME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21240" y="2121408"/>
            <a:ext cx="320040" cy="27432"/>
          </a:xfrm>
          <a:prstGeom prst="rect">
            <a:avLst/>
          </a:prstGeom>
          <a:solidFill>
            <a:srgbClr val="0F7A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21240" y="2194560"/>
            <a:ext cx="1965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Reactive response — unable to anticipate market shifts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343400"/>
            <a:ext cx="11274552" cy="685800"/>
          </a:xfrm>
          <a:prstGeom prst="rect">
            <a:avLst/>
          </a:prstGeom>
          <a:solidFill>
            <a:srgbClr val="FEF3C7"/>
          </a:solidFill>
          <a:ln w="9525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4343400"/>
            <a:ext cx="54864" cy="6858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41655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92400E"/>
                </a:solidFill>
                <a:latin typeface="Calibri"/>
              </a:rPr>
              <a:t>⚠  CURRENT RESULT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51760" y="443484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8350F"/>
                </a:solidFill>
                <a:latin typeface="Calibri"/>
              </a:rPr>
              <a:t>Reactive rather than proactive market response — competitive advantage ceded during monitoring gaps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83112" y="6537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04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25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7AC5"/>
                </a:solidFill>
                <a:latin typeface="Calibri"/>
              </a:rPr>
              <a:t>STRATEGIC RATIONALE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628"/>
                </a:solidFill>
                <a:latin typeface="Calibri"/>
              </a:rPr>
              <a:t>The Strategic Hypothesis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4572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502920" cy="658368"/>
          </a:xfrm>
          <a:prstGeom prst="rect">
            <a:avLst/>
          </a:prstGeom>
          <a:solidFill>
            <a:srgbClr val="0F7A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IF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1188720"/>
            <a:ext cx="1031443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335024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LBG continuously captures competitor market signals across all active PCW channels in real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" y="1847088"/>
            <a:ext cx="201168" cy="16459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18288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011680"/>
            <a:ext cx="502920" cy="658368"/>
          </a:xfrm>
          <a:prstGeom prst="rect">
            <a:avLst/>
          </a:prstGeom>
          <a:solidFill>
            <a:srgbClr val="25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19456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" y="2011680"/>
            <a:ext cx="1031443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2157984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Automatically analyses ranking movement, pricing shifts and proposition changes using Agentic AI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" y="2670048"/>
            <a:ext cx="201168" cy="164592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26517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834640"/>
            <a:ext cx="502920" cy="6583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01752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THEN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" y="2834640"/>
            <a:ext cx="10314432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2980944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Calibri"/>
              </a:rPr>
              <a:t>Decision-makers can identify opportunities faster, with greater confidence and evidence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794760"/>
            <a:ext cx="11274552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3794760"/>
            <a:ext cx="54864" cy="8229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85876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Calibri"/>
              </a:rPr>
              <a:t>RESULTING 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1148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Improved competitiveness, better conversion performance and enhanced operational efficiency across PCW channels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83112" y="6537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25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7AC5"/>
                </a:solidFill>
                <a:latin typeface="Calibri"/>
              </a:rPr>
              <a:t>OPERATING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628"/>
                </a:solidFill>
                <a:latin typeface="Calibri"/>
              </a:rPr>
              <a:t>Target Operating Model — Seven-Stage Cycle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4572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1581912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188720"/>
            <a:ext cx="1581912" cy="45720"/>
          </a:xfrm>
          <a:prstGeom prst="rect">
            <a:avLst/>
          </a:prstGeom>
          <a:solidFill>
            <a:srgbClr val="0F7A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1417320"/>
            <a:ext cx="475488" cy="475488"/>
          </a:xfrm>
          <a:prstGeom prst="ellipse">
            <a:avLst/>
          </a:prstGeom>
          <a:solidFill>
            <a:srgbClr val="0F7A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435608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011680"/>
            <a:ext cx="1399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A1628"/>
                </a:solidFill>
                <a:latin typeface="Calibri"/>
              </a:rPr>
              <a:t>SENSE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8116" y="2304288"/>
            <a:ext cx="365760" cy="27432"/>
          </a:xfrm>
          <a:prstGeom prst="rect">
            <a:avLst/>
          </a:prstGeom>
          <a:solidFill>
            <a:srgbClr val="0F7A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423160"/>
            <a:ext cx="139903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Calibri"/>
              </a:rPr>
              <a:t>Capture market movements continuously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56232" y="260604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  <a:latin typeface="Calibri"/>
              </a:rPr>
              <a:t>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75104" y="1188720"/>
            <a:ext cx="1581912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975104" y="1188720"/>
            <a:ext cx="1581912" cy="45720"/>
          </a:xfrm>
          <a:prstGeom prst="rect">
            <a:avLst/>
          </a:prstGeom>
          <a:solidFill>
            <a:srgbClr val="25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523744" y="1417320"/>
            <a:ext cx="475488" cy="475488"/>
          </a:xfrm>
          <a:prstGeom prst="ellipse">
            <a:avLst/>
          </a:prstGeom>
          <a:solidFill>
            <a:srgbClr val="25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23744" y="1435608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66544" y="2011680"/>
            <a:ext cx="1399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A1628"/>
                </a:solidFill>
                <a:latin typeface="Calibri"/>
              </a:rPr>
              <a:t>ANALYSE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83180" y="2304288"/>
            <a:ext cx="365760" cy="27432"/>
          </a:xfrm>
          <a:prstGeom prst="rect">
            <a:avLst/>
          </a:prstGeom>
          <a:solidFill>
            <a:srgbClr val="25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66544" y="2423160"/>
            <a:ext cx="139903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Calibri"/>
              </a:rPr>
              <a:t>Identify patterns, ranking changes &amp; competitor behaviour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11296" y="260604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  <a:latin typeface="Calibri"/>
              </a:rPr>
              <a:t>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30168" y="1188720"/>
            <a:ext cx="1581912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30168" y="1188720"/>
            <a:ext cx="1581912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178808" y="1417320"/>
            <a:ext cx="475488" cy="475488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78808" y="1435608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21608" y="2011680"/>
            <a:ext cx="1399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A1628"/>
                </a:solidFill>
                <a:latin typeface="Calibri"/>
              </a:rPr>
              <a:t>SIMULATE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38244" y="2304288"/>
            <a:ext cx="365760" cy="274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21608" y="2423160"/>
            <a:ext cx="139903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Calibri"/>
              </a:rPr>
              <a:t>Evaluate potential interventions before implementation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260604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  <a:latin typeface="Calibri"/>
              </a:rPr>
              <a:t>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285232" y="1188720"/>
            <a:ext cx="1581912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285232" y="1188720"/>
            <a:ext cx="1581912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833872" y="1417320"/>
            <a:ext cx="475488" cy="475488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33872" y="1435608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76672" y="2011680"/>
            <a:ext cx="1399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A1628"/>
                </a:solidFill>
                <a:latin typeface="Calibri"/>
              </a:rPr>
              <a:t>RECOMMEND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893308" y="2304288"/>
            <a:ext cx="365760" cy="274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76672" y="2423160"/>
            <a:ext cx="139903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Calibri"/>
              </a:rPr>
              <a:t>Generate pricing, offer and proposition recommendations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21424" y="260604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  <a:latin typeface="Calibri"/>
              </a:rPr>
              <a:t>›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40296" y="1188720"/>
            <a:ext cx="1581912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940296" y="1188720"/>
            <a:ext cx="1581912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488936" y="1417320"/>
            <a:ext cx="475488" cy="47548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88936" y="1435608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31736" y="2011680"/>
            <a:ext cx="1399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A1628"/>
                </a:solidFill>
                <a:latin typeface="Calibri"/>
              </a:rPr>
              <a:t>GOVERN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548372" y="2304288"/>
            <a:ext cx="36576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31736" y="2423160"/>
            <a:ext cx="139903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Calibri"/>
              </a:rPr>
              <a:t>Apply human approval and oversight controls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76488" y="260604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  <a:latin typeface="Calibri"/>
              </a:rPr>
              <a:t>›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95360" y="1188720"/>
            <a:ext cx="1581912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595360" y="1188720"/>
            <a:ext cx="1581912" cy="457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144000" y="1417320"/>
            <a:ext cx="475488" cy="475488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44000" y="1435608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0" y="2011680"/>
            <a:ext cx="1399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A1628"/>
                </a:solidFill>
                <a:latin typeface="Calibri"/>
              </a:rPr>
              <a:t>EXECUTE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203436" y="2304288"/>
            <a:ext cx="365760" cy="274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86800" y="2423160"/>
            <a:ext cx="139903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Calibri"/>
              </a:rPr>
              <a:t>Implement approved changes across systems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31552" y="260604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4A3B8"/>
                </a:solidFill>
                <a:latin typeface="Calibri"/>
              </a:rPr>
              <a:t>›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250424" y="1188720"/>
            <a:ext cx="1581912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250424" y="1188720"/>
            <a:ext cx="1581912" cy="457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799064" y="1417320"/>
            <a:ext cx="475488" cy="47548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799064" y="1435608"/>
            <a:ext cx="4754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41864" y="2011680"/>
            <a:ext cx="1399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A1628"/>
                </a:solidFill>
                <a:latin typeface="Calibri"/>
              </a:rPr>
              <a:t>LEARN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858500" y="2304288"/>
            <a:ext cx="365760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341864" y="2423160"/>
            <a:ext cx="139903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475569"/>
                </a:solidFill>
                <a:latin typeface="Calibri"/>
              </a:rPr>
              <a:t>Measure outcomes and continuously improve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183112" y="6537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25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7AC5"/>
                </a:solidFill>
                <a:latin typeface="Calibri"/>
              </a:rPr>
              <a:t>VALUE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628"/>
                </a:solidFill>
                <a:latin typeface="Calibri"/>
              </a:rPr>
              <a:t>Value Creation — Four Dimensions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4572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5577840" cy="2377440"/>
          </a:xfrm>
          <a:prstGeom prst="rect">
            <a:avLst/>
          </a:prstGeom>
          <a:solidFill>
            <a:srgbClr val="F4F6F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43000"/>
            <a:ext cx="5577840" cy="45720"/>
          </a:xfrm>
          <a:prstGeom prst="rect">
            <a:avLst/>
          </a:prstGeom>
          <a:solidFill>
            <a:srgbClr val="0F7A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8016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Calibri"/>
              </a:rPr>
              <a:t>Increase New Business 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4592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50">
                <a:solidFill>
                  <a:srgbClr val="475569"/>
                </a:solidFill>
                <a:latin typeface="Calibri"/>
              </a:rPr>
              <a:t>–  Improved PCW ranking position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475569"/>
                </a:solidFill>
                <a:latin typeface="Calibri"/>
              </a:rPr>
              <a:t>–  Enhanced pricing competitiveness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475569"/>
                </a:solidFill>
                <a:latin typeface="Calibri"/>
              </a:rPr>
              <a:t>–  Stronger product competitiveness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475569"/>
                </a:solidFill>
                <a:latin typeface="Calibri"/>
              </a:rPr>
              <a:t>–  Better offer competitiveness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143000"/>
            <a:ext cx="5577840" cy="2377440"/>
          </a:xfrm>
          <a:prstGeom prst="rect">
            <a:avLst/>
          </a:prstGeom>
          <a:solidFill>
            <a:srgbClr val="F4F6F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143000"/>
            <a:ext cx="557784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28016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Calibri"/>
              </a:rPr>
              <a:t>Improve Decision 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64592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50">
                <a:solidFill>
                  <a:srgbClr val="475569"/>
                </a:solidFill>
                <a:latin typeface="Calibri"/>
              </a:rPr>
              <a:t>–  Better, evidence-based insights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475569"/>
                </a:solidFill>
                <a:latin typeface="Calibri"/>
              </a:rPr>
              <a:t>–  Faster, more reliable recommendations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475569"/>
                </a:solidFill>
                <a:latin typeface="Calibri"/>
              </a:rPr>
              <a:t>–  Evidence-based interventions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475569"/>
                </a:solidFill>
                <a:latin typeface="Calibri"/>
              </a:rPr>
              <a:t>–  Reduced subjectivity in decisions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49039"/>
            <a:ext cx="5577840" cy="2377440"/>
          </a:xfrm>
          <a:prstGeom prst="rect">
            <a:avLst/>
          </a:prstGeom>
          <a:solidFill>
            <a:srgbClr val="F4F6F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557784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886199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Calibri"/>
              </a:rPr>
              <a:t>Improve Market Responsiveness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51959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50">
                <a:solidFill>
                  <a:srgbClr val="475569"/>
                </a:solidFill>
                <a:latin typeface="Calibri"/>
              </a:rPr>
              <a:t>–  Continuous, real-time monitoring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475569"/>
                </a:solidFill>
                <a:latin typeface="Calibri"/>
              </a:rPr>
              <a:t>–  Significantly reduced response latency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475569"/>
                </a:solidFill>
                <a:latin typeface="Calibri"/>
              </a:rPr>
              <a:t>–  Earlier competitor movement detection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475569"/>
                </a:solidFill>
                <a:latin typeface="Calibri"/>
              </a:rPr>
              <a:t>–  Proactive rather than reactive posture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749039"/>
            <a:ext cx="5577840" cy="2377440"/>
          </a:xfrm>
          <a:prstGeom prst="rect">
            <a:avLst/>
          </a:prstGeom>
          <a:solidFill>
            <a:srgbClr val="F4F6F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3749039"/>
            <a:ext cx="557784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886199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Calibri"/>
              </a:rPr>
              <a:t>Reduce Operational Effort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251959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050">
                <a:solidFill>
                  <a:srgbClr val="475569"/>
                </a:solidFill>
                <a:latin typeface="Calibri"/>
              </a:rPr>
              <a:t>–  Automated intelligence gathering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475569"/>
                </a:solidFill>
                <a:latin typeface="Calibri"/>
              </a:rPr>
              <a:t>–  Significantly reduced manual analysis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475569"/>
                </a:solidFill>
                <a:latin typeface="Calibri"/>
              </a:rPr>
              <a:t>–  Scalable market coverage</a:t>
            </a:r>
          </a:p>
          <a:p>
            <a:pPr algn="l">
              <a:spcBef>
                <a:spcPts val="200"/>
              </a:spcBef>
            </a:pPr>
            <a:r>
              <a:rPr sz="1050">
                <a:solidFill>
                  <a:srgbClr val="475569"/>
                </a:solidFill>
                <a:latin typeface="Calibri"/>
              </a:rPr>
              <a:t>–  Reusable platform capability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3112" y="6537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07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25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7AC5"/>
                </a:solidFill>
                <a:latin typeface="Calibri"/>
              </a:rPr>
              <a:t>CAPABILITY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628"/>
                </a:solidFill>
                <a:latin typeface="Calibri"/>
              </a:rPr>
              <a:t>Competitive Intelligence — Five-Layer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4572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188720"/>
            <a:ext cx="2240280" cy="384048"/>
          </a:xfrm>
          <a:prstGeom prst="rect">
            <a:avLst/>
          </a:prstGeom>
          <a:solidFill>
            <a:srgbClr val="0F7A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23444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Market Intelligence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664208"/>
            <a:ext cx="2240280" cy="475488"/>
          </a:xfrm>
          <a:prstGeom prst="rect">
            <a:avLst/>
          </a:prstGeom>
          <a:solidFill>
            <a:srgbClr val="F4F6FA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1773936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Ranking monitoring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212848"/>
            <a:ext cx="2240280" cy="475488"/>
          </a:xfrm>
          <a:prstGeom prst="rect">
            <a:avLst/>
          </a:prstGeom>
          <a:solidFill>
            <a:srgbClr val="F4F6FA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2322576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Competitor monitoring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761488"/>
            <a:ext cx="2240280" cy="475488"/>
          </a:xfrm>
          <a:prstGeom prst="rect">
            <a:avLst/>
          </a:prstGeom>
          <a:solidFill>
            <a:srgbClr val="F4F6FA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871216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Product monitoring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310128"/>
            <a:ext cx="2240280" cy="475488"/>
          </a:xfrm>
          <a:prstGeom prst="rect">
            <a:avLst/>
          </a:prstGeom>
          <a:solidFill>
            <a:srgbClr val="F4F6FA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419856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Offer monitoring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97480" y="1188720"/>
            <a:ext cx="2240280" cy="384048"/>
          </a:xfrm>
          <a:prstGeom prst="rect">
            <a:avLst/>
          </a:prstGeom>
          <a:solidFill>
            <a:srgbClr val="25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88920" y="123444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Insight Layer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97480" y="1664208"/>
            <a:ext cx="2240280" cy="475488"/>
          </a:xfrm>
          <a:prstGeom prst="rect">
            <a:avLst/>
          </a:prstGeom>
          <a:solidFill>
            <a:srgbClr val="F4F6FA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88920" y="1773936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Trend detection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97480" y="2212848"/>
            <a:ext cx="2240280" cy="475488"/>
          </a:xfrm>
          <a:prstGeom prst="rect">
            <a:avLst/>
          </a:prstGeom>
          <a:solidFill>
            <a:srgbClr val="F4F6FA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88920" y="2322576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Competitive analysis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97480" y="2761488"/>
            <a:ext cx="2240280" cy="475488"/>
          </a:xfrm>
          <a:prstGeom prst="rect">
            <a:avLst/>
          </a:prstGeom>
          <a:solidFill>
            <a:srgbClr val="F4F6FA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88920" y="2871216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Gap analysis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97480" y="3310128"/>
            <a:ext cx="2240280" cy="475488"/>
          </a:xfrm>
          <a:prstGeom prst="rect">
            <a:avLst/>
          </a:prstGeom>
          <a:solidFill>
            <a:srgbClr val="F4F6FA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88920" y="3419856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Opportunity identification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74920" y="1188720"/>
            <a:ext cx="2240280" cy="3840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66360" y="123444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Recommendation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74920" y="1664208"/>
            <a:ext cx="2240280" cy="475488"/>
          </a:xfrm>
          <a:prstGeom prst="rect">
            <a:avLst/>
          </a:prstGeom>
          <a:solidFill>
            <a:srgbClr val="F4F6FA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66360" y="1773936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Pricing recommendations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74920" y="2212848"/>
            <a:ext cx="2240280" cy="475488"/>
          </a:xfrm>
          <a:prstGeom prst="rect">
            <a:avLst/>
          </a:prstGeom>
          <a:solidFill>
            <a:srgbClr val="F4F6FA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66360" y="2322576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Offer recommendations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74920" y="2761488"/>
            <a:ext cx="2240280" cy="475488"/>
          </a:xfrm>
          <a:prstGeom prst="rect">
            <a:avLst/>
          </a:prstGeom>
          <a:solidFill>
            <a:srgbClr val="F4F6FA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166360" y="2871216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Product recommendations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74920" y="3310128"/>
            <a:ext cx="2240280" cy="475488"/>
          </a:xfrm>
          <a:prstGeom prst="rect">
            <a:avLst/>
          </a:prstGeom>
          <a:solidFill>
            <a:srgbClr val="F4F6FA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66360" y="3419856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Simulation outputs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52360" y="1188720"/>
            <a:ext cx="224028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43800" y="123444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Governance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52360" y="1664208"/>
            <a:ext cx="2240280" cy="475488"/>
          </a:xfrm>
          <a:prstGeom prst="rect">
            <a:avLst/>
          </a:prstGeom>
          <a:solidFill>
            <a:srgbClr val="F4F6FA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43800" y="1773936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Human approval workflows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52360" y="2212848"/>
            <a:ext cx="2240280" cy="475488"/>
          </a:xfrm>
          <a:prstGeom prst="rect">
            <a:avLst/>
          </a:prstGeom>
          <a:solidFill>
            <a:srgbClr val="F4F6FA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43800" y="2322576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Audit controls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52360" y="2761488"/>
            <a:ext cx="2240280" cy="475488"/>
          </a:xfrm>
          <a:prstGeom prst="rect">
            <a:avLst/>
          </a:prstGeom>
          <a:solidFill>
            <a:srgbClr val="F4F6FA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43800" y="2871216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Compliance controls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52360" y="3310128"/>
            <a:ext cx="2240280" cy="475488"/>
          </a:xfrm>
          <a:prstGeom prst="rect">
            <a:avLst/>
          </a:prstGeom>
          <a:solidFill>
            <a:srgbClr val="F4F6FA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43800" y="3419856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Explainability layer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29800" y="1188720"/>
            <a:ext cx="2240280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921240" y="123444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Execution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829800" y="1664208"/>
            <a:ext cx="2240280" cy="475488"/>
          </a:xfrm>
          <a:prstGeom prst="rect">
            <a:avLst/>
          </a:prstGeom>
          <a:solidFill>
            <a:srgbClr val="F4F6FA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21240" y="1773936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AGGS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829800" y="2212848"/>
            <a:ext cx="2240280" cy="475488"/>
          </a:xfrm>
          <a:prstGeom prst="rect">
            <a:avLst/>
          </a:prstGeom>
          <a:solidFill>
            <a:srgbClr val="F4F6FA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21240" y="2322576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Duck Creek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829800" y="2761488"/>
            <a:ext cx="2240280" cy="475488"/>
          </a:xfrm>
          <a:prstGeom prst="rect">
            <a:avLst/>
          </a:prstGeom>
          <a:solidFill>
            <a:srgbClr val="F4F6FA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921240" y="2871216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Pricing Services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829800" y="3310128"/>
            <a:ext cx="2240280" cy="475488"/>
          </a:xfrm>
          <a:prstGeom prst="rect">
            <a:avLst/>
          </a:prstGeom>
          <a:solidFill>
            <a:srgbClr val="F4F6FA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921240" y="3419856"/>
            <a:ext cx="2057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Product Services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83112" y="6537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08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25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7AC5"/>
                </a:solidFill>
                <a:latin typeface="Calibri"/>
              </a:rPr>
              <a:t>AGENTIC AI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628"/>
                </a:solidFill>
                <a:latin typeface="Calibri"/>
              </a:rPr>
              <a:t>Multi-Agent Intelligence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4572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11274552" cy="5486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54864" cy="54864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618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9A84C"/>
                </a:solidFill>
                <a:latin typeface="Calibri"/>
              </a:rPr>
              <a:t>ORCHESTRATOR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28016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8"/>
                </a:solidFill>
                <a:latin typeface="Calibri"/>
              </a:rPr>
              <a:t>Coordinates end-to-end workflow — routes tasks, aggregates outputs, manages state and escalates to human governance tiers as required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20240"/>
            <a:ext cx="1399032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920240"/>
            <a:ext cx="1399032" cy="36576"/>
          </a:xfrm>
          <a:prstGeom prst="rect">
            <a:avLst/>
          </a:prstGeom>
          <a:solidFill>
            <a:srgbClr val="0F7A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975104"/>
            <a:ext cx="1216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94A3B8"/>
                </a:solidFill>
                <a:latin typeface="Calibri"/>
              </a:rPr>
              <a:t>Agent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194560"/>
            <a:ext cx="1216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1628"/>
                </a:solidFill>
                <a:latin typeface="Calibri"/>
              </a:rPr>
              <a:t>Market Collection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651760"/>
            <a:ext cx="121615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Captures competitor data continuously across all active PCW channels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47672" y="1920240"/>
            <a:ext cx="1399032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47672" y="1920240"/>
            <a:ext cx="1399032" cy="36576"/>
          </a:xfrm>
          <a:prstGeom prst="rect">
            <a:avLst/>
          </a:prstGeom>
          <a:solidFill>
            <a:srgbClr val="25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39112" y="1975104"/>
            <a:ext cx="1216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94A3B8"/>
                </a:solidFill>
                <a:latin typeface="Calibri"/>
              </a:rPr>
              <a:t>Agent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39112" y="2194560"/>
            <a:ext cx="1216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1628"/>
                </a:solidFill>
                <a:latin typeface="Calibri"/>
              </a:rPr>
              <a:t>Position 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39112" y="2651760"/>
            <a:ext cx="121615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Determines ranking movement, velocity and emerging trends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38144" y="1920240"/>
            <a:ext cx="1399032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38144" y="1920240"/>
            <a:ext cx="1399032" cy="3657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9584" y="1975104"/>
            <a:ext cx="1216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94A3B8"/>
                </a:solidFill>
                <a:latin typeface="Calibri"/>
              </a:rPr>
              <a:t>Agent 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9584" y="2194560"/>
            <a:ext cx="1216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1628"/>
                </a:solidFill>
                <a:latin typeface="Calibri"/>
              </a:rPr>
              <a:t>Competitor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9584" y="2651760"/>
            <a:ext cx="121615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Identifies market changes, drivers and competitor strategies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28616" y="1920240"/>
            <a:ext cx="1399032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928616" y="1920240"/>
            <a:ext cx="1399032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0056" y="1975104"/>
            <a:ext cx="1216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94A3B8"/>
                </a:solidFill>
                <a:latin typeface="Calibri"/>
              </a:rPr>
              <a:t>Agent 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0056" y="2194560"/>
            <a:ext cx="1216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1628"/>
                </a:solidFill>
                <a:latin typeface="Calibri"/>
              </a:rPr>
              <a:t>Pricing Intelligence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0056" y="2651760"/>
            <a:ext cx="121615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Assesses pricing competitiveness and gaps versus market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19088" y="1920240"/>
            <a:ext cx="1399032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19088" y="1920240"/>
            <a:ext cx="139903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0528" y="1975104"/>
            <a:ext cx="1216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94A3B8"/>
                </a:solidFill>
                <a:latin typeface="Calibri"/>
              </a:rPr>
              <a:t>Agent 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2194560"/>
            <a:ext cx="1216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1628"/>
                </a:solidFill>
                <a:latin typeface="Calibri"/>
              </a:rPr>
              <a:t>Proposition Intelligence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0528" y="2651760"/>
            <a:ext cx="121615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Evaluates product and offer positioning versus competitors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09560" y="1920240"/>
            <a:ext cx="1399032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909560" y="1920240"/>
            <a:ext cx="1399032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01000" y="1975104"/>
            <a:ext cx="1216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94A3B8"/>
                </a:solidFill>
                <a:latin typeface="Calibri"/>
              </a:rPr>
              <a:t>Agent 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1000" y="2194560"/>
            <a:ext cx="1216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1628"/>
                </a:solidFill>
                <a:latin typeface="Calibri"/>
              </a:rPr>
              <a:t>Simulation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2651760"/>
            <a:ext cx="121615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Models likely outcomes of proposed pricing or proposition actions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400032" y="1920240"/>
            <a:ext cx="1399032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400032" y="1920240"/>
            <a:ext cx="1399032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91472" y="1975104"/>
            <a:ext cx="1216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94A3B8"/>
                </a:solidFill>
                <a:latin typeface="Calibri"/>
              </a:rPr>
              <a:t>Agent 07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91472" y="2194560"/>
            <a:ext cx="1216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1628"/>
                </a:solidFill>
                <a:latin typeface="Calibri"/>
              </a:rPr>
              <a:t>Recommendation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91472" y="2651760"/>
            <a:ext cx="121615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Produces actionable, evidence-based recommendations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890504" y="1920240"/>
            <a:ext cx="1399032" cy="3108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890504" y="1920240"/>
            <a:ext cx="1399032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981944" y="1975104"/>
            <a:ext cx="12161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94A3B8"/>
                </a:solidFill>
                <a:latin typeface="Calibri"/>
              </a:rPr>
              <a:t>Agent 08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81944" y="2194560"/>
            <a:ext cx="1216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1628"/>
                </a:solidFill>
                <a:latin typeface="Calibri"/>
              </a:rPr>
              <a:t>Learning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81944" y="2651760"/>
            <a:ext cx="1216152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Calibri"/>
              </a:rPr>
              <a:t>Measures effectiveness and improves future recommendations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83112" y="6537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09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25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7AC5"/>
                </a:solidFill>
                <a:latin typeface="Calibri"/>
              </a:rPr>
              <a:t>SYSTEMS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628"/>
                </a:solidFill>
                <a:latin typeface="Calibri"/>
              </a:rPr>
              <a:t>Integration with Existing LBG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4572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Calibri"/>
              </a:rPr>
              <a:t>Existing Strategic Investments Reused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5029200" cy="411480"/>
          </a:xfrm>
          <a:prstGeom prst="rect">
            <a:avLst/>
          </a:prstGeom>
          <a:solidFill>
            <a:srgbClr val="F4F6FA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00200"/>
            <a:ext cx="45720" cy="411480"/>
          </a:xfrm>
          <a:prstGeom prst="rect">
            <a:avLst/>
          </a:prstGeom>
          <a:solidFill>
            <a:srgbClr val="25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733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AGGS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69164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Aggregation Gateway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075688"/>
            <a:ext cx="5029200" cy="411480"/>
          </a:xfrm>
          <a:prstGeom prst="rect">
            <a:avLst/>
          </a:prstGeom>
          <a:solidFill>
            <a:srgbClr val="F4F6FA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075688"/>
            <a:ext cx="45720" cy="411480"/>
          </a:xfrm>
          <a:prstGeom prst="rect">
            <a:avLst/>
          </a:prstGeom>
          <a:solidFill>
            <a:srgbClr val="25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148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Apigee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167128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API Management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551176"/>
            <a:ext cx="5029200" cy="411480"/>
          </a:xfrm>
          <a:prstGeom prst="rect">
            <a:avLst/>
          </a:prstGeom>
          <a:solidFill>
            <a:srgbClr val="F4F6FA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2551176"/>
            <a:ext cx="45720" cy="411480"/>
          </a:xfrm>
          <a:prstGeom prst="rect">
            <a:avLst/>
          </a:prstGeom>
          <a:solidFill>
            <a:srgbClr val="25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6243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Pega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2642616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Governance &amp; Workflow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026664"/>
            <a:ext cx="5029200" cy="411480"/>
          </a:xfrm>
          <a:prstGeom prst="rect">
            <a:avLst/>
          </a:prstGeom>
          <a:solidFill>
            <a:srgbClr val="F4F6FA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026664"/>
            <a:ext cx="45720" cy="411480"/>
          </a:xfrm>
          <a:prstGeom prst="rect">
            <a:avLst/>
          </a:prstGeom>
          <a:solidFill>
            <a:srgbClr val="25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09981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Duck Creek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118104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Policy &amp; Rating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502152"/>
            <a:ext cx="5029200" cy="411480"/>
          </a:xfrm>
          <a:prstGeom prst="rect">
            <a:avLst/>
          </a:prstGeom>
          <a:solidFill>
            <a:srgbClr val="F4F6FA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3502152"/>
            <a:ext cx="45720" cy="411480"/>
          </a:xfrm>
          <a:prstGeom prst="rect">
            <a:avLst/>
          </a:prstGeom>
          <a:solidFill>
            <a:srgbClr val="25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57530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Pricing Services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3593592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Rate Calculation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977640"/>
            <a:ext cx="5029200" cy="411480"/>
          </a:xfrm>
          <a:prstGeom prst="rect">
            <a:avLst/>
          </a:prstGeom>
          <a:solidFill>
            <a:srgbClr val="F4F6FA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977640"/>
            <a:ext cx="45720" cy="411480"/>
          </a:xfrm>
          <a:prstGeom prst="rect">
            <a:avLst/>
          </a:prstGeom>
          <a:solidFill>
            <a:srgbClr val="25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0507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Product Services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406908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Product Config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663440"/>
            <a:ext cx="5029200" cy="65836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4663440"/>
            <a:ext cx="54864" cy="65836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7548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D6E8"/>
                </a:solidFill>
                <a:latin typeface="Calibri"/>
              </a:rPr>
              <a:t>Enhance existing capabilities rather than create parallel operating models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11887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Calibri"/>
              </a:rPr>
              <a:t>Data &amp; Decision Flow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1572768"/>
            <a:ext cx="5303520" cy="402336"/>
          </a:xfrm>
          <a:prstGeom prst="rect">
            <a:avLst/>
          </a:prstGeom>
          <a:solidFill>
            <a:srgbClr val="0F7A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166420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PCWs — Market Data Source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1975104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2176272"/>
            <a:ext cx="5303520" cy="402336"/>
          </a:xfrm>
          <a:prstGeom prst="rect">
            <a:avLst/>
          </a:prstGeom>
          <a:solidFill>
            <a:srgbClr val="25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226771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Competitive Intelligence Platform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78240" y="257860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2779776"/>
            <a:ext cx="5303520" cy="402336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287121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Apigee — API Management Layer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40" y="3182112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3383280"/>
            <a:ext cx="5303520" cy="40233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3474720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AGGS · Duck Creek · Pricing Services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78240" y="3785616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3986784"/>
            <a:ext cx="5303520" cy="40233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92240" y="407822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Pega — Governance &amp; Approval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78240" y="438912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↓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00800" y="4590288"/>
            <a:ext cx="5303520" cy="40233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92240" y="468172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Business Users — Decision &amp; Oversight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83112" y="6537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25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7AC5"/>
                </a:solidFill>
                <a:latin typeface="Calibri"/>
              </a:rPr>
              <a:t>GOVERNANCE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628"/>
                </a:solidFill>
                <a:latin typeface="Calibri"/>
              </a:rPr>
              <a:t>Human-in-the-Loop Decision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4572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11274552" cy="731520"/>
          </a:xfrm>
          <a:prstGeom prst="rect">
            <a:avLst/>
          </a:prstGeom>
          <a:solidFill>
            <a:srgbClr val="F4F6FA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0759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1D9E8"/>
                </a:solidFill>
                <a:latin typeface="Calibri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1344168"/>
            <a:ext cx="914400" cy="310896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37160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66534"/>
                </a:solidFill>
                <a:latin typeface="Calibri"/>
              </a:rPr>
              <a:t>AUTO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121615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628"/>
                </a:solidFill>
                <a:latin typeface="Calibri"/>
              </a:rPr>
              <a:t>Market monitoring and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1527048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Continuous, fully automated data collection and pattern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0" y="1371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66534"/>
                </a:solidFill>
                <a:latin typeface="Calibri"/>
              </a:rPr>
              <a:t>Fully Automated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947672"/>
            <a:ext cx="11274552" cy="731520"/>
          </a:xfrm>
          <a:prstGeom prst="rect">
            <a:avLst/>
          </a:prstGeom>
          <a:solidFill>
            <a:srgbClr val="F4F6FA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11226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1D9E8"/>
                </a:solidFill>
                <a:latin typeface="Calibri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88720" y="2148840"/>
            <a:ext cx="914400" cy="310896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217627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1E40AF"/>
                </a:solidFill>
                <a:latin typeface="Calibri"/>
              </a:rPr>
              <a:t>ANALYSE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202082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628"/>
                </a:solidFill>
                <a:latin typeface="Calibri"/>
              </a:rPr>
              <a:t>Recommendation generation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2331720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AI surfaces intelligence, quantifies opportunity and drafts recommended 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21762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1E40AF"/>
                </a:solidFill>
                <a:latin typeface="Calibri"/>
              </a:rPr>
              <a:t>AI-Driven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752344"/>
            <a:ext cx="11274552" cy="731520"/>
          </a:xfrm>
          <a:prstGeom prst="rect">
            <a:avLst/>
          </a:prstGeom>
          <a:solidFill>
            <a:srgbClr val="F4F6FA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91693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1D9E8"/>
                </a:solidFill>
                <a:latin typeface="Calibri"/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88720" y="2953512"/>
            <a:ext cx="914400" cy="310896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298094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92400E"/>
                </a:solidFill>
                <a:latin typeface="Calibri"/>
              </a:rPr>
              <a:t>APPROVE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282549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628"/>
                </a:solidFill>
                <a:latin typeface="Calibri"/>
              </a:rPr>
              <a:t>Pricing teams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3136392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Human judgement applied before any action is approved for execution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29809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92400E"/>
                </a:solidFill>
                <a:latin typeface="Calibri"/>
              </a:rPr>
              <a:t>Human Required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557016"/>
            <a:ext cx="11274552" cy="731520"/>
          </a:xfrm>
          <a:prstGeom prst="rect">
            <a:avLst/>
          </a:prstGeom>
          <a:solidFill>
            <a:srgbClr val="F4F6FA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372160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1D9E8"/>
                </a:solidFill>
                <a:latin typeface="Calibri"/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88720" y="3758184"/>
            <a:ext cx="914400" cy="310896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378561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6B21A8"/>
                </a:solidFill>
                <a:latin typeface="Calibri"/>
              </a:rPr>
              <a:t>EXECUTE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3630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628"/>
                </a:solidFill>
                <a:latin typeface="Calibri"/>
              </a:rPr>
              <a:t>Approved actions implemented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3941064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Governed, auditable execution through existing system integrations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378561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6B21A8"/>
                </a:solidFill>
                <a:latin typeface="Calibri"/>
              </a:rPr>
              <a:t>Governed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361688"/>
            <a:ext cx="11274552" cy="731520"/>
          </a:xfrm>
          <a:prstGeom prst="rect">
            <a:avLst/>
          </a:prstGeom>
          <a:solidFill>
            <a:srgbClr val="F4F6FA"/>
          </a:solidFill>
          <a:ln w="508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5262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1D9E8"/>
                </a:solidFill>
                <a:latin typeface="Calibri"/>
              </a:rPr>
              <a:t>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88720" y="4562856"/>
            <a:ext cx="914400" cy="310896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88720" y="459028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991B1B"/>
                </a:solidFill>
                <a:latin typeface="Calibri"/>
              </a:rPr>
              <a:t>LEARN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86000" y="4434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628"/>
                </a:solidFill>
                <a:latin typeface="Calibri"/>
              </a:rPr>
              <a:t>Outcomes measured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86000" y="4745736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75569"/>
                </a:solidFill>
                <a:latin typeface="Calibri"/>
              </a:rPr>
              <a:t>Outcomes fed back into models for continuous improvement of recommendation quality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75520" y="45902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991B1B"/>
                </a:solidFill>
                <a:latin typeface="Calibri"/>
              </a:rPr>
              <a:t>Closed-Loop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5193792"/>
            <a:ext cx="11274552" cy="4114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5248656"/>
            <a:ext cx="11274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The platform RECOMMENDS.   People DECIDE.   Systems EXECUTE.   Always.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83112" y="6537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25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7AC5"/>
                </a:solidFill>
                <a:latin typeface="Calibri"/>
              </a:rPr>
              <a:t>RISK &amp;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628"/>
                </a:solidFill>
                <a:latin typeface="Calibri"/>
              </a:rPr>
              <a:t>Governance &amp; Risk Framework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4572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34747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43000"/>
            <a:ext cx="3474720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" y="1307592"/>
            <a:ext cx="347472" cy="34747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737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Calibri"/>
              </a:rPr>
              <a:t>FCA Alignment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048256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Supports Consumer Duty and governed decision-making. Recommendations traceable to clear business rationale.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143000"/>
            <a:ext cx="34747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40" y="1143000"/>
            <a:ext cx="3474720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0832" y="1307592"/>
            <a:ext cx="347472" cy="347472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0832" y="1737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Calibri"/>
              </a:rPr>
              <a:t>Auditability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0832" y="2048256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Full lineage of all recommendations maintained. Every decision point captured with timestamp, actor and rationale.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79" y="1143000"/>
            <a:ext cx="34747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79" y="1143000"/>
            <a:ext cx="347472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19871" y="1307592"/>
            <a:ext cx="347472" cy="347472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9871" y="1737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Calibri"/>
              </a:rPr>
              <a:t>Explainability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9871" y="2048256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Transparent rationale for every recommendation. Pricing teams can interrogate AI outputs before approving.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657600"/>
            <a:ext cx="34747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657600"/>
            <a:ext cx="34747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" y="3822192"/>
            <a:ext cx="347472" cy="347472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4251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Calibri"/>
              </a:rPr>
              <a:t>Data Protection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4553712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PII protection enforced throughout. Access controls and data minimisation aligned to GDPR obligations.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3657600"/>
            <a:ext cx="34747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06240" y="3657600"/>
            <a:ext cx="3474720" cy="3657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70832" y="3822192"/>
            <a:ext cx="347472" cy="347472"/>
          </a:xfrm>
          <a:prstGeom prst="rect">
            <a:avLst/>
          </a:prstGeom>
          <a:solidFill>
            <a:srgbClr val="CCF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70832" y="4251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Calibri"/>
              </a:rPr>
              <a:t>Model Governance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70832" y="4553712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Continuous evaluation and performance monitoring of AI models. Drift detection and retraining protocols.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55279" y="3657600"/>
            <a:ext cx="34747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55279" y="3657600"/>
            <a:ext cx="347472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19871" y="3822192"/>
            <a:ext cx="347472" cy="347472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19871" y="4251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1628"/>
                </a:solidFill>
                <a:latin typeface="Calibri"/>
              </a:rPr>
              <a:t>Operational Resilience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19871" y="4553712"/>
            <a:ext cx="3200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Fallback mechanisms and recovery procedures defined. Platform degradation does not disrupt core pricing operations.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83112" y="6537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25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7AC5"/>
                </a:solidFill>
                <a:latin typeface="Calibri"/>
              </a:rPr>
              <a:t>PERFORMANCE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628"/>
                </a:solidFill>
                <a:latin typeface="Calibri"/>
              </a:rPr>
              <a:t>KPI &amp; Measurement Framework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4572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2743200" cy="384048"/>
          </a:xfrm>
          <a:prstGeom prst="rect">
            <a:avLst/>
          </a:prstGeom>
          <a:solidFill>
            <a:srgbClr val="0F7A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COMMERCIAL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664208"/>
            <a:ext cx="2743200" cy="512064"/>
          </a:xfrm>
          <a:prstGeom prst="rect">
            <a:avLst/>
          </a:prstGeom>
          <a:solidFill>
            <a:srgbClr val="F4F6FA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64208"/>
            <a:ext cx="45720" cy="512064"/>
          </a:xfrm>
          <a:prstGeom prst="rect">
            <a:avLst/>
          </a:prstGeom>
          <a:solidFill>
            <a:srgbClr val="0F7A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79222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PCW ranking position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49424"/>
            <a:ext cx="2743200" cy="512064"/>
          </a:xfrm>
          <a:prstGeom prst="rect">
            <a:avLst/>
          </a:prstGeom>
          <a:solidFill>
            <a:srgbClr val="F4F6FA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249424"/>
            <a:ext cx="45720" cy="512064"/>
          </a:xfrm>
          <a:prstGeom prst="rect">
            <a:avLst/>
          </a:prstGeom>
          <a:solidFill>
            <a:srgbClr val="0F7A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377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Quote conversion 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834640"/>
            <a:ext cx="2743200" cy="512064"/>
          </a:xfrm>
          <a:prstGeom prst="rect">
            <a:avLst/>
          </a:prstGeom>
          <a:solidFill>
            <a:srgbClr val="F4F6FA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834640"/>
            <a:ext cx="45720" cy="512064"/>
          </a:xfrm>
          <a:prstGeom prst="rect">
            <a:avLst/>
          </a:prstGeom>
          <a:solidFill>
            <a:srgbClr val="0F7A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296265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New business growth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419856"/>
            <a:ext cx="2743200" cy="512064"/>
          </a:xfrm>
          <a:prstGeom prst="rect">
            <a:avLst/>
          </a:prstGeom>
          <a:solidFill>
            <a:srgbClr val="F4F6FA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419856"/>
            <a:ext cx="45720" cy="512064"/>
          </a:xfrm>
          <a:prstGeom prst="rect">
            <a:avLst/>
          </a:prstGeom>
          <a:solidFill>
            <a:srgbClr val="0F7A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35478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Revenue per quote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02736" y="1188720"/>
            <a:ext cx="2743200" cy="384048"/>
          </a:xfrm>
          <a:prstGeom prst="rect">
            <a:avLst/>
          </a:prstGeom>
          <a:solidFill>
            <a:srgbClr val="25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94176" y="123444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OPERATIONAL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02736" y="1664208"/>
            <a:ext cx="2743200" cy="512064"/>
          </a:xfrm>
          <a:prstGeom prst="rect">
            <a:avLst/>
          </a:prstGeom>
          <a:solidFill>
            <a:srgbClr val="F4F6FA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02736" y="1664208"/>
            <a:ext cx="45720" cy="512064"/>
          </a:xfrm>
          <a:prstGeom prst="rect">
            <a:avLst/>
          </a:prstGeom>
          <a:solidFill>
            <a:srgbClr val="25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12464" y="179222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Monitoring effort (FTE hrs)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02736" y="2249424"/>
            <a:ext cx="2743200" cy="512064"/>
          </a:xfrm>
          <a:prstGeom prst="rect">
            <a:avLst/>
          </a:prstGeom>
          <a:solidFill>
            <a:srgbClr val="F4F6FA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02736" y="2249424"/>
            <a:ext cx="45720" cy="512064"/>
          </a:xfrm>
          <a:prstGeom prst="rect">
            <a:avLst/>
          </a:prstGeom>
          <a:solidFill>
            <a:srgbClr val="25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12464" y="2377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Time to insight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02736" y="2834640"/>
            <a:ext cx="2743200" cy="512064"/>
          </a:xfrm>
          <a:prstGeom prst="rect">
            <a:avLst/>
          </a:prstGeom>
          <a:solidFill>
            <a:srgbClr val="F4F6FA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02736" y="2834640"/>
            <a:ext cx="45720" cy="512064"/>
          </a:xfrm>
          <a:prstGeom prst="rect">
            <a:avLst/>
          </a:prstGeom>
          <a:solidFill>
            <a:srgbClr val="25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712464" y="296265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Time to decision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02736" y="3419856"/>
            <a:ext cx="2743200" cy="512064"/>
          </a:xfrm>
          <a:prstGeom prst="rect">
            <a:avLst/>
          </a:prstGeom>
          <a:solidFill>
            <a:srgbClr val="F4F6FA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02736" y="3419856"/>
            <a:ext cx="45720" cy="512064"/>
          </a:xfrm>
          <a:prstGeom prst="rect">
            <a:avLst/>
          </a:prstGeom>
          <a:solidFill>
            <a:srgbClr val="25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12464" y="35478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Recommendation latency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48272" y="1188720"/>
            <a:ext cx="2743200" cy="38404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39712" y="123444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STRATEGIC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48272" y="1664208"/>
            <a:ext cx="2743200" cy="512064"/>
          </a:xfrm>
          <a:prstGeom prst="rect">
            <a:avLst/>
          </a:prstGeom>
          <a:solidFill>
            <a:srgbClr val="F4F6FA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748272" y="1664208"/>
            <a:ext cx="45720" cy="5120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0" y="179222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Market responsiveness index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48272" y="2249424"/>
            <a:ext cx="2743200" cy="512064"/>
          </a:xfrm>
          <a:prstGeom prst="rect">
            <a:avLst/>
          </a:prstGeom>
          <a:solidFill>
            <a:srgbClr val="F4F6FA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748272" y="2249424"/>
            <a:ext cx="45720" cy="5120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0" y="2377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Competitor coverage breadth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48272" y="2834640"/>
            <a:ext cx="2743200" cy="512064"/>
          </a:xfrm>
          <a:prstGeom prst="rect">
            <a:avLst/>
          </a:prstGeom>
          <a:solidFill>
            <a:srgbClr val="F4F6FA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748272" y="2834640"/>
            <a:ext cx="45720" cy="5120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296265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Recommendation adoption rate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48272" y="3419856"/>
            <a:ext cx="2743200" cy="512064"/>
          </a:xfrm>
          <a:prstGeom prst="rect">
            <a:avLst/>
          </a:prstGeom>
          <a:solidFill>
            <a:srgbClr val="F4F6FA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48272" y="3419856"/>
            <a:ext cx="45720" cy="5120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0" y="35478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Platform reuse score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893808" y="1188720"/>
            <a:ext cx="2743200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85248" y="123444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RISK &amp; CONTROL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893808" y="1664208"/>
            <a:ext cx="2743200" cy="512064"/>
          </a:xfrm>
          <a:prstGeom prst="rect">
            <a:avLst/>
          </a:prstGeom>
          <a:solidFill>
            <a:srgbClr val="F4F6FA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893808" y="1664208"/>
            <a:ext cx="45720" cy="5120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003536" y="179222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Audit compliance rate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893808" y="2249424"/>
            <a:ext cx="2743200" cy="512064"/>
          </a:xfrm>
          <a:prstGeom prst="rect">
            <a:avLst/>
          </a:prstGeom>
          <a:solidFill>
            <a:srgbClr val="F4F6FA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893808" y="2249424"/>
            <a:ext cx="45720" cy="5120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003536" y="237744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Control effectiveness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893808" y="2834640"/>
            <a:ext cx="2743200" cy="512064"/>
          </a:xfrm>
          <a:prstGeom prst="rect">
            <a:avLst/>
          </a:prstGeom>
          <a:solidFill>
            <a:srgbClr val="F4F6FA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893808" y="2834640"/>
            <a:ext cx="45720" cy="5120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03536" y="296265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Model performance (accuracy)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893808" y="3419856"/>
            <a:ext cx="2743200" cy="512064"/>
          </a:xfrm>
          <a:prstGeom prst="rect">
            <a:avLst/>
          </a:prstGeom>
          <a:solidFill>
            <a:srgbClr val="F4F6FA"/>
          </a:solidFill>
          <a:ln w="381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893808" y="3419856"/>
            <a:ext cx="45720" cy="5120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003536" y="354787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Governance approval rate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183112" y="6537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25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7AC5"/>
                </a:solidFill>
                <a:latin typeface="Calibri"/>
              </a:rPr>
              <a:t>PHASED DELIVERY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628"/>
                </a:solidFill>
                <a:latin typeface="Calibri"/>
              </a:rPr>
              <a:t>12-Month Delivery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4572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2743200" cy="960120"/>
          </a:xfrm>
          <a:prstGeom prst="rect">
            <a:avLst/>
          </a:prstGeom>
          <a:solidFill>
            <a:srgbClr val="0F7A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WAVE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44475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Market Visibility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737360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  <a:latin typeface="Calibri"/>
              </a:rPr>
              <a:t>Months 1–3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40280"/>
            <a:ext cx="274320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7744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✓  PCW ranking data capture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7889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✓  Competitor baseline 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2004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✓  Executive dashboards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61188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✓  Data quality validation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02736" y="1188720"/>
            <a:ext cx="2743200" cy="960120"/>
          </a:xfrm>
          <a:prstGeom prst="rect">
            <a:avLst/>
          </a:prstGeom>
          <a:solidFill>
            <a:srgbClr val="25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39896" y="1234440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WAVE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39896" y="144475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39896" y="1737360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  <a:latin typeface="Calibri"/>
              </a:rPr>
              <a:t>Months 4–6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02736" y="2240280"/>
            <a:ext cx="274320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39896" y="237744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✓  Analysis agents deployed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39896" y="27889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✓  Trend detection active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39896" y="32004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✓  Opportunity identification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39896" y="361188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✓  Competitor profiling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48272" y="1188720"/>
            <a:ext cx="2743200" cy="9601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85432" y="1234440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WAVE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85432" y="144475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Decision Support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85432" y="1737360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  <a:latin typeface="Calibri"/>
              </a:rPr>
              <a:t>Months 7–9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48272" y="2240280"/>
            <a:ext cx="274320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85432" y="237744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✓  Recommendation engine live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85432" y="27889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✓  Pega governance integration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85432" y="32004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✓  Approval workflow active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85432" y="361188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✓  AGGS / Duck Creek integration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93808" y="1188720"/>
            <a:ext cx="2743200" cy="9601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30968" y="1234440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  <a:latin typeface="Calibri"/>
              </a:rPr>
              <a:t>WAVE 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30968" y="144475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Optimisation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30968" y="1737360"/>
            <a:ext cx="2514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8"/>
                </a:solidFill>
                <a:latin typeface="Calibri"/>
              </a:rPr>
              <a:t>Months 10–12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893808" y="2240280"/>
            <a:ext cx="2743200" cy="37033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30968" y="237744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✓  Simulation capability active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30968" y="27889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✓  Closed-loop learning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30968" y="32004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✓  Continuous optimisation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30968" y="361188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93B"/>
                </a:solidFill>
                <a:latin typeface="Calibri"/>
              </a:rPr>
              <a:t>✓  Full PCW channel coverage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989320"/>
            <a:ext cx="11274552" cy="1280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" y="5989320"/>
            <a:ext cx="2743200" cy="128016"/>
          </a:xfrm>
          <a:prstGeom prst="rect">
            <a:avLst/>
          </a:prstGeom>
          <a:solidFill>
            <a:srgbClr val="0F7A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602736" y="5989320"/>
            <a:ext cx="2743200" cy="128016"/>
          </a:xfrm>
          <a:prstGeom prst="rect">
            <a:avLst/>
          </a:prstGeom>
          <a:solidFill>
            <a:srgbClr val="25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748272" y="5989320"/>
            <a:ext cx="2743200" cy="12801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893808" y="5989320"/>
            <a:ext cx="2743200" cy="12801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183112" y="6537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2563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F7AC5"/>
                </a:solidFill>
                <a:latin typeface="Calibri"/>
              </a:rPr>
              <a:t>BUSINESS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1628"/>
                </a:solidFill>
                <a:latin typeface="Calibri"/>
              </a:rPr>
              <a:t>Business Value Summary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4572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43000"/>
            <a:ext cx="5577840" cy="2377440"/>
          </a:xfrm>
          <a:prstGeom prst="rect">
            <a:avLst/>
          </a:prstGeom>
          <a:solidFill>
            <a:srgbClr val="F4F6F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143000"/>
            <a:ext cx="5577840" cy="45720"/>
          </a:xfrm>
          <a:prstGeom prst="rect">
            <a:avLst/>
          </a:prstGeom>
          <a:solidFill>
            <a:srgbClr val="0F7A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25272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F7AC5"/>
                </a:solidFill>
                <a:latin typeface="Calibri"/>
              </a:rPr>
              <a:t>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2801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628"/>
                </a:solidFill>
                <a:latin typeface="Calibri"/>
              </a:rPr>
              <a:t>Faster Market 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91640"/>
            <a:ext cx="5257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Reduce time from competitor movement to business action from days to hours. Continuous sensing eliminates monitoring blindspots and manual lag across all active PCW channels.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143000"/>
            <a:ext cx="5577840" cy="2377440"/>
          </a:xfrm>
          <a:prstGeom prst="rect">
            <a:avLst/>
          </a:prstGeom>
          <a:solidFill>
            <a:srgbClr val="F4F6F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143000"/>
            <a:ext cx="5577840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25272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D9488"/>
                </a:solidFill>
                <a:latin typeface="Calibri"/>
              </a:rPr>
              <a:t>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12801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628"/>
                </a:solidFill>
                <a:latin typeface="Calibri"/>
              </a:rPr>
              <a:t>Better Commercial Outcomes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691640"/>
            <a:ext cx="5257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Improve PCW ranking visibility and pricing competitiveness. Evidence-based recommendations enable more targeted interventions with measurable conversion and revenue impact.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39"/>
            <a:ext cx="5577840" cy="2377440"/>
          </a:xfrm>
          <a:prstGeom prst="rect">
            <a:avLst/>
          </a:prstGeom>
          <a:solidFill>
            <a:srgbClr val="F4F6F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749039"/>
            <a:ext cx="557784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858767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9A84C"/>
                </a:solidFill>
                <a:latin typeface="Calibri"/>
              </a:rPr>
              <a:t>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88619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628"/>
                </a:solidFill>
                <a:latin typeface="Calibri"/>
              </a:rPr>
              <a:t>Operational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297679"/>
            <a:ext cx="5257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Significantly reduce manual monitoring and analysis effort. Free pricing and proposition teams to focus on judgement-intensive decisions rather than data collection and synthesis.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749039"/>
            <a:ext cx="5577840" cy="2377440"/>
          </a:xfrm>
          <a:prstGeom prst="rect">
            <a:avLst/>
          </a:prstGeom>
          <a:solidFill>
            <a:srgbClr val="F4F6FA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3749039"/>
            <a:ext cx="557784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858767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7C3AED"/>
                </a:solidFill>
                <a:latin typeface="Calibri"/>
              </a:rPr>
              <a:t>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388619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628"/>
                </a:solidFill>
                <a:latin typeface="Calibri"/>
              </a:rPr>
              <a:t>Reusable Strategic Capability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297679"/>
            <a:ext cx="52578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Establish a Competitive Intelligence platform extensible across broader General Insurance use cases — a durable, scalable strategic asset, not a one-off solution.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83112" y="6537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Calibri"/>
              </a:rPr>
              <a:t>RECOMMENDATION &amp; DECISION REQUIRED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77240"/>
            <a:ext cx="11274552" cy="914400"/>
          </a:xfrm>
          <a:prstGeom prst="rect">
            <a:avLst/>
          </a:prstGeom>
          <a:solidFill>
            <a:srgbClr val="122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777240"/>
            <a:ext cx="54864" cy="9144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8412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Proceed with a focused MVP targeting a single PCW channel and a limited set of pricing and proposition use cases — validating the core capability before scaling to full channel coverage.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IMMEDIATE NEXT STEPS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329184" cy="32918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22576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628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32257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8"/>
                </a:solidFill>
                <a:latin typeface="Calibri"/>
              </a:rPr>
              <a:t>Confirm business sponsorship and executive ownership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07792"/>
            <a:ext cx="329184" cy="32918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944368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628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94436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8"/>
                </a:solidFill>
                <a:latin typeface="Calibri"/>
              </a:rPr>
              <a:t>Validate commercial value drivers and target KPIs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529584"/>
            <a:ext cx="329184" cy="32918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566160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628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35661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8"/>
                </a:solidFill>
                <a:latin typeface="Calibri"/>
              </a:rPr>
              <a:t>Define MVP scope and success criteria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2286000"/>
            <a:ext cx="329184" cy="32918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2322576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628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74536" y="232257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8"/>
                </a:solidFill>
                <a:latin typeface="Calibri"/>
              </a:rPr>
              <a:t>Build and validate pilot platform (Wave 1)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2907792"/>
            <a:ext cx="329184" cy="32918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2944368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628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4536" y="294436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8"/>
                </a:solidFill>
                <a:latin typeface="Calibri"/>
              </a:rPr>
              <a:t>Measure outcomes against baseline KPIs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3529584"/>
            <a:ext cx="329184" cy="32918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3566160"/>
            <a:ext cx="32918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628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74536" y="35661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8"/>
                </a:solidFill>
                <a:latin typeface="Calibri"/>
              </a:rPr>
              <a:t>Scale across all PCW channels — Waves 2–4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669280"/>
            <a:ext cx="11274552" cy="9144"/>
          </a:xfrm>
          <a:prstGeom prst="rect">
            <a:avLst/>
          </a:prstGeom>
          <a:solidFill>
            <a:srgbClr val="2D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80644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1">
                <a:solidFill>
                  <a:srgbClr val="CCD6E8"/>
                </a:solidFill>
                <a:latin typeface="Calibri"/>
              </a:rPr>
              <a:t>"Transforming competitor monitoring into continuous competitive intelligence and optimisation."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83112" y="6537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4A3B8"/>
                </a:solidFill>
                <a:latin typeface="Calibri"/>
              </a:rP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