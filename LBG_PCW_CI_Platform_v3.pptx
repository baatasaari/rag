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0" y="0"/>
            <a:ext cx="3959352" cy="685800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7589520" cy="256032"/>
          </a:xfrm>
          <a:prstGeom prst="rect">
            <a:avLst/>
          </a:prstGeom>
          <a:noFill/>
        </p:spPr>
        <p:txBody>
          <a:bodyPr wrap="square">
            <a:spAutoFit/>
          </a:bodyPr>
          <a:lstStyle/>
          <a:p>
            <a:pPr algn="l"/>
            <a:r>
              <a:rPr sz="800" b="1" i="0">
                <a:solidFill>
                  <a:srgbClr val="C9A84C"/>
                </a:solidFill>
                <a:latin typeface="Calibri"/>
              </a:rPr>
              <a:t>LLOYDS BANKING GROUP  |  GENERAL INSURANCE  |  COMPETITIVE INTELLIGENCE</a:t>
            </a:r>
          </a:p>
        </p:txBody>
      </p:sp>
      <p:sp>
        <p:nvSpPr>
          <p:cNvPr id="7" name="TextBox 6"/>
          <p:cNvSpPr txBox="1"/>
          <p:nvPr/>
        </p:nvSpPr>
        <p:spPr>
          <a:xfrm>
            <a:off x="457200" y="1005840"/>
            <a:ext cx="7589520" cy="502920"/>
          </a:xfrm>
          <a:prstGeom prst="rect">
            <a:avLst/>
          </a:prstGeom>
          <a:noFill/>
        </p:spPr>
        <p:txBody>
          <a:bodyPr wrap="square">
            <a:spAutoFit/>
          </a:bodyPr>
          <a:lstStyle/>
          <a:p>
            <a:pPr algn="l"/>
            <a:r>
              <a:rPr sz="3200" b="1" i="0">
                <a:solidFill>
                  <a:srgbClr val="FFFFFF"/>
                </a:solidFill>
                <a:latin typeface="Calibri"/>
              </a:rPr>
              <a:t>PCW Competitive Intelligence</a:t>
            </a:r>
          </a:p>
        </p:txBody>
      </p:sp>
      <p:sp>
        <p:nvSpPr>
          <p:cNvPr id="8" name="TextBox 7"/>
          <p:cNvSpPr txBox="1"/>
          <p:nvPr/>
        </p:nvSpPr>
        <p:spPr>
          <a:xfrm>
            <a:off x="457200" y="1481328"/>
            <a:ext cx="7589520" cy="502920"/>
          </a:xfrm>
          <a:prstGeom prst="rect">
            <a:avLst/>
          </a:prstGeom>
          <a:noFill/>
        </p:spPr>
        <p:txBody>
          <a:bodyPr wrap="square">
            <a:spAutoFit/>
          </a:bodyPr>
          <a:lstStyle/>
          <a:p>
            <a:pPr algn="l"/>
            <a:r>
              <a:rPr sz="3200" b="1" i="0">
                <a:solidFill>
                  <a:srgbClr val="FFFFFF"/>
                </a:solidFill>
                <a:latin typeface="Calibri"/>
              </a:rPr>
              <a:t>&amp; Optimisation Platform</a:t>
            </a:r>
          </a:p>
        </p:txBody>
      </p:sp>
      <p:sp>
        <p:nvSpPr>
          <p:cNvPr id="9" name="Rectangle 8"/>
          <p:cNvSpPr/>
          <p:nvPr/>
        </p:nvSpPr>
        <p:spPr>
          <a:xfrm>
            <a:off x="457200" y="2084831"/>
            <a:ext cx="5486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94560"/>
            <a:ext cx="7589520" cy="274320"/>
          </a:xfrm>
          <a:prstGeom prst="rect">
            <a:avLst/>
          </a:prstGeom>
          <a:noFill/>
        </p:spPr>
        <p:txBody>
          <a:bodyPr wrap="square">
            <a:spAutoFit/>
          </a:bodyPr>
          <a:lstStyle/>
          <a:p>
            <a:pPr algn="l"/>
            <a:r>
              <a:rPr sz="1200" b="0" i="1">
                <a:solidFill>
                  <a:srgbClr val="94A3B8"/>
                </a:solidFill>
                <a:latin typeface="Calibri"/>
              </a:rPr>
              <a:t>Transforming Market Monitoring into Continuous Competitive Advantage</a:t>
            </a:r>
          </a:p>
        </p:txBody>
      </p:sp>
      <p:sp>
        <p:nvSpPr>
          <p:cNvPr id="11" name="TextBox 10"/>
          <p:cNvSpPr txBox="1"/>
          <p:nvPr/>
        </p:nvSpPr>
        <p:spPr>
          <a:xfrm>
            <a:off x="457200" y="2606040"/>
            <a:ext cx="7589520" cy="274320"/>
          </a:xfrm>
          <a:prstGeom prst="rect">
            <a:avLst/>
          </a:prstGeom>
          <a:noFill/>
        </p:spPr>
        <p:txBody>
          <a:bodyPr wrap="square">
            <a:spAutoFit/>
          </a:bodyPr>
          <a:lstStyle/>
          <a:p>
            <a:pPr algn="l"/>
            <a:r>
              <a:rPr sz="950" b="0" i="0">
                <a:solidFill>
                  <a:srgbClr val="94A3B8"/>
                </a:solidFill>
                <a:latin typeface="Calibri"/>
              </a:rPr>
              <a:t>Machine Learning  |  Gemini / GenAI  |  ENVOY Agentic Platform</a:t>
            </a:r>
          </a:p>
        </p:txBody>
      </p:sp>
      <p:sp>
        <p:nvSpPr>
          <p:cNvPr id="12" name="Rectangle 11"/>
          <p:cNvSpPr/>
          <p:nvPr/>
        </p:nvSpPr>
        <p:spPr>
          <a:xfrm>
            <a:off x="457200" y="3017520"/>
            <a:ext cx="7589520" cy="141732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17520"/>
            <a:ext cx="54864" cy="1417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090672"/>
            <a:ext cx="7315200" cy="1280160"/>
          </a:xfrm>
          <a:prstGeom prst="rect">
            <a:avLst/>
          </a:prstGeom>
          <a:noFill/>
        </p:spPr>
        <p:txBody>
          <a:bodyPr wrap="square">
            <a:spAutoFit/>
          </a:bodyPr>
          <a:lstStyle/>
          <a:p>
            <a:pPr algn="l"/>
            <a:r>
              <a:rPr sz="950" b="0" i="0">
                <a:solidFill>
                  <a:srgbClr val="FFFFFF"/>
                </a:solidFill>
                <a:latin typeface="Calibri"/>
              </a:rPr>
              <a:t>This platform harnesses the full AI capability of LBG's ENVOY Agentic Platform — combining ML-driven pricing models, Gemini-powered analysis and Agentic automation via the Agent Developer Kit (ADK) and Vertex AI Agent Engine — to deliver continuous, governed competitive intelligence across all Price Comparison Website channels.</a:t>
            </a:r>
          </a:p>
        </p:txBody>
      </p:sp>
      <p:sp>
        <p:nvSpPr>
          <p:cNvPr id="15" name="TextBox 14"/>
          <p:cNvSpPr txBox="1"/>
          <p:nvPr/>
        </p:nvSpPr>
        <p:spPr>
          <a:xfrm>
            <a:off x="8412480" y="164592"/>
            <a:ext cx="3474720" cy="256032"/>
          </a:xfrm>
          <a:prstGeom prst="rect">
            <a:avLst/>
          </a:prstGeom>
          <a:noFill/>
        </p:spPr>
        <p:txBody>
          <a:bodyPr wrap="square">
            <a:spAutoFit/>
          </a:bodyPr>
          <a:lstStyle/>
          <a:p>
            <a:pPr algn="l"/>
            <a:r>
              <a:rPr sz="800" b="1" i="0">
                <a:solidFill>
                  <a:srgbClr val="C9A84C"/>
                </a:solidFill>
                <a:latin typeface="Calibri"/>
              </a:rPr>
              <a:t>POWERED BY ENVOY</a:t>
            </a:r>
          </a:p>
        </p:txBody>
      </p:sp>
      <p:sp>
        <p:nvSpPr>
          <p:cNvPr id="16" name="TextBox 15"/>
          <p:cNvSpPr txBox="1"/>
          <p:nvPr/>
        </p:nvSpPr>
        <p:spPr>
          <a:xfrm>
            <a:off x="8412480" y="411480"/>
            <a:ext cx="3474720" cy="256032"/>
          </a:xfrm>
          <a:prstGeom prst="rect">
            <a:avLst/>
          </a:prstGeom>
          <a:noFill/>
        </p:spPr>
        <p:txBody>
          <a:bodyPr wrap="square">
            <a:spAutoFit/>
          </a:bodyPr>
          <a:lstStyle/>
          <a:p>
            <a:pPr algn="l"/>
            <a:r>
              <a:rPr sz="900" b="0" i="1">
                <a:solidFill>
                  <a:srgbClr val="FFFFFF"/>
                </a:solidFill>
                <a:latin typeface="Calibri"/>
              </a:rPr>
              <a:t>Enterprise Agent Runtime &amp; Governance Platform</a:t>
            </a:r>
          </a:p>
        </p:txBody>
      </p:sp>
      <p:sp>
        <p:nvSpPr>
          <p:cNvPr id="17" name="Rectangle 16"/>
          <p:cNvSpPr/>
          <p:nvPr/>
        </p:nvSpPr>
        <p:spPr>
          <a:xfrm>
            <a:off x="8412480" y="749808"/>
            <a:ext cx="3566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0" y="749808"/>
            <a:ext cx="54864"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2208" y="777240"/>
            <a:ext cx="3383280" cy="164592"/>
          </a:xfrm>
          <a:prstGeom prst="rect">
            <a:avLst/>
          </a:prstGeom>
          <a:noFill/>
        </p:spPr>
        <p:txBody>
          <a:bodyPr wrap="square">
            <a:spAutoFit/>
          </a:bodyPr>
          <a:lstStyle/>
          <a:p>
            <a:pPr algn="l"/>
            <a:r>
              <a:rPr sz="1000" b="1" i="0">
                <a:solidFill>
                  <a:srgbClr val="C9A84C"/>
                </a:solidFill>
                <a:latin typeface="Calibri"/>
              </a:rPr>
              <a:t>30-50%</a:t>
            </a:r>
          </a:p>
        </p:txBody>
      </p:sp>
      <p:sp>
        <p:nvSpPr>
          <p:cNvPr id="20" name="TextBox 19"/>
          <p:cNvSpPr txBox="1"/>
          <p:nvPr/>
        </p:nvSpPr>
        <p:spPr>
          <a:xfrm>
            <a:off x="8522208" y="941832"/>
            <a:ext cx="3383280" cy="164592"/>
          </a:xfrm>
          <a:prstGeom prst="rect">
            <a:avLst/>
          </a:prstGeom>
          <a:noFill/>
        </p:spPr>
        <p:txBody>
          <a:bodyPr wrap="square">
            <a:spAutoFit/>
          </a:bodyPr>
          <a:lstStyle/>
          <a:p>
            <a:pPr algn="l"/>
            <a:r>
              <a:rPr sz="800" b="0" i="0">
                <a:solidFill>
                  <a:srgbClr val="FFFFFF"/>
                </a:solidFill>
                <a:latin typeface="Calibri"/>
              </a:rPr>
              <a:t>Faster Intelligence Delivery vs Manual</a:t>
            </a:r>
          </a:p>
        </p:txBody>
      </p:sp>
      <p:sp>
        <p:nvSpPr>
          <p:cNvPr id="21" name="Rectangle 20"/>
          <p:cNvSpPr/>
          <p:nvPr/>
        </p:nvSpPr>
        <p:spPr>
          <a:xfrm>
            <a:off x="8412480" y="1188720"/>
            <a:ext cx="3566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1188720"/>
            <a:ext cx="54864"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22208" y="1216152"/>
            <a:ext cx="3383280" cy="164592"/>
          </a:xfrm>
          <a:prstGeom prst="rect">
            <a:avLst/>
          </a:prstGeom>
          <a:noFill/>
        </p:spPr>
        <p:txBody>
          <a:bodyPr wrap="square">
            <a:spAutoFit/>
          </a:bodyPr>
          <a:lstStyle/>
          <a:p>
            <a:pPr algn="l"/>
            <a:r>
              <a:rPr sz="1000" b="1" i="0">
                <a:solidFill>
                  <a:srgbClr val="C9A84C"/>
                </a:solidFill>
                <a:latin typeface="Calibri"/>
              </a:rPr>
              <a:t>80%</a:t>
            </a:r>
          </a:p>
        </p:txBody>
      </p:sp>
      <p:sp>
        <p:nvSpPr>
          <p:cNvPr id="24" name="TextBox 23"/>
          <p:cNvSpPr txBox="1"/>
          <p:nvPr/>
        </p:nvSpPr>
        <p:spPr>
          <a:xfrm>
            <a:off x="8522208" y="1380744"/>
            <a:ext cx="3383280" cy="164592"/>
          </a:xfrm>
          <a:prstGeom prst="rect">
            <a:avLst/>
          </a:prstGeom>
          <a:noFill/>
        </p:spPr>
        <p:txBody>
          <a:bodyPr wrap="square">
            <a:spAutoFit/>
          </a:bodyPr>
          <a:lstStyle/>
          <a:p>
            <a:pPr algn="l"/>
            <a:r>
              <a:rPr sz="800" b="0" i="0">
                <a:solidFill>
                  <a:srgbClr val="FFFFFF"/>
                </a:solidFill>
                <a:latin typeface="Calibri"/>
              </a:rPr>
              <a:t>Reusable ENVOY Agent Components</a:t>
            </a:r>
          </a:p>
        </p:txBody>
      </p:sp>
      <p:sp>
        <p:nvSpPr>
          <p:cNvPr id="25" name="Rectangle 24"/>
          <p:cNvSpPr/>
          <p:nvPr/>
        </p:nvSpPr>
        <p:spPr>
          <a:xfrm>
            <a:off x="8412480" y="1627632"/>
            <a:ext cx="3566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0" y="1627632"/>
            <a:ext cx="54864"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8" y="1655064"/>
            <a:ext cx="3383280" cy="164592"/>
          </a:xfrm>
          <a:prstGeom prst="rect">
            <a:avLst/>
          </a:prstGeom>
          <a:noFill/>
        </p:spPr>
        <p:txBody>
          <a:bodyPr wrap="square">
            <a:spAutoFit/>
          </a:bodyPr>
          <a:lstStyle/>
          <a:p>
            <a:pPr algn="l"/>
            <a:r>
              <a:rPr sz="1000" b="1" i="0">
                <a:solidFill>
                  <a:srgbClr val="C9A84C"/>
                </a:solidFill>
                <a:latin typeface="Calibri"/>
              </a:rPr>
              <a:t>100%</a:t>
            </a:r>
          </a:p>
        </p:txBody>
      </p:sp>
      <p:sp>
        <p:nvSpPr>
          <p:cNvPr id="28" name="TextBox 27"/>
          <p:cNvSpPr txBox="1"/>
          <p:nvPr/>
        </p:nvSpPr>
        <p:spPr>
          <a:xfrm>
            <a:off x="8522208" y="1819656"/>
            <a:ext cx="3383280" cy="164592"/>
          </a:xfrm>
          <a:prstGeom prst="rect">
            <a:avLst/>
          </a:prstGeom>
          <a:noFill/>
        </p:spPr>
        <p:txBody>
          <a:bodyPr wrap="square">
            <a:spAutoFit/>
          </a:bodyPr>
          <a:lstStyle/>
          <a:p>
            <a:pPr algn="l"/>
            <a:r>
              <a:rPr sz="800" b="0" i="0">
                <a:solidFill>
                  <a:srgbClr val="FFFFFF"/>
                </a:solidFill>
                <a:latin typeface="Calibri"/>
              </a:rPr>
              <a:t>Governed Agent Calls via Cortex</a:t>
            </a:r>
          </a:p>
        </p:txBody>
      </p:sp>
      <p:sp>
        <p:nvSpPr>
          <p:cNvPr id="29" name="Rectangle 28"/>
          <p:cNvSpPr/>
          <p:nvPr/>
        </p:nvSpPr>
        <p:spPr>
          <a:xfrm>
            <a:off x="8412480" y="2066544"/>
            <a:ext cx="3566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0" y="2066544"/>
            <a:ext cx="54864"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22208" y="2093976"/>
            <a:ext cx="3383280" cy="164592"/>
          </a:xfrm>
          <a:prstGeom prst="rect">
            <a:avLst/>
          </a:prstGeom>
          <a:noFill/>
        </p:spPr>
        <p:txBody>
          <a:bodyPr wrap="square">
            <a:spAutoFit/>
          </a:bodyPr>
          <a:lstStyle/>
          <a:p>
            <a:pPr algn="l"/>
            <a:r>
              <a:rPr sz="1000" b="1" i="0">
                <a:solidFill>
                  <a:srgbClr val="C9A84C"/>
                </a:solidFill>
                <a:latin typeface="Calibri"/>
              </a:rPr>
              <a:t>1 Platform</a:t>
            </a:r>
          </a:p>
        </p:txBody>
      </p:sp>
      <p:sp>
        <p:nvSpPr>
          <p:cNvPr id="32" name="TextBox 31"/>
          <p:cNvSpPr txBox="1"/>
          <p:nvPr/>
        </p:nvSpPr>
        <p:spPr>
          <a:xfrm>
            <a:off x="8522208" y="2258568"/>
            <a:ext cx="3383280" cy="164592"/>
          </a:xfrm>
          <a:prstGeom prst="rect">
            <a:avLst/>
          </a:prstGeom>
          <a:noFill/>
        </p:spPr>
        <p:txBody>
          <a:bodyPr wrap="square">
            <a:spAutoFit/>
          </a:bodyPr>
          <a:lstStyle/>
          <a:p>
            <a:pPr algn="l"/>
            <a:r>
              <a:rPr sz="800" b="0" i="0">
                <a:solidFill>
                  <a:srgbClr val="FFFFFF"/>
                </a:solidFill>
                <a:latin typeface="Calibri"/>
              </a:rPr>
              <a:t>Shared Across BCB General Insurance</a:t>
            </a:r>
          </a:p>
        </p:txBody>
      </p:sp>
      <p:sp>
        <p:nvSpPr>
          <p:cNvPr id="33" name="Rectangle 32"/>
          <p:cNvSpPr/>
          <p:nvPr/>
        </p:nvSpPr>
        <p:spPr>
          <a:xfrm>
            <a:off x="8412480" y="2505456"/>
            <a:ext cx="3566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2505456"/>
            <a:ext cx="54864"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22208" y="2532888"/>
            <a:ext cx="3383280" cy="164592"/>
          </a:xfrm>
          <a:prstGeom prst="rect">
            <a:avLst/>
          </a:prstGeom>
          <a:noFill/>
        </p:spPr>
        <p:txBody>
          <a:bodyPr wrap="square">
            <a:spAutoFit/>
          </a:bodyPr>
          <a:lstStyle/>
          <a:p>
            <a:pPr algn="l"/>
            <a:r>
              <a:rPr sz="1000" b="1" i="0">
                <a:solidFill>
                  <a:srgbClr val="C9A84C"/>
                </a:solidFill>
                <a:latin typeface="Calibri"/>
              </a:rPr>
              <a:t>Full</a:t>
            </a:r>
          </a:p>
        </p:txBody>
      </p:sp>
      <p:sp>
        <p:nvSpPr>
          <p:cNvPr id="36" name="TextBox 35"/>
          <p:cNvSpPr txBox="1"/>
          <p:nvPr/>
        </p:nvSpPr>
        <p:spPr>
          <a:xfrm>
            <a:off x="8522208" y="2697480"/>
            <a:ext cx="3383280" cy="164592"/>
          </a:xfrm>
          <a:prstGeom prst="rect">
            <a:avLst/>
          </a:prstGeom>
          <a:noFill/>
        </p:spPr>
        <p:txBody>
          <a:bodyPr wrap="square">
            <a:spAutoFit/>
          </a:bodyPr>
          <a:lstStyle/>
          <a:p>
            <a:pPr algn="l"/>
            <a:r>
              <a:rPr sz="800" b="0" i="0">
                <a:solidFill>
                  <a:srgbClr val="FFFFFF"/>
                </a:solidFill>
                <a:latin typeface="Calibri"/>
              </a:rPr>
              <a:t>Observability &amp; Traceability via ObserveAll</a:t>
            </a:r>
          </a:p>
        </p:txBody>
      </p:sp>
      <p:sp>
        <p:nvSpPr>
          <p:cNvPr id="37" name="TextBox 36"/>
          <p:cNvSpPr txBox="1"/>
          <p:nvPr/>
        </p:nvSpPr>
        <p:spPr>
          <a:xfrm>
            <a:off x="8412480" y="2990088"/>
            <a:ext cx="3474720" cy="201168"/>
          </a:xfrm>
          <a:prstGeom prst="rect">
            <a:avLst/>
          </a:prstGeom>
          <a:noFill/>
        </p:spPr>
        <p:txBody>
          <a:bodyPr wrap="square">
            <a:spAutoFit/>
          </a:bodyPr>
          <a:lstStyle/>
          <a:p>
            <a:pPr algn="l"/>
            <a:r>
              <a:rPr sz="800" b="1" i="0">
                <a:solidFill>
                  <a:srgbClr val="C9A84C"/>
                </a:solidFill>
                <a:latin typeface="Calibri"/>
              </a:rPr>
              <a:t>DELIVERY PHASES</a:t>
            </a:r>
          </a:p>
        </p:txBody>
      </p:sp>
      <p:sp>
        <p:nvSpPr>
          <p:cNvPr id="38" name="Rectangle 37"/>
          <p:cNvSpPr/>
          <p:nvPr/>
        </p:nvSpPr>
        <p:spPr>
          <a:xfrm>
            <a:off x="8412480" y="3218688"/>
            <a:ext cx="3566160" cy="347472"/>
          </a:xfrm>
          <a:prstGeom prst="rect">
            <a:avLst/>
          </a:prstGeom>
          <a:solidFill>
            <a:srgbClr val="12223F"/>
          </a:solidFill>
          <a:ln w="9525">
            <a:solidFill>
              <a:srgbClr val="0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3264408"/>
            <a:ext cx="1371600" cy="256032"/>
          </a:xfrm>
          <a:prstGeom prst="rect">
            <a:avLst/>
          </a:prstGeom>
          <a:noFill/>
        </p:spPr>
        <p:txBody>
          <a:bodyPr wrap="square">
            <a:spAutoFit/>
          </a:bodyPr>
          <a:lstStyle/>
          <a:p>
            <a:pPr algn="l"/>
            <a:r>
              <a:rPr sz="900" b="1" i="0">
                <a:solidFill>
                  <a:srgbClr val="0F7AC5"/>
                </a:solidFill>
                <a:latin typeface="Calibri"/>
              </a:rPr>
              <a:t>Wave 1</a:t>
            </a:r>
          </a:p>
        </p:txBody>
      </p:sp>
      <p:sp>
        <p:nvSpPr>
          <p:cNvPr id="40" name="TextBox 39"/>
          <p:cNvSpPr txBox="1"/>
          <p:nvPr/>
        </p:nvSpPr>
        <p:spPr>
          <a:xfrm>
            <a:off x="9784080" y="3264408"/>
            <a:ext cx="2103120" cy="256032"/>
          </a:xfrm>
          <a:prstGeom prst="rect">
            <a:avLst/>
          </a:prstGeom>
          <a:noFill/>
        </p:spPr>
        <p:txBody>
          <a:bodyPr wrap="square">
            <a:spAutoFit/>
          </a:bodyPr>
          <a:lstStyle/>
          <a:p>
            <a:pPr algn="l"/>
            <a:r>
              <a:rPr sz="900" b="0" i="0">
                <a:solidFill>
                  <a:srgbClr val="FFFFFF"/>
                </a:solidFill>
                <a:latin typeface="Calibri"/>
              </a:rPr>
              <a:t>Months 1-3</a:t>
            </a:r>
          </a:p>
        </p:txBody>
      </p:sp>
      <p:sp>
        <p:nvSpPr>
          <p:cNvPr id="41" name="Rectangle 40"/>
          <p:cNvSpPr/>
          <p:nvPr/>
        </p:nvSpPr>
        <p:spPr>
          <a:xfrm>
            <a:off x="8412480" y="3621024"/>
            <a:ext cx="3566160" cy="347472"/>
          </a:xfrm>
          <a:prstGeom prst="rect">
            <a:avLst/>
          </a:prstGeom>
          <a:solidFill>
            <a:srgbClr val="12223F"/>
          </a:solidFill>
          <a:ln w="9525">
            <a:solidFill>
              <a:srgbClr val="2563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0" y="3666744"/>
            <a:ext cx="1371600" cy="256032"/>
          </a:xfrm>
          <a:prstGeom prst="rect">
            <a:avLst/>
          </a:prstGeom>
          <a:noFill/>
        </p:spPr>
        <p:txBody>
          <a:bodyPr wrap="square">
            <a:spAutoFit/>
          </a:bodyPr>
          <a:lstStyle/>
          <a:p>
            <a:pPr algn="l"/>
            <a:r>
              <a:rPr sz="900" b="1" i="0">
                <a:solidFill>
                  <a:srgbClr val="2563AB"/>
                </a:solidFill>
                <a:latin typeface="Calibri"/>
              </a:rPr>
              <a:t>Wave 2</a:t>
            </a:r>
          </a:p>
        </p:txBody>
      </p:sp>
      <p:sp>
        <p:nvSpPr>
          <p:cNvPr id="43" name="TextBox 42"/>
          <p:cNvSpPr txBox="1"/>
          <p:nvPr/>
        </p:nvSpPr>
        <p:spPr>
          <a:xfrm>
            <a:off x="9784080" y="3666744"/>
            <a:ext cx="2103120" cy="256032"/>
          </a:xfrm>
          <a:prstGeom prst="rect">
            <a:avLst/>
          </a:prstGeom>
          <a:noFill/>
        </p:spPr>
        <p:txBody>
          <a:bodyPr wrap="square">
            <a:spAutoFit/>
          </a:bodyPr>
          <a:lstStyle/>
          <a:p>
            <a:pPr algn="l"/>
            <a:r>
              <a:rPr sz="900" b="0" i="0">
                <a:solidFill>
                  <a:srgbClr val="FFFFFF"/>
                </a:solidFill>
                <a:latin typeface="Calibri"/>
              </a:rPr>
              <a:t>Months 4-6</a:t>
            </a:r>
          </a:p>
        </p:txBody>
      </p:sp>
      <p:sp>
        <p:nvSpPr>
          <p:cNvPr id="44" name="Rectangle 43"/>
          <p:cNvSpPr/>
          <p:nvPr/>
        </p:nvSpPr>
        <p:spPr>
          <a:xfrm>
            <a:off x="8412480" y="4023360"/>
            <a:ext cx="3566160" cy="347472"/>
          </a:xfrm>
          <a:prstGeom prst="rect">
            <a:avLst/>
          </a:prstGeom>
          <a:solidFill>
            <a:srgbClr val="12223F"/>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20" y="4069080"/>
            <a:ext cx="1371600" cy="256032"/>
          </a:xfrm>
          <a:prstGeom prst="rect">
            <a:avLst/>
          </a:prstGeom>
          <a:noFill/>
        </p:spPr>
        <p:txBody>
          <a:bodyPr wrap="square">
            <a:spAutoFit/>
          </a:bodyPr>
          <a:lstStyle/>
          <a:p>
            <a:pPr algn="l"/>
            <a:r>
              <a:rPr sz="900" b="1" i="0">
                <a:solidFill>
                  <a:srgbClr val="0D9488"/>
                </a:solidFill>
                <a:latin typeface="Calibri"/>
              </a:rPr>
              <a:t>Wave 3</a:t>
            </a:r>
          </a:p>
        </p:txBody>
      </p:sp>
      <p:sp>
        <p:nvSpPr>
          <p:cNvPr id="46" name="TextBox 45"/>
          <p:cNvSpPr txBox="1"/>
          <p:nvPr/>
        </p:nvSpPr>
        <p:spPr>
          <a:xfrm>
            <a:off x="9784080" y="4069080"/>
            <a:ext cx="2103120" cy="256032"/>
          </a:xfrm>
          <a:prstGeom prst="rect">
            <a:avLst/>
          </a:prstGeom>
          <a:noFill/>
        </p:spPr>
        <p:txBody>
          <a:bodyPr wrap="square">
            <a:spAutoFit/>
          </a:bodyPr>
          <a:lstStyle/>
          <a:p>
            <a:pPr algn="l"/>
            <a:r>
              <a:rPr sz="900" b="0" i="0">
                <a:solidFill>
                  <a:srgbClr val="FFFFFF"/>
                </a:solidFill>
                <a:latin typeface="Calibri"/>
              </a:rPr>
              <a:t>Months 7-9</a:t>
            </a:r>
          </a:p>
        </p:txBody>
      </p:sp>
      <p:sp>
        <p:nvSpPr>
          <p:cNvPr id="47" name="Rectangle 46"/>
          <p:cNvSpPr/>
          <p:nvPr/>
        </p:nvSpPr>
        <p:spPr>
          <a:xfrm>
            <a:off x="8412480" y="4425696"/>
            <a:ext cx="3566160" cy="347472"/>
          </a:xfrm>
          <a:prstGeom prst="rect">
            <a:avLst/>
          </a:prstGeom>
          <a:solidFill>
            <a:srgbClr val="12223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3920" y="4471416"/>
            <a:ext cx="1371600" cy="256032"/>
          </a:xfrm>
          <a:prstGeom prst="rect">
            <a:avLst/>
          </a:prstGeom>
          <a:noFill/>
        </p:spPr>
        <p:txBody>
          <a:bodyPr wrap="square">
            <a:spAutoFit/>
          </a:bodyPr>
          <a:lstStyle/>
          <a:p>
            <a:pPr algn="l"/>
            <a:r>
              <a:rPr sz="900" b="1" i="0">
                <a:solidFill>
                  <a:srgbClr val="7C3AED"/>
                </a:solidFill>
                <a:latin typeface="Calibri"/>
              </a:rPr>
              <a:t>Wave 4</a:t>
            </a:r>
          </a:p>
        </p:txBody>
      </p:sp>
      <p:sp>
        <p:nvSpPr>
          <p:cNvPr id="49" name="TextBox 48"/>
          <p:cNvSpPr txBox="1"/>
          <p:nvPr/>
        </p:nvSpPr>
        <p:spPr>
          <a:xfrm>
            <a:off x="9784080" y="4471416"/>
            <a:ext cx="2103120" cy="256032"/>
          </a:xfrm>
          <a:prstGeom prst="rect">
            <a:avLst/>
          </a:prstGeom>
          <a:noFill/>
        </p:spPr>
        <p:txBody>
          <a:bodyPr wrap="square">
            <a:spAutoFit/>
          </a:bodyPr>
          <a:lstStyle/>
          <a:p>
            <a:pPr algn="l"/>
            <a:r>
              <a:rPr sz="900" b="0" i="0">
                <a:solidFill>
                  <a:srgbClr val="FFFFFF"/>
                </a:solidFill>
                <a:latin typeface="Calibri"/>
              </a:rPr>
              <a:t>Months 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EXECUTIVE SUMMARY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Strategic Context &amp; Recommendation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02 / 20</a:t>
            </a:r>
          </a:p>
        </p:txBody>
      </p:sp>
      <p:sp>
        <p:nvSpPr>
          <p:cNvPr id="8" name="Rectangle 7"/>
          <p:cNvSpPr/>
          <p:nvPr/>
        </p:nvSpPr>
        <p:spPr>
          <a:xfrm>
            <a:off x="457200"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207008"/>
            <a:ext cx="3474720" cy="201168"/>
          </a:xfrm>
          <a:prstGeom prst="rect">
            <a:avLst/>
          </a:prstGeom>
          <a:noFill/>
        </p:spPr>
        <p:txBody>
          <a:bodyPr wrap="square">
            <a:spAutoFit/>
          </a:bodyPr>
          <a:lstStyle/>
          <a:p>
            <a:pPr algn="l"/>
            <a:r>
              <a:rPr sz="750" b="1" i="0">
                <a:solidFill>
                  <a:srgbClr val="0F7AC5"/>
                </a:solidFill>
                <a:latin typeface="Calibri"/>
              </a:rPr>
              <a:t>THE OPPORTUNITY</a:t>
            </a:r>
          </a:p>
        </p:txBody>
      </p:sp>
      <p:sp>
        <p:nvSpPr>
          <p:cNvPr id="11" name="TextBox 10"/>
          <p:cNvSpPr txBox="1"/>
          <p:nvPr/>
        </p:nvSpPr>
        <p:spPr>
          <a:xfrm>
            <a:off x="566928" y="1417320"/>
            <a:ext cx="3474720" cy="457200"/>
          </a:xfrm>
          <a:prstGeom prst="rect">
            <a:avLst/>
          </a:prstGeom>
          <a:noFill/>
        </p:spPr>
        <p:txBody>
          <a:bodyPr wrap="square">
            <a:spAutoFit/>
          </a:bodyPr>
          <a:lstStyle/>
          <a:p>
            <a:pPr algn="l"/>
            <a:r>
              <a:rPr sz="1150" b="1" i="0">
                <a:solidFill>
                  <a:srgbClr val="0A1628"/>
                </a:solidFill>
                <a:latin typeface="Calibri"/>
              </a:rPr>
              <a:t>PCWs are a primary acquisition channel under continuous competitive pressure</a:t>
            </a:r>
          </a:p>
        </p:txBody>
      </p:sp>
      <p:sp>
        <p:nvSpPr>
          <p:cNvPr id="12" name="TextBox 11"/>
          <p:cNvSpPr txBox="1"/>
          <p:nvPr/>
        </p:nvSpPr>
        <p:spPr>
          <a:xfrm>
            <a:off x="566928" y="1901952"/>
            <a:ext cx="3474720" cy="2514600"/>
          </a:xfrm>
          <a:prstGeom prst="rect">
            <a:avLst/>
          </a:prstGeom>
          <a:noFill/>
        </p:spPr>
        <p:txBody>
          <a:bodyPr wrap="square">
            <a:spAutoFit/>
          </a:bodyPr>
          <a:lstStyle/>
          <a:p>
            <a:pPr algn="l"/>
            <a:r>
              <a:rPr sz="950" b="0" i="0">
                <a:solidFill>
                  <a:srgbClr val="475569"/>
                </a:solidFill>
                <a:latin typeface="Calibri"/>
              </a:rPr>
              <a:t>Price Comparison Websites influence the majority of UK General Insurance new business. Customers simultaneously compare price, excess, features, add-ons and brand. Small rank changes drive material volume shifts. Competitors adjust positioning multiple times per week — creating both daily risk and opportunity for LBG.</a:t>
            </a:r>
          </a:p>
        </p:txBody>
      </p:sp>
      <p:sp>
        <p:nvSpPr>
          <p:cNvPr id="13" name="Rectangle 12"/>
          <p:cNvSpPr/>
          <p:nvPr/>
        </p:nvSpPr>
        <p:spPr>
          <a:xfrm>
            <a:off x="4270248"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097280"/>
            <a:ext cx="36576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207008"/>
            <a:ext cx="3474720" cy="201168"/>
          </a:xfrm>
          <a:prstGeom prst="rect">
            <a:avLst/>
          </a:prstGeom>
          <a:noFill/>
        </p:spPr>
        <p:txBody>
          <a:bodyPr wrap="square">
            <a:spAutoFit/>
          </a:bodyPr>
          <a:lstStyle/>
          <a:p>
            <a:pPr algn="l"/>
            <a:r>
              <a:rPr sz="750" b="1" i="0">
                <a:solidFill>
                  <a:srgbClr val="2563AB"/>
                </a:solidFill>
                <a:latin typeface="Calibri"/>
              </a:rPr>
              <a:t>THE CHALLENGE</a:t>
            </a:r>
          </a:p>
        </p:txBody>
      </p:sp>
      <p:sp>
        <p:nvSpPr>
          <p:cNvPr id="16" name="TextBox 15"/>
          <p:cNvSpPr txBox="1"/>
          <p:nvPr/>
        </p:nvSpPr>
        <p:spPr>
          <a:xfrm>
            <a:off x="4379976" y="1417320"/>
            <a:ext cx="3474720" cy="457200"/>
          </a:xfrm>
          <a:prstGeom prst="rect">
            <a:avLst/>
          </a:prstGeom>
          <a:noFill/>
        </p:spPr>
        <p:txBody>
          <a:bodyPr wrap="square">
            <a:spAutoFit/>
          </a:bodyPr>
          <a:lstStyle/>
          <a:p>
            <a:pPr algn="l"/>
            <a:r>
              <a:rPr sz="1150" b="1" i="0">
                <a:solidFill>
                  <a:srgbClr val="0A1628"/>
                </a:solidFill>
                <a:latin typeface="Calibri"/>
              </a:rPr>
              <a:t>Current monitoring is periodic, manual and unable to match market velocity</a:t>
            </a:r>
          </a:p>
        </p:txBody>
      </p:sp>
      <p:sp>
        <p:nvSpPr>
          <p:cNvPr id="17" name="TextBox 16"/>
          <p:cNvSpPr txBox="1"/>
          <p:nvPr/>
        </p:nvSpPr>
        <p:spPr>
          <a:xfrm>
            <a:off x="4379976" y="1901952"/>
            <a:ext cx="3474720" cy="2514600"/>
          </a:xfrm>
          <a:prstGeom prst="rect">
            <a:avLst/>
          </a:prstGeom>
          <a:noFill/>
        </p:spPr>
        <p:txBody>
          <a:bodyPr wrap="square">
            <a:spAutoFit/>
          </a:bodyPr>
          <a:lstStyle/>
          <a:p>
            <a:pPr algn="l"/>
            <a:r>
              <a:rPr sz="950" b="0" i="0">
                <a:solidFill>
                  <a:srgbClr val="475569"/>
                </a:solidFill>
                <a:latin typeface="Calibri"/>
              </a:rPr>
              <a:t>LBG's current approach relies on scheduled manual market reviews conducted at irregular intervals. By the time trends are identified, analysed and escalated, the market has moved. Teams operate in silos with inconsistent data. No continuous cross-channel tracking, no simulation capability, no closed feedback loop exists.</a:t>
            </a:r>
          </a:p>
        </p:txBody>
      </p:sp>
      <p:sp>
        <p:nvSpPr>
          <p:cNvPr id="18" name="Rectangle 17"/>
          <p:cNvSpPr/>
          <p:nvPr/>
        </p:nvSpPr>
        <p:spPr>
          <a:xfrm>
            <a:off x="8083296" y="1097280"/>
            <a:ext cx="3657600" cy="3474720"/>
          </a:xfrm>
          <a:prstGeom prst="rect">
            <a:avLst/>
          </a:prstGeom>
          <a:solidFill>
            <a:srgbClr val="0A1628"/>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097280"/>
            <a:ext cx="365760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097280"/>
            <a:ext cx="54864" cy="3474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1207008"/>
            <a:ext cx="3474720" cy="201168"/>
          </a:xfrm>
          <a:prstGeom prst="rect">
            <a:avLst/>
          </a:prstGeom>
          <a:noFill/>
        </p:spPr>
        <p:txBody>
          <a:bodyPr wrap="square">
            <a:spAutoFit/>
          </a:bodyPr>
          <a:lstStyle/>
          <a:p>
            <a:pPr algn="l"/>
            <a:r>
              <a:rPr sz="750" b="1" i="0">
                <a:solidFill>
                  <a:srgbClr val="C9A84C"/>
                </a:solidFill>
                <a:latin typeface="Calibri"/>
              </a:rPr>
              <a:t>THE RECOMMENDATION</a:t>
            </a:r>
          </a:p>
        </p:txBody>
      </p:sp>
      <p:sp>
        <p:nvSpPr>
          <p:cNvPr id="22" name="TextBox 21"/>
          <p:cNvSpPr txBox="1"/>
          <p:nvPr/>
        </p:nvSpPr>
        <p:spPr>
          <a:xfrm>
            <a:off x="8193024" y="1417320"/>
            <a:ext cx="3474720" cy="457200"/>
          </a:xfrm>
          <a:prstGeom prst="rect">
            <a:avLst/>
          </a:prstGeom>
          <a:noFill/>
        </p:spPr>
        <p:txBody>
          <a:bodyPr wrap="square">
            <a:spAutoFit/>
          </a:bodyPr>
          <a:lstStyle/>
          <a:p>
            <a:pPr algn="l"/>
            <a:r>
              <a:rPr sz="1150" b="1" i="0">
                <a:solidFill>
                  <a:srgbClr val="FFFFFF"/>
                </a:solidFill>
                <a:latin typeface="Calibri"/>
              </a:rPr>
              <a:t>Deploy an ENVOY-powered Competitive Intelligence &amp; Optimisation Platform</a:t>
            </a:r>
          </a:p>
        </p:txBody>
      </p:sp>
      <p:sp>
        <p:nvSpPr>
          <p:cNvPr id="23" name="TextBox 22"/>
          <p:cNvSpPr txBox="1"/>
          <p:nvPr/>
        </p:nvSpPr>
        <p:spPr>
          <a:xfrm>
            <a:off x="8193024" y="1901952"/>
            <a:ext cx="3474720" cy="2514600"/>
          </a:xfrm>
          <a:prstGeom prst="rect">
            <a:avLst/>
          </a:prstGeom>
          <a:noFill/>
        </p:spPr>
        <p:txBody>
          <a:bodyPr wrap="square">
            <a:spAutoFit/>
          </a:bodyPr>
          <a:lstStyle/>
          <a:p>
            <a:pPr algn="l"/>
            <a:r>
              <a:rPr sz="950" b="0" i="0">
                <a:solidFill>
                  <a:srgbClr val="CCD6E8"/>
                </a:solidFill>
                <a:latin typeface="Calibri"/>
              </a:rPr>
              <a:t>Leverage LBG's ENVOY Agentic Platform — combining ML models, Gemini GenAI and ADK-orchestrated agents on Google Cloud — to continuously monitor PCW market signals, generate governed intelligence and recommend pricing and proposition actions with full human oversight via Pega workflow.</a:t>
            </a:r>
          </a:p>
        </p:txBody>
      </p:sp>
      <p:sp>
        <p:nvSpPr>
          <p:cNvPr id="24" name="TextBox 23"/>
          <p:cNvSpPr txBox="1"/>
          <p:nvPr/>
        </p:nvSpPr>
        <p:spPr>
          <a:xfrm>
            <a:off x="457200" y="4709160"/>
            <a:ext cx="5486400" cy="201168"/>
          </a:xfrm>
          <a:prstGeom prst="rect">
            <a:avLst/>
          </a:prstGeom>
          <a:noFill/>
        </p:spPr>
        <p:txBody>
          <a:bodyPr wrap="square">
            <a:spAutoFit/>
          </a:bodyPr>
          <a:lstStyle/>
          <a:p>
            <a:pPr algn="l"/>
            <a:r>
              <a:rPr sz="750" b="1" i="0">
                <a:solidFill>
                  <a:srgbClr val="94A3B8"/>
                </a:solidFill>
                <a:latin typeface="Calibri"/>
              </a:rPr>
              <a:t>EXPECTED OUTCOMES</a:t>
            </a:r>
          </a:p>
        </p:txBody>
      </p:sp>
      <p:sp>
        <p:nvSpPr>
          <p:cNvPr id="25" name="Rectangle 24"/>
          <p:cNvSpPr/>
          <p:nvPr/>
        </p:nvSpPr>
        <p:spPr>
          <a:xfrm>
            <a:off x="457200" y="4919472"/>
            <a:ext cx="2240280" cy="47548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9194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965192"/>
            <a:ext cx="2103120" cy="384048"/>
          </a:xfrm>
          <a:prstGeom prst="rect">
            <a:avLst/>
          </a:prstGeom>
          <a:noFill/>
        </p:spPr>
        <p:txBody>
          <a:bodyPr wrap="square">
            <a:spAutoFit/>
          </a:bodyPr>
          <a:lstStyle/>
          <a:p>
            <a:pPr algn="l"/>
            <a:r>
              <a:rPr sz="850" b="0" i="0">
                <a:solidFill>
                  <a:srgbClr val="1E293B"/>
                </a:solidFill>
                <a:latin typeface="Calibri"/>
              </a:rPr>
              <a:t>Improved PCW ranking position</a:t>
            </a:r>
          </a:p>
        </p:txBody>
      </p:sp>
      <p:sp>
        <p:nvSpPr>
          <p:cNvPr id="28" name="Rectangle 27"/>
          <p:cNvSpPr/>
          <p:nvPr/>
        </p:nvSpPr>
        <p:spPr>
          <a:xfrm>
            <a:off x="2816352" y="4919472"/>
            <a:ext cx="2240280" cy="47548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16352" y="49194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07792" y="4965192"/>
            <a:ext cx="2103120" cy="384048"/>
          </a:xfrm>
          <a:prstGeom prst="rect">
            <a:avLst/>
          </a:prstGeom>
          <a:noFill/>
        </p:spPr>
        <p:txBody>
          <a:bodyPr wrap="square">
            <a:spAutoFit/>
          </a:bodyPr>
          <a:lstStyle/>
          <a:p>
            <a:pPr algn="l"/>
            <a:r>
              <a:rPr sz="850" b="0" i="0">
                <a:solidFill>
                  <a:srgbClr val="1E293B"/>
                </a:solidFill>
                <a:latin typeface="Calibri"/>
              </a:rPr>
              <a:t>Faster competitor response</a:t>
            </a:r>
          </a:p>
        </p:txBody>
      </p:sp>
      <p:sp>
        <p:nvSpPr>
          <p:cNvPr id="31" name="Rectangle 30"/>
          <p:cNvSpPr/>
          <p:nvPr/>
        </p:nvSpPr>
        <p:spPr>
          <a:xfrm>
            <a:off x="5175504" y="4919472"/>
            <a:ext cx="2240280" cy="47548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75504" y="49194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66944" y="4965192"/>
            <a:ext cx="2103120" cy="384048"/>
          </a:xfrm>
          <a:prstGeom prst="rect">
            <a:avLst/>
          </a:prstGeom>
          <a:noFill/>
        </p:spPr>
        <p:txBody>
          <a:bodyPr wrap="square">
            <a:spAutoFit/>
          </a:bodyPr>
          <a:lstStyle/>
          <a:p>
            <a:pPr algn="l"/>
            <a:r>
              <a:rPr sz="850" b="0" i="0">
                <a:solidFill>
                  <a:srgbClr val="1E293B"/>
                </a:solidFill>
                <a:latin typeface="Calibri"/>
              </a:rPr>
              <a:t>Evidence-based pricing decisions</a:t>
            </a:r>
          </a:p>
        </p:txBody>
      </p:sp>
      <p:sp>
        <p:nvSpPr>
          <p:cNvPr id="34" name="Rectangle 33"/>
          <p:cNvSpPr/>
          <p:nvPr/>
        </p:nvSpPr>
        <p:spPr>
          <a:xfrm>
            <a:off x="7534656" y="4919472"/>
            <a:ext cx="2240280" cy="47548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34656" y="49194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26096" y="4965192"/>
            <a:ext cx="2103120" cy="384048"/>
          </a:xfrm>
          <a:prstGeom prst="rect">
            <a:avLst/>
          </a:prstGeom>
          <a:noFill/>
        </p:spPr>
        <p:txBody>
          <a:bodyPr wrap="square">
            <a:spAutoFit/>
          </a:bodyPr>
          <a:lstStyle/>
          <a:p>
            <a:pPr algn="l"/>
            <a:r>
              <a:rPr sz="850" b="0" i="0">
                <a:solidFill>
                  <a:srgbClr val="1E293B"/>
                </a:solidFill>
                <a:latin typeface="Calibri"/>
              </a:rPr>
              <a:t>Reduced analyst effort</a:t>
            </a:r>
          </a:p>
        </p:txBody>
      </p:sp>
      <p:sp>
        <p:nvSpPr>
          <p:cNvPr id="37" name="Rectangle 36"/>
          <p:cNvSpPr/>
          <p:nvPr/>
        </p:nvSpPr>
        <p:spPr>
          <a:xfrm>
            <a:off x="9893808" y="4919472"/>
            <a:ext cx="2240280" cy="47548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3808" y="49194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85248" y="4965192"/>
            <a:ext cx="2103120" cy="384048"/>
          </a:xfrm>
          <a:prstGeom prst="rect">
            <a:avLst/>
          </a:prstGeom>
          <a:noFill/>
        </p:spPr>
        <p:txBody>
          <a:bodyPr wrap="square">
            <a:spAutoFit/>
          </a:bodyPr>
          <a:lstStyle/>
          <a:p>
            <a:pPr algn="l"/>
            <a:r>
              <a:rPr sz="850" b="0" i="0">
                <a:solidFill>
                  <a:srgbClr val="1E293B"/>
                </a:solidFill>
                <a:latin typeface="Calibri"/>
              </a:rPr>
              <a:t>Reusable ENVOY platform capability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MARKET CONTEXT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Why Price Comparison Websites Are Business-Critical</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03 / 20</a:t>
            </a:r>
          </a:p>
        </p:txBody>
      </p:sp>
      <p:sp>
        <p:nvSpPr>
          <p:cNvPr id="8" name="TextBox 7"/>
          <p:cNvSpPr txBox="1"/>
          <p:nvPr/>
        </p:nvSpPr>
        <p:spPr>
          <a:xfrm>
            <a:off x="457200" y="1051560"/>
            <a:ext cx="5486400" cy="274320"/>
          </a:xfrm>
          <a:prstGeom prst="rect">
            <a:avLst/>
          </a:prstGeom>
          <a:noFill/>
        </p:spPr>
        <p:txBody>
          <a:bodyPr wrap="square">
            <a:spAutoFit/>
          </a:bodyPr>
          <a:lstStyle/>
          <a:p>
            <a:pPr algn="l"/>
            <a:r>
              <a:rPr sz="1200" b="1" i="0">
                <a:solidFill>
                  <a:srgbClr val="0A1628"/>
                </a:solidFill>
                <a:latin typeface="Calibri"/>
              </a:rPr>
              <a:t>The PCW Landscape</a:t>
            </a:r>
          </a:p>
        </p:txBody>
      </p:sp>
      <p:sp>
        <p:nvSpPr>
          <p:cNvPr id="9" name="Rectangle 8"/>
          <p:cNvSpPr/>
          <p:nvPr/>
        </p:nvSpPr>
        <p:spPr>
          <a:xfrm>
            <a:off x="457200" y="1371600"/>
            <a:ext cx="5486400" cy="155448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1554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444752"/>
            <a:ext cx="5303520" cy="237744"/>
          </a:xfrm>
          <a:prstGeom prst="rect">
            <a:avLst/>
          </a:prstGeom>
          <a:noFill/>
        </p:spPr>
        <p:txBody>
          <a:bodyPr wrap="square">
            <a:spAutoFit/>
          </a:bodyPr>
          <a:lstStyle/>
          <a:p>
            <a:pPr algn="l"/>
            <a:r>
              <a:rPr sz="1050" b="1" i="0">
                <a:solidFill>
                  <a:srgbClr val="0A1628"/>
                </a:solidFill>
                <a:latin typeface="Calibri"/>
              </a:rPr>
              <a:t>Customer Behaviour &amp; Channel Influence</a:t>
            </a:r>
          </a:p>
        </p:txBody>
      </p:sp>
      <p:sp>
        <p:nvSpPr>
          <p:cNvPr id="12" name="TextBox 11"/>
          <p:cNvSpPr txBox="1"/>
          <p:nvPr/>
        </p:nvSpPr>
        <p:spPr>
          <a:xfrm>
            <a:off x="566928" y="1691640"/>
            <a:ext cx="5303520" cy="1188720"/>
          </a:xfrm>
          <a:prstGeom prst="rect">
            <a:avLst/>
          </a:prstGeom>
          <a:noFill/>
        </p:spPr>
        <p:txBody>
          <a:bodyPr wrap="square">
            <a:spAutoFit/>
          </a:bodyPr>
          <a:lstStyle/>
          <a:p>
            <a:pPr algn="l"/>
            <a:r>
              <a:rPr sz="950" b="0" i="0">
                <a:solidFill>
                  <a:srgbClr val="475569"/>
                </a:solidFill>
                <a:latin typeface="Calibri"/>
              </a:rPr>
              <a:t>Over 80% of UK motor insurance customers use a PCW during their purchase journey. Home insurance PCW penetration continues to grow year-on-year as price sensitivity increases post cost-of-living pressures. Multi-quoting behaviour means customers actively compare LBG against 10+ competitors simultaneously on every PCW visit.</a:t>
            </a:r>
          </a:p>
        </p:txBody>
      </p:sp>
      <p:sp>
        <p:nvSpPr>
          <p:cNvPr id="13" name="Rectangle 12"/>
          <p:cNvSpPr/>
          <p:nvPr/>
        </p:nvSpPr>
        <p:spPr>
          <a:xfrm>
            <a:off x="457200" y="3063240"/>
            <a:ext cx="5486400" cy="155448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63240"/>
            <a:ext cx="45720" cy="1554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136392"/>
            <a:ext cx="5303520" cy="237744"/>
          </a:xfrm>
          <a:prstGeom prst="rect">
            <a:avLst/>
          </a:prstGeom>
          <a:noFill/>
        </p:spPr>
        <p:txBody>
          <a:bodyPr wrap="square">
            <a:spAutoFit/>
          </a:bodyPr>
          <a:lstStyle/>
          <a:p>
            <a:pPr algn="l"/>
            <a:r>
              <a:rPr sz="1050" b="1" i="0">
                <a:solidFill>
                  <a:srgbClr val="0A1628"/>
                </a:solidFill>
                <a:latin typeface="Calibri"/>
              </a:rPr>
              <a:t>Ranking Economics &amp; Volume Impact</a:t>
            </a:r>
          </a:p>
        </p:txBody>
      </p:sp>
      <p:sp>
        <p:nvSpPr>
          <p:cNvPr id="16" name="TextBox 15"/>
          <p:cNvSpPr txBox="1"/>
          <p:nvPr/>
        </p:nvSpPr>
        <p:spPr>
          <a:xfrm>
            <a:off x="566928" y="3383280"/>
            <a:ext cx="5303520" cy="1188720"/>
          </a:xfrm>
          <a:prstGeom prst="rect">
            <a:avLst/>
          </a:prstGeom>
          <a:noFill/>
        </p:spPr>
        <p:txBody>
          <a:bodyPr wrap="square">
            <a:spAutoFit/>
          </a:bodyPr>
          <a:lstStyle/>
          <a:p>
            <a:pPr algn="l"/>
            <a:r>
              <a:rPr sz="950" b="0" i="0">
                <a:solidFill>
                  <a:srgbClr val="475569"/>
                </a:solidFill>
                <a:latin typeface="Calibri"/>
              </a:rPr>
              <a:t>Positions 1-3 on a PCW results page capture a disproportionate share of clicks and quote completions. Analysis shows moving from position 5 to position 2 can increase quote volume by 30-50% depending on PCW, brand and product line. Rank position is determined by a combination of premium competitiveness, product features, excess levels and PCW algorithm weighting.</a:t>
            </a:r>
          </a:p>
        </p:txBody>
      </p:sp>
      <p:sp>
        <p:nvSpPr>
          <p:cNvPr id="17" name="Rectangle 16"/>
          <p:cNvSpPr/>
          <p:nvPr/>
        </p:nvSpPr>
        <p:spPr>
          <a:xfrm>
            <a:off x="457200" y="4754880"/>
            <a:ext cx="5486400" cy="155448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754880"/>
            <a:ext cx="45720" cy="1554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828032"/>
            <a:ext cx="5303520" cy="237744"/>
          </a:xfrm>
          <a:prstGeom prst="rect">
            <a:avLst/>
          </a:prstGeom>
          <a:noFill/>
        </p:spPr>
        <p:txBody>
          <a:bodyPr wrap="square">
            <a:spAutoFit/>
          </a:bodyPr>
          <a:lstStyle/>
          <a:p>
            <a:pPr algn="l"/>
            <a:r>
              <a:rPr sz="1050" b="1" i="0">
                <a:solidFill>
                  <a:srgbClr val="0A1628"/>
                </a:solidFill>
                <a:latin typeface="Calibri"/>
              </a:rPr>
              <a:t>Competitor Velocity &amp; Market Dynamics</a:t>
            </a:r>
          </a:p>
        </p:txBody>
      </p:sp>
      <p:sp>
        <p:nvSpPr>
          <p:cNvPr id="20" name="TextBox 19"/>
          <p:cNvSpPr txBox="1"/>
          <p:nvPr/>
        </p:nvSpPr>
        <p:spPr>
          <a:xfrm>
            <a:off x="566928" y="5074920"/>
            <a:ext cx="5303520" cy="1188720"/>
          </a:xfrm>
          <a:prstGeom prst="rect">
            <a:avLst/>
          </a:prstGeom>
          <a:noFill/>
        </p:spPr>
        <p:txBody>
          <a:bodyPr wrap="square">
            <a:spAutoFit/>
          </a:bodyPr>
          <a:lstStyle/>
          <a:p>
            <a:pPr algn="l"/>
            <a:r>
              <a:rPr sz="950" b="0" i="0">
                <a:solidFill>
                  <a:srgbClr val="475569"/>
                </a:solidFill>
                <a:latin typeface="Calibri"/>
              </a:rPr>
              <a:t>Competitors make pricing or proposition adjustments multiple times per week. Seasonal peaks, regulatory changes (e.g. FCA GI pricing rules), claims inflation events and competitor promotional campaigns all trigger rapid market responses. Without continuous monitoring, LBG cannot detect or respond to these movements before volume impact is felt.</a:t>
            </a:r>
          </a:p>
        </p:txBody>
      </p:sp>
      <p:sp>
        <p:nvSpPr>
          <p:cNvPr id="21" name="TextBox 20"/>
          <p:cNvSpPr txBox="1"/>
          <p:nvPr/>
        </p:nvSpPr>
        <p:spPr>
          <a:xfrm>
            <a:off x="6217920" y="1051560"/>
            <a:ext cx="5303520" cy="274320"/>
          </a:xfrm>
          <a:prstGeom prst="rect">
            <a:avLst/>
          </a:prstGeom>
          <a:noFill/>
        </p:spPr>
        <p:txBody>
          <a:bodyPr wrap="square">
            <a:spAutoFit/>
          </a:bodyPr>
          <a:lstStyle/>
          <a:p>
            <a:pPr algn="l"/>
            <a:r>
              <a:rPr sz="1200" b="1" i="0">
                <a:solidFill>
                  <a:srgbClr val="0A1628"/>
                </a:solidFill>
                <a:latin typeface="Calibri"/>
              </a:rPr>
              <a:t>Strategic Implications for LBG</a:t>
            </a:r>
          </a:p>
        </p:txBody>
      </p:sp>
      <p:sp>
        <p:nvSpPr>
          <p:cNvPr id="22" name="Rectangle 21"/>
          <p:cNvSpPr/>
          <p:nvPr/>
        </p:nvSpPr>
        <p:spPr>
          <a:xfrm>
            <a:off x="6217920" y="1371600"/>
            <a:ext cx="5303520" cy="1371600"/>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371600"/>
            <a:ext cx="45720" cy="13716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1444752"/>
            <a:ext cx="5120640" cy="237744"/>
          </a:xfrm>
          <a:prstGeom prst="rect">
            <a:avLst/>
          </a:prstGeom>
          <a:noFill/>
        </p:spPr>
        <p:txBody>
          <a:bodyPr wrap="square">
            <a:spAutoFit/>
          </a:bodyPr>
          <a:lstStyle/>
          <a:p>
            <a:pPr algn="l"/>
            <a:r>
              <a:rPr sz="1050" b="1" i="0">
                <a:solidFill>
                  <a:srgbClr val="0A1628"/>
                </a:solidFill>
                <a:latin typeface="Calibri"/>
              </a:rPr>
              <a:t>Real-Time Intelligence is Now a Competitive Necessity</a:t>
            </a:r>
          </a:p>
        </p:txBody>
      </p:sp>
      <p:sp>
        <p:nvSpPr>
          <p:cNvPr id="25" name="TextBox 24"/>
          <p:cNvSpPr txBox="1"/>
          <p:nvPr/>
        </p:nvSpPr>
        <p:spPr>
          <a:xfrm>
            <a:off x="6327648" y="1700784"/>
            <a:ext cx="5120640" cy="987552"/>
          </a:xfrm>
          <a:prstGeom prst="rect">
            <a:avLst/>
          </a:prstGeom>
          <a:noFill/>
        </p:spPr>
        <p:txBody>
          <a:bodyPr wrap="square">
            <a:spAutoFit/>
          </a:bodyPr>
          <a:lstStyle/>
          <a:p>
            <a:pPr algn="l"/>
            <a:r>
              <a:rPr sz="950" b="0" i="0">
                <a:solidFill>
                  <a:srgbClr val="475569"/>
                </a:solidFill>
                <a:latin typeface="Calibri"/>
              </a:rPr>
              <a:t>Firms sensing and responding to market movements within hours — not days — consistently outperform on PCW conversion metrics. Intelligence latency is directly correlated with lost volume and missed revenue opportunity. Manual, periodic monitoring creates exploitable competitive windows.</a:t>
            </a:r>
          </a:p>
        </p:txBody>
      </p:sp>
      <p:sp>
        <p:nvSpPr>
          <p:cNvPr id="26" name="Rectangle 25"/>
          <p:cNvSpPr/>
          <p:nvPr/>
        </p:nvSpPr>
        <p:spPr>
          <a:xfrm>
            <a:off x="6217920" y="2907792"/>
            <a:ext cx="5303520" cy="1371600"/>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907792"/>
            <a:ext cx="45720" cy="13716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2980944"/>
            <a:ext cx="5120640" cy="237744"/>
          </a:xfrm>
          <a:prstGeom prst="rect">
            <a:avLst/>
          </a:prstGeom>
          <a:noFill/>
        </p:spPr>
        <p:txBody>
          <a:bodyPr wrap="square">
            <a:spAutoFit/>
          </a:bodyPr>
          <a:lstStyle/>
          <a:p>
            <a:pPr algn="l"/>
            <a:r>
              <a:rPr sz="1050" b="1" i="0">
                <a:solidFill>
                  <a:srgbClr val="0A1628"/>
                </a:solidFill>
                <a:latin typeface="Calibri"/>
              </a:rPr>
              <a:t>Proposition is as Important as Price</a:t>
            </a:r>
          </a:p>
        </p:txBody>
      </p:sp>
      <p:sp>
        <p:nvSpPr>
          <p:cNvPr id="29" name="TextBox 28"/>
          <p:cNvSpPr txBox="1"/>
          <p:nvPr/>
        </p:nvSpPr>
        <p:spPr>
          <a:xfrm>
            <a:off x="6327648" y="3236976"/>
            <a:ext cx="5120640" cy="987552"/>
          </a:xfrm>
          <a:prstGeom prst="rect">
            <a:avLst/>
          </a:prstGeom>
          <a:noFill/>
        </p:spPr>
        <p:txBody>
          <a:bodyPr wrap="square">
            <a:spAutoFit/>
          </a:bodyPr>
          <a:lstStyle/>
          <a:p>
            <a:pPr algn="l"/>
            <a:r>
              <a:rPr sz="950" b="0" i="0">
                <a:solidFill>
                  <a:srgbClr val="475569"/>
                </a:solidFill>
                <a:latin typeface="Calibri"/>
              </a:rPr>
              <a:t>PCW ranking algorithms increasingly weight excess structures, optional cover inclusions, claims process ratings and customer review scores alongside raw premium. Competitive intelligence must span the full product proposition — not just price — requiring ML, GenAI and structured data analysis working in combination.</a:t>
            </a:r>
          </a:p>
        </p:txBody>
      </p:sp>
      <p:sp>
        <p:nvSpPr>
          <p:cNvPr id="30" name="Rectangle 29"/>
          <p:cNvSpPr/>
          <p:nvPr/>
        </p:nvSpPr>
        <p:spPr>
          <a:xfrm>
            <a:off x="6217920" y="4443984"/>
            <a:ext cx="5303520" cy="1234440"/>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443984"/>
            <a:ext cx="45720" cy="1234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8" y="4517136"/>
            <a:ext cx="5120640" cy="237744"/>
          </a:xfrm>
          <a:prstGeom prst="rect">
            <a:avLst/>
          </a:prstGeom>
          <a:noFill/>
        </p:spPr>
        <p:txBody>
          <a:bodyPr wrap="square">
            <a:spAutoFit/>
          </a:bodyPr>
          <a:lstStyle/>
          <a:p>
            <a:pPr algn="l"/>
            <a:r>
              <a:rPr sz="1050" b="1" i="0">
                <a:solidFill>
                  <a:srgbClr val="DC2626"/>
                </a:solidFill>
                <a:latin typeface="Calibri"/>
              </a:rPr>
              <a:t>Current State Risk</a:t>
            </a:r>
          </a:p>
        </p:txBody>
      </p:sp>
      <p:sp>
        <p:nvSpPr>
          <p:cNvPr id="33" name="TextBox 32"/>
          <p:cNvSpPr txBox="1"/>
          <p:nvPr/>
        </p:nvSpPr>
        <p:spPr>
          <a:xfrm>
            <a:off x="6327648" y="4773168"/>
            <a:ext cx="5120640" cy="850392"/>
          </a:xfrm>
          <a:prstGeom prst="rect">
            <a:avLst/>
          </a:prstGeom>
          <a:noFill/>
        </p:spPr>
        <p:txBody>
          <a:bodyPr wrap="square">
            <a:spAutoFit/>
          </a:bodyPr>
          <a:lstStyle/>
          <a:p>
            <a:pPr algn="l"/>
            <a:r>
              <a:rPr sz="950" b="0" i="0">
                <a:solidFill>
                  <a:srgbClr val="475569"/>
                </a:solidFill>
                <a:latin typeface="Calibri"/>
              </a:rPr>
              <a:t>Without continuous monitoring, LBG risks sustained sub-optimal PCW positioning — particularly during competitor promotional campaigns, FCA-triggered repricing events or claims inflation cycles. Each monitoring gap represents potential lost new business volume.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CURRENT STATE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How We Operate Today — Diagnosis</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04 / 20</a:t>
            </a:r>
          </a:p>
        </p:txBody>
      </p:sp>
      <p:sp>
        <p:nvSpPr>
          <p:cNvPr id="8" name="Rectangle 7"/>
          <p:cNvSpPr/>
          <p:nvPr/>
        </p:nvSpPr>
        <p:spPr>
          <a:xfrm>
            <a:off x="320040"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2194560" cy="34747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2103120" cy="256032"/>
          </a:xfrm>
          <a:prstGeom prst="rect">
            <a:avLst/>
          </a:prstGeom>
          <a:noFill/>
        </p:spPr>
        <p:txBody>
          <a:bodyPr wrap="square">
            <a:spAutoFit/>
          </a:bodyPr>
          <a:lstStyle/>
          <a:p>
            <a:pPr algn="l"/>
            <a:r>
              <a:rPr sz="900" b="1" i="0">
                <a:solidFill>
                  <a:srgbClr val="FFFFFF"/>
                </a:solidFill>
                <a:latin typeface="Calibri"/>
              </a:rPr>
              <a:t>01 / MONITORING</a:t>
            </a:r>
          </a:p>
        </p:txBody>
      </p:sp>
      <p:sp>
        <p:nvSpPr>
          <p:cNvPr id="11" name="TextBox 10"/>
          <p:cNvSpPr txBox="1"/>
          <p:nvPr/>
        </p:nvSpPr>
        <p:spPr>
          <a:xfrm>
            <a:off x="393192" y="1499616"/>
            <a:ext cx="2084832" cy="1965960"/>
          </a:xfrm>
          <a:prstGeom prst="rect">
            <a:avLst/>
          </a:prstGeom>
          <a:noFill/>
        </p:spPr>
        <p:txBody>
          <a:bodyPr wrap="square">
            <a:spAutoFit/>
          </a:bodyPr>
          <a:lstStyle/>
          <a:p>
            <a:pPr algn="l"/>
            <a:r>
              <a:rPr sz="850" b="0" i="0">
                <a:solidFill>
                  <a:srgbClr val="475569"/>
                </a:solidFill>
                <a:latin typeface="Calibri"/>
              </a:rPr>
              <a:t>Periodic manual reviews conducted at irregular intervals. No continuous tracking. PCW coverage inconsistent across Motor, Home and other GI lines. Data captured in spreadsheets with no common format or taxonomy. Competitor changes detected days or weeks after occurrence.</a:t>
            </a:r>
          </a:p>
        </p:txBody>
      </p:sp>
      <p:sp>
        <p:nvSpPr>
          <p:cNvPr id="12" name="TextBox 11"/>
          <p:cNvSpPr txBox="1"/>
          <p:nvPr/>
        </p:nvSpPr>
        <p:spPr>
          <a:xfrm>
            <a:off x="2523744"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3" name="Rectangle 12"/>
          <p:cNvSpPr/>
          <p:nvPr/>
        </p:nvSpPr>
        <p:spPr>
          <a:xfrm>
            <a:off x="2578608"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78608" y="1097280"/>
            <a:ext cx="2194560" cy="34747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4328" y="1161288"/>
            <a:ext cx="2103120" cy="256032"/>
          </a:xfrm>
          <a:prstGeom prst="rect">
            <a:avLst/>
          </a:prstGeom>
          <a:noFill/>
        </p:spPr>
        <p:txBody>
          <a:bodyPr wrap="square">
            <a:spAutoFit/>
          </a:bodyPr>
          <a:lstStyle/>
          <a:p>
            <a:pPr algn="l"/>
            <a:r>
              <a:rPr sz="900" b="1" i="0">
                <a:solidFill>
                  <a:srgbClr val="FFFFFF"/>
                </a:solidFill>
                <a:latin typeface="Calibri"/>
              </a:rPr>
              <a:t>02 / ANALYSIS</a:t>
            </a:r>
          </a:p>
        </p:txBody>
      </p:sp>
      <p:sp>
        <p:nvSpPr>
          <p:cNvPr id="16" name="TextBox 15"/>
          <p:cNvSpPr txBox="1"/>
          <p:nvPr/>
        </p:nvSpPr>
        <p:spPr>
          <a:xfrm>
            <a:off x="2651760" y="1499616"/>
            <a:ext cx="2084832" cy="1965960"/>
          </a:xfrm>
          <a:prstGeom prst="rect">
            <a:avLst/>
          </a:prstGeom>
          <a:noFill/>
        </p:spPr>
        <p:txBody>
          <a:bodyPr wrap="square">
            <a:spAutoFit/>
          </a:bodyPr>
          <a:lstStyle/>
          <a:p>
            <a:pPr algn="l"/>
            <a:r>
              <a:rPr sz="850" b="0" i="0">
                <a:solidFill>
                  <a:srgbClr val="475569"/>
                </a:solidFill>
                <a:latin typeface="Calibri"/>
              </a:rPr>
              <a:t>Data consolidated manually across teams. No shared data model or single source of truth. Analysis duplicated by pricing, product and proposition teams independently. Historical data not systematically stored or compared. No automated pattern detection or anomaly alerting.</a:t>
            </a:r>
          </a:p>
        </p:txBody>
      </p:sp>
      <p:sp>
        <p:nvSpPr>
          <p:cNvPr id="17" name="TextBox 16"/>
          <p:cNvSpPr txBox="1"/>
          <p:nvPr/>
        </p:nvSpPr>
        <p:spPr>
          <a:xfrm>
            <a:off x="4782312"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8" name="Rectangle 17"/>
          <p:cNvSpPr/>
          <p:nvPr/>
        </p:nvSpPr>
        <p:spPr>
          <a:xfrm>
            <a:off x="4837176"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7176" y="1097280"/>
            <a:ext cx="219456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82896" y="1161288"/>
            <a:ext cx="2103120" cy="256032"/>
          </a:xfrm>
          <a:prstGeom prst="rect">
            <a:avLst/>
          </a:prstGeom>
          <a:noFill/>
        </p:spPr>
        <p:txBody>
          <a:bodyPr wrap="square">
            <a:spAutoFit/>
          </a:bodyPr>
          <a:lstStyle/>
          <a:p>
            <a:pPr algn="l"/>
            <a:r>
              <a:rPr sz="900" b="1" i="0">
                <a:solidFill>
                  <a:srgbClr val="FFFFFF"/>
                </a:solidFill>
                <a:latin typeface="Calibri"/>
              </a:rPr>
              <a:t>03 / DECISIONS</a:t>
            </a:r>
          </a:p>
        </p:txBody>
      </p:sp>
      <p:sp>
        <p:nvSpPr>
          <p:cNvPr id="21" name="TextBox 20"/>
          <p:cNvSpPr txBox="1"/>
          <p:nvPr/>
        </p:nvSpPr>
        <p:spPr>
          <a:xfrm>
            <a:off x="4910328" y="1499616"/>
            <a:ext cx="2084832" cy="1965960"/>
          </a:xfrm>
          <a:prstGeom prst="rect">
            <a:avLst/>
          </a:prstGeom>
          <a:noFill/>
        </p:spPr>
        <p:txBody>
          <a:bodyPr wrap="square">
            <a:spAutoFit/>
          </a:bodyPr>
          <a:lstStyle/>
          <a:p>
            <a:pPr algn="l"/>
            <a:r>
              <a:rPr sz="850" b="0" i="0">
                <a:solidFill>
                  <a:srgbClr val="475569"/>
                </a:solidFill>
                <a:latin typeface="Calibri"/>
              </a:rPr>
              <a:t>Decisions rely on analyst judgement without systematic competitive context. Lead time from insight to decision ranges from days to weeks. No simulation capability. Commercial impact of proposed changes estimated manually with high uncertainty. Decisions made on incomplete information.</a:t>
            </a:r>
          </a:p>
        </p:txBody>
      </p:sp>
      <p:sp>
        <p:nvSpPr>
          <p:cNvPr id="22" name="TextBox 21"/>
          <p:cNvSpPr txBox="1"/>
          <p:nvPr/>
        </p:nvSpPr>
        <p:spPr>
          <a:xfrm>
            <a:off x="7040880"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3" name="Rectangle 22"/>
          <p:cNvSpPr/>
          <p:nvPr/>
        </p:nvSpPr>
        <p:spPr>
          <a:xfrm>
            <a:off x="7095744"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95744" y="1097280"/>
            <a:ext cx="219456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1464" y="1161288"/>
            <a:ext cx="2103120" cy="256032"/>
          </a:xfrm>
          <a:prstGeom prst="rect">
            <a:avLst/>
          </a:prstGeom>
          <a:noFill/>
        </p:spPr>
        <p:txBody>
          <a:bodyPr wrap="square">
            <a:spAutoFit/>
          </a:bodyPr>
          <a:lstStyle/>
          <a:p>
            <a:pPr algn="l"/>
            <a:r>
              <a:rPr sz="900" b="1" i="0">
                <a:solidFill>
                  <a:srgbClr val="FFFFFF"/>
                </a:solidFill>
                <a:latin typeface="Calibri"/>
              </a:rPr>
              <a:t>04 / EXECUTION</a:t>
            </a:r>
          </a:p>
        </p:txBody>
      </p:sp>
      <p:sp>
        <p:nvSpPr>
          <p:cNvPr id="26" name="TextBox 25"/>
          <p:cNvSpPr txBox="1"/>
          <p:nvPr/>
        </p:nvSpPr>
        <p:spPr>
          <a:xfrm>
            <a:off x="7168896" y="1499616"/>
            <a:ext cx="2084832" cy="1965960"/>
          </a:xfrm>
          <a:prstGeom prst="rect">
            <a:avLst/>
          </a:prstGeom>
          <a:noFill/>
        </p:spPr>
        <p:txBody>
          <a:bodyPr wrap="square">
            <a:spAutoFit/>
          </a:bodyPr>
          <a:lstStyle/>
          <a:p>
            <a:pPr algn="l"/>
            <a:r>
              <a:rPr sz="850" b="0" i="0">
                <a:solidFill>
                  <a:srgbClr val="475569"/>
                </a:solidFill>
                <a:latin typeface="Calibri"/>
              </a:rPr>
              <a:t>Changes routed through multiple manual approval layers. Pricing, product and operations teams coordinated via email and meetings. No automated handoffs. Execution timelines variable. No systematic post-change impact measurement. Feedback loop to improve future decisions absent.</a:t>
            </a:r>
          </a:p>
        </p:txBody>
      </p:sp>
      <p:sp>
        <p:nvSpPr>
          <p:cNvPr id="27" name="TextBox 26"/>
          <p:cNvSpPr txBox="1"/>
          <p:nvPr/>
        </p:nvSpPr>
        <p:spPr>
          <a:xfrm>
            <a:off x="9299448"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8" name="Rectangle 27"/>
          <p:cNvSpPr/>
          <p:nvPr/>
        </p:nvSpPr>
        <p:spPr>
          <a:xfrm>
            <a:off x="9354312"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54312" y="1097280"/>
            <a:ext cx="219456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0032" y="1161288"/>
            <a:ext cx="2103120" cy="256032"/>
          </a:xfrm>
          <a:prstGeom prst="rect">
            <a:avLst/>
          </a:prstGeom>
          <a:noFill/>
        </p:spPr>
        <p:txBody>
          <a:bodyPr wrap="square">
            <a:spAutoFit/>
          </a:bodyPr>
          <a:lstStyle/>
          <a:p>
            <a:pPr algn="l"/>
            <a:r>
              <a:rPr sz="900" b="1" i="0">
                <a:solidFill>
                  <a:srgbClr val="FFFFFF"/>
                </a:solidFill>
                <a:latin typeface="Calibri"/>
              </a:rPr>
              <a:t>05 / OUTCOME</a:t>
            </a:r>
          </a:p>
        </p:txBody>
      </p:sp>
      <p:sp>
        <p:nvSpPr>
          <p:cNvPr id="31" name="TextBox 30"/>
          <p:cNvSpPr txBox="1"/>
          <p:nvPr/>
        </p:nvSpPr>
        <p:spPr>
          <a:xfrm>
            <a:off x="9427464" y="1499616"/>
            <a:ext cx="2084832" cy="1965960"/>
          </a:xfrm>
          <a:prstGeom prst="rect">
            <a:avLst/>
          </a:prstGeom>
          <a:noFill/>
        </p:spPr>
        <p:txBody>
          <a:bodyPr wrap="square">
            <a:spAutoFit/>
          </a:bodyPr>
          <a:lstStyle/>
          <a:p>
            <a:pPr algn="l"/>
            <a:r>
              <a:rPr sz="850" b="0" i="0">
                <a:solidFill>
                  <a:srgbClr val="475569"/>
                </a:solidFill>
                <a:latin typeface="Calibri"/>
              </a:rPr>
              <a:t>Reactive posture — LBG responds to competitor actions rather than anticipating them. Opportunity windows missed during monitoring gaps. Manual effort high and not scalable. Cross-team coordination creates latency. No learning mechanism to improve process over time.</a:t>
            </a:r>
          </a:p>
        </p:txBody>
      </p:sp>
      <p:sp>
        <p:nvSpPr>
          <p:cNvPr id="32" name="Rectangle 31"/>
          <p:cNvSpPr/>
          <p:nvPr/>
        </p:nvSpPr>
        <p:spPr>
          <a:xfrm>
            <a:off x="320040" y="3749039"/>
            <a:ext cx="5303520" cy="18288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3749039"/>
            <a:ext cx="530352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 y="3840479"/>
            <a:ext cx="5120640" cy="274320"/>
          </a:xfrm>
          <a:prstGeom prst="rect">
            <a:avLst/>
          </a:prstGeom>
          <a:noFill/>
        </p:spPr>
        <p:txBody>
          <a:bodyPr wrap="square">
            <a:spAutoFit/>
          </a:bodyPr>
          <a:lstStyle/>
          <a:p>
            <a:pPr algn="l"/>
            <a:r>
              <a:rPr sz="1100" b="1" i="0">
                <a:solidFill>
                  <a:srgbClr val="0A1628"/>
                </a:solidFill>
                <a:latin typeface="Calibri"/>
              </a:rPr>
              <a:t>Key Friction Points</a:t>
            </a:r>
          </a:p>
        </p:txBody>
      </p:sp>
      <p:sp>
        <p:nvSpPr>
          <p:cNvPr id="35" name="TextBox 34"/>
          <p:cNvSpPr txBox="1"/>
          <p:nvPr/>
        </p:nvSpPr>
        <p:spPr>
          <a:xfrm>
            <a:off x="429768" y="4160519"/>
            <a:ext cx="5120640" cy="1325880"/>
          </a:xfrm>
          <a:prstGeom prst="rect">
            <a:avLst/>
          </a:prstGeom>
          <a:noFill/>
        </p:spPr>
        <p:txBody>
          <a:bodyPr wrap="square">
            <a:spAutoFit/>
          </a:bodyPr>
          <a:lstStyle/>
          <a:p>
            <a:pPr>
              <a:spcBef>
                <a:spcPts val="150"/>
              </a:spcBef>
            </a:pPr>
            <a:r>
              <a:rPr sz="950">
                <a:solidFill>
                  <a:srgbClr val="475569"/>
                </a:solidFill>
                <a:latin typeface="Calibri"/>
              </a:rPr>
              <a:t>- No single source of truth for competitor positioning</a:t>
            </a:r>
          </a:p>
          <a:p>
            <a:pPr>
              <a:spcBef>
                <a:spcPts val="150"/>
              </a:spcBef>
            </a:pPr>
            <a:r>
              <a:rPr sz="950">
                <a:solidFill>
                  <a:srgbClr val="475569"/>
                </a:solidFill>
                <a:latin typeface="Calibri"/>
              </a:rPr>
              <a:t>- Analysis capability does not scale with market complexity</a:t>
            </a:r>
          </a:p>
          <a:p>
            <a:pPr>
              <a:spcBef>
                <a:spcPts val="150"/>
              </a:spcBef>
            </a:pPr>
            <a:r>
              <a:rPr sz="950">
                <a:solidFill>
                  <a:srgbClr val="475569"/>
                </a:solidFill>
                <a:latin typeface="Calibri"/>
              </a:rPr>
              <a:t>- Decision latency creates exploitable competitive windows</a:t>
            </a:r>
          </a:p>
          <a:p>
            <a:pPr>
              <a:spcBef>
                <a:spcPts val="150"/>
              </a:spcBef>
            </a:pPr>
            <a:r>
              <a:rPr sz="950">
                <a:solidFill>
                  <a:srgbClr val="475569"/>
                </a:solidFill>
                <a:latin typeface="Calibri"/>
              </a:rPr>
              <a:t>- No closed loop linking interventions to measured outcomes</a:t>
            </a:r>
          </a:p>
          <a:p>
            <a:pPr>
              <a:spcBef>
                <a:spcPts val="150"/>
              </a:spcBef>
            </a:pPr>
            <a:r>
              <a:rPr sz="950">
                <a:solidFill>
                  <a:srgbClr val="475569"/>
                </a:solidFill>
                <a:latin typeface="Calibri"/>
              </a:rPr>
              <a:t>- Siloed tooling and data across pricing, product and ops</a:t>
            </a:r>
          </a:p>
        </p:txBody>
      </p:sp>
      <p:sp>
        <p:nvSpPr>
          <p:cNvPr id="36" name="Rectangle 35"/>
          <p:cNvSpPr/>
          <p:nvPr/>
        </p:nvSpPr>
        <p:spPr>
          <a:xfrm>
            <a:off x="6126480" y="3749039"/>
            <a:ext cx="5303520" cy="18288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749039"/>
            <a:ext cx="530352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36208" y="3840479"/>
            <a:ext cx="5120640" cy="274320"/>
          </a:xfrm>
          <a:prstGeom prst="rect">
            <a:avLst/>
          </a:prstGeom>
          <a:noFill/>
        </p:spPr>
        <p:txBody>
          <a:bodyPr wrap="square">
            <a:spAutoFit/>
          </a:bodyPr>
          <a:lstStyle/>
          <a:p>
            <a:pPr algn="l"/>
            <a:r>
              <a:rPr sz="1100" b="1" i="0">
                <a:solidFill>
                  <a:srgbClr val="0A1628"/>
                </a:solidFill>
                <a:latin typeface="Calibri"/>
              </a:rPr>
              <a:t>Organisational Impact</a:t>
            </a:r>
          </a:p>
        </p:txBody>
      </p:sp>
      <p:sp>
        <p:nvSpPr>
          <p:cNvPr id="39" name="TextBox 38"/>
          <p:cNvSpPr txBox="1"/>
          <p:nvPr/>
        </p:nvSpPr>
        <p:spPr>
          <a:xfrm>
            <a:off x="6236208" y="4160519"/>
            <a:ext cx="5120640" cy="1325880"/>
          </a:xfrm>
          <a:prstGeom prst="rect">
            <a:avLst/>
          </a:prstGeom>
          <a:noFill/>
        </p:spPr>
        <p:txBody>
          <a:bodyPr wrap="square">
            <a:spAutoFit/>
          </a:bodyPr>
          <a:lstStyle/>
          <a:p>
            <a:pPr>
              <a:spcBef>
                <a:spcPts val="150"/>
              </a:spcBef>
            </a:pPr>
            <a:r>
              <a:rPr sz="950">
                <a:solidFill>
                  <a:srgbClr val="475569"/>
                </a:solidFill>
                <a:latin typeface="Calibri"/>
              </a:rPr>
              <a:t>- Sub-optimal PCW ranking during competitor campaign periods</a:t>
            </a:r>
          </a:p>
          <a:p>
            <a:pPr>
              <a:spcBef>
                <a:spcPts val="150"/>
              </a:spcBef>
            </a:pPr>
            <a:r>
              <a:rPr sz="950">
                <a:solidFill>
                  <a:srgbClr val="475569"/>
                </a:solidFill>
                <a:latin typeface="Calibri"/>
              </a:rPr>
              <a:t>- Pricing teams without full market context at point of decision</a:t>
            </a:r>
          </a:p>
          <a:p>
            <a:pPr>
              <a:spcBef>
                <a:spcPts val="150"/>
              </a:spcBef>
            </a:pPr>
            <a:r>
              <a:rPr sz="950">
                <a:solidFill>
                  <a:srgbClr val="475569"/>
                </a:solidFill>
                <a:latin typeface="Calibri"/>
              </a:rPr>
              <a:t>- Product gaps not identified until customer or broker feedback</a:t>
            </a:r>
          </a:p>
          <a:p>
            <a:pPr>
              <a:spcBef>
                <a:spcPts val="150"/>
              </a:spcBef>
            </a:pPr>
            <a:r>
              <a:rPr sz="950">
                <a:solidFill>
                  <a:srgbClr val="475569"/>
                </a:solidFill>
                <a:latin typeface="Calibri"/>
              </a:rPr>
              <a:t>- High FTE effort on low-value data collection and formatting</a:t>
            </a:r>
          </a:p>
          <a:p>
            <a:pPr>
              <a:spcBef>
                <a:spcPts val="150"/>
              </a:spcBef>
            </a:pPr>
            <a:r>
              <a:rPr sz="950">
                <a:solidFill>
                  <a:srgbClr val="475569"/>
                </a:solidFill>
                <a:latin typeface="Calibri"/>
              </a:rPr>
              <a:t>- Inconsistent competitive responses across product lines</a:t>
            </a:r>
          </a:p>
        </p:txBody>
      </p:sp>
      <p:sp>
        <p:nvSpPr>
          <p:cNvPr id="40" name="Rectangle 39"/>
          <p:cNvSpPr/>
          <p:nvPr/>
        </p:nvSpPr>
        <p:spPr>
          <a:xfrm>
            <a:off x="320040" y="5897880"/>
            <a:ext cx="11548872" cy="4572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0040" y="5897880"/>
            <a:ext cx="54864" cy="457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943600"/>
            <a:ext cx="11247120" cy="365760"/>
          </a:xfrm>
          <a:prstGeom prst="rect">
            <a:avLst/>
          </a:prstGeom>
          <a:noFill/>
        </p:spPr>
        <p:txBody>
          <a:bodyPr wrap="square">
            <a:spAutoFit/>
          </a:bodyPr>
          <a:lstStyle/>
          <a:p>
            <a:pPr algn="l"/>
            <a:r>
              <a:rPr sz="950" b="1" i="0">
                <a:solidFill>
                  <a:srgbClr val="1E293B"/>
                </a:solidFill>
                <a:latin typeface="Calibri"/>
              </a:rPr>
              <a:t>Net Result: Reactive rather than proactive market response — competitive advantage consistently ceded during monitoring gaps and analysis delays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STRATEGIC RATIONALE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The Strategic Hypothesis</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05 / 20</a:t>
            </a:r>
          </a:p>
        </p:txBody>
      </p:sp>
      <p:sp>
        <p:nvSpPr>
          <p:cNvPr id="8" name="Rectangle 7"/>
          <p:cNvSpPr/>
          <p:nvPr/>
        </p:nvSpPr>
        <p:spPr>
          <a:xfrm>
            <a:off x="457200" y="1097280"/>
            <a:ext cx="548640" cy="8229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53312"/>
            <a:ext cx="548640" cy="329184"/>
          </a:xfrm>
          <a:prstGeom prst="rect">
            <a:avLst/>
          </a:prstGeom>
          <a:noFill/>
        </p:spPr>
        <p:txBody>
          <a:bodyPr wrap="square">
            <a:spAutoFit/>
          </a:bodyPr>
          <a:lstStyle/>
          <a:p>
            <a:pPr algn="ctr"/>
            <a:r>
              <a:rPr sz="1300" b="1" i="0">
                <a:solidFill>
                  <a:srgbClr val="FFFFFF"/>
                </a:solidFill>
                <a:latin typeface="Calibri"/>
              </a:rPr>
              <a:t>IF</a:t>
            </a:r>
          </a:p>
        </p:txBody>
      </p:sp>
      <p:sp>
        <p:nvSpPr>
          <p:cNvPr id="10" name="Rectangle 9"/>
          <p:cNvSpPr/>
          <p:nvPr/>
        </p:nvSpPr>
        <p:spPr>
          <a:xfrm>
            <a:off x="1005840" y="1097280"/>
            <a:ext cx="10725912" cy="82296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188720"/>
            <a:ext cx="10515600" cy="685800"/>
          </a:xfrm>
          <a:prstGeom prst="rect">
            <a:avLst/>
          </a:prstGeom>
          <a:noFill/>
        </p:spPr>
        <p:txBody>
          <a:bodyPr wrap="square">
            <a:spAutoFit/>
          </a:bodyPr>
          <a:lstStyle/>
          <a:p>
            <a:pPr algn="l"/>
            <a:r>
              <a:rPr sz="1050" b="0" i="0">
                <a:solidFill>
                  <a:srgbClr val="1E293B"/>
                </a:solidFill>
                <a:latin typeface="Calibri"/>
              </a:rPr>
              <a:t>LBG establishes continuous, automated capture of competitor pricing, product, excess and proposition data across all active PCW channels — creating a real-time market intelligence feed independent of manual collection, scheduled reviews or individual analyst availability</a:t>
            </a:r>
          </a:p>
        </p:txBody>
      </p:sp>
      <p:sp>
        <p:nvSpPr>
          <p:cNvPr id="12" name="Rectangle 11"/>
          <p:cNvSpPr/>
          <p:nvPr/>
        </p:nvSpPr>
        <p:spPr>
          <a:xfrm>
            <a:off x="457200" y="2011680"/>
            <a:ext cx="548640" cy="8229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67712"/>
            <a:ext cx="548640" cy="329184"/>
          </a:xfrm>
          <a:prstGeom prst="rect">
            <a:avLst/>
          </a:prstGeom>
          <a:noFill/>
        </p:spPr>
        <p:txBody>
          <a:bodyPr wrap="square">
            <a:spAutoFit/>
          </a:bodyPr>
          <a:lstStyle/>
          <a:p>
            <a:pPr algn="ctr"/>
            <a:r>
              <a:rPr sz="1300" b="1" i="0">
                <a:solidFill>
                  <a:srgbClr val="FFFFFF"/>
                </a:solidFill>
                <a:latin typeface="Calibri"/>
              </a:rPr>
              <a:t>AND</a:t>
            </a:r>
          </a:p>
        </p:txBody>
      </p:sp>
      <p:sp>
        <p:nvSpPr>
          <p:cNvPr id="14" name="Rectangle 13"/>
          <p:cNvSpPr/>
          <p:nvPr/>
        </p:nvSpPr>
        <p:spPr>
          <a:xfrm>
            <a:off x="1005840" y="2011680"/>
            <a:ext cx="10725912" cy="82296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103120"/>
            <a:ext cx="10515600" cy="685800"/>
          </a:xfrm>
          <a:prstGeom prst="rect">
            <a:avLst/>
          </a:prstGeom>
          <a:noFill/>
        </p:spPr>
        <p:txBody>
          <a:bodyPr wrap="square">
            <a:spAutoFit/>
          </a:bodyPr>
          <a:lstStyle/>
          <a:p>
            <a:pPr algn="l"/>
            <a:r>
              <a:rPr sz="1050" b="0" i="0">
                <a:solidFill>
                  <a:srgbClr val="1E293B"/>
                </a:solidFill>
                <a:latin typeface="Calibri"/>
              </a:rPr>
              <a:t>This intelligence is processed by a layered AI stack on LBG's ENVOY platform — ML models (Vertex AI, Pegasus) for pattern detection and anomaly identification; Gemini for contextual analysis, narrative synthesis and recommendation rationale; and ADK-orchestrated Agentic workflows for multi-step investigation, simulation and governed recommendation delivery</a:t>
            </a:r>
          </a:p>
        </p:txBody>
      </p:sp>
      <p:sp>
        <p:nvSpPr>
          <p:cNvPr id="16" name="Rectangle 15"/>
          <p:cNvSpPr/>
          <p:nvPr/>
        </p:nvSpPr>
        <p:spPr>
          <a:xfrm>
            <a:off x="457200" y="2926080"/>
            <a:ext cx="548640"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182112"/>
            <a:ext cx="548640" cy="329184"/>
          </a:xfrm>
          <a:prstGeom prst="rect">
            <a:avLst/>
          </a:prstGeom>
          <a:noFill/>
        </p:spPr>
        <p:txBody>
          <a:bodyPr wrap="square">
            <a:spAutoFit/>
          </a:bodyPr>
          <a:lstStyle/>
          <a:p>
            <a:pPr algn="ctr"/>
            <a:r>
              <a:rPr sz="1300" b="1" i="0">
                <a:solidFill>
                  <a:srgbClr val="FFFFFF"/>
                </a:solidFill>
                <a:latin typeface="Calibri"/>
              </a:rPr>
              <a:t>THEN</a:t>
            </a:r>
          </a:p>
        </p:txBody>
      </p:sp>
      <p:sp>
        <p:nvSpPr>
          <p:cNvPr id="18" name="Rectangle 17"/>
          <p:cNvSpPr/>
          <p:nvPr/>
        </p:nvSpPr>
        <p:spPr>
          <a:xfrm>
            <a:off x="1005840" y="2926080"/>
            <a:ext cx="10725912" cy="82296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017520"/>
            <a:ext cx="10515600" cy="685800"/>
          </a:xfrm>
          <a:prstGeom prst="rect">
            <a:avLst/>
          </a:prstGeom>
          <a:noFill/>
        </p:spPr>
        <p:txBody>
          <a:bodyPr wrap="square">
            <a:spAutoFit/>
          </a:bodyPr>
          <a:lstStyle/>
          <a:p>
            <a:pPr algn="l"/>
            <a:r>
              <a:rPr sz="1050" b="0" i="0">
                <a:solidFill>
                  <a:srgbClr val="1E293B"/>
                </a:solidFill>
                <a:latin typeface="Calibri"/>
              </a:rPr>
              <a:t>Pricing, product and proposition decision-makers receive timely, explainable, evidence-backed recommendations — enabling faster, better-informed interventions with confidence to act within a clear human governance framework, with all decisions recorded in a full FCA-compliant audit trail via Cortex and the ENVOY Audit Framework</a:t>
            </a:r>
          </a:p>
        </p:txBody>
      </p:sp>
      <p:sp>
        <p:nvSpPr>
          <p:cNvPr id="20" name="Rectangle 19"/>
          <p:cNvSpPr/>
          <p:nvPr/>
        </p:nvSpPr>
        <p:spPr>
          <a:xfrm>
            <a:off x="457200" y="3931920"/>
            <a:ext cx="11274552"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31920"/>
            <a:ext cx="54864"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977639"/>
            <a:ext cx="1097280" cy="228600"/>
          </a:xfrm>
          <a:prstGeom prst="rect">
            <a:avLst/>
          </a:prstGeom>
          <a:noFill/>
        </p:spPr>
        <p:txBody>
          <a:bodyPr wrap="square">
            <a:spAutoFit/>
          </a:bodyPr>
          <a:lstStyle/>
          <a:p>
            <a:pPr algn="l"/>
            <a:r>
              <a:rPr sz="800" b="1" i="0">
                <a:solidFill>
                  <a:srgbClr val="C9A84C"/>
                </a:solidFill>
                <a:latin typeface="Calibri"/>
              </a:rPr>
              <a:t>RESULTING IN</a:t>
            </a:r>
          </a:p>
        </p:txBody>
      </p:sp>
      <p:sp>
        <p:nvSpPr>
          <p:cNvPr id="23" name="TextBox 22"/>
          <p:cNvSpPr txBox="1"/>
          <p:nvPr/>
        </p:nvSpPr>
        <p:spPr>
          <a:xfrm>
            <a:off x="594360" y="4206240"/>
            <a:ext cx="10972800" cy="594360"/>
          </a:xfrm>
          <a:prstGeom prst="rect">
            <a:avLst/>
          </a:prstGeom>
          <a:noFill/>
        </p:spPr>
        <p:txBody>
          <a:bodyPr wrap="square">
            <a:spAutoFit/>
          </a:bodyPr>
          <a:lstStyle/>
          <a:p>
            <a:pPr algn="l"/>
            <a:r>
              <a:rPr sz="1000" b="0" i="0">
                <a:solidFill>
                  <a:srgbClr val="FFFFFF"/>
                </a:solidFill>
                <a:latin typeface="Calibri"/>
              </a:rPr>
              <a:t>Improved PCW ranking position and conversion performance  |  Reduced time from market signal to action from days to hours  |  Lower FTE effort on monitoring and analysis  |  A reusable, extensible AI platform capability across LBG General Insurance built on ENVOY's enterprise-grade governance, evaluation and observability stack</a:t>
            </a:r>
          </a:p>
        </p:txBody>
      </p:sp>
      <p:sp>
        <p:nvSpPr>
          <p:cNvPr id="24" name="Rectangle 23"/>
          <p:cNvSpPr/>
          <p:nvPr/>
        </p:nvSpPr>
        <p:spPr>
          <a:xfrm>
            <a:off x="457200" y="5029200"/>
            <a:ext cx="3566160" cy="7315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02920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102352"/>
            <a:ext cx="3383280" cy="201168"/>
          </a:xfrm>
          <a:prstGeom prst="rect">
            <a:avLst/>
          </a:prstGeom>
          <a:noFill/>
        </p:spPr>
        <p:txBody>
          <a:bodyPr wrap="square">
            <a:spAutoFit/>
          </a:bodyPr>
          <a:lstStyle/>
          <a:p>
            <a:pPr algn="l"/>
            <a:r>
              <a:rPr sz="850" b="1" i="0">
                <a:solidFill>
                  <a:srgbClr val="0D9488"/>
                </a:solidFill>
                <a:latin typeface="Calibri"/>
              </a:rPr>
              <a:t>Speed:</a:t>
            </a:r>
          </a:p>
        </p:txBody>
      </p:sp>
      <p:sp>
        <p:nvSpPr>
          <p:cNvPr id="27" name="TextBox 26"/>
          <p:cNvSpPr txBox="1"/>
          <p:nvPr/>
        </p:nvSpPr>
        <p:spPr>
          <a:xfrm>
            <a:off x="548640" y="5285232"/>
            <a:ext cx="3383280" cy="438912"/>
          </a:xfrm>
          <a:prstGeom prst="rect">
            <a:avLst/>
          </a:prstGeom>
          <a:noFill/>
        </p:spPr>
        <p:txBody>
          <a:bodyPr wrap="square">
            <a:spAutoFit/>
          </a:bodyPr>
          <a:lstStyle/>
          <a:p>
            <a:pPr algn="l"/>
            <a:r>
              <a:rPr sz="900" b="0" i="0">
                <a:solidFill>
                  <a:srgbClr val="475569"/>
                </a:solidFill>
                <a:latin typeface="Calibri"/>
              </a:rPr>
              <a:t>Market signal to recommendation target &lt; 2 hours (vs days currently)</a:t>
            </a:r>
          </a:p>
        </p:txBody>
      </p:sp>
      <p:sp>
        <p:nvSpPr>
          <p:cNvPr id="28" name="Rectangle 27"/>
          <p:cNvSpPr/>
          <p:nvPr/>
        </p:nvSpPr>
        <p:spPr>
          <a:xfrm>
            <a:off x="4133087" y="5029200"/>
            <a:ext cx="3566160" cy="7315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33087" y="502920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7" y="5102352"/>
            <a:ext cx="3383280" cy="201168"/>
          </a:xfrm>
          <a:prstGeom prst="rect">
            <a:avLst/>
          </a:prstGeom>
          <a:noFill/>
        </p:spPr>
        <p:txBody>
          <a:bodyPr wrap="square">
            <a:spAutoFit/>
          </a:bodyPr>
          <a:lstStyle/>
          <a:p>
            <a:pPr algn="l"/>
            <a:r>
              <a:rPr sz="850" b="1" i="0">
                <a:solidFill>
                  <a:srgbClr val="0D9488"/>
                </a:solidFill>
                <a:latin typeface="Calibri"/>
              </a:rPr>
              <a:t>Coverage:</a:t>
            </a:r>
          </a:p>
        </p:txBody>
      </p:sp>
      <p:sp>
        <p:nvSpPr>
          <p:cNvPr id="31" name="TextBox 30"/>
          <p:cNvSpPr txBox="1"/>
          <p:nvPr/>
        </p:nvSpPr>
        <p:spPr>
          <a:xfrm>
            <a:off x="4224527" y="5285232"/>
            <a:ext cx="3383280" cy="438912"/>
          </a:xfrm>
          <a:prstGeom prst="rect">
            <a:avLst/>
          </a:prstGeom>
          <a:noFill/>
        </p:spPr>
        <p:txBody>
          <a:bodyPr wrap="square">
            <a:spAutoFit/>
          </a:bodyPr>
          <a:lstStyle/>
          <a:p>
            <a:pPr algn="l"/>
            <a:r>
              <a:rPr sz="900" b="0" i="0">
                <a:solidFill>
                  <a:srgbClr val="475569"/>
                </a:solidFill>
                <a:latin typeface="Calibri"/>
              </a:rPr>
              <a:t>100% of active PCW channels monitored continuously (vs periodic spot checks)</a:t>
            </a:r>
          </a:p>
        </p:txBody>
      </p:sp>
      <p:sp>
        <p:nvSpPr>
          <p:cNvPr id="32" name="Rectangle 31"/>
          <p:cNvSpPr/>
          <p:nvPr/>
        </p:nvSpPr>
        <p:spPr>
          <a:xfrm>
            <a:off x="7808974" y="5029200"/>
            <a:ext cx="3566160" cy="7315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08974" y="502920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0414" y="5102352"/>
            <a:ext cx="3383280" cy="201168"/>
          </a:xfrm>
          <a:prstGeom prst="rect">
            <a:avLst/>
          </a:prstGeom>
          <a:noFill/>
        </p:spPr>
        <p:txBody>
          <a:bodyPr wrap="square">
            <a:spAutoFit/>
          </a:bodyPr>
          <a:lstStyle/>
          <a:p>
            <a:pPr algn="l"/>
            <a:r>
              <a:rPr sz="850" b="1" i="0">
                <a:solidFill>
                  <a:srgbClr val="0D9488"/>
                </a:solidFill>
                <a:latin typeface="Calibri"/>
              </a:rPr>
              <a:t>Governance:</a:t>
            </a:r>
          </a:p>
        </p:txBody>
      </p:sp>
      <p:sp>
        <p:nvSpPr>
          <p:cNvPr id="35" name="TextBox 34"/>
          <p:cNvSpPr txBox="1"/>
          <p:nvPr/>
        </p:nvSpPr>
        <p:spPr>
          <a:xfrm>
            <a:off x="7900414" y="5285232"/>
            <a:ext cx="3383280" cy="438912"/>
          </a:xfrm>
          <a:prstGeom prst="rect">
            <a:avLst/>
          </a:prstGeom>
          <a:noFill/>
        </p:spPr>
        <p:txBody>
          <a:bodyPr wrap="square">
            <a:spAutoFit/>
          </a:bodyPr>
          <a:lstStyle/>
          <a:p>
            <a:pPr algn="l"/>
            <a:r>
              <a:rPr sz="900" b="0" i="0">
                <a:solidFill>
                  <a:srgbClr val="475569"/>
                </a:solidFill>
                <a:latin typeface="Calibri"/>
              </a:rPr>
              <a:t>100% of AI recommendations reviewed by human before execution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ENVOY PLATFORM</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 LBG's Enterprise Agentic AI Runtime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06 / 20</a:t>
            </a:r>
          </a:p>
        </p:txBody>
      </p:sp>
      <p:sp>
        <p:nvSpPr>
          <p:cNvPr id="8" name="Rectangle 7"/>
          <p:cNvSpPr/>
          <p:nvPr/>
        </p:nvSpPr>
        <p:spPr>
          <a:xfrm>
            <a:off x="886968" y="1051560"/>
            <a:ext cx="1874519" cy="3657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097280"/>
            <a:ext cx="1783079" cy="320040"/>
          </a:xfrm>
          <a:prstGeom prst="rect">
            <a:avLst/>
          </a:prstGeom>
          <a:noFill/>
        </p:spPr>
        <p:txBody>
          <a:bodyPr wrap="square">
            <a:spAutoFit/>
          </a:bodyPr>
          <a:lstStyle/>
          <a:p>
            <a:pPr algn="l"/>
            <a:r>
              <a:rPr sz="750" b="1" i="0">
                <a:solidFill>
                  <a:srgbClr val="FFFFFF"/>
                </a:solidFill>
                <a:latin typeface="Calibri"/>
              </a:rPr>
              <a:t>1  AGENT RUNTIME</a:t>
            </a:r>
          </a:p>
        </p:txBody>
      </p:sp>
      <p:sp>
        <p:nvSpPr>
          <p:cNvPr id="10" name="Rectangle 9"/>
          <p:cNvSpPr/>
          <p:nvPr/>
        </p:nvSpPr>
        <p:spPr>
          <a:xfrm>
            <a:off x="2798063" y="1051560"/>
            <a:ext cx="1874519" cy="3657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3783" y="1097280"/>
            <a:ext cx="1783079" cy="320040"/>
          </a:xfrm>
          <a:prstGeom prst="rect">
            <a:avLst/>
          </a:prstGeom>
          <a:noFill/>
        </p:spPr>
        <p:txBody>
          <a:bodyPr wrap="square">
            <a:spAutoFit/>
          </a:bodyPr>
          <a:lstStyle/>
          <a:p>
            <a:pPr algn="l"/>
            <a:r>
              <a:rPr sz="750" b="1" i="0">
                <a:solidFill>
                  <a:srgbClr val="FFFFFF"/>
                </a:solidFill>
                <a:latin typeface="Calibri"/>
              </a:rPr>
              <a:t>2  ORCHESTRATION &amp; COORDINATION</a:t>
            </a:r>
          </a:p>
        </p:txBody>
      </p:sp>
      <p:sp>
        <p:nvSpPr>
          <p:cNvPr id="12" name="Rectangle 11"/>
          <p:cNvSpPr/>
          <p:nvPr/>
        </p:nvSpPr>
        <p:spPr>
          <a:xfrm>
            <a:off x="4709158" y="1051560"/>
            <a:ext cx="187451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8" y="1097280"/>
            <a:ext cx="1783079" cy="320040"/>
          </a:xfrm>
          <a:prstGeom prst="rect">
            <a:avLst/>
          </a:prstGeom>
          <a:noFill/>
        </p:spPr>
        <p:txBody>
          <a:bodyPr wrap="square">
            <a:spAutoFit/>
          </a:bodyPr>
          <a:lstStyle/>
          <a:p>
            <a:pPr algn="l"/>
            <a:r>
              <a:rPr sz="750" b="1" i="0">
                <a:solidFill>
                  <a:srgbClr val="FFFFFF"/>
                </a:solidFill>
                <a:latin typeface="Calibri"/>
              </a:rPr>
              <a:t>3  KNOWLEDGE &amp; CONTEXT</a:t>
            </a:r>
          </a:p>
        </p:txBody>
      </p:sp>
      <p:sp>
        <p:nvSpPr>
          <p:cNvPr id="14" name="Rectangle 13"/>
          <p:cNvSpPr/>
          <p:nvPr/>
        </p:nvSpPr>
        <p:spPr>
          <a:xfrm>
            <a:off x="6620253" y="1051560"/>
            <a:ext cx="1874519"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5973" y="1097280"/>
            <a:ext cx="1783079" cy="320040"/>
          </a:xfrm>
          <a:prstGeom prst="rect">
            <a:avLst/>
          </a:prstGeom>
          <a:noFill/>
        </p:spPr>
        <p:txBody>
          <a:bodyPr wrap="square">
            <a:spAutoFit/>
          </a:bodyPr>
          <a:lstStyle/>
          <a:p>
            <a:pPr algn="l"/>
            <a:r>
              <a:rPr sz="750" b="1" i="0">
                <a:solidFill>
                  <a:srgbClr val="FFFFFF"/>
                </a:solidFill>
                <a:latin typeface="Calibri"/>
              </a:rPr>
              <a:t>4  ENTERPRISE GOVERNANCE &amp; GUARDRAILS</a:t>
            </a:r>
          </a:p>
        </p:txBody>
      </p:sp>
      <p:sp>
        <p:nvSpPr>
          <p:cNvPr id="16" name="Rectangle 15"/>
          <p:cNvSpPr/>
          <p:nvPr/>
        </p:nvSpPr>
        <p:spPr>
          <a:xfrm>
            <a:off x="8531348" y="1051560"/>
            <a:ext cx="1874519"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7068" y="1097280"/>
            <a:ext cx="1783079" cy="320040"/>
          </a:xfrm>
          <a:prstGeom prst="rect">
            <a:avLst/>
          </a:prstGeom>
          <a:noFill/>
        </p:spPr>
        <p:txBody>
          <a:bodyPr wrap="square">
            <a:spAutoFit/>
          </a:bodyPr>
          <a:lstStyle/>
          <a:p>
            <a:pPr algn="l"/>
            <a:r>
              <a:rPr sz="750" b="1" i="0">
                <a:solidFill>
                  <a:srgbClr val="FFFFFF"/>
                </a:solidFill>
                <a:latin typeface="Calibri"/>
              </a:rPr>
              <a:t>5  EVALUATION &amp; QUALITY</a:t>
            </a:r>
          </a:p>
        </p:txBody>
      </p:sp>
      <p:sp>
        <p:nvSpPr>
          <p:cNvPr id="18" name="Rectangle 17"/>
          <p:cNvSpPr/>
          <p:nvPr/>
        </p:nvSpPr>
        <p:spPr>
          <a:xfrm>
            <a:off x="10442443" y="1051560"/>
            <a:ext cx="1874519" cy="3657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8163" y="1097280"/>
            <a:ext cx="1783079" cy="320040"/>
          </a:xfrm>
          <a:prstGeom prst="rect">
            <a:avLst/>
          </a:prstGeom>
          <a:noFill/>
        </p:spPr>
        <p:txBody>
          <a:bodyPr wrap="square">
            <a:spAutoFit/>
          </a:bodyPr>
          <a:lstStyle/>
          <a:p>
            <a:pPr algn="l"/>
            <a:r>
              <a:rPr sz="750" b="1" i="0">
                <a:solidFill>
                  <a:srgbClr val="FFFFFF"/>
                </a:solidFill>
                <a:latin typeface="Calibri"/>
              </a:rPr>
              <a:t>6  OBSERVABILITY &amp; OPERATIONS</a:t>
            </a:r>
          </a:p>
        </p:txBody>
      </p:sp>
      <p:sp>
        <p:nvSpPr>
          <p:cNvPr id="20" name="Rectangle 19"/>
          <p:cNvSpPr/>
          <p:nvPr/>
        </p:nvSpPr>
        <p:spPr>
          <a:xfrm>
            <a:off x="457200" y="1463040"/>
            <a:ext cx="384048" cy="11155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874520"/>
            <a:ext cx="384048" cy="320040"/>
          </a:xfrm>
          <a:prstGeom prst="rect">
            <a:avLst/>
          </a:prstGeom>
          <a:noFill/>
        </p:spPr>
        <p:txBody>
          <a:bodyPr wrap="square">
            <a:spAutoFit/>
          </a:bodyPr>
          <a:lstStyle/>
          <a:p>
            <a:pPr algn="ctr"/>
            <a:r>
              <a:rPr sz="700" b="1" i="0">
                <a:solidFill>
                  <a:srgbClr val="FFFFFF"/>
                </a:solidFill>
                <a:latin typeface="Calibri"/>
              </a:rPr>
              <a:t>AGENTIC</a:t>
            </a:r>
          </a:p>
        </p:txBody>
      </p:sp>
      <p:sp>
        <p:nvSpPr>
          <p:cNvPr id="22" name="Rectangle 21"/>
          <p:cNvSpPr/>
          <p:nvPr/>
        </p:nvSpPr>
        <p:spPr>
          <a:xfrm>
            <a:off x="457200" y="2578608"/>
            <a:ext cx="384048" cy="11155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990088"/>
            <a:ext cx="384048" cy="320040"/>
          </a:xfrm>
          <a:prstGeom prst="rect">
            <a:avLst/>
          </a:prstGeom>
          <a:noFill/>
        </p:spPr>
        <p:txBody>
          <a:bodyPr wrap="square">
            <a:spAutoFit/>
          </a:bodyPr>
          <a:lstStyle/>
          <a:p>
            <a:pPr algn="ctr"/>
            <a:r>
              <a:rPr sz="700" b="1" i="0">
                <a:solidFill>
                  <a:srgbClr val="FFFFFF"/>
                </a:solidFill>
                <a:latin typeface="Calibri"/>
              </a:rPr>
              <a:t>ML MODELS</a:t>
            </a:r>
          </a:p>
        </p:txBody>
      </p:sp>
      <p:sp>
        <p:nvSpPr>
          <p:cNvPr id="24" name="Rectangle 23"/>
          <p:cNvSpPr/>
          <p:nvPr/>
        </p:nvSpPr>
        <p:spPr>
          <a:xfrm>
            <a:off x="457200" y="3694176"/>
            <a:ext cx="384048"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105656"/>
            <a:ext cx="384048" cy="320040"/>
          </a:xfrm>
          <a:prstGeom prst="rect">
            <a:avLst/>
          </a:prstGeom>
          <a:noFill/>
        </p:spPr>
        <p:txBody>
          <a:bodyPr wrap="square">
            <a:spAutoFit/>
          </a:bodyPr>
          <a:lstStyle/>
          <a:p>
            <a:pPr algn="ctr"/>
            <a:r>
              <a:rPr sz="700" b="1" i="0">
                <a:solidFill>
                  <a:srgbClr val="FFFFFF"/>
                </a:solidFill>
                <a:latin typeface="Calibri"/>
              </a:rPr>
              <a:t>GEN AI</a:t>
            </a:r>
          </a:p>
        </p:txBody>
      </p:sp>
      <p:sp>
        <p:nvSpPr>
          <p:cNvPr id="26" name="Rectangle 25"/>
          <p:cNvSpPr/>
          <p:nvPr/>
        </p:nvSpPr>
        <p:spPr>
          <a:xfrm>
            <a:off x="457200" y="4809744"/>
            <a:ext cx="384048" cy="11155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221224"/>
            <a:ext cx="384048" cy="320040"/>
          </a:xfrm>
          <a:prstGeom prst="rect">
            <a:avLst/>
          </a:prstGeom>
          <a:noFill/>
        </p:spPr>
        <p:txBody>
          <a:bodyPr wrap="square">
            <a:spAutoFit/>
          </a:bodyPr>
          <a:lstStyle/>
          <a:p>
            <a:pPr algn="ctr"/>
            <a:r>
              <a:rPr sz="700" b="1" i="0">
                <a:solidFill>
                  <a:srgbClr val="FFFFFF"/>
                </a:solidFill>
                <a:latin typeface="Calibri"/>
              </a:rPr>
              <a:t>PLATFORM</a:t>
            </a:r>
          </a:p>
        </p:txBody>
      </p:sp>
      <p:sp>
        <p:nvSpPr>
          <p:cNvPr id="28" name="Rectangle 27"/>
          <p:cNvSpPr/>
          <p:nvPr/>
        </p:nvSpPr>
        <p:spPr>
          <a:xfrm>
            <a:off x="88696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execution engine</a:t>
            </a:r>
          </a:p>
          <a:p>
            <a:pPr>
              <a:spcBef>
                <a:spcPts val="100"/>
              </a:spcBef>
            </a:pPr>
            <a:r>
              <a:rPr sz="750">
                <a:solidFill>
                  <a:srgbClr val="475569"/>
                </a:solidFill>
                <a:latin typeface="Calibri"/>
              </a:rPr>
              <a:t>Session &amp; state management</a:t>
            </a:r>
          </a:p>
          <a:p>
            <a:pPr>
              <a:spcBef>
                <a:spcPts val="100"/>
              </a:spcBef>
            </a:pPr>
            <a:r>
              <a:rPr sz="750">
                <a:solidFill>
                  <a:srgbClr val="475569"/>
                </a:solidFill>
                <a:latin typeface="Calibri"/>
              </a:rPr>
              <a:t>Memory &amp; tool execution</a:t>
            </a:r>
          </a:p>
          <a:p>
            <a:pPr>
              <a:spcBef>
                <a:spcPts val="100"/>
              </a:spcBef>
            </a:pPr>
            <a:r>
              <a:rPr sz="750">
                <a:solidFill>
                  <a:srgbClr val="475569"/>
                </a:solidFill>
                <a:latin typeface="Calibri"/>
              </a:rPr>
              <a:t>Multi-agent (A2A) execution</a:t>
            </a:r>
          </a:p>
          <a:p>
            <a:pPr>
              <a:spcBef>
                <a:spcPts val="100"/>
              </a:spcBef>
            </a:pPr>
            <a:r>
              <a:rPr sz="750">
                <a:solidFill>
                  <a:srgbClr val="475569"/>
                </a:solidFill>
                <a:latin typeface="Calibri"/>
              </a:rPr>
              <a:t>MCP tool integration</a:t>
            </a:r>
          </a:p>
        </p:txBody>
      </p:sp>
      <p:sp>
        <p:nvSpPr>
          <p:cNvPr id="30" name="Rectangle 29"/>
          <p:cNvSpPr/>
          <p:nvPr/>
        </p:nvSpPr>
        <p:spPr>
          <a:xfrm>
            <a:off x="279806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71215" y="1517904"/>
            <a:ext cx="1764791" cy="1024128"/>
          </a:xfrm>
          <a:prstGeom prst="rect">
            <a:avLst/>
          </a:prstGeom>
          <a:noFill/>
        </p:spPr>
        <p:txBody>
          <a:bodyPr wrap="square">
            <a:spAutoFit/>
          </a:bodyPr>
          <a:lstStyle/>
          <a:p>
            <a:pPr>
              <a:spcBef>
                <a:spcPts val="100"/>
              </a:spcBef>
            </a:pPr>
            <a:r>
              <a:rPr sz="750">
                <a:solidFill>
                  <a:srgbClr val="475569"/>
                </a:solidFill>
                <a:latin typeface="Calibri"/>
              </a:rPr>
              <a:t>Workflow orchestration</a:t>
            </a:r>
          </a:p>
          <a:p>
            <a:pPr>
              <a:spcBef>
                <a:spcPts val="100"/>
              </a:spcBef>
            </a:pPr>
            <a:r>
              <a:rPr sz="750">
                <a:solidFill>
                  <a:srgbClr val="475569"/>
                </a:solidFill>
                <a:latin typeface="Calibri"/>
              </a:rPr>
              <a:t>Agent coordination (A2A)</a:t>
            </a:r>
          </a:p>
          <a:p>
            <a:pPr>
              <a:spcBef>
                <a:spcPts val="100"/>
              </a:spcBef>
            </a:pPr>
            <a:r>
              <a:rPr sz="750">
                <a:solidFill>
                  <a:srgbClr val="475569"/>
                </a:solidFill>
                <a:latin typeface="Calibri"/>
              </a:rPr>
              <a:t>Event-driven execution</a:t>
            </a:r>
          </a:p>
          <a:p>
            <a:pPr>
              <a:spcBef>
                <a:spcPts val="100"/>
              </a:spcBef>
            </a:pPr>
            <a:r>
              <a:rPr sz="750">
                <a:solidFill>
                  <a:srgbClr val="475569"/>
                </a:solidFill>
                <a:latin typeface="Calibri"/>
              </a:rPr>
              <a:t>Long-running process mgmt</a:t>
            </a:r>
          </a:p>
          <a:p>
            <a:pPr>
              <a:spcBef>
                <a:spcPts val="100"/>
              </a:spcBef>
            </a:pPr>
            <a:r>
              <a:rPr sz="750">
                <a:solidFill>
                  <a:srgbClr val="475569"/>
                </a:solidFill>
                <a:latin typeface="Calibri"/>
              </a:rPr>
              <a:t>Human-in-the-loop triggers</a:t>
            </a:r>
          </a:p>
          <a:p>
            <a:pPr>
              <a:spcBef>
                <a:spcPts val="100"/>
              </a:spcBef>
            </a:pPr>
            <a:r>
              <a:rPr sz="750">
                <a:solidFill>
                  <a:srgbClr val="475569"/>
                </a:solidFill>
                <a:latin typeface="Calibri"/>
              </a:rPr>
              <a:t>Escalation &amp; routing</a:t>
            </a:r>
          </a:p>
        </p:txBody>
      </p:sp>
      <p:sp>
        <p:nvSpPr>
          <p:cNvPr id="32" name="Rectangle 31"/>
          <p:cNvSpPr/>
          <p:nvPr/>
        </p:nvSpPr>
        <p:spPr>
          <a:xfrm>
            <a:off x="470915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82310" y="1517904"/>
            <a:ext cx="1764791" cy="1024128"/>
          </a:xfrm>
          <a:prstGeom prst="rect">
            <a:avLst/>
          </a:prstGeom>
          <a:noFill/>
        </p:spPr>
        <p:txBody>
          <a:bodyPr wrap="square">
            <a:spAutoFit/>
          </a:bodyPr>
          <a:lstStyle/>
          <a:p>
            <a:pPr>
              <a:spcBef>
                <a:spcPts val="100"/>
              </a:spcBef>
            </a:pPr>
            <a:r>
              <a:rPr sz="750">
                <a:solidFill>
                  <a:srgbClr val="475569"/>
                </a:solidFill>
                <a:latin typeface="Calibri"/>
              </a:rPr>
              <a:t>Context assembly</a:t>
            </a:r>
          </a:p>
          <a:p>
            <a:pPr>
              <a:spcBef>
                <a:spcPts val="100"/>
              </a:spcBef>
            </a:pPr>
            <a:r>
              <a:rPr sz="750">
                <a:solidFill>
                  <a:srgbClr val="475569"/>
                </a:solidFill>
                <a:latin typeface="Calibri"/>
              </a:rPr>
              <a:t>RAG orchestration</a:t>
            </a:r>
          </a:p>
          <a:p>
            <a:pPr>
              <a:spcBef>
                <a:spcPts val="100"/>
              </a:spcBef>
            </a:pPr>
            <a:r>
              <a:rPr sz="750">
                <a:solidFill>
                  <a:srgbClr val="475569"/>
                </a:solidFill>
                <a:latin typeface="Calibri"/>
              </a:rPr>
              <a:t>Cross-agent context sharing</a:t>
            </a:r>
          </a:p>
          <a:p>
            <a:pPr>
              <a:spcBef>
                <a:spcPts val="100"/>
              </a:spcBef>
            </a:pPr>
            <a:r>
              <a:rPr sz="750">
                <a:solidFill>
                  <a:srgbClr val="475569"/>
                </a:solidFill>
                <a:latin typeface="Calibri"/>
              </a:rPr>
              <a:t>Knowledge retrieval</a:t>
            </a:r>
          </a:p>
          <a:p>
            <a:pPr>
              <a:spcBef>
                <a:spcPts val="100"/>
              </a:spcBef>
            </a:pPr>
            <a:r>
              <a:rPr sz="750">
                <a:solidFill>
                  <a:srgbClr val="475569"/>
                </a:solidFill>
                <a:latin typeface="Calibri"/>
              </a:rPr>
              <a:t>Policy &amp; rule retrieval</a:t>
            </a:r>
          </a:p>
          <a:p>
            <a:pPr>
              <a:spcBef>
                <a:spcPts val="100"/>
              </a:spcBef>
            </a:pPr>
            <a:r>
              <a:rPr sz="750">
                <a:solidFill>
                  <a:srgbClr val="475569"/>
                </a:solidFill>
                <a:latin typeface="Calibri"/>
              </a:rPr>
              <a:t>MCP server access</a:t>
            </a:r>
          </a:p>
        </p:txBody>
      </p:sp>
      <p:sp>
        <p:nvSpPr>
          <p:cNvPr id="34" name="Rectangle 33"/>
          <p:cNvSpPr/>
          <p:nvPr/>
        </p:nvSpPr>
        <p:spPr>
          <a:xfrm>
            <a:off x="662025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5" y="1517904"/>
            <a:ext cx="1764791" cy="1024128"/>
          </a:xfrm>
          <a:prstGeom prst="rect">
            <a:avLst/>
          </a:prstGeom>
          <a:noFill/>
        </p:spPr>
        <p:txBody>
          <a:bodyPr wrap="square">
            <a:spAutoFit/>
          </a:bodyPr>
          <a:lstStyle/>
          <a:p>
            <a:pPr>
              <a:spcBef>
                <a:spcPts val="100"/>
              </a:spcBef>
            </a:pPr>
            <a:r>
              <a:rPr sz="750">
                <a:solidFill>
                  <a:srgbClr val="475569"/>
                </a:solidFill>
                <a:latin typeface="Calibri"/>
              </a:rPr>
              <a:t>Enterprise guardrails</a:t>
            </a:r>
          </a:p>
          <a:p>
            <a:pPr>
              <a:spcBef>
                <a:spcPts val="100"/>
              </a:spcBef>
            </a:pPr>
            <a:r>
              <a:rPr sz="750">
                <a:solidFill>
                  <a:srgbClr val="475569"/>
                </a:solidFill>
                <a:latin typeface="Calibri"/>
              </a:rPr>
              <a:t>PII masking &amp; DLP</a:t>
            </a:r>
          </a:p>
          <a:p>
            <a:pPr>
              <a:spcBef>
                <a:spcPts val="100"/>
              </a:spcBef>
            </a:pPr>
            <a:r>
              <a:rPr sz="750">
                <a:solidFill>
                  <a:srgbClr val="475569"/>
                </a:solidFill>
                <a:latin typeface="Calibri"/>
              </a:rPr>
              <a:t>Prompt protection</a:t>
            </a:r>
          </a:p>
          <a:p>
            <a:pPr>
              <a:spcBef>
                <a:spcPts val="100"/>
              </a:spcBef>
            </a:pPr>
            <a:r>
              <a:rPr sz="750">
                <a:solidFill>
                  <a:srgbClr val="475569"/>
                </a:solidFill>
                <a:latin typeface="Calibri"/>
              </a:rPr>
              <a:t>Model routing (Cortex)</a:t>
            </a:r>
          </a:p>
          <a:p>
            <a:pPr>
              <a:spcBef>
                <a:spcPts val="100"/>
              </a:spcBef>
            </a:pPr>
            <a:r>
              <a:rPr sz="750">
                <a:solidFill>
                  <a:srgbClr val="475569"/>
                </a:solidFill>
                <a:latin typeface="Calibri"/>
              </a:rPr>
              <a:t>Output validation</a:t>
            </a:r>
          </a:p>
          <a:p>
            <a:pPr>
              <a:spcBef>
                <a:spcPts val="100"/>
              </a:spcBef>
            </a:pPr>
            <a:r>
              <a:rPr sz="750">
                <a:solidFill>
                  <a:srgbClr val="475569"/>
                </a:solidFill>
                <a:latin typeface="Calibri"/>
              </a:rPr>
              <a:t>Compliance controls</a:t>
            </a:r>
          </a:p>
        </p:txBody>
      </p:sp>
      <p:sp>
        <p:nvSpPr>
          <p:cNvPr id="36" name="Rectangle 35"/>
          <p:cNvSpPr/>
          <p:nvPr/>
        </p:nvSpPr>
        <p:spPr>
          <a:xfrm>
            <a:off x="853134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04500" y="1517904"/>
            <a:ext cx="1764791" cy="1024128"/>
          </a:xfrm>
          <a:prstGeom prst="rect">
            <a:avLst/>
          </a:prstGeom>
          <a:noFill/>
        </p:spPr>
        <p:txBody>
          <a:bodyPr wrap="square">
            <a:spAutoFit/>
          </a:bodyPr>
          <a:lstStyle/>
          <a:p>
            <a:pPr>
              <a:spcBef>
                <a:spcPts val="100"/>
              </a:spcBef>
            </a:pPr>
            <a:r>
              <a:rPr sz="750">
                <a:solidFill>
                  <a:srgbClr val="475569"/>
                </a:solidFill>
                <a:latin typeface="Calibri"/>
              </a:rPr>
              <a:t>Prompt evaluation</a:t>
            </a:r>
          </a:p>
          <a:p>
            <a:pPr>
              <a:spcBef>
                <a:spcPts val="100"/>
              </a:spcBef>
            </a:pPr>
            <a:r>
              <a:rPr sz="750">
                <a:solidFill>
                  <a:srgbClr val="475569"/>
                </a:solidFill>
                <a:latin typeface="Calibri"/>
              </a:rPr>
              <a:t>Agent &amp; workflow eval</a:t>
            </a:r>
          </a:p>
          <a:p>
            <a:pPr>
              <a:spcBef>
                <a:spcPts val="100"/>
              </a:spcBef>
            </a:pPr>
            <a:r>
              <a:rPr sz="750">
                <a:solidFill>
                  <a:srgbClr val="475569"/>
                </a:solidFill>
                <a:latin typeface="Calibri"/>
              </a:rPr>
              <a:t>Hallucination detection</a:t>
            </a:r>
          </a:p>
          <a:p>
            <a:pPr>
              <a:spcBef>
                <a:spcPts val="100"/>
              </a:spcBef>
            </a:pPr>
            <a:r>
              <a:rPr sz="750">
                <a:solidFill>
                  <a:srgbClr val="475569"/>
                </a:solidFill>
                <a:latin typeface="Calibri"/>
              </a:rPr>
              <a:t>Safety &amp; bias checks</a:t>
            </a:r>
          </a:p>
          <a:p>
            <a:pPr>
              <a:spcBef>
                <a:spcPts val="100"/>
              </a:spcBef>
            </a:pPr>
            <a:r>
              <a:rPr sz="750">
                <a:solidFill>
                  <a:srgbClr val="475569"/>
                </a:solidFill>
                <a:latin typeface="Calibri"/>
              </a:rPr>
              <a:t>Regression testing</a:t>
            </a:r>
          </a:p>
          <a:p>
            <a:pPr>
              <a:spcBef>
                <a:spcPts val="100"/>
              </a:spcBef>
            </a:pPr>
            <a:r>
              <a:rPr sz="750">
                <a:solidFill>
                  <a:srgbClr val="475569"/>
                </a:solidFill>
                <a:latin typeface="Calibri"/>
              </a:rPr>
              <a:t>Golden dataset testing</a:t>
            </a:r>
          </a:p>
        </p:txBody>
      </p:sp>
      <p:sp>
        <p:nvSpPr>
          <p:cNvPr id="38" name="Rectangle 37"/>
          <p:cNvSpPr/>
          <p:nvPr/>
        </p:nvSpPr>
        <p:spPr>
          <a:xfrm>
            <a:off x="1044244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595"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traces &amp; logs</a:t>
            </a:r>
          </a:p>
          <a:p>
            <a:pPr>
              <a:spcBef>
                <a:spcPts val="100"/>
              </a:spcBef>
            </a:pPr>
            <a:r>
              <a:rPr sz="750">
                <a:solidFill>
                  <a:srgbClr val="475569"/>
                </a:solidFill>
                <a:latin typeface="Calibri"/>
              </a:rPr>
              <a:t>Tool &amp; prompt visibility</a:t>
            </a:r>
          </a:p>
          <a:p>
            <a:pPr>
              <a:spcBef>
                <a:spcPts val="100"/>
              </a:spcBef>
            </a:pPr>
            <a:r>
              <a:rPr sz="750">
                <a:solidFill>
                  <a:srgbClr val="475569"/>
                </a:solidFill>
                <a:latin typeface="Calibri"/>
              </a:rPr>
              <a:t>Cost &amp; latency monitoring</a:t>
            </a:r>
          </a:p>
          <a:p>
            <a:pPr>
              <a:spcBef>
                <a:spcPts val="100"/>
              </a:spcBef>
            </a:pPr>
            <a:r>
              <a:rPr sz="750">
                <a:solidFill>
                  <a:srgbClr val="475569"/>
                </a:solidFill>
                <a:latin typeface="Calibri"/>
              </a:rPr>
              <a:t>Drift &amp; anomaly detection</a:t>
            </a:r>
          </a:p>
          <a:p>
            <a:pPr>
              <a:spcBef>
                <a:spcPts val="100"/>
              </a:spcBef>
            </a:pPr>
            <a:r>
              <a:rPr sz="750">
                <a:solidFill>
                  <a:srgbClr val="475569"/>
                </a:solidFill>
                <a:latin typeface="Calibri"/>
              </a:rPr>
              <a:t>Audit trails &amp; alerts</a:t>
            </a:r>
          </a:p>
          <a:p>
            <a:pPr>
              <a:spcBef>
                <a:spcPts val="100"/>
              </a:spcBef>
            </a:pPr>
            <a:r>
              <a:rPr sz="750">
                <a:solidFill>
                  <a:srgbClr val="475569"/>
                </a:solidFill>
                <a:latin typeface="Calibri"/>
              </a:rPr>
              <a:t>SLA &amp; reliability monitoring</a:t>
            </a:r>
          </a:p>
        </p:txBody>
      </p:sp>
      <p:sp>
        <p:nvSpPr>
          <p:cNvPr id="40" name="Rectangle 39"/>
          <p:cNvSpPr/>
          <p:nvPr/>
        </p:nvSpPr>
        <p:spPr>
          <a:xfrm>
            <a:off x="88696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2633472"/>
            <a:ext cx="1764791" cy="1024128"/>
          </a:xfrm>
          <a:prstGeom prst="rect">
            <a:avLst/>
          </a:prstGeom>
          <a:noFill/>
        </p:spPr>
        <p:txBody>
          <a:bodyPr wrap="square">
            <a:spAutoFit/>
          </a:bodyPr>
          <a:lstStyle/>
          <a:p>
            <a:pPr>
              <a:spcBef>
                <a:spcPts val="100"/>
              </a:spcBef>
            </a:pPr>
            <a:r>
              <a:rPr sz="750">
                <a:solidFill>
                  <a:srgbClr val="475569"/>
                </a:solidFill>
                <a:latin typeface="Calibri"/>
              </a:rPr>
              <a:t>Memory ranking</a:t>
            </a:r>
          </a:p>
          <a:p>
            <a:pPr>
              <a:spcBef>
                <a:spcPts val="100"/>
              </a:spcBef>
            </a:pPr>
            <a:r>
              <a:rPr sz="750">
                <a:solidFill>
                  <a:srgbClr val="475569"/>
                </a:solidFill>
                <a:latin typeface="Calibri"/>
              </a:rPr>
              <a:t>Intent classification</a:t>
            </a:r>
          </a:p>
          <a:p>
            <a:pPr>
              <a:spcBef>
                <a:spcPts val="100"/>
              </a:spcBef>
            </a:pPr>
            <a:r>
              <a:rPr sz="750">
                <a:solidFill>
                  <a:srgbClr val="475569"/>
                </a:solidFill>
                <a:latin typeface="Calibri"/>
              </a:rPr>
              <a:t>Tool recommendation</a:t>
            </a:r>
          </a:p>
          <a:p>
            <a:pPr>
              <a:spcBef>
                <a:spcPts val="100"/>
              </a:spcBef>
            </a:pPr>
            <a:r>
              <a:rPr sz="750">
                <a:solidFill>
                  <a:srgbClr val="475569"/>
                </a:solidFill>
                <a:latin typeface="Calibri"/>
              </a:rPr>
              <a:t>Session summarisation</a:t>
            </a:r>
          </a:p>
        </p:txBody>
      </p:sp>
      <p:sp>
        <p:nvSpPr>
          <p:cNvPr id="42" name="Rectangle 41"/>
          <p:cNvSpPr/>
          <p:nvPr/>
        </p:nvSpPr>
        <p:spPr>
          <a:xfrm>
            <a:off x="279806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71215" y="2633472"/>
            <a:ext cx="1764791" cy="1024128"/>
          </a:xfrm>
          <a:prstGeom prst="rect">
            <a:avLst/>
          </a:prstGeom>
          <a:noFill/>
        </p:spPr>
        <p:txBody>
          <a:bodyPr wrap="square">
            <a:spAutoFit/>
          </a:bodyPr>
          <a:lstStyle/>
          <a:p>
            <a:pPr>
              <a:spcBef>
                <a:spcPts val="100"/>
              </a:spcBef>
            </a:pPr>
            <a:r>
              <a:rPr sz="750">
                <a:solidFill>
                  <a:srgbClr val="475569"/>
                </a:solidFill>
                <a:latin typeface="Calibri"/>
              </a:rPr>
              <a:t>Routing prediction</a:t>
            </a:r>
          </a:p>
          <a:p>
            <a:pPr>
              <a:spcBef>
                <a:spcPts val="100"/>
              </a:spcBef>
            </a:pPr>
            <a:r>
              <a:rPr sz="750">
                <a:solidFill>
                  <a:srgbClr val="475569"/>
                </a:solidFill>
                <a:latin typeface="Calibri"/>
              </a:rPr>
              <a:t>Next best action</a:t>
            </a:r>
          </a:p>
          <a:p>
            <a:pPr>
              <a:spcBef>
                <a:spcPts val="100"/>
              </a:spcBef>
            </a:pPr>
            <a:r>
              <a:rPr sz="750">
                <a:solidFill>
                  <a:srgbClr val="475569"/>
                </a:solidFill>
                <a:latin typeface="Calibri"/>
              </a:rPr>
              <a:t>SLA breach prediction</a:t>
            </a:r>
          </a:p>
          <a:p>
            <a:pPr>
              <a:spcBef>
                <a:spcPts val="100"/>
              </a:spcBef>
            </a:pPr>
            <a:r>
              <a:rPr sz="750">
                <a:solidFill>
                  <a:srgbClr val="475569"/>
                </a:solidFill>
                <a:latin typeface="Calibri"/>
              </a:rPr>
              <a:t>Queue prioritisation</a:t>
            </a:r>
          </a:p>
        </p:txBody>
      </p:sp>
      <p:sp>
        <p:nvSpPr>
          <p:cNvPr id="44" name="Rectangle 43"/>
          <p:cNvSpPr/>
          <p:nvPr/>
        </p:nvSpPr>
        <p:spPr>
          <a:xfrm>
            <a:off x="470915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82310" y="2633472"/>
            <a:ext cx="1764791" cy="1024128"/>
          </a:xfrm>
          <a:prstGeom prst="rect">
            <a:avLst/>
          </a:prstGeom>
          <a:noFill/>
        </p:spPr>
        <p:txBody>
          <a:bodyPr wrap="square">
            <a:spAutoFit/>
          </a:bodyPr>
          <a:lstStyle/>
          <a:p>
            <a:pPr>
              <a:spcBef>
                <a:spcPts val="100"/>
              </a:spcBef>
            </a:pPr>
            <a:r>
              <a:rPr sz="750">
                <a:solidFill>
                  <a:srgbClr val="475569"/>
                </a:solidFill>
                <a:latin typeface="Calibri"/>
              </a:rPr>
              <a:t>Embedding generation</a:t>
            </a:r>
          </a:p>
          <a:p>
            <a:pPr>
              <a:spcBef>
                <a:spcPts val="100"/>
              </a:spcBef>
            </a:pPr>
            <a:r>
              <a:rPr sz="750">
                <a:solidFill>
                  <a:srgbClr val="475569"/>
                </a:solidFill>
                <a:latin typeface="Calibri"/>
              </a:rPr>
              <a:t>Retrieval ranking</a:t>
            </a:r>
          </a:p>
          <a:p>
            <a:pPr>
              <a:spcBef>
                <a:spcPts val="100"/>
              </a:spcBef>
            </a:pPr>
            <a:r>
              <a:rPr sz="750">
                <a:solidFill>
                  <a:srgbClr val="475569"/>
                </a:solidFill>
                <a:latin typeface="Calibri"/>
              </a:rPr>
              <a:t>Semantic similarity</a:t>
            </a:r>
          </a:p>
          <a:p>
            <a:pPr>
              <a:spcBef>
                <a:spcPts val="100"/>
              </a:spcBef>
            </a:pPr>
            <a:r>
              <a:rPr sz="750">
                <a:solidFill>
                  <a:srgbClr val="475569"/>
                </a:solidFill>
                <a:latin typeface="Calibri"/>
              </a:rPr>
              <a:t>Context relevance scoring</a:t>
            </a:r>
          </a:p>
        </p:txBody>
      </p:sp>
      <p:sp>
        <p:nvSpPr>
          <p:cNvPr id="46" name="Rectangle 45"/>
          <p:cNvSpPr/>
          <p:nvPr/>
        </p:nvSpPr>
        <p:spPr>
          <a:xfrm>
            <a:off x="662025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3405" y="2633472"/>
            <a:ext cx="1764791" cy="1024128"/>
          </a:xfrm>
          <a:prstGeom prst="rect">
            <a:avLst/>
          </a:prstGeom>
          <a:noFill/>
        </p:spPr>
        <p:txBody>
          <a:bodyPr wrap="square">
            <a:spAutoFit/>
          </a:bodyPr>
          <a:lstStyle/>
          <a:p>
            <a:pPr>
              <a:spcBef>
                <a:spcPts val="100"/>
              </a:spcBef>
            </a:pPr>
            <a:r>
              <a:rPr sz="750">
                <a:solidFill>
                  <a:srgbClr val="475569"/>
                </a:solidFill>
                <a:latin typeface="Calibri"/>
              </a:rPr>
              <a:t>Toxicity detection</a:t>
            </a:r>
          </a:p>
          <a:p>
            <a:pPr>
              <a:spcBef>
                <a:spcPts val="100"/>
              </a:spcBef>
            </a:pPr>
            <a:r>
              <a:rPr sz="750">
                <a:solidFill>
                  <a:srgbClr val="475569"/>
                </a:solidFill>
                <a:latin typeface="Calibri"/>
              </a:rPr>
              <a:t>PII detection (ML)</a:t>
            </a:r>
          </a:p>
          <a:p>
            <a:pPr>
              <a:spcBef>
                <a:spcPts val="100"/>
              </a:spcBef>
            </a:pPr>
            <a:r>
              <a:rPr sz="750">
                <a:solidFill>
                  <a:srgbClr val="475569"/>
                </a:solidFill>
                <a:latin typeface="Calibri"/>
              </a:rPr>
              <a:t>Policy violation scoring</a:t>
            </a:r>
          </a:p>
          <a:p>
            <a:pPr>
              <a:spcBef>
                <a:spcPts val="100"/>
              </a:spcBef>
            </a:pPr>
            <a:r>
              <a:rPr sz="750">
                <a:solidFill>
                  <a:srgbClr val="475569"/>
                </a:solidFill>
                <a:latin typeface="Calibri"/>
              </a:rPr>
              <a:t>Risk &amp; confidence scoring</a:t>
            </a:r>
          </a:p>
        </p:txBody>
      </p:sp>
      <p:sp>
        <p:nvSpPr>
          <p:cNvPr id="48" name="Rectangle 47"/>
          <p:cNvSpPr/>
          <p:nvPr/>
        </p:nvSpPr>
        <p:spPr>
          <a:xfrm>
            <a:off x="853134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04500" y="2633472"/>
            <a:ext cx="1764791" cy="1024128"/>
          </a:xfrm>
          <a:prstGeom prst="rect">
            <a:avLst/>
          </a:prstGeom>
          <a:noFill/>
        </p:spPr>
        <p:txBody>
          <a:bodyPr wrap="square">
            <a:spAutoFit/>
          </a:bodyPr>
          <a:lstStyle/>
          <a:p>
            <a:pPr>
              <a:spcBef>
                <a:spcPts val="100"/>
              </a:spcBef>
            </a:pPr>
            <a:r>
              <a:rPr sz="750">
                <a:solidFill>
                  <a:srgbClr val="475569"/>
                </a:solidFill>
                <a:latin typeface="Calibri"/>
              </a:rPr>
              <a:t>Quality scoring</a:t>
            </a:r>
          </a:p>
          <a:p>
            <a:pPr>
              <a:spcBef>
                <a:spcPts val="100"/>
              </a:spcBef>
            </a:pPr>
            <a:r>
              <a:rPr sz="750">
                <a:solidFill>
                  <a:srgbClr val="475569"/>
                </a:solidFill>
                <a:latin typeface="Calibri"/>
              </a:rPr>
              <a:t>Groundedness scoring</a:t>
            </a:r>
          </a:p>
          <a:p>
            <a:pPr>
              <a:spcBef>
                <a:spcPts val="100"/>
              </a:spcBef>
            </a:pPr>
            <a:r>
              <a:rPr sz="750">
                <a:solidFill>
                  <a:srgbClr val="475569"/>
                </a:solidFill>
                <a:latin typeface="Calibri"/>
              </a:rPr>
              <a:t>Faithfulness scoring</a:t>
            </a:r>
          </a:p>
          <a:p>
            <a:pPr>
              <a:spcBef>
                <a:spcPts val="100"/>
              </a:spcBef>
            </a:pPr>
            <a:r>
              <a:rPr sz="750">
                <a:solidFill>
                  <a:srgbClr val="475569"/>
                </a:solidFill>
                <a:latin typeface="Calibri"/>
              </a:rPr>
              <a:t>Model drift detection</a:t>
            </a:r>
          </a:p>
        </p:txBody>
      </p:sp>
      <p:sp>
        <p:nvSpPr>
          <p:cNvPr id="50" name="Rectangle 49"/>
          <p:cNvSpPr/>
          <p:nvPr/>
        </p:nvSpPr>
        <p:spPr>
          <a:xfrm>
            <a:off x="1044244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595" y="2633472"/>
            <a:ext cx="1764791" cy="1024128"/>
          </a:xfrm>
          <a:prstGeom prst="rect">
            <a:avLst/>
          </a:prstGeom>
          <a:noFill/>
        </p:spPr>
        <p:txBody>
          <a:bodyPr wrap="square">
            <a:spAutoFit/>
          </a:bodyPr>
          <a:lstStyle/>
          <a:p>
            <a:pPr>
              <a:spcBef>
                <a:spcPts val="100"/>
              </a:spcBef>
            </a:pPr>
            <a:r>
              <a:rPr sz="750">
                <a:solidFill>
                  <a:srgbClr val="475569"/>
                </a:solidFill>
                <a:latin typeface="Calibri"/>
              </a:rPr>
              <a:t>Anomaly detection</a:t>
            </a:r>
          </a:p>
          <a:p>
            <a:pPr>
              <a:spcBef>
                <a:spcPts val="100"/>
              </a:spcBef>
            </a:pPr>
            <a:r>
              <a:rPr sz="750">
                <a:solidFill>
                  <a:srgbClr val="475569"/>
                </a:solidFill>
                <a:latin typeface="Calibri"/>
              </a:rPr>
              <a:t>Capacity prediction</a:t>
            </a:r>
          </a:p>
          <a:p>
            <a:pPr>
              <a:spcBef>
                <a:spcPts val="100"/>
              </a:spcBef>
            </a:pPr>
            <a:r>
              <a:rPr sz="750">
                <a:solidFill>
                  <a:srgbClr val="475569"/>
                </a:solidFill>
                <a:latin typeface="Calibri"/>
              </a:rPr>
              <a:t>Failure prediction</a:t>
            </a:r>
          </a:p>
          <a:p>
            <a:pPr>
              <a:spcBef>
                <a:spcPts val="100"/>
              </a:spcBef>
            </a:pPr>
            <a:r>
              <a:rPr sz="750">
                <a:solidFill>
                  <a:srgbClr val="475569"/>
                </a:solidFill>
                <a:latin typeface="Calibri"/>
              </a:rPr>
              <a:t>Usage forecasting</a:t>
            </a:r>
          </a:p>
        </p:txBody>
      </p:sp>
      <p:sp>
        <p:nvSpPr>
          <p:cNvPr id="52" name="Rectangle 51"/>
          <p:cNvSpPr/>
          <p:nvPr/>
        </p:nvSpPr>
        <p:spPr>
          <a:xfrm>
            <a:off x="88696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0120" y="3749040"/>
            <a:ext cx="1764791" cy="1024128"/>
          </a:xfrm>
          <a:prstGeom prst="rect">
            <a:avLst/>
          </a:prstGeom>
          <a:noFill/>
        </p:spPr>
        <p:txBody>
          <a:bodyPr wrap="square">
            <a:spAutoFit/>
          </a:bodyPr>
          <a:lstStyle/>
          <a:p>
            <a:pPr>
              <a:spcBef>
                <a:spcPts val="100"/>
              </a:spcBef>
            </a:pPr>
            <a:r>
              <a:rPr sz="750">
                <a:solidFill>
                  <a:srgbClr val="475569"/>
                </a:solidFill>
                <a:latin typeface="Calibri"/>
              </a:rPr>
              <a:t>Agent reasoning</a:t>
            </a:r>
          </a:p>
          <a:p>
            <a:pPr>
              <a:spcBef>
                <a:spcPts val="100"/>
              </a:spcBef>
            </a:pPr>
            <a:r>
              <a:rPr sz="750">
                <a:solidFill>
                  <a:srgbClr val="475569"/>
                </a:solidFill>
                <a:latin typeface="Calibri"/>
              </a:rPr>
              <a:t>Tool use planning</a:t>
            </a:r>
          </a:p>
          <a:p>
            <a:pPr>
              <a:spcBef>
                <a:spcPts val="100"/>
              </a:spcBef>
            </a:pPr>
            <a:r>
              <a:rPr sz="750">
                <a:solidFill>
                  <a:srgbClr val="475569"/>
                </a:solidFill>
                <a:latin typeface="Calibri"/>
              </a:rPr>
              <a:t>Memory summarisation</a:t>
            </a:r>
          </a:p>
          <a:p>
            <a:pPr>
              <a:spcBef>
                <a:spcPts val="100"/>
              </a:spcBef>
            </a:pPr>
            <a:r>
              <a:rPr sz="750">
                <a:solidFill>
                  <a:srgbClr val="475569"/>
                </a:solidFill>
                <a:latin typeface="Calibri"/>
              </a:rPr>
              <a:t>Response generation</a:t>
            </a:r>
          </a:p>
        </p:txBody>
      </p:sp>
      <p:sp>
        <p:nvSpPr>
          <p:cNvPr id="54" name="Rectangle 53"/>
          <p:cNvSpPr/>
          <p:nvPr/>
        </p:nvSpPr>
        <p:spPr>
          <a:xfrm>
            <a:off x="279806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71215" y="3749040"/>
            <a:ext cx="1764791" cy="1024128"/>
          </a:xfrm>
          <a:prstGeom prst="rect">
            <a:avLst/>
          </a:prstGeom>
          <a:noFill/>
        </p:spPr>
        <p:txBody>
          <a:bodyPr wrap="square">
            <a:spAutoFit/>
          </a:bodyPr>
          <a:lstStyle/>
          <a:p>
            <a:pPr>
              <a:spcBef>
                <a:spcPts val="100"/>
              </a:spcBef>
            </a:pPr>
            <a:r>
              <a:rPr sz="750">
                <a:solidFill>
                  <a:srgbClr val="475569"/>
                </a:solidFill>
                <a:latin typeface="Calibri"/>
              </a:rPr>
              <a:t>Workflow planning</a:t>
            </a:r>
          </a:p>
          <a:p>
            <a:pPr>
              <a:spcBef>
                <a:spcPts val="100"/>
              </a:spcBef>
            </a:pPr>
            <a:r>
              <a:rPr sz="750">
                <a:solidFill>
                  <a:srgbClr val="475569"/>
                </a:solidFill>
                <a:latin typeface="Calibri"/>
              </a:rPr>
              <a:t>Decision rationale</a:t>
            </a:r>
          </a:p>
          <a:p>
            <a:pPr>
              <a:spcBef>
                <a:spcPts val="100"/>
              </a:spcBef>
            </a:pPr>
            <a:r>
              <a:rPr sz="750">
                <a:solidFill>
                  <a:srgbClr val="475569"/>
                </a:solidFill>
                <a:latin typeface="Calibri"/>
              </a:rPr>
              <a:t>Task decomposition</a:t>
            </a:r>
          </a:p>
          <a:p>
            <a:pPr>
              <a:spcBef>
                <a:spcPts val="100"/>
              </a:spcBef>
            </a:pPr>
            <a:r>
              <a:rPr sz="750">
                <a:solidFill>
                  <a:srgbClr val="475569"/>
                </a:solidFill>
                <a:latin typeface="Calibri"/>
              </a:rPr>
              <a:t>Dynamic replanning</a:t>
            </a:r>
          </a:p>
        </p:txBody>
      </p:sp>
      <p:sp>
        <p:nvSpPr>
          <p:cNvPr id="56" name="Rectangle 55"/>
          <p:cNvSpPr/>
          <p:nvPr/>
        </p:nvSpPr>
        <p:spPr>
          <a:xfrm>
            <a:off x="470915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82310" y="3749040"/>
            <a:ext cx="1764791" cy="1024128"/>
          </a:xfrm>
          <a:prstGeom prst="rect">
            <a:avLst/>
          </a:prstGeom>
          <a:noFill/>
        </p:spPr>
        <p:txBody>
          <a:bodyPr wrap="square">
            <a:spAutoFit/>
          </a:bodyPr>
          <a:lstStyle/>
          <a:p>
            <a:pPr>
              <a:spcBef>
                <a:spcPts val="100"/>
              </a:spcBef>
            </a:pPr>
            <a:r>
              <a:rPr sz="750">
                <a:solidFill>
                  <a:srgbClr val="475569"/>
                </a:solidFill>
                <a:latin typeface="Calibri"/>
              </a:rPr>
              <a:t>RAG &amp; retrieval</a:t>
            </a:r>
          </a:p>
          <a:p>
            <a:pPr>
              <a:spcBef>
                <a:spcPts val="100"/>
              </a:spcBef>
            </a:pPr>
            <a:r>
              <a:rPr sz="750">
                <a:solidFill>
                  <a:srgbClr val="475569"/>
                </a:solidFill>
                <a:latin typeface="Calibri"/>
              </a:rPr>
              <a:t>Context synthesis</a:t>
            </a:r>
          </a:p>
          <a:p>
            <a:pPr>
              <a:spcBef>
                <a:spcPts val="100"/>
              </a:spcBef>
            </a:pPr>
            <a:r>
              <a:rPr sz="750">
                <a:solidFill>
                  <a:srgbClr val="475569"/>
                </a:solidFill>
                <a:latin typeface="Calibri"/>
              </a:rPr>
              <a:t>Document summarisation</a:t>
            </a:r>
          </a:p>
          <a:p>
            <a:pPr>
              <a:spcBef>
                <a:spcPts val="100"/>
              </a:spcBef>
            </a:pPr>
            <a:r>
              <a:rPr sz="750">
                <a:solidFill>
                  <a:srgbClr val="475569"/>
                </a:solidFill>
                <a:latin typeface="Calibri"/>
              </a:rPr>
              <a:t>Policy interpretation</a:t>
            </a:r>
          </a:p>
        </p:txBody>
      </p:sp>
      <p:sp>
        <p:nvSpPr>
          <p:cNvPr id="58" name="Rectangle 57"/>
          <p:cNvSpPr/>
          <p:nvPr/>
        </p:nvSpPr>
        <p:spPr>
          <a:xfrm>
            <a:off x="662025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93405" y="3749040"/>
            <a:ext cx="1764791" cy="1024128"/>
          </a:xfrm>
          <a:prstGeom prst="rect">
            <a:avLst/>
          </a:prstGeom>
          <a:noFill/>
        </p:spPr>
        <p:txBody>
          <a:bodyPr wrap="square">
            <a:spAutoFit/>
          </a:bodyPr>
          <a:lstStyle/>
          <a:p>
            <a:pPr>
              <a:spcBef>
                <a:spcPts val="100"/>
              </a:spcBef>
            </a:pPr>
            <a:r>
              <a:rPr sz="750">
                <a:solidFill>
                  <a:srgbClr val="475569"/>
                </a:solidFill>
                <a:latin typeface="Calibri"/>
              </a:rPr>
              <a:t>Guardrail reasoning</a:t>
            </a:r>
          </a:p>
          <a:p>
            <a:pPr>
              <a:spcBef>
                <a:spcPts val="100"/>
              </a:spcBef>
            </a:pPr>
            <a:r>
              <a:rPr sz="750">
                <a:solidFill>
                  <a:srgbClr val="475569"/>
                </a:solidFill>
                <a:latin typeface="Calibri"/>
              </a:rPr>
              <a:t>Policy compliance check</a:t>
            </a:r>
          </a:p>
          <a:p>
            <a:pPr>
              <a:spcBef>
                <a:spcPts val="100"/>
              </a:spcBef>
            </a:pPr>
            <a:r>
              <a:rPr sz="750">
                <a:solidFill>
                  <a:srgbClr val="475569"/>
                </a:solidFill>
                <a:latin typeface="Calibri"/>
              </a:rPr>
              <a:t>Output transformation</a:t>
            </a:r>
          </a:p>
          <a:p>
            <a:pPr>
              <a:spcBef>
                <a:spcPts val="100"/>
              </a:spcBef>
            </a:pPr>
            <a:r>
              <a:rPr sz="750">
                <a:solidFill>
                  <a:srgbClr val="475569"/>
                </a:solidFill>
                <a:latin typeface="Calibri"/>
              </a:rPr>
              <a:t>Explanation generation</a:t>
            </a:r>
          </a:p>
        </p:txBody>
      </p:sp>
      <p:sp>
        <p:nvSpPr>
          <p:cNvPr id="60" name="Rectangle 59"/>
          <p:cNvSpPr/>
          <p:nvPr/>
        </p:nvSpPr>
        <p:spPr>
          <a:xfrm>
            <a:off x="853134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04500" y="3749040"/>
            <a:ext cx="1764791" cy="1024128"/>
          </a:xfrm>
          <a:prstGeom prst="rect">
            <a:avLst/>
          </a:prstGeom>
          <a:noFill/>
        </p:spPr>
        <p:txBody>
          <a:bodyPr wrap="square">
            <a:spAutoFit/>
          </a:bodyPr>
          <a:lstStyle/>
          <a:p>
            <a:pPr>
              <a:spcBef>
                <a:spcPts val="100"/>
              </a:spcBef>
            </a:pPr>
            <a:r>
              <a:rPr sz="750">
                <a:solidFill>
                  <a:srgbClr val="475569"/>
                </a:solidFill>
                <a:latin typeface="Calibri"/>
              </a:rPr>
              <a:t>Evaluation explanation</a:t>
            </a:r>
          </a:p>
          <a:p>
            <a:pPr>
              <a:spcBef>
                <a:spcPts val="100"/>
              </a:spcBef>
            </a:pPr>
            <a:r>
              <a:rPr sz="750">
                <a:solidFill>
                  <a:srgbClr val="475569"/>
                </a:solidFill>
                <a:latin typeface="Calibri"/>
              </a:rPr>
              <a:t>Error analysis</a:t>
            </a:r>
          </a:p>
          <a:p>
            <a:pPr>
              <a:spcBef>
                <a:spcPts val="100"/>
              </a:spcBef>
            </a:pPr>
            <a:r>
              <a:rPr sz="750">
                <a:solidFill>
                  <a:srgbClr val="475569"/>
                </a:solidFill>
                <a:latin typeface="Calibri"/>
              </a:rPr>
              <a:t>Test case generation</a:t>
            </a:r>
          </a:p>
          <a:p>
            <a:pPr>
              <a:spcBef>
                <a:spcPts val="100"/>
              </a:spcBef>
            </a:pPr>
            <a:r>
              <a:rPr sz="750">
                <a:solidFill>
                  <a:srgbClr val="475569"/>
                </a:solidFill>
                <a:latin typeface="Calibri"/>
              </a:rPr>
              <a:t>Insight summarisation</a:t>
            </a:r>
          </a:p>
        </p:txBody>
      </p:sp>
      <p:sp>
        <p:nvSpPr>
          <p:cNvPr id="62" name="Rectangle 61"/>
          <p:cNvSpPr/>
          <p:nvPr/>
        </p:nvSpPr>
        <p:spPr>
          <a:xfrm>
            <a:off x="1044244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595" y="3749040"/>
            <a:ext cx="1764791" cy="1024128"/>
          </a:xfrm>
          <a:prstGeom prst="rect">
            <a:avLst/>
          </a:prstGeom>
          <a:noFill/>
        </p:spPr>
        <p:txBody>
          <a:bodyPr wrap="square">
            <a:spAutoFit/>
          </a:bodyPr>
          <a:lstStyle/>
          <a:p>
            <a:pPr>
              <a:spcBef>
                <a:spcPts val="100"/>
              </a:spcBef>
            </a:pPr>
            <a:r>
              <a:rPr sz="750">
                <a:solidFill>
                  <a:srgbClr val="475569"/>
                </a:solidFill>
                <a:latin typeface="Calibri"/>
              </a:rPr>
              <a:t>Anomaly explanation</a:t>
            </a:r>
          </a:p>
          <a:p>
            <a:pPr>
              <a:spcBef>
                <a:spcPts val="100"/>
              </a:spcBef>
            </a:pPr>
            <a:r>
              <a:rPr sz="750">
                <a:solidFill>
                  <a:srgbClr val="475569"/>
                </a:solidFill>
                <a:latin typeface="Calibri"/>
              </a:rPr>
              <a:t>Incident summarisation</a:t>
            </a:r>
          </a:p>
          <a:p>
            <a:pPr>
              <a:spcBef>
                <a:spcPts val="100"/>
              </a:spcBef>
            </a:pPr>
            <a:r>
              <a:rPr sz="750">
                <a:solidFill>
                  <a:srgbClr val="475569"/>
                </a:solidFill>
                <a:latin typeface="Calibri"/>
              </a:rPr>
              <a:t>Auto-remediation advice</a:t>
            </a:r>
          </a:p>
          <a:p>
            <a:pPr>
              <a:spcBef>
                <a:spcPts val="100"/>
              </a:spcBef>
            </a:pPr>
            <a:r>
              <a:rPr sz="750">
                <a:solidFill>
                  <a:srgbClr val="475569"/>
                </a:solidFill>
                <a:latin typeface="Calibri"/>
              </a:rPr>
              <a:t>Operational insights</a:t>
            </a:r>
          </a:p>
        </p:txBody>
      </p:sp>
      <p:sp>
        <p:nvSpPr>
          <p:cNvPr id="64" name="Rectangle 63"/>
          <p:cNvSpPr/>
          <p:nvPr/>
        </p:nvSpPr>
        <p:spPr>
          <a:xfrm>
            <a:off x="88696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0120" y="4864608"/>
            <a:ext cx="1764791" cy="1024128"/>
          </a:xfrm>
          <a:prstGeom prst="rect">
            <a:avLst/>
          </a:prstGeom>
          <a:noFill/>
        </p:spPr>
        <p:txBody>
          <a:bodyPr wrap="square">
            <a:spAutoFit/>
          </a:bodyPr>
          <a:lstStyle/>
          <a:p>
            <a:pPr>
              <a:spcBef>
                <a:spcPts val="100"/>
              </a:spcBef>
            </a:pPr>
            <a:r>
              <a:rPr sz="750">
                <a:solidFill>
                  <a:srgbClr val="475569"/>
                </a:solidFill>
                <a:latin typeface="Calibri"/>
              </a:rPr>
              <a:t>Session Store</a:t>
            </a:r>
          </a:p>
          <a:p>
            <a:pPr>
              <a:spcBef>
                <a:spcPts val="100"/>
              </a:spcBef>
            </a:pPr>
            <a:r>
              <a:rPr sz="750">
                <a:solidFill>
                  <a:srgbClr val="475569"/>
                </a:solidFill>
                <a:latin typeface="Calibri"/>
              </a:rPr>
              <a:t>Memory Store</a:t>
            </a:r>
          </a:p>
          <a:p>
            <a:pPr>
              <a:spcBef>
                <a:spcPts val="100"/>
              </a:spcBef>
            </a:pPr>
            <a:r>
              <a:rPr sz="750">
                <a:solidFill>
                  <a:srgbClr val="475569"/>
                </a:solidFill>
                <a:latin typeface="Calibri"/>
              </a:rPr>
              <a:t>A2A Registry</a:t>
            </a:r>
          </a:p>
          <a:p>
            <a:pPr>
              <a:spcBef>
                <a:spcPts val="100"/>
              </a:spcBef>
            </a:pPr>
            <a:r>
              <a:rPr sz="750">
                <a:solidFill>
                  <a:srgbClr val="475569"/>
                </a:solidFill>
                <a:latin typeface="Calibri"/>
              </a:rPr>
              <a:t>MCP Registry</a:t>
            </a:r>
          </a:p>
          <a:p>
            <a:pPr>
              <a:spcBef>
                <a:spcPts val="100"/>
              </a:spcBef>
            </a:pPr>
            <a:r>
              <a:rPr sz="750">
                <a:solidFill>
                  <a:srgbClr val="475569"/>
                </a:solidFill>
                <a:latin typeface="Calibri"/>
              </a:rPr>
              <a:t>Tool Registry</a:t>
            </a:r>
          </a:p>
        </p:txBody>
      </p:sp>
      <p:sp>
        <p:nvSpPr>
          <p:cNvPr id="66" name="Rectangle 65"/>
          <p:cNvSpPr/>
          <p:nvPr/>
        </p:nvSpPr>
        <p:spPr>
          <a:xfrm>
            <a:off x="279806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71215" y="4864608"/>
            <a:ext cx="1764791" cy="1024128"/>
          </a:xfrm>
          <a:prstGeom prst="rect">
            <a:avLst/>
          </a:prstGeom>
          <a:noFill/>
        </p:spPr>
        <p:txBody>
          <a:bodyPr wrap="square">
            <a:spAutoFit/>
          </a:bodyPr>
          <a:lstStyle/>
          <a:p>
            <a:pPr>
              <a:spcBef>
                <a:spcPts val="100"/>
              </a:spcBef>
            </a:pPr>
            <a:r>
              <a:rPr sz="750">
                <a:solidFill>
                  <a:srgbClr val="475569"/>
                </a:solidFill>
                <a:latin typeface="Calibri"/>
              </a:rPr>
              <a:t>LangGraph</a:t>
            </a:r>
          </a:p>
          <a:p>
            <a:pPr>
              <a:spcBef>
                <a:spcPts val="100"/>
              </a:spcBef>
            </a:pPr>
            <a:r>
              <a:rPr sz="750">
                <a:solidFill>
                  <a:srgbClr val="475569"/>
                </a:solidFill>
                <a:latin typeface="Calibri"/>
              </a:rPr>
              <a:t>Cloud Workflows</a:t>
            </a:r>
          </a:p>
          <a:p>
            <a:pPr>
              <a:spcBef>
                <a:spcPts val="100"/>
              </a:spcBef>
            </a:pPr>
            <a:r>
              <a:rPr sz="750">
                <a:solidFill>
                  <a:srgbClr val="475569"/>
                </a:solidFill>
                <a:latin typeface="Calibri"/>
              </a:rPr>
              <a:t>Pub/Sub</a:t>
            </a:r>
          </a:p>
          <a:p>
            <a:pPr>
              <a:spcBef>
                <a:spcPts val="100"/>
              </a:spcBef>
            </a:pPr>
            <a:r>
              <a:rPr sz="750">
                <a:solidFill>
                  <a:srgbClr val="475569"/>
                </a:solidFill>
                <a:latin typeface="Calibri"/>
              </a:rPr>
              <a:t>Eventarc</a:t>
            </a:r>
          </a:p>
          <a:p>
            <a:pPr>
              <a:spcBef>
                <a:spcPts val="100"/>
              </a:spcBef>
            </a:pPr>
            <a:r>
              <a:rPr sz="750">
                <a:solidFill>
                  <a:srgbClr val="475569"/>
                </a:solidFill>
                <a:latin typeface="Calibri"/>
              </a:rPr>
              <a:t>Routing Rules Engine</a:t>
            </a:r>
          </a:p>
        </p:txBody>
      </p:sp>
      <p:sp>
        <p:nvSpPr>
          <p:cNvPr id="68" name="Rectangle 67"/>
          <p:cNvSpPr/>
          <p:nvPr/>
        </p:nvSpPr>
        <p:spPr>
          <a:xfrm>
            <a:off x="470915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82310" y="4864608"/>
            <a:ext cx="1764791" cy="1024128"/>
          </a:xfrm>
          <a:prstGeom prst="rect">
            <a:avLst/>
          </a:prstGeom>
          <a:noFill/>
        </p:spPr>
        <p:txBody>
          <a:bodyPr wrap="square">
            <a:spAutoFit/>
          </a:bodyPr>
          <a:lstStyle/>
          <a:p>
            <a:pPr>
              <a:spcBef>
                <a:spcPts val="100"/>
              </a:spcBef>
            </a:pPr>
            <a:r>
              <a:rPr sz="750">
                <a:solidFill>
                  <a:srgbClr val="475569"/>
                </a:solidFill>
                <a:latin typeface="Calibri"/>
              </a:rPr>
              <a:t>Vertex AI Vector Search</a:t>
            </a:r>
          </a:p>
          <a:p>
            <a:pPr>
              <a:spcBef>
                <a:spcPts val="100"/>
              </a:spcBef>
            </a:pPr>
            <a:r>
              <a:rPr sz="750">
                <a:solidFill>
                  <a:srgbClr val="475569"/>
                </a:solidFill>
                <a:latin typeface="Calibri"/>
              </a:rPr>
              <a:t>BigQuery</a:t>
            </a:r>
          </a:p>
          <a:p>
            <a:pPr>
              <a:spcBef>
                <a:spcPts val="100"/>
              </a:spcBef>
            </a:pPr>
            <a:r>
              <a:rPr sz="750">
                <a:solidFill>
                  <a:srgbClr val="475569"/>
                </a:solidFill>
                <a:latin typeface="Calibri"/>
              </a:rPr>
              <a:t>Cloud SQL (PostgreSQL)</a:t>
            </a:r>
          </a:p>
          <a:p>
            <a:pPr>
              <a:spcBef>
                <a:spcPts val="100"/>
              </a:spcBef>
            </a:pPr>
            <a:r>
              <a:rPr sz="750">
                <a:solidFill>
                  <a:srgbClr val="475569"/>
                </a:solidFill>
                <a:latin typeface="Calibri"/>
              </a:rPr>
              <a:t>Knowledge Graph</a:t>
            </a:r>
          </a:p>
          <a:p>
            <a:pPr>
              <a:spcBef>
                <a:spcPts val="100"/>
              </a:spcBef>
            </a:pPr>
            <a:r>
              <a:rPr sz="750">
                <a:solidFill>
                  <a:srgbClr val="475569"/>
                </a:solidFill>
                <a:latin typeface="Calibri"/>
              </a:rPr>
              <a:t>MCP Servers</a:t>
            </a:r>
          </a:p>
        </p:txBody>
      </p:sp>
      <p:sp>
        <p:nvSpPr>
          <p:cNvPr id="70" name="Rectangle 69"/>
          <p:cNvSpPr/>
          <p:nvPr/>
        </p:nvSpPr>
        <p:spPr>
          <a:xfrm>
            <a:off x="662025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93405" y="4864608"/>
            <a:ext cx="1764791" cy="1024128"/>
          </a:xfrm>
          <a:prstGeom prst="rect">
            <a:avLst/>
          </a:prstGeom>
          <a:noFill/>
        </p:spPr>
        <p:txBody>
          <a:bodyPr wrap="square">
            <a:spAutoFit/>
          </a:bodyPr>
          <a:lstStyle/>
          <a:p>
            <a:pPr>
              <a:spcBef>
                <a:spcPts val="100"/>
              </a:spcBef>
            </a:pPr>
            <a:r>
              <a:rPr sz="750">
                <a:solidFill>
                  <a:srgbClr val="475569"/>
                </a:solidFill>
                <a:latin typeface="Calibri"/>
              </a:rPr>
              <a:t>Cortex (Control Plane)</a:t>
            </a:r>
          </a:p>
          <a:p>
            <a:pPr>
              <a:spcBef>
                <a:spcPts val="100"/>
              </a:spcBef>
            </a:pPr>
            <a:r>
              <a:rPr sz="750">
                <a:solidFill>
                  <a:srgbClr val="475569"/>
                </a:solidFill>
                <a:latin typeface="Calibri"/>
              </a:rPr>
              <a:t>Model Armor</a:t>
            </a:r>
          </a:p>
          <a:p>
            <a:pPr>
              <a:spcBef>
                <a:spcPts val="100"/>
              </a:spcBef>
            </a:pPr>
            <a:r>
              <a:rPr sz="750">
                <a:solidFill>
                  <a:srgbClr val="475569"/>
                </a:solidFill>
                <a:latin typeface="Calibri"/>
              </a:rPr>
              <a:t>Policy Engine</a:t>
            </a:r>
          </a:p>
          <a:p>
            <a:pPr>
              <a:spcBef>
                <a:spcPts val="100"/>
              </a:spcBef>
            </a:pPr>
            <a:r>
              <a:rPr sz="750">
                <a:solidFill>
                  <a:srgbClr val="475569"/>
                </a:solidFill>
                <a:latin typeface="Calibri"/>
              </a:rPr>
              <a:t>RBAC &amp; ABAC</a:t>
            </a:r>
          </a:p>
          <a:p>
            <a:pPr>
              <a:spcBef>
                <a:spcPts val="100"/>
              </a:spcBef>
            </a:pPr>
            <a:r>
              <a:rPr sz="750">
                <a:solidFill>
                  <a:srgbClr val="475569"/>
                </a:solidFill>
                <a:latin typeface="Calibri"/>
              </a:rPr>
              <a:t>Compliance Rules</a:t>
            </a:r>
          </a:p>
        </p:txBody>
      </p:sp>
      <p:sp>
        <p:nvSpPr>
          <p:cNvPr id="72" name="Rectangle 71"/>
          <p:cNvSpPr/>
          <p:nvPr/>
        </p:nvSpPr>
        <p:spPr>
          <a:xfrm>
            <a:off x="853134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604500" y="4864608"/>
            <a:ext cx="1764791" cy="1024128"/>
          </a:xfrm>
          <a:prstGeom prst="rect">
            <a:avLst/>
          </a:prstGeom>
          <a:noFill/>
        </p:spPr>
        <p:txBody>
          <a:bodyPr wrap="square">
            <a:spAutoFit/>
          </a:bodyPr>
          <a:lstStyle/>
          <a:p>
            <a:pPr>
              <a:spcBef>
                <a:spcPts val="100"/>
              </a:spcBef>
            </a:pPr>
            <a:r>
              <a:rPr sz="750">
                <a:solidFill>
                  <a:srgbClr val="475569"/>
                </a:solidFill>
                <a:latin typeface="Calibri"/>
              </a:rPr>
              <a:t>Pegasus (LBG)</a:t>
            </a:r>
          </a:p>
          <a:p>
            <a:pPr>
              <a:spcBef>
                <a:spcPts val="100"/>
              </a:spcBef>
            </a:pPr>
            <a:r>
              <a:rPr sz="750">
                <a:solidFill>
                  <a:srgbClr val="475569"/>
                </a:solidFill>
                <a:latin typeface="Calibri"/>
              </a:rPr>
              <a:t>Vertex AI Evaluation</a:t>
            </a:r>
          </a:p>
          <a:p>
            <a:pPr>
              <a:spcBef>
                <a:spcPts val="100"/>
              </a:spcBef>
            </a:pPr>
            <a:r>
              <a:rPr sz="750">
                <a:solidFill>
                  <a:srgbClr val="475569"/>
                </a:solidFill>
                <a:latin typeface="Calibri"/>
              </a:rPr>
              <a:t>ADK Evaluation</a:t>
            </a:r>
          </a:p>
          <a:p>
            <a:pPr>
              <a:spcBef>
                <a:spcPts val="100"/>
              </a:spcBef>
            </a:pPr>
            <a:r>
              <a:rPr sz="750">
                <a:solidFill>
                  <a:srgbClr val="475569"/>
                </a:solidFill>
                <a:latin typeface="Calibri"/>
              </a:rPr>
              <a:t>Evaluation Framework</a:t>
            </a:r>
          </a:p>
          <a:p>
            <a:pPr>
              <a:spcBef>
                <a:spcPts val="100"/>
              </a:spcBef>
            </a:pPr>
            <a:r>
              <a:rPr sz="750">
                <a:solidFill>
                  <a:srgbClr val="475569"/>
                </a:solidFill>
                <a:latin typeface="Calibri"/>
              </a:rPr>
              <a:t>Golden Test Suites</a:t>
            </a:r>
          </a:p>
        </p:txBody>
      </p:sp>
      <p:sp>
        <p:nvSpPr>
          <p:cNvPr id="74" name="Rectangle 73"/>
          <p:cNvSpPr/>
          <p:nvPr/>
        </p:nvSpPr>
        <p:spPr>
          <a:xfrm>
            <a:off x="1044244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595" y="4864608"/>
            <a:ext cx="1764791" cy="1024128"/>
          </a:xfrm>
          <a:prstGeom prst="rect">
            <a:avLst/>
          </a:prstGeom>
          <a:noFill/>
        </p:spPr>
        <p:txBody>
          <a:bodyPr wrap="square">
            <a:spAutoFit/>
          </a:bodyPr>
          <a:lstStyle/>
          <a:p>
            <a:pPr>
              <a:spcBef>
                <a:spcPts val="100"/>
              </a:spcBef>
            </a:pPr>
            <a:r>
              <a:rPr sz="750">
                <a:solidFill>
                  <a:srgbClr val="475569"/>
                </a:solidFill>
                <a:latin typeface="Calibri"/>
              </a:rPr>
              <a:t>ObserveAll</a:t>
            </a:r>
          </a:p>
          <a:p>
            <a:pPr>
              <a:spcBef>
                <a:spcPts val="100"/>
              </a:spcBef>
            </a:pPr>
            <a:r>
              <a:rPr sz="750">
                <a:solidFill>
                  <a:srgbClr val="475569"/>
                </a:solidFill>
                <a:latin typeface="Calibri"/>
              </a:rPr>
              <a:t>Dynatrace</a:t>
            </a:r>
          </a:p>
          <a:p>
            <a:pPr>
              <a:spcBef>
                <a:spcPts val="100"/>
              </a:spcBef>
            </a:pPr>
            <a:r>
              <a:rPr sz="750">
                <a:solidFill>
                  <a:srgbClr val="475569"/>
                </a:solidFill>
                <a:latin typeface="Calibri"/>
              </a:rPr>
              <a:t>Cloud Monitoring</a:t>
            </a:r>
          </a:p>
          <a:p>
            <a:pPr>
              <a:spcBef>
                <a:spcPts val="100"/>
              </a:spcBef>
            </a:pPr>
            <a:r>
              <a:rPr sz="750">
                <a:solidFill>
                  <a:srgbClr val="475569"/>
                </a:solidFill>
                <a:latin typeface="Calibri"/>
              </a:rPr>
              <a:t>Cloud Logging</a:t>
            </a:r>
          </a:p>
          <a:p>
            <a:pPr>
              <a:spcBef>
                <a:spcPts val="100"/>
              </a:spcBef>
            </a:pPr>
            <a:r>
              <a:rPr sz="750">
                <a:solidFill>
                  <a:srgbClr val="475569"/>
                </a:solidFill>
                <a:latin typeface="Calibri"/>
              </a:rPr>
              <a:t>Audit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AI TECHNOLOGY STRATEGY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AI Capability Spectrum — Right Tool for the Right Problem</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07 / 20</a:t>
            </a:r>
          </a:p>
        </p:txBody>
      </p:sp>
      <p:sp>
        <p:nvSpPr>
          <p:cNvPr id="8" name="Rectangle 7"/>
          <p:cNvSpPr/>
          <p:nvPr/>
        </p:nvSpPr>
        <p:spPr>
          <a:xfrm>
            <a:off x="457200"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017520" cy="548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43000"/>
            <a:ext cx="2880360" cy="256032"/>
          </a:xfrm>
          <a:prstGeom prst="rect">
            <a:avLst/>
          </a:prstGeom>
          <a:noFill/>
        </p:spPr>
        <p:txBody>
          <a:bodyPr wrap="square">
            <a:spAutoFit/>
          </a:bodyPr>
          <a:lstStyle/>
          <a:p>
            <a:pPr algn="l"/>
            <a:r>
              <a:rPr sz="1100" b="1" i="0">
                <a:solidFill>
                  <a:srgbClr val="0F7AC5"/>
                </a:solidFill>
                <a:latin typeface="Calibri"/>
              </a:rPr>
              <a:t>Machine Learning</a:t>
            </a:r>
          </a:p>
        </p:txBody>
      </p:sp>
      <p:sp>
        <p:nvSpPr>
          <p:cNvPr id="11" name="TextBox 10"/>
          <p:cNvSpPr txBox="1"/>
          <p:nvPr/>
        </p:nvSpPr>
        <p:spPr>
          <a:xfrm>
            <a:off x="548640" y="1399032"/>
            <a:ext cx="2880360" cy="201168"/>
          </a:xfrm>
          <a:prstGeom prst="rect">
            <a:avLst/>
          </a:prstGeom>
          <a:noFill/>
        </p:spPr>
        <p:txBody>
          <a:bodyPr wrap="square">
            <a:spAutoFit/>
          </a:bodyPr>
          <a:lstStyle/>
          <a:p>
            <a:pPr algn="l"/>
            <a:r>
              <a:rPr sz="900" b="0" i="0">
                <a:solidFill>
                  <a:srgbClr val="0F7AC5"/>
                </a:solidFill>
                <a:latin typeface="Calibri"/>
              </a:rPr>
              <a:t>Pattern Detection &amp; Prediction</a:t>
            </a:r>
          </a:p>
        </p:txBody>
      </p:sp>
      <p:sp>
        <p:nvSpPr>
          <p:cNvPr id="12" name="Rectangle 11"/>
          <p:cNvSpPr/>
          <p:nvPr/>
        </p:nvSpPr>
        <p:spPr>
          <a:xfrm>
            <a:off x="548640"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73352"/>
            <a:ext cx="758952" cy="164592"/>
          </a:xfrm>
          <a:prstGeom prst="rect">
            <a:avLst/>
          </a:prstGeom>
          <a:noFill/>
        </p:spPr>
        <p:txBody>
          <a:bodyPr wrap="square">
            <a:spAutoFit/>
          </a:bodyPr>
          <a:lstStyle/>
          <a:p>
            <a:pPr algn="l"/>
            <a:r>
              <a:rPr sz="750" b="1" i="0">
                <a:solidFill>
                  <a:srgbClr val="0F7AC5"/>
                </a:solidFill>
                <a:latin typeface="Calibri"/>
              </a:rPr>
              <a:t>Vertex AI</a:t>
            </a:r>
          </a:p>
        </p:txBody>
      </p:sp>
      <p:sp>
        <p:nvSpPr>
          <p:cNvPr id="14" name="Rectangle 13"/>
          <p:cNvSpPr/>
          <p:nvPr/>
        </p:nvSpPr>
        <p:spPr>
          <a:xfrm>
            <a:off x="1399032" y="1645920"/>
            <a:ext cx="1060704"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4752" y="1673352"/>
            <a:ext cx="1014984" cy="164592"/>
          </a:xfrm>
          <a:prstGeom prst="rect">
            <a:avLst/>
          </a:prstGeom>
          <a:noFill/>
        </p:spPr>
        <p:txBody>
          <a:bodyPr wrap="square">
            <a:spAutoFit/>
          </a:bodyPr>
          <a:lstStyle/>
          <a:p>
            <a:pPr algn="l"/>
            <a:r>
              <a:rPr sz="750" b="1" i="0">
                <a:solidFill>
                  <a:srgbClr val="0F7AC5"/>
                </a:solidFill>
                <a:latin typeface="Calibri"/>
              </a:rPr>
              <a:t>Pegasus (LBG)</a:t>
            </a:r>
          </a:p>
        </p:txBody>
      </p:sp>
      <p:sp>
        <p:nvSpPr>
          <p:cNvPr id="16" name="Rectangle 15"/>
          <p:cNvSpPr/>
          <p:nvPr/>
        </p:nvSpPr>
        <p:spPr>
          <a:xfrm>
            <a:off x="2505456" y="1645920"/>
            <a:ext cx="932688"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1673352"/>
            <a:ext cx="886968" cy="164592"/>
          </a:xfrm>
          <a:prstGeom prst="rect">
            <a:avLst/>
          </a:prstGeom>
          <a:noFill/>
        </p:spPr>
        <p:txBody>
          <a:bodyPr wrap="square">
            <a:spAutoFit/>
          </a:bodyPr>
          <a:lstStyle/>
          <a:p>
            <a:pPr algn="l"/>
            <a:r>
              <a:rPr sz="750" b="1" i="0">
                <a:solidFill>
                  <a:srgbClr val="0F7AC5"/>
                </a:solidFill>
                <a:latin typeface="Calibri"/>
              </a:rPr>
              <a:t>BigQuery ML</a:t>
            </a:r>
          </a:p>
        </p:txBody>
      </p:sp>
      <p:sp>
        <p:nvSpPr>
          <p:cNvPr id="18" name="TextBox 17"/>
          <p:cNvSpPr txBox="1"/>
          <p:nvPr/>
        </p:nvSpPr>
        <p:spPr>
          <a:xfrm>
            <a:off x="548640" y="1920240"/>
            <a:ext cx="2880360" cy="201168"/>
          </a:xfrm>
          <a:prstGeom prst="rect">
            <a:avLst/>
          </a:prstGeom>
          <a:noFill/>
        </p:spPr>
        <p:txBody>
          <a:bodyPr wrap="square">
            <a:spAutoFit/>
          </a:bodyPr>
          <a:lstStyle/>
          <a:p>
            <a:pPr algn="l"/>
            <a:r>
              <a:rPr sz="750" b="1" i="0">
                <a:solidFill>
                  <a:srgbClr val="94A3B8"/>
                </a:solidFill>
                <a:latin typeface="Calibri"/>
              </a:rPr>
              <a:t>PCW Use Cases</a:t>
            </a:r>
          </a:p>
        </p:txBody>
      </p:sp>
      <p:sp>
        <p:nvSpPr>
          <p:cNvPr id="19" name="TextBox 18"/>
          <p:cNvSpPr txBox="1"/>
          <p:nvPr/>
        </p:nvSpPr>
        <p:spPr>
          <a:xfrm>
            <a:off x="548640" y="2103120"/>
            <a:ext cx="2880360" cy="1371600"/>
          </a:xfrm>
          <a:prstGeom prst="rect">
            <a:avLst/>
          </a:prstGeom>
          <a:noFill/>
        </p:spPr>
        <p:txBody>
          <a:bodyPr wrap="square">
            <a:spAutoFit/>
          </a:bodyPr>
          <a:lstStyle/>
          <a:p>
            <a:pPr>
              <a:spcBef>
                <a:spcPts val="150"/>
              </a:spcBef>
            </a:pPr>
            <a:r>
              <a:rPr sz="900">
                <a:solidFill>
                  <a:srgbClr val="475569"/>
                </a:solidFill>
                <a:latin typeface="Calibri"/>
              </a:rPr>
              <a:t>- PCW ranking trend prediction</a:t>
            </a:r>
          </a:p>
          <a:p>
            <a:pPr>
              <a:spcBef>
                <a:spcPts val="150"/>
              </a:spcBef>
            </a:pPr>
            <a:r>
              <a:rPr sz="900">
                <a:solidFill>
                  <a:srgbClr val="475569"/>
                </a:solidFill>
                <a:latin typeface="Calibri"/>
              </a:rPr>
              <a:t>- Price elasticity &amp; demand modelling</a:t>
            </a:r>
          </a:p>
          <a:p>
            <a:pPr>
              <a:spcBef>
                <a:spcPts val="150"/>
              </a:spcBef>
            </a:pPr>
            <a:r>
              <a:rPr sz="900">
                <a:solidFill>
                  <a:srgbClr val="475569"/>
                </a:solidFill>
                <a:latin typeface="Calibri"/>
              </a:rPr>
              <a:t>- Competitor behaviour clustering</a:t>
            </a:r>
          </a:p>
          <a:p>
            <a:pPr>
              <a:spcBef>
                <a:spcPts val="150"/>
              </a:spcBef>
            </a:pPr>
            <a:r>
              <a:rPr sz="900">
                <a:solidFill>
                  <a:srgbClr val="475569"/>
                </a:solidFill>
                <a:latin typeface="Calibri"/>
              </a:rPr>
              <a:t>- Anomaly detection in market data</a:t>
            </a:r>
          </a:p>
          <a:p>
            <a:pPr>
              <a:spcBef>
                <a:spcPts val="150"/>
              </a:spcBef>
            </a:pPr>
            <a:r>
              <a:rPr sz="900">
                <a:solidFill>
                  <a:srgbClr val="475569"/>
                </a:solidFill>
                <a:latin typeface="Calibri"/>
              </a:rPr>
              <a:t>- Quote conversion propensity</a:t>
            </a:r>
          </a:p>
          <a:p>
            <a:pPr>
              <a:spcBef>
                <a:spcPts val="150"/>
              </a:spcBef>
            </a:pPr>
            <a:r>
              <a:rPr sz="900">
                <a:solidFill>
                  <a:srgbClr val="475569"/>
                </a:solidFill>
                <a:latin typeface="Calibri"/>
              </a:rPr>
              <a:t>- Market share estimation models</a:t>
            </a:r>
          </a:p>
        </p:txBody>
      </p:sp>
      <p:sp>
        <p:nvSpPr>
          <p:cNvPr id="20" name="TextBox 19"/>
          <p:cNvSpPr txBox="1"/>
          <p:nvPr/>
        </p:nvSpPr>
        <p:spPr>
          <a:xfrm>
            <a:off x="548640" y="356616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21" name="TextBox 20"/>
          <p:cNvSpPr txBox="1"/>
          <p:nvPr/>
        </p:nvSpPr>
        <p:spPr>
          <a:xfrm>
            <a:off x="548640" y="3776472"/>
            <a:ext cx="2880360" cy="2743200"/>
          </a:xfrm>
          <a:prstGeom prst="rect">
            <a:avLst/>
          </a:prstGeom>
          <a:noFill/>
        </p:spPr>
        <p:txBody>
          <a:bodyPr wrap="square">
            <a:spAutoFit/>
          </a:bodyPr>
          <a:lstStyle/>
          <a:p>
            <a:pPr algn="l"/>
            <a:r>
              <a:rPr sz="900" b="0" i="0">
                <a:solidFill>
                  <a:srgbClr val="475569"/>
                </a:solidFill>
                <a:latin typeface="Calibri"/>
              </a:rPr>
              <a:t>High accuracy on structured data. Explainable SHAP/LIME outputs. Production-proven at LBG scale. Low inference latency. Champion/challenger tested via Pegasus.</a:t>
            </a:r>
          </a:p>
        </p:txBody>
      </p:sp>
      <p:sp>
        <p:nvSpPr>
          <p:cNvPr id="22" name="Rectangle 21"/>
          <p:cNvSpPr/>
          <p:nvPr/>
        </p:nvSpPr>
        <p:spPr>
          <a:xfrm>
            <a:off x="3584448"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84448" y="1051560"/>
            <a:ext cx="30175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5888" y="1143000"/>
            <a:ext cx="2880360" cy="256032"/>
          </a:xfrm>
          <a:prstGeom prst="rect">
            <a:avLst/>
          </a:prstGeom>
          <a:noFill/>
        </p:spPr>
        <p:txBody>
          <a:bodyPr wrap="square">
            <a:spAutoFit/>
          </a:bodyPr>
          <a:lstStyle/>
          <a:p>
            <a:pPr algn="l"/>
            <a:r>
              <a:rPr sz="1100" b="1" i="0">
                <a:solidFill>
                  <a:srgbClr val="0D9488"/>
                </a:solidFill>
                <a:latin typeface="Calibri"/>
              </a:rPr>
              <a:t>Generative AI (Gemini)</a:t>
            </a:r>
          </a:p>
        </p:txBody>
      </p:sp>
      <p:sp>
        <p:nvSpPr>
          <p:cNvPr id="25" name="TextBox 24"/>
          <p:cNvSpPr txBox="1"/>
          <p:nvPr/>
        </p:nvSpPr>
        <p:spPr>
          <a:xfrm>
            <a:off x="3675888" y="1399032"/>
            <a:ext cx="2880360" cy="201168"/>
          </a:xfrm>
          <a:prstGeom prst="rect">
            <a:avLst/>
          </a:prstGeom>
          <a:noFill/>
        </p:spPr>
        <p:txBody>
          <a:bodyPr wrap="square">
            <a:spAutoFit/>
          </a:bodyPr>
          <a:lstStyle/>
          <a:p>
            <a:pPr algn="l"/>
            <a:r>
              <a:rPr sz="900" b="0" i="0">
                <a:solidFill>
                  <a:srgbClr val="0D9488"/>
                </a:solidFill>
                <a:latin typeface="Calibri"/>
              </a:rPr>
              <a:t>Analysis, Synthesis &amp; Explanation</a:t>
            </a:r>
          </a:p>
        </p:txBody>
      </p:sp>
      <p:sp>
        <p:nvSpPr>
          <p:cNvPr id="26" name="Rectangle 25"/>
          <p:cNvSpPr/>
          <p:nvPr/>
        </p:nvSpPr>
        <p:spPr>
          <a:xfrm>
            <a:off x="3675888" y="1645920"/>
            <a:ext cx="8686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21608" y="1673352"/>
            <a:ext cx="822960" cy="164592"/>
          </a:xfrm>
          <a:prstGeom prst="rect">
            <a:avLst/>
          </a:prstGeom>
          <a:noFill/>
        </p:spPr>
        <p:txBody>
          <a:bodyPr wrap="square">
            <a:spAutoFit/>
          </a:bodyPr>
          <a:lstStyle/>
          <a:p>
            <a:pPr algn="l"/>
            <a:r>
              <a:rPr sz="750" b="1" i="0">
                <a:solidFill>
                  <a:srgbClr val="0D9488"/>
                </a:solidFill>
                <a:latin typeface="Calibri"/>
              </a:rPr>
              <a:t>Gemini Pro</a:t>
            </a:r>
          </a:p>
        </p:txBody>
      </p:sp>
      <p:sp>
        <p:nvSpPr>
          <p:cNvPr id="28" name="Rectangle 27"/>
          <p:cNvSpPr/>
          <p:nvPr/>
        </p:nvSpPr>
        <p:spPr>
          <a:xfrm>
            <a:off x="4590288"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6008" y="1673352"/>
            <a:ext cx="758952" cy="164592"/>
          </a:xfrm>
          <a:prstGeom prst="rect">
            <a:avLst/>
          </a:prstGeom>
          <a:noFill/>
        </p:spPr>
        <p:txBody>
          <a:bodyPr wrap="square">
            <a:spAutoFit/>
          </a:bodyPr>
          <a:lstStyle/>
          <a:p>
            <a:pPr algn="l"/>
            <a:r>
              <a:rPr sz="750" b="1" i="0">
                <a:solidFill>
                  <a:srgbClr val="0D9488"/>
                </a:solidFill>
                <a:latin typeface="Calibri"/>
              </a:rPr>
              <a:t>Vertex AI</a:t>
            </a:r>
          </a:p>
        </p:txBody>
      </p:sp>
      <p:sp>
        <p:nvSpPr>
          <p:cNvPr id="30" name="Rectangle 29"/>
          <p:cNvSpPr/>
          <p:nvPr/>
        </p:nvSpPr>
        <p:spPr>
          <a:xfrm>
            <a:off x="5440680" y="1645920"/>
            <a:ext cx="112471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1673352"/>
            <a:ext cx="1078992" cy="164592"/>
          </a:xfrm>
          <a:prstGeom prst="rect">
            <a:avLst/>
          </a:prstGeom>
          <a:noFill/>
        </p:spPr>
        <p:txBody>
          <a:bodyPr wrap="square">
            <a:spAutoFit/>
          </a:bodyPr>
          <a:lstStyle/>
          <a:p>
            <a:pPr algn="l"/>
            <a:r>
              <a:rPr sz="750" b="1" i="0">
                <a:solidFill>
                  <a:srgbClr val="0D9488"/>
                </a:solidFill>
                <a:latin typeface="Calibri"/>
              </a:rPr>
              <a:t>RAG (BigQuery)</a:t>
            </a:r>
          </a:p>
        </p:txBody>
      </p:sp>
      <p:sp>
        <p:nvSpPr>
          <p:cNvPr id="32" name="TextBox 31"/>
          <p:cNvSpPr txBox="1"/>
          <p:nvPr/>
        </p:nvSpPr>
        <p:spPr>
          <a:xfrm>
            <a:off x="3675888" y="1920240"/>
            <a:ext cx="2880360" cy="201168"/>
          </a:xfrm>
          <a:prstGeom prst="rect">
            <a:avLst/>
          </a:prstGeom>
          <a:noFill/>
        </p:spPr>
        <p:txBody>
          <a:bodyPr wrap="square">
            <a:spAutoFit/>
          </a:bodyPr>
          <a:lstStyle/>
          <a:p>
            <a:pPr algn="l"/>
            <a:r>
              <a:rPr sz="750" b="1" i="0">
                <a:solidFill>
                  <a:srgbClr val="94A3B8"/>
                </a:solidFill>
                <a:latin typeface="Calibri"/>
              </a:rPr>
              <a:t>PCW Use Cases</a:t>
            </a:r>
          </a:p>
        </p:txBody>
      </p:sp>
      <p:sp>
        <p:nvSpPr>
          <p:cNvPr id="33" name="TextBox 32"/>
          <p:cNvSpPr txBox="1"/>
          <p:nvPr/>
        </p:nvSpPr>
        <p:spPr>
          <a:xfrm>
            <a:off x="3675888" y="2103120"/>
            <a:ext cx="2880360" cy="1371600"/>
          </a:xfrm>
          <a:prstGeom prst="rect">
            <a:avLst/>
          </a:prstGeom>
          <a:noFill/>
        </p:spPr>
        <p:txBody>
          <a:bodyPr wrap="square">
            <a:spAutoFit/>
          </a:bodyPr>
          <a:lstStyle/>
          <a:p>
            <a:pPr>
              <a:spcBef>
                <a:spcPts val="150"/>
              </a:spcBef>
            </a:pPr>
            <a:r>
              <a:rPr sz="900">
                <a:solidFill>
                  <a:srgbClr val="475569"/>
                </a:solidFill>
                <a:latin typeface="Calibri"/>
              </a:rPr>
              <a:t>- Competitor proposition summarisation</a:t>
            </a:r>
          </a:p>
          <a:p>
            <a:pPr>
              <a:spcBef>
                <a:spcPts val="150"/>
              </a:spcBef>
            </a:pPr>
            <a:r>
              <a:rPr sz="900">
                <a:solidFill>
                  <a:srgbClr val="475569"/>
                </a:solidFill>
                <a:latin typeface="Calibri"/>
              </a:rPr>
              <a:t>- Executive intelligence briefing generation</a:t>
            </a:r>
          </a:p>
          <a:p>
            <a:pPr>
              <a:spcBef>
                <a:spcPts val="150"/>
              </a:spcBef>
            </a:pPr>
            <a:r>
              <a:rPr sz="900">
                <a:solidFill>
                  <a:srgbClr val="475569"/>
                </a:solidFill>
                <a:latin typeface="Calibri"/>
              </a:rPr>
              <a:t>- Recommendation rationale drafting</a:t>
            </a:r>
          </a:p>
          <a:p>
            <a:pPr>
              <a:spcBef>
                <a:spcPts val="150"/>
              </a:spcBef>
            </a:pPr>
            <a:r>
              <a:rPr sz="900">
                <a:solidFill>
                  <a:srgbClr val="475569"/>
                </a:solidFill>
                <a:latin typeface="Calibri"/>
              </a:rPr>
              <a:t>- Market commentary synthesis</a:t>
            </a:r>
          </a:p>
          <a:p>
            <a:pPr>
              <a:spcBef>
                <a:spcPts val="150"/>
              </a:spcBef>
            </a:pPr>
            <a:r>
              <a:rPr sz="900">
                <a:solidFill>
                  <a:srgbClr val="475569"/>
                </a:solidFill>
                <a:latin typeface="Calibri"/>
              </a:rPr>
              <a:t>- Regulatory change impact assessment</a:t>
            </a:r>
          </a:p>
          <a:p>
            <a:pPr>
              <a:spcBef>
                <a:spcPts val="150"/>
              </a:spcBef>
            </a:pPr>
            <a:r>
              <a:rPr sz="900">
                <a:solidFill>
                  <a:srgbClr val="475569"/>
                </a:solidFill>
                <a:latin typeface="Calibri"/>
              </a:rPr>
              <a:t>- Customer review sentiment analysis</a:t>
            </a:r>
          </a:p>
        </p:txBody>
      </p:sp>
      <p:sp>
        <p:nvSpPr>
          <p:cNvPr id="34" name="TextBox 33"/>
          <p:cNvSpPr txBox="1"/>
          <p:nvPr/>
        </p:nvSpPr>
        <p:spPr>
          <a:xfrm>
            <a:off x="3675888" y="356616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35" name="TextBox 34"/>
          <p:cNvSpPr txBox="1"/>
          <p:nvPr/>
        </p:nvSpPr>
        <p:spPr>
          <a:xfrm>
            <a:off x="3675888" y="3776472"/>
            <a:ext cx="2880360" cy="2743200"/>
          </a:xfrm>
          <a:prstGeom prst="rect">
            <a:avLst/>
          </a:prstGeom>
          <a:noFill/>
        </p:spPr>
        <p:txBody>
          <a:bodyPr wrap="square">
            <a:spAutoFit/>
          </a:bodyPr>
          <a:lstStyle/>
          <a:p>
            <a:pPr algn="l"/>
            <a:r>
              <a:rPr sz="900" b="0" i="0">
                <a:solidFill>
                  <a:srgbClr val="475569"/>
                </a:solidFill>
                <a:latin typeface="Calibri"/>
              </a:rPr>
              <a:t>Transforms unstructured data into actionable insight. Reduces analyst effort by 60-80% on synthesis tasks. Generates readable, explainable outputs. Governed via Model Armor and Cortex.</a:t>
            </a:r>
          </a:p>
        </p:txBody>
      </p:sp>
      <p:sp>
        <p:nvSpPr>
          <p:cNvPr id="36" name="Rectangle 35"/>
          <p:cNvSpPr/>
          <p:nvPr/>
        </p:nvSpPr>
        <p:spPr>
          <a:xfrm>
            <a:off x="6711696"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11696" y="1051560"/>
            <a:ext cx="30175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03136" y="1143000"/>
            <a:ext cx="2880360" cy="256032"/>
          </a:xfrm>
          <a:prstGeom prst="rect">
            <a:avLst/>
          </a:prstGeom>
          <a:noFill/>
        </p:spPr>
        <p:txBody>
          <a:bodyPr wrap="square">
            <a:spAutoFit/>
          </a:bodyPr>
          <a:lstStyle/>
          <a:p>
            <a:pPr algn="l"/>
            <a:r>
              <a:rPr sz="1100" b="1" i="0">
                <a:solidFill>
                  <a:srgbClr val="7C3AED"/>
                </a:solidFill>
                <a:latin typeface="Calibri"/>
              </a:rPr>
              <a:t>Agentic AI (ENVOY / ADK)</a:t>
            </a:r>
          </a:p>
        </p:txBody>
      </p:sp>
      <p:sp>
        <p:nvSpPr>
          <p:cNvPr id="39" name="TextBox 38"/>
          <p:cNvSpPr txBox="1"/>
          <p:nvPr/>
        </p:nvSpPr>
        <p:spPr>
          <a:xfrm>
            <a:off x="6803136" y="1399032"/>
            <a:ext cx="2880360" cy="201168"/>
          </a:xfrm>
          <a:prstGeom prst="rect">
            <a:avLst/>
          </a:prstGeom>
          <a:noFill/>
        </p:spPr>
        <p:txBody>
          <a:bodyPr wrap="square">
            <a:spAutoFit/>
          </a:bodyPr>
          <a:lstStyle/>
          <a:p>
            <a:pPr algn="l"/>
            <a:r>
              <a:rPr sz="900" b="0" i="0">
                <a:solidFill>
                  <a:srgbClr val="7C3AED"/>
                </a:solidFill>
                <a:latin typeface="Calibri"/>
              </a:rPr>
              <a:t>Orchestration &amp; Multi-Step Automation</a:t>
            </a:r>
          </a:p>
        </p:txBody>
      </p:sp>
      <p:sp>
        <p:nvSpPr>
          <p:cNvPr id="40" name="Rectangle 39"/>
          <p:cNvSpPr/>
          <p:nvPr/>
        </p:nvSpPr>
        <p:spPr>
          <a:xfrm>
            <a:off x="6803136"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48856" y="1673352"/>
            <a:ext cx="758952" cy="164592"/>
          </a:xfrm>
          <a:prstGeom prst="rect">
            <a:avLst/>
          </a:prstGeom>
          <a:noFill/>
        </p:spPr>
        <p:txBody>
          <a:bodyPr wrap="square">
            <a:spAutoFit/>
          </a:bodyPr>
          <a:lstStyle/>
          <a:p>
            <a:pPr algn="l"/>
            <a:r>
              <a:rPr sz="750" b="1" i="0">
                <a:solidFill>
                  <a:srgbClr val="7C3AED"/>
                </a:solidFill>
                <a:latin typeface="Calibri"/>
              </a:rPr>
              <a:t>ENVOY ADK</a:t>
            </a:r>
          </a:p>
        </p:txBody>
      </p:sp>
      <p:sp>
        <p:nvSpPr>
          <p:cNvPr id="42" name="Rectangle 41"/>
          <p:cNvSpPr/>
          <p:nvPr/>
        </p:nvSpPr>
        <p:spPr>
          <a:xfrm>
            <a:off x="7653528" y="1645920"/>
            <a:ext cx="1636776"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99248" y="1673352"/>
            <a:ext cx="1591056" cy="164592"/>
          </a:xfrm>
          <a:prstGeom prst="rect">
            <a:avLst/>
          </a:prstGeom>
          <a:noFill/>
        </p:spPr>
        <p:txBody>
          <a:bodyPr wrap="square">
            <a:spAutoFit/>
          </a:bodyPr>
          <a:lstStyle/>
          <a:p>
            <a:pPr algn="l"/>
            <a:r>
              <a:rPr sz="750" b="1" i="0">
                <a:solidFill>
                  <a:srgbClr val="7C3AED"/>
                </a:solidFill>
                <a:latin typeface="Calibri"/>
              </a:rPr>
              <a:t>Vertex AI Agent Engine</a:t>
            </a:r>
          </a:p>
        </p:txBody>
      </p:sp>
      <p:sp>
        <p:nvSpPr>
          <p:cNvPr id="44" name="Rectangle 43"/>
          <p:cNvSpPr/>
          <p:nvPr/>
        </p:nvSpPr>
        <p:spPr>
          <a:xfrm>
            <a:off x="9336024"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81744" y="1673352"/>
            <a:ext cx="758952" cy="164592"/>
          </a:xfrm>
          <a:prstGeom prst="rect">
            <a:avLst/>
          </a:prstGeom>
          <a:noFill/>
        </p:spPr>
        <p:txBody>
          <a:bodyPr wrap="square">
            <a:spAutoFit/>
          </a:bodyPr>
          <a:lstStyle/>
          <a:p>
            <a:pPr algn="l"/>
            <a:r>
              <a:rPr sz="750" b="1" i="0">
                <a:solidFill>
                  <a:srgbClr val="7C3AED"/>
                </a:solidFill>
                <a:latin typeface="Calibri"/>
              </a:rPr>
              <a:t>LangGraph</a:t>
            </a:r>
          </a:p>
        </p:txBody>
      </p:sp>
      <p:sp>
        <p:nvSpPr>
          <p:cNvPr id="46" name="TextBox 45"/>
          <p:cNvSpPr txBox="1"/>
          <p:nvPr/>
        </p:nvSpPr>
        <p:spPr>
          <a:xfrm>
            <a:off x="6803136" y="1920240"/>
            <a:ext cx="2880360" cy="201168"/>
          </a:xfrm>
          <a:prstGeom prst="rect">
            <a:avLst/>
          </a:prstGeom>
          <a:noFill/>
        </p:spPr>
        <p:txBody>
          <a:bodyPr wrap="square">
            <a:spAutoFit/>
          </a:bodyPr>
          <a:lstStyle/>
          <a:p>
            <a:pPr algn="l"/>
            <a:r>
              <a:rPr sz="750" b="1" i="0">
                <a:solidFill>
                  <a:srgbClr val="94A3B8"/>
                </a:solidFill>
                <a:latin typeface="Calibri"/>
              </a:rPr>
              <a:t>PCW Use Cases</a:t>
            </a:r>
          </a:p>
        </p:txBody>
      </p:sp>
      <p:sp>
        <p:nvSpPr>
          <p:cNvPr id="47" name="TextBox 46"/>
          <p:cNvSpPr txBox="1"/>
          <p:nvPr/>
        </p:nvSpPr>
        <p:spPr>
          <a:xfrm>
            <a:off x="6803136" y="2103120"/>
            <a:ext cx="2880360" cy="1371600"/>
          </a:xfrm>
          <a:prstGeom prst="rect">
            <a:avLst/>
          </a:prstGeom>
          <a:noFill/>
        </p:spPr>
        <p:txBody>
          <a:bodyPr wrap="square">
            <a:spAutoFit/>
          </a:bodyPr>
          <a:lstStyle/>
          <a:p>
            <a:pPr>
              <a:spcBef>
                <a:spcPts val="150"/>
              </a:spcBef>
            </a:pPr>
            <a:r>
              <a:rPr sz="900">
                <a:solidFill>
                  <a:srgbClr val="475569"/>
                </a:solidFill>
                <a:latin typeface="Calibri"/>
              </a:rPr>
              <a:t>- Multi-step competitor investigation workflows</a:t>
            </a:r>
          </a:p>
          <a:p>
            <a:pPr>
              <a:spcBef>
                <a:spcPts val="150"/>
              </a:spcBef>
            </a:pPr>
            <a:r>
              <a:rPr sz="900">
                <a:solidFill>
                  <a:srgbClr val="475569"/>
                </a:solidFill>
                <a:latin typeface="Calibri"/>
              </a:rPr>
              <a:t>- Autonomous PCW data collection &amp; validation</a:t>
            </a:r>
          </a:p>
          <a:p>
            <a:pPr>
              <a:spcBef>
                <a:spcPts val="150"/>
              </a:spcBef>
            </a:pPr>
            <a:r>
              <a:rPr sz="900">
                <a:solidFill>
                  <a:srgbClr val="475569"/>
                </a:solidFill>
                <a:latin typeface="Calibri"/>
              </a:rPr>
              <a:t>- Event-triggered market movement analysis</a:t>
            </a:r>
          </a:p>
          <a:p>
            <a:pPr>
              <a:spcBef>
                <a:spcPts val="150"/>
              </a:spcBef>
            </a:pPr>
            <a:r>
              <a:rPr sz="900">
                <a:solidFill>
                  <a:srgbClr val="475569"/>
                </a:solidFill>
                <a:latin typeface="Calibri"/>
              </a:rPr>
              <a:t>- Cross-agent intelligence aggregation</a:t>
            </a:r>
          </a:p>
          <a:p>
            <a:pPr>
              <a:spcBef>
                <a:spcPts val="150"/>
              </a:spcBef>
            </a:pPr>
            <a:r>
              <a:rPr sz="900">
                <a:solidFill>
                  <a:srgbClr val="475569"/>
                </a:solidFill>
                <a:latin typeface="Calibri"/>
              </a:rPr>
              <a:t>- Simulation scenario orchestration</a:t>
            </a:r>
          </a:p>
          <a:p>
            <a:pPr>
              <a:spcBef>
                <a:spcPts val="150"/>
              </a:spcBef>
            </a:pPr>
            <a:r>
              <a:rPr sz="900">
                <a:solidFill>
                  <a:srgbClr val="475569"/>
                </a:solidFill>
                <a:latin typeface="Calibri"/>
              </a:rPr>
              <a:t>- Governance escalation &amp; routing</a:t>
            </a:r>
          </a:p>
        </p:txBody>
      </p:sp>
      <p:sp>
        <p:nvSpPr>
          <p:cNvPr id="48" name="TextBox 47"/>
          <p:cNvSpPr txBox="1"/>
          <p:nvPr/>
        </p:nvSpPr>
        <p:spPr>
          <a:xfrm>
            <a:off x="6803136" y="356616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49" name="TextBox 48"/>
          <p:cNvSpPr txBox="1"/>
          <p:nvPr/>
        </p:nvSpPr>
        <p:spPr>
          <a:xfrm>
            <a:off x="6803136" y="3776472"/>
            <a:ext cx="2880360" cy="2743200"/>
          </a:xfrm>
          <a:prstGeom prst="rect">
            <a:avLst/>
          </a:prstGeom>
          <a:noFill/>
        </p:spPr>
        <p:txBody>
          <a:bodyPr wrap="square">
            <a:spAutoFit/>
          </a:bodyPr>
          <a:lstStyle/>
          <a:p>
            <a:pPr algn="l"/>
            <a:r>
              <a:rPr sz="900" b="0" i="0">
                <a:solidFill>
                  <a:srgbClr val="475569"/>
                </a:solidFill>
                <a:latin typeface="Calibri"/>
              </a:rPr>
              <a:t>Combines ML and GenAI in governed workflows. Executes complex multi-step tasks autonomously. Human-in-the-loop at defined governance gates. Full observability via ObserveAll and Dynatrace.</a:t>
            </a:r>
          </a:p>
        </p:txBody>
      </p:sp>
      <p:sp>
        <p:nvSpPr>
          <p:cNvPr id="50" name="Rectangle 49"/>
          <p:cNvSpPr/>
          <p:nvPr/>
        </p:nvSpPr>
        <p:spPr>
          <a:xfrm>
            <a:off x="9838944" y="1051560"/>
            <a:ext cx="2606040" cy="5623560"/>
          </a:xfrm>
          <a:prstGeom prst="rect">
            <a:avLst/>
          </a:prstGeom>
          <a:solidFill>
            <a:srgbClr val="0A1628"/>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38944" y="1051560"/>
            <a:ext cx="2606040" cy="54864"/>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0384" y="1161288"/>
            <a:ext cx="2468880" cy="292608"/>
          </a:xfrm>
          <a:prstGeom prst="rect">
            <a:avLst/>
          </a:prstGeom>
          <a:noFill/>
        </p:spPr>
        <p:txBody>
          <a:bodyPr wrap="square">
            <a:spAutoFit/>
          </a:bodyPr>
          <a:lstStyle/>
          <a:p>
            <a:pPr algn="l"/>
            <a:r>
              <a:rPr sz="1000" b="1" i="0">
                <a:solidFill>
                  <a:srgbClr val="C9A84C"/>
                </a:solidFill>
                <a:latin typeface="Calibri"/>
              </a:rPr>
              <a:t>ENVOY Platform Foundation</a:t>
            </a:r>
          </a:p>
        </p:txBody>
      </p:sp>
      <p:sp>
        <p:nvSpPr>
          <p:cNvPr id="53" name="Rectangle 52"/>
          <p:cNvSpPr/>
          <p:nvPr/>
        </p:nvSpPr>
        <p:spPr>
          <a:xfrm>
            <a:off x="9930384" y="152704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6104" y="1600200"/>
            <a:ext cx="2331720" cy="256032"/>
          </a:xfrm>
          <a:prstGeom prst="rect">
            <a:avLst/>
          </a:prstGeom>
          <a:noFill/>
        </p:spPr>
        <p:txBody>
          <a:bodyPr wrap="square">
            <a:spAutoFit/>
          </a:bodyPr>
          <a:lstStyle/>
          <a:p>
            <a:pPr algn="l"/>
            <a:r>
              <a:rPr sz="900" b="0" i="0">
                <a:solidFill>
                  <a:srgbClr val="FFFFFF"/>
                </a:solidFill>
                <a:latin typeface="Calibri"/>
              </a:rPr>
              <a:t>Google Cloud (GCP)</a:t>
            </a:r>
          </a:p>
        </p:txBody>
      </p:sp>
      <p:sp>
        <p:nvSpPr>
          <p:cNvPr id="55" name="Rectangle 54"/>
          <p:cNvSpPr/>
          <p:nvPr/>
        </p:nvSpPr>
        <p:spPr>
          <a:xfrm>
            <a:off x="9930384" y="196596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76104" y="2039112"/>
            <a:ext cx="2331720" cy="256032"/>
          </a:xfrm>
          <a:prstGeom prst="rect">
            <a:avLst/>
          </a:prstGeom>
          <a:noFill/>
        </p:spPr>
        <p:txBody>
          <a:bodyPr wrap="square">
            <a:spAutoFit/>
          </a:bodyPr>
          <a:lstStyle/>
          <a:p>
            <a:pPr algn="l"/>
            <a:r>
              <a:rPr sz="900" b="0" i="0">
                <a:solidFill>
                  <a:srgbClr val="FFFFFF"/>
                </a:solidFill>
                <a:latin typeface="Calibri"/>
              </a:rPr>
              <a:t>Vertex AI Agent Engine</a:t>
            </a:r>
          </a:p>
        </p:txBody>
      </p:sp>
      <p:sp>
        <p:nvSpPr>
          <p:cNvPr id="57" name="Rectangle 56"/>
          <p:cNvSpPr/>
          <p:nvPr/>
        </p:nvSpPr>
        <p:spPr>
          <a:xfrm>
            <a:off x="9930384" y="240487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76104" y="2478024"/>
            <a:ext cx="2331720" cy="256032"/>
          </a:xfrm>
          <a:prstGeom prst="rect">
            <a:avLst/>
          </a:prstGeom>
          <a:noFill/>
        </p:spPr>
        <p:txBody>
          <a:bodyPr wrap="square">
            <a:spAutoFit/>
          </a:bodyPr>
          <a:lstStyle/>
          <a:p>
            <a:pPr algn="l"/>
            <a:r>
              <a:rPr sz="900" b="0" i="0">
                <a:solidFill>
                  <a:srgbClr val="FFFFFF"/>
                </a:solidFill>
                <a:latin typeface="Calibri"/>
              </a:rPr>
              <a:t>ADK (Agent Dev Kit)</a:t>
            </a:r>
          </a:p>
        </p:txBody>
      </p:sp>
      <p:sp>
        <p:nvSpPr>
          <p:cNvPr id="59" name="Rectangle 58"/>
          <p:cNvSpPr/>
          <p:nvPr/>
        </p:nvSpPr>
        <p:spPr>
          <a:xfrm>
            <a:off x="9930384" y="284378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76104" y="2916936"/>
            <a:ext cx="2331720" cy="256032"/>
          </a:xfrm>
          <a:prstGeom prst="rect">
            <a:avLst/>
          </a:prstGeom>
          <a:noFill/>
        </p:spPr>
        <p:txBody>
          <a:bodyPr wrap="square">
            <a:spAutoFit/>
          </a:bodyPr>
          <a:lstStyle/>
          <a:p>
            <a:pPr algn="l"/>
            <a:r>
              <a:rPr sz="900" b="0" i="0">
                <a:solidFill>
                  <a:srgbClr val="FFFFFF"/>
                </a:solidFill>
                <a:latin typeface="Calibri"/>
              </a:rPr>
              <a:t>Gemini (LLM)</a:t>
            </a:r>
          </a:p>
        </p:txBody>
      </p:sp>
      <p:sp>
        <p:nvSpPr>
          <p:cNvPr id="61" name="Rectangle 60"/>
          <p:cNvSpPr/>
          <p:nvPr/>
        </p:nvSpPr>
        <p:spPr>
          <a:xfrm>
            <a:off x="9930384" y="328269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76104" y="3355848"/>
            <a:ext cx="2331720" cy="256032"/>
          </a:xfrm>
          <a:prstGeom prst="rect">
            <a:avLst/>
          </a:prstGeom>
          <a:noFill/>
        </p:spPr>
        <p:txBody>
          <a:bodyPr wrap="square">
            <a:spAutoFit/>
          </a:bodyPr>
          <a:lstStyle/>
          <a:p>
            <a:pPr algn="l"/>
            <a:r>
              <a:rPr sz="900" b="0" i="0">
                <a:solidFill>
                  <a:srgbClr val="FFFFFF"/>
                </a:solidFill>
                <a:latin typeface="Calibri"/>
              </a:rPr>
              <a:t>Cortex (Control Plane)</a:t>
            </a:r>
          </a:p>
        </p:txBody>
      </p:sp>
      <p:sp>
        <p:nvSpPr>
          <p:cNvPr id="63" name="Rectangle 62"/>
          <p:cNvSpPr/>
          <p:nvPr/>
        </p:nvSpPr>
        <p:spPr>
          <a:xfrm>
            <a:off x="9930384" y="372160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76104" y="3794760"/>
            <a:ext cx="2331720" cy="256032"/>
          </a:xfrm>
          <a:prstGeom prst="rect">
            <a:avLst/>
          </a:prstGeom>
          <a:noFill/>
        </p:spPr>
        <p:txBody>
          <a:bodyPr wrap="square">
            <a:spAutoFit/>
          </a:bodyPr>
          <a:lstStyle/>
          <a:p>
            <a:pPr algn="l"/>
            <a:r>
              <a:rPr sz="900" b="0" i="0">
                <a:solidFill>
                  <a:srgbClr val="FFFFFF"/>
                </a:solidFill>
                <a:latin typeface="Calibri"/>
              </a:rPr>
              <a:t>Pegasus (Evaluation)</a:t>
            </a:r>
          </a:p>
        </p:txBody>
      </p:sp>
      <p:sp>
        <p:nvSpPr>
          <p:cNvPr id="65" name="Rectangle 64"/>
          <p:cNvSpPr/>
          <p:nvPr/>
        </p:nvSpPr>
        <p:spPr>
          <a:xfrm>
            <a:off x="9930384" y="416052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76104" y="4233672"/>
            <a:ext cx="2331720" cy="256032"/>
          </a:xfrm>
          <a:prstGeom prst="rect">
            <a:avLst/>
          </a:prstGeom>
          <a:noFill/>
        </p:spPr>
        <p:txBody>
          <a:bodyPr wrap="square">
            <a:spAutoFit/>
          </a:bodyPr>
          <a:lstStyle/>
          <a:p>
            <a:pPr algn="l"/>
            <a:r>
              <a:rPr sz="900" b="0" i="0">
                <a:solidFill>
                  <a:srgbClr val="FFFFFF"/>
                </a:solidFill>
                <a:latin typeface="Calibri"/>
              </a:rPr>
              <a:t>Model Armor (Safety)</a:t>
            </a:r>
          </a:p>
        </p:txBody>
      </p:sp>
      <p:sp>
        <p:nvSpPr>
          <p:cNvPr id="67" name="Rectangle 66"/>
          <p:cNvSpPr/>
          <p:nvPr/>
        </p:nvSpPr>
        <p:spPr>
          <a:xfrm>
            <a:off x="9930384" y="459943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76104" y="4672584"/>
            <a:ext cx="2331720" cy="256032"/>
          </a:xfrm>
          <a:prstGeom prst="rect">
            <a:avLst/>
          </a:prstGeom>
          <a:noFill/>
        </p:spPr>
        <p:txBody>
          <a:bodyPr wrap="square">
            <a:spAutoFit/>
          </a:bodyPr>
          <a:lstStyle/>
          <a:p>
            <a:pPr algn="l"/>
            <a:r>
              <a:rPr sz="900" b="0" i="0">
                <a:solidFill>
                  <a:srgbClr val="FFFFFF"/>
                </a:solidFill>
                <a:latin typeface="Calibri"/>
              </a:rPr>
              <a:t>Apigee (API Gateway)</a:t>
            </a:r>
          </a:p>
        </p:txBody>
      </p:sp>
      <p:sp>
        <p:nvSpPr>
          <p:cNvPr id="69" name="Rectangle 68"/>
          <p:cNvSpPr/>
          <p:nvPr/>
        </p:nvSpPr>
        <p:spPr>
          <a:xfrm>
            <a:off x="9930384" y="503834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976104" y="5111496"/>
            <a:ext cx="2331720" cy="256032"/>
          </a:xfrm>
          <a:prstGeom prst="rect">
            <a:avLst/>
          </a:prstGeom>
          <a:noFill/>
        </p:spPr>
        <p:txBody>
          <a:bodyPr wrap="square">
            <a:spAutoFit/>
          </a:bodyPr>
          <a:lstStyle/>
          <a:p>
            <a:pPr algn="l"/>
            <a:r>
              <a:rPr sz="900" b="0" i="0">
                <a:solidFill>
                  <a:srgbClr val="FFFFFF"/>
                </a:solidFill>
                <a:latin typeface="Calibri"/>
              </a:rPr>
              <a:t>Pega (Governance WF)</a:t>
            </a:r>
          </a:p>
        </p:txBody>
      </p:sp>
      <p:sp>
        <p:nvSpPr>
          <p:cNvPr id="71" name="Rectangle 70"/>
          <p:cNvSpPr/>
          <p:nvPr/>
        </p:nvSpPr>
        <p:spPr>
          <a:xfrm>
            <a:off x="9930384" y="547725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76104" y="5550408"/>
            <a:ext cx="2331720" cy="256032"/>
          </a:xfrm>
          <a:prstGeom prst="rect">
            <a:avLst/>
          </a:prstGeom>
          <a:noFill/>
        </p:spPr>
        <p:txBody>
          <a:bodyPr wrap="square">
            <a:spAutoFit/>
          </a:bodyPr>
          <a:lstStyle/>
          <a:p>
            <a:pPr algn="l"/>
            <a:r>
              <a:rPr sz="900" b="0" i="0">
                <a:solidFill>
                  <a:srgbClr val="FFFFFF"/>
                </a:solidFill>
                <a:latin typeface="Calibri"/>
              </a:rPr>
              <a:t>ObserveAll / Dynatrace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PLATFORM FOUNDATION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Shared Services &amp; Google Cloud Infrastructure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08 / 20</a:t>
            </a:r>
          </a:p>
        </p:txBody>
      </p:sp>
      <p:sp>
        <p:nvSpPr>
          <p:cNvPr id="8" name="TextBox 7"/>
          <p:cNvSpPr txBox="1"/>
          <p:nvPr/>
        </p:nvSpPr>
        <p:spPr>
          <a:xfrm>
            <a:off x="457200" y="1051560"/>
            <a:ext cx="4572000" cy="256032"/>
          </a:xfrm>
          <a:prstGeom prst="rect">
            <a:avLst/>
          </a:prstGeom>
          <a:noFill/>
        </p:spPr>
        <p:txBody>
          <a:bodyPr wrap="square">
            <a:spAutoFit/>
          </a:bodyPr>
          <a:lstStyle/>
          <a:p>
            <a:pPr algn="l"/>
            <a:r>
              <a:rPr sz="1000" b="1" i="0">
                <a:solidFill>
                  <a:srgbClr val="0A1628"/>
                </a:solidFill>
                <a:latin typeface="Calibri"/>
              </a:rPr>
              <a:t>ENVOY Shared Services</a:t>
            </a:r>
          </a:p>
        </p:txBody>
      </p:sp>
      <p:sp>
        <p:nvSpPr>
          <p:cNvPr id="9" name="Rectangle 8"/>
          <p:cNvSpPr/>
          <p:nvPr/>
        </p:nvSpPr>
        <p:spPr>
          <a:xfrm>
            <a:off x="457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1042416" cy="292608"/>
          </a:xfrm>
          <a:prstGeom prst="rect">
            <a:avLst/>
          </a:prstGeom>
          <a:noFill/>
        </p:spPr>
        <p:txBody>
          <a:bodyPr wrap="square">
            <a:spAutoFit/>
          </a:bodyPr>
          <a:lstStyle/>
          <a:p>
            <a:pPr algn="l"/>
            <a:r>
              <a:rPr sz="800" b="1" i="0">
                <a:solidFill>
                  <a:srgbClr val="FFFFFF"/>
                </a:solidFill>
                <a:latin typeface="Calibri"/>
              </a:rPr>
              <a:t>Memory Store</a:t>
            </a:r>
          </a:p>
        </p:txBody>
      </p:sp>
      <p:sp>
        <p:nvSpPr>
          <p:cNvPr id="11" name="Rectangle 10"/>
          <p:cNvSpPr/>
          <p:nvPr/>
        </p:nvSpPr>
        <p:spPr>
          <a:xfrm>
            <a:off x="1600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371600"/>
            <a:ext cx="1042416" cy="292608"/>
          </a:xfrm>
          <a:prstGeom prst="rect">
            <a:avLst/>
          </a:prstGeom>
          <a:noFill/>
        </p:spPr>
        <p:txBody>
          <a:bodyPr wrap="square">
            <a:spAutoFit/>
          </a:bodyPr>
          <a:lstStyle/>
          <a:p>
            <a:pPr algn="l"/>
            <a:r>
              <a:rPr sz="800" b="1" i="0">
                <a:solidFill>
                  <a:srgbClr val="FFFFFF"/>
                </a:solidFill>
                <a:latin typeface="Calibri"/>
              </a:rPr>
              <a:t>Session Store</a:t>
            </a:r>
          </a:p>
        </p:txBody>
      </p:sp>
      <p:sp>
        <p:nvSpPr>
          <p:cNvPr id="13" name="Rectangle 12"/>
          <p:cNvSpPr/>
          <p:nvPr/>
        </p:nvSpPr>
        <p:spPr>
          <a:xfrm>
            <a:off x="2743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1371600"/>
            <a:ext cx="1042416" cy="292608"/>
          </a:xfrm>
          <a:prstGeom prst="rect">
            <a:avLst/>
          </a:prstGeom>
          <a:noFill/>
        </p:spPr>
        <p:txBody>
          <a:bodyPr wrap="square">
            <a:spAutoFit/>
          </a:bodyPr>
          <a:lstStyle/>
          <a:p>
            <a:pPr algn="l"/>
            <a:r>
              <a:rPr sz="800" b="1" i="0">
                <a:solidFill>
                  <a:srgbClr val="FFFFFF"/>
                </a:solidFill>
                <a:latin typeface="Calibri"/>
              </a:rPr>
              <a:t>Tool Registry</a:t>
            </a:r>
          </a:p>
        </p:txBody>
      </p:sp>
      <p:sp>
        <p:nvSpPr>
          <p:cNvPr id="15" name="Rectangle 14"/>
          <p:cNvSpPr/>
          <p:nvPr/>
        </p:nvSpPr>
        <p:spPr>
          <a:xfrm>
            <a:off x="3886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1371600"/>
            <a:ext cx="1042416" cy="292608"/>
          </a:xfrm>
          <a:prstGeom prst="rect">
            <a:avLst/>
          </a:prstGeom>
          <a:noFill/>
        </p:spPr>
        <p:txBody>
          <a:bodyPr wrap="square">
            <a:spAutoFit/>
          </a:bodyPr>
          <a:lstStyle/>
          <a:p>
            <a:pPr algn="l"/>
            <a:r>
              <a:rPr sz="800" b="1" i="0">
                <a:solidFill>
                  <a:srgbClr val="FFFFFF"/>
                </a:solidFill>
                <a:latin typeface="Calibri"/>
              </a:rPr>
              <a:t>Agent Registry</a:t>
            </a:r>
          </a:p>
        </p:txBody>
      </p:sp>
      <p:sp>
        <p:nvSpPr>
          <p:cNvPr id="17" name="Rectangle 16"/>
          <p:cNvSpPr/>
          <p:nvPr/>
        </p:nvSpPr>
        <p:spPr>
          <a:xfrm>
            <a:off x="5029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371600"/>
            <a:ext cx="1042416" cy="292608"/>
          </a:xfrm>
          <a:prstGeom prst="rect">
            <a:avLst/>
          </a:prstGeom>
          <a:noFill/>
        </p:spPr>
        <p:txBody>
          <a:bodyPr wrap="square">
            <a:spAutoFit/>
          </a:bodyPr>
          <a:lstStyle/>
          <a:p>
            <a:pPr algn="l"/>
            <a:r>
              <a:rPr sz="800" b="1" i="0">
                <a:solidFill>
                  <a:srgbClr val="FFFFFF"/>
                </a:solidFill>
                <a:latin typeface="Calibri"/>
              </a:rPr>
              <a:t>Prompt Registry</a:t>
            </a:r>
          </a:p>
        </p:txBody>
      </p:sp>
      <p:sp>
        <p:nvSpPr>
          <p:cNvPr id="19" name="Rectangle 18"/>
          <p:cNvSpPr/>
          <p:nvPr/>
        </p:nvSpPr>
        <p:spPr>
          <a:xfrm>
            <a:off x="6172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371600"/>
            <a:ext cx="1042416" cy="292608"/>
          </a:xfrm>
          <a:prstGeom prst="rect">
            <a:avLst/>
          </a:prstGeom>
          <a:noFill/>
        </p:spPr>
        <p:txBody>
          <a:bodyPr wrap="square">
            <a:spAutoFit/>
          </a:bodyPr>
          <a:lstStyle/>
          <a:p>
            <a:pPr algn="l"/>
            <a:r>
              <a:rPr sz="800" b="1" i="0">
                <a:solidFill>
                  <a:srgbClr val="FFFFFF"/>
                </a:solidFill>
                <a:latin typeface="Calibri"/>
              </a:rPr>
              <a:t>Policy Registry</a:t>
            </a:r>
          </a:p>
        </p:txBody>
      </p:sp>
      <p:sp>
        <p:nvSpPr>
          <p:cNvPr id="21" name="Rectangle 20"/>
          <p:cNvSpPr/>
          <p:nvPr/>
        </p:nvSpPr>
        <p:spPr>
          <a:xfrm>
            <a:off x="7315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1371600"/>
            <a:ext cx="1042416" cy="292608"/>
          </a:xfrm>
          <a:prstGeom prst="rect">
            <a:avLst/>
          </a:prstGeom>
          <a:noFill/>
        </p:spPr>
        <p:txBody>
          <a:bodyPr wrap="square">
            <a:spAutoFit/>
          </a:bodyPr>
          <a:lstStyle/>
          <a:p>
            <a:pPr algn="l"/>
            <a:r>
              <a:rPr sz="800" b="1" i="0">
                <a:solidFill>
                  <a:srgbClr val="FFFFFF"/>
                </a:solidFill>
                <a:latin typeface="Calibri"/>
              </a:rPr>
              <a:t>Evaluation Framework</a:t>
            </a:r>
          </a:p>
        </p:txBody>
      </p:sp>
      <p:sp>
        <p:nvSpPr>
          <p:cNvPr id="23" name="Rectangle 22"/>
          <p:cNvSpPr/>
          <p:nvPr/>
        </p:nvSpPr>
        <p:spPr>
          <a:xfrm>
            <a:off x="8458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1371600"/>
            <a:ext cx="1042416" cy="292608"/>
          </a:xfrm>
          <a:prstGeom prst="rect">
            <a:avLst/>
          </a:prstGeom>
          <a:noFill/>
        </p:spPr>
        <p:txBody>
          <a:bodyPr wrap="square">
            <a:spAutoFit/>
          </a:bodyPr>
          <a:lstStyle/>
          <a:p>
            <a:pPr algn="l"/>
            <a:r>
              <a:rPr sz="800" b="1" i="0">
                <a:solidFill>
                  <a:srgbClr val="FFFFFF"/>
                </a:solidFill>
                <a:latin typeface="Calibri"/>
              </a:rPr>
              <a:t>MCP Registry</a:t>
            </a:r>
          </a:p>
        </p:txBody>
      </p:sp>
      <p:sp>
        <p:nvSpPr>
          <p:cNvPr id="25" name="Rectangle 24"/>
          <p:cNvSpPr/>
          <p:nvPr/>
        </p:nvSpPr>
        <p:spPr>
          <a:xfrm>
            <a:off x="9601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371600"/>
            <a:ext cx="1042416" cy="292608"/>
          </a:xfrm>
          <a:prstGeom prst="rect">
            <a:avLst/>
          </a:prstGeom>
          <a:noFill/>
        </p:spPr>
        <p:txBody>
          <a:bodyPr wrap="square">
            <a:spAutoFit/>
          </a:bodyPr>
          <a:lstStyle/>
          <a:p>
            <a:pPr algn="l"/>
            <a:r>
              <a:rPr sz="800" b="1" i="0">
                <a:solidFill>
                  <a:srgbClr val="FFFFFF"/>
                </a:solidFill>
                <a:latin typeface="Calibri"/>
              </a:rPr>
              <a:t>A2A Registry</a:t>
            </a:r>
          </a:p>
        </p:txBody>
      </p:sp>
      <p:sp>
        <p:nvSpPr>
          <p:cNvPr id="27" name="Rectangle 26"/>
          <p:cNvSpPr/>
          <p:nvPr/>
        </p:nvSpPr>
        <p:spPr>
          <a:xfrm>
            <a:off x="10744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0" y="1371600"/>
            <a:ext cx="1042416" cy="292608"/>
          </a:xfrm>
          <a:prstGeom prst="rect">
            <a:avLst/>
          </a:prstGeom>
          <a:noFill/>
        </p:spPr>
        <p:txBody>
          <a:bodyPr wrap="square">
            <a:spAutoFit/>
          </a:bodyPr>
          <a:lstStyle/>
          <a:p>
            <a:pPr algn="l"/>
            <a:r>
              <a:rPr sz="800" b="1" i="0">
                <a:solidFill>
                  <a:srgbClr val="FFFFFF"/>
                </a:solidFill>
                <a:latin typeface="Calibri"/>
              </a:rPr>
              <a:t>Audit Framework</a:t>
            </a:r>
          </a:p>
        </p:txBody>
      </p:sp>
      <p:sp>
        <p:nvSpPr>
          <p:cNvPr id="29" name="TextBox 28"/>
          <p:cNvSpPr txBox="1"/>
          <p:nvPr/>
        </p:nvSpPr>
        <p:spPr>
          <a:xfrm>
            <a:off x="457200" y="1828800"/>
            <a:ext cx="5486400" cy="256032"/>
          </a:xfrm>
          <a:prstGeom prst="rect">
            <a:avLst/>
          </a:prstGeom>
          <a:noFill/>
        </p:spPr>
        <p:txBody>
          <a:bodyPr wrap="square">
            <a:spAutoFit/>
          </a:bodyPr>
          <a:lstStyle/>
          <a:p>
            <a:pPr algn="l"/>
            <a:r>
              <a:rPr sz="1000" b="1" i="0">
                <a:solidFill>
                  <a:srgbClr val="0A1628"/>
                </a:solidFill>
                <a:latin typeface="Calibri"/>
              </a:rPr>
              <a:t>Google Cloud Platform Foundation</a:t>
            </a:r>
          </a:p>
        </p:txBody>
      </p:sp>
      <p:sp>
        <p:nvSpPr>
          <p:cNvPr id="30" name="Rectangle 29"/>
          <p:cNvSpPr/>
          <p:nvPr/>
        </p:nvSpPr>
        <p:spPr>
          <a:xfrm>
            <a:off x="457200"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2103120"/>
            <a:ext cx="141732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148840"/>
            <a:ext cx="1344168" cy="256032"/>
          </a:xfrm>
          <a:prstGeom prst="rect">
            <a:avLst/>
          </a:prstGeom>
          <a:noFill/>
        </p:spPr>
        <p:txBody>
          <a:bodyPr wrap="square">
            <a:spAutoFit/>
          </a:bodyPr>
          <a:lstStyle/>
          <a:p>
            <a:pPr algn="l"/>
            <a:r>
              <a:rPr sz="800" b="1" i="0">
                <a:solidFill>
                  <a:srgbClr val="FFFFFF"/>
                </a:solidFill>
                <a:latin typeface="Calibri"/>
              </a:rPr>
              <a:t>CHANNELS</a:t>
            </a:r>
          </a:p>
        </p:txBody>
      </p:sp>
      <p:sp>
        <p:nvSpPr>
          <p:cNvPr id="33" name="TextBox 32"/>
          <p:cNvSpPr txBox="1"/>
          <p:nvPr/>
        </p:nvSpPr>
        <p:spPr>
          <a:xfrm>
            <a:off x="521208" y="2468880"/>
            <a:ext cx="1325880" cy="2587752"/>
          </a:xfrm>
          <a:prstGeom prst="rect">
            <a:avLst/>
          </a:prstGeom>
          <a:noFill/>
        </p:spPr>
        <p:txBody>
          <a:bodyPr wrap="square">
            <a:spAutoFit/>
          </a:bodyPr>
          <a:lstStyle/>
          <a:p>
            <a:pPr>
              <a:spcBef>
                <a:spcPts val="150"/>
              </a:spcBef>
            </a:pPr>
            <a:r>
              <a:rPr sz="850">
                <a:solidFill>
                  <a:srgbClr val="475569"/>
                </a:solidFill>
                <a:latin typeface="Calibri"/>
              </a:rPr>
              <a:t>APIs</a:t>
            </a:r>
          </a:p>
          <a:p>
            <a:pPr>
              <a:spcBef>
                <a:spcPts val="150"/>
              </a:spcBef>
            </a:pPr>
            <a:r>
              <a:rPr sz="850">
                <a:solidFill>
                  <a:srgbClr val="475569"/>
                </a:solidFill>
                <a:latin typeface="Calibri"/>
              </a:rPr>
              <a:t>Events</a:t>
            </a:r>
          </a:p>
          <a:p>
            <a:pPr>
              <a:spcBef>
                <a:spcPts val="150"/>
              </a:spcBef>
            </a:pPr>
            <a:r>
              <a:rPr sz="850">
                <a:solidFill>
                  <a:srgbClr val="475569"/>
                </a:solidFill>
                <a:latin typeface="Calibri"/>
              </a:rPr>
              <a:t>Applications</a:t>
            </a:r>
          </a:p>
          <a:p>
            <a:pPr>
              <a:spcBef>
                <a:spcPts val="150"/>
              </a:spcBef>
            </a:pPr>
            <a:r>
              <a:rPr sz="850">
                <a:solidFill>
                  <a:srgbClr val="475569"/>
                </a:solidFill>
                <a:latin typeface="Calibri"/>
              </a:rPr>
              <a:t>PCW Data Feeds</a:t>
            </a:r>
          </a:p>
          <a:p>
            <a:pPr>
              <a:spcBef>
                <a:spcPts val="150"/>
              </a:spcBef>
            </a:pPr>
            <a:r>
              <a:rPr sz="850">
                <a:solidFill>
                  <a:srgbClr val="475569"/>
                </a:solidFill>
                <a:latin typeface="Calibri"/>
              </a:rPr>
              <a:t>Webhook Triggers</a:t>
            </a:r>
          </a:p>
        </p:txBody>
      </p:sp>
      <p:sp>
        <p:nvSpPr>
          <p:cNvPr id="34" name="Rectangle 33"/>
          <p:cNvSpPr/>
          <p:nvPr/>
        </p:nvSpPr>
        <p:spPr>
          <a:xfrm>
            <a:off x="1911096"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11096" y="2103120"/>
            <a:ext cx="141732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56816" y="2148840"/>
            <a:ext cx="1344168" cy="256032"/>
          </a:xfrm>
          <a:prstGeom prst="rect">
            <a:avLst/>
          </a:prstGeom>
          <a:noFill/>
        </p:spPr>
        <p:txBody>
          <a:bodyPr wrap="square">
            <a:spAutoFit/>
          </a:bodyPr>
          <a:lstStyle/>
          <a:p>
            <a:pPr algn="l"/>
            <a:r>
              <a:rPr sz="800" b="1" i="0">
                <a:solidFill>
                  <a:srgbClr val="FFFFFF"/>
                </a:solidFill>
                <a:latin typeface="Calibri"/>
              </a:rPr>
              <a:t>AGENT PLATFORM</a:t>
            </a:r>
          </a:p>
        </p:txBody>
      </p:sp>
      <p:sp>
        <p:nvSpPr>
          <p:cNvPr id="37" name="TextBox 36"/>
          <p:cNvSpPr txBox="1"/>
          <p:nvPr/>
        </p:nvSpPr>
        <p:spPr>
          <a:xfrm>
            <a:off x="1975104" y="2468880"/>
            <a:ext cx="1325880" cy="2587752"/>
          </a:xfrm>
          <a:prstGeom prst="rect">
            <a:avLst/>
          </a:prstGeom>
          <a:noFill/>
        </p:spPr>
        <p:txBody>
          <a:bodyPr wrap="square">
            <a:spAutoFit/>
          </a:bodyPr>
          <a:lstStyle/>
          <a:p>
            <a:pPr>
              <a:spcBef>
                <a:spcPts val="150"/>
              </a:spcBef>
            </a:pPr>
            <a:r>
              <a:rPr sz="850">
                <a:solidFill>
                  <a:srgbClr val="475569"/>
                </a:solidFill>
                <a:latin typeface="Calibri"/>
              </a:rPr>
              <a:t>Vertex AI Agent Engine</a:t>
            </a:r>
          </a:p>
          <a:p>
            <a:pPr>
              <a:spcBef>
                <a:spcPts val="150"/>
              </a:spcBef>
            </a:pPr>
            <a:r>
              <a:rPr sz="850">
                <a:solidFill>
                  <a:srgbClr val="475569"/>
                </a:solidFill>
                <a:latin typeface="Calibri"/>
              </a:rPr>
              <a:t>ADK (Agent Dev Kit)</a:t>
            </a:r>
          </a:p>
          <a:p>
            <a:pPr>
              <a:spcBef>
                <a:spcPts val="150"/>
              </a:spcBef>
            </a:pPr>
            <a:r>
              <a:rPr sz="850">
                <a:solidFill>
                  <a:srgbClr val="475569"/>
                </a:solidFill>
                <a:latin typeface="Calibri"/>
              </a:rPr>
              <a:t>MCP Protocol</a:t>
            </a:r>
          </a:p>
          <a:p>
            <a:pPr>
              <a:spcBef>
                <a:spcPts val="150"/>
              </a:spcBef>
            </a:pPr>
            <a:r>
              <a:rPr sz="850">
                <a:solidFill>
                  <a:srgbClr val="475569"/>
                </a:solidFill>
                <a:latin typeface="Calibri"/>
              </a:rPr>
              <a:t>A2A Protocol</a:t>
            </a:r>
          </a:p>
          <a:p>
            <a:pPr>
              <a:spcBef>
                <a:spcPts val="150"/>
              </a:spcBef>
            </a:pPr>
            <a:r>
              <a:rPr sz="850">
                <a:solidFill>
                  <a:srgbClr val="475569"/>
                </a:solidFill>
                <a:latin typeface="Calibri"/>
              </a:rPr>
              <a:t>Agent Registry</a:t>
            </a:r>
          </a:p>
        </p:txBody>
      </p:sp>
      <p:sp>
        <p:nvSpPr>
          <p:cNvPr id="38" name="Rectangle 37"/>
          <p:cNvSpPr/>
          <p:nvPr/>
        </p:nvSpPr>
        <p:spPr>
          <a:xfrm>
            <a:off x="3364992"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64992" y="2103120"/>
            <a:ext cx="141732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2148840"/>
            <a:ext cx="1344168" cy="256032"/>
          </a:xfrm>
          <a:prstGeom prst="rect">
            <a:avLst/>
          </a:prstGeom>
          <a:noFill/>
        </p:spPr>
        <p:txBody>
          <a:bodyPr wrap="square">
            <a:spAutoFit/>
          </a:bodyPr>
          <a:lstStyle/>
          <a:p>
            <a:pPr algn="l"/>
            <a:r>
              <a:rPr sz="800" b="1" i="0">
                <a:solidFill>
                  <a:srgbClr val="FFFFFF"/>
                </a:solidFill>
                <a:latin typeface="Calibri"/>
              </a:rPr>
              <a:t>AI PLATFORM</a:t>
            </a:r>
          </a:p>
        </p:txBody>
      </p:sp>
      <p:sp>
        <p:nvSpPr>
          <p:cNvPr id="41" name="TextBox 40"/>
          <p:cNvSpPr txBox="1"/>
          <p:nvPr/>
        </p:nvSpPr>
        <p:spPr>
          <a:xfrm>
            <a:off x="3429000" y="2468880"/>
            <a:ext cx="1325880" cy="2587752"/>
          </a:xfrm>
          <a:prstGeom prst="rect">
            <a:avLst/>
          </a:prstGeom>
          <a:noFill/>
        </p:spPr>
        <p:txBody>
          <a:bodyPr wrap="square">
            <a:spAutoFit/>
          </a:bodyPr>
          <a:lstStyle/>
          <a:p>
            <a:pPr>
              <a:spcBef>
                <a:spcPts val="150"/>
              </a:spcBef>
            </a:pPr>
            <a:r>
              <a:rPr sz="850">
                <a:solidFill>
                  <a:srgbClr val="475569"/>
                </a:solidFill>
                <a:latin typeface="Calibri"/>
              </a:rPr>
              <a:t>Gemini Pro / Flash</a:t>
            </a:r>
          </a:p>
          <a:p>
            <a:pPr>
              <a:spcBef>
                <a:spcPts val="150"/>
              </a:spcBef>
            </a:pPr>
            <a:r>
              <a:rPr sz="850">
                <a:solidFill>
                  <a:srgbClr val="475569"/>
                </a:solidFill>
                <a:latin typeface="Calibri"/>
              </a:rPr>
              <a:t>Cortex Control Plane</a:t>
            </a:r>
          </a:p>
          <a:p>
            <a:pPr>
              <a:spcBef>
                <a:spcPts val="150"/>
              </a:spcBef>
            </a:pPr>
            <a:r>
              <a:rPr sz="850">
                <a:solidFill>
                  <a:srgbClr val="475569"/>
                </a:solidFill>
                <a:latin typeface="Calibri"/>
              </a:rPr>
              <a:t>Pegasus (LBG Eval)</a:t>
            </a:r>
          </a:p>
          <a:p>
            <a:pPr>
              <a:spcBef>
                <a:spcPts val="150"/>
              </a:spcBef>
            </a:pPr>
            <a:r>
              <a:rPr sz="850">
                <a:solidFill>
                  <a:srgbClr val="475569"/>
                </a:solidFill>
                <a:latin typeface="Calibri"/>
              </a:rPr>
              <a:t>Model Armor</a:t>
            </a:r>
          </a:p>
          <a:p>
            <a:pPr>
              <a:spcBef>
                <a:spcPts val="150"/>
              </a:spcBef>
            </a:pPr>
            <a:r>
              <a:rPr sz="850">
                <a:solidFill>
                  <a:srgbClr val="475569"/>
                </a:solidFill>
                <a:latin typeface="Calibri"/>
              </a:rPr>
              <a:t>Vertex AI Studio</a:t>
            </a:r>
          </a:p>
        </p:txBody>
      </p:sp>
      <p:sp>
        <p:nvSpPr>
          <p:cNvPr id="42" name="Rectangle 41"/>
          <p:cNvSpPr/>
          <p:nvPr/>
        </p:nvSpPr>
        <p:spPr>
          <a:xfrm>
            <a:off x="4818888"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18888" y="2103120"/>
            <a:ext cx="1417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148840"/>
            <a:ext cx="1344168" cy="256032"/>
          </a:xfrm>
          <a:prstGeom prst="rect">
            <a:avLst/>
          </a:prstGeom>
          <a:noFill/>
        </p:spPr>
        <p:txBody>
          <a:bodyPr wrap="square">
            <a:spAutoFit/>
          </a:bodyPr>
          <a:lstStyle/>
          <a:p>
            <a:pPr algn="l"/>
            <a:r>
              <a:rPr sz="800" b="1" i="0">
                <a:solidFill>
                  <a:srgbClr val="FFFFFF"/>
                </a:solidFill>
                <a:latin typeface="Calibri"/>
              </a:rPr>
              <a:t>KNOWLEDGE</a:t>
            </a:r>
          </a:p>
        </p:txBody>
      </p:sp>
      <p:sp>
        <p:nvSpPr>
          <p:cNvPr id="45" name="TextBox 44"/>
          <p:cNvSpPr txBox="1"/>
          <p:nvPr/>
        </p:nvSpPr>
        <p:spPr>
          <a:xfrm>
            <a:off x="4882896" y="2468880"/>
            <a:ext cx="1325880" cy="2587752"/>
          </a:xfrm>
          <a:prstGeom prst="rect">
            <a:avLst/>
          </a:prstGeom>
          <a:noFill/>
        </p:spPr>
        <p:txBody>
          <a:bodyPr wrap="square">
            <a:spAutoFit/>
          </a:bodyPr>
          <a:lstStyle/>
          <a:p>
            <a:pPr>
              <a:spcBef>
                <a:spcPts val="150"/>
              </a:spcBef>
            </a:pPr>
            <a:r>
              <a:rPr sz="850">
                <a:solidFill>
                  <a:srgbClr val="475569"/>
                </a:solidFill>
                <a:latin typeface="Calibri"/>
              </a:rPr>
              <a:t>Vertex AI Vector Search</a:t>
            </a:r>
          </a:p>
          <a:p>
            <a:pPr>
              <a:spcBef>
                <a:spcPts val="150"/>
              </a:spcBef>
            </a:pPr>
            <a:r>
              <a:rPr sz="850">
                <a:solidFill>
                  <a:srgbClr val="475569"/>
                </a:solidFill>
                <a:latin typeface="Calibri"/>
              </a:rPr>
              <a:t>BigQuery</a:t>
            </a:r>
          </a:p>
          <a:p>
            <a:pPr>
              <a:spcBef>
                <a:spcPts val="150"/>
              </a:spcBef>
            </a:pPr>
            <a:r>
              <a:rPr sz="850">
                <a:solidFill>
                  <a:srgbClr val="475569"/>
                </a:solidFill>
                <a:latin typeface="Calibri"/>
              </a:rPr>
              <a:t>Cloud SQL (PostgreSQL)</a:t>
            </a:r>
          </a:p>
          <a:p>
            <a:pPr>
              <a:spcBef>
                <a:spcPts val="150"/>
              </a:spcBef>
            </a:pPr>
            <a:r>
              <a:rPr sz="850">
                <a:solidFill>
                  <a:srgbClr val="475569"/>
                </a:solidFill>
                <a:latin typeface="Calibri"/>
              </a:rPr>
              <a:t>Cloud Storage</a:t>
            </a:r>
          </a:p>
          <a:p>
            <a:pPr>
              <a:spcBef>
                <a:spcPts val="150"/>
              </a:spcBef>
            </a:pPr>
            <a:r>
              <a:rPr sz="850">
                <a:solidFill>
                  <a:srgbClr val="475569"/>
                </a:solidFill>
                <a:latin typeface="Calibri"/>
              </a:rPr>
              <a:t>Knowledge Graph</a:t>
            </a:r>
          </a:p>
        </p:txBody>
      </p:sp>
      <p:sp>
        <p:nvSpPr>
          <p:cNvPr id="46" name="Rectangle 45"/>
          <p:cNvSpPr/>
          <p:nvPr/>
        </p:nvSpPr>
        <p:spPr>
          <a:xfrm>
            <a:off x="6272784"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72784" y="2103120"/>
            <a:ext cx="1417320" cy="320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18504" y="2148840"/>
            <a:ext cx="1344168" cy="256032"/>
          </a:xfrm>
          <a:prstGeom prst="rect">
            <a:avLst/>
          </a:prstGeom>
          <a:noFill/>
        </p:spPr>
        <p:txBody>
          <a:bodyPr wrap="square">
            <a:spAutoFit/>
          </a:bodyPr>
          <a:lstStyle/>
          <a:p>
            <a:pPr algn="l"/>
            <a:r>
              <a:rPr sz="800" b="1" i="0">
                <a:solidFill>
                  <a:srgbClr val="FFFFFF"/>
                </a:solidFill>
                <a:latin typeface="Calibri"/>
              </a:rPr>
              <a:t>INTEGRATION</a:t>
            </a:r>
          </a:p>
        </p:txBody>
      </p:sp>
      <p:sp>
        <p:nvSpPr>
          <p:cNvPr id="49" name="TextBox 48"/>
          <p:cNvSpPr txBox="1"/>
          <p:nvPr/>
        </p:nvSpPr>
        <p:spPr>
          <a:xfrm>
            <a:off x="6336792" y="2468880"/>
            <a:ext cx="1325880" cy="2587752"/>
          </a:xfrm>
          <a:prstGeom prst="rect">
            <a:avLst/>
          </a:prstGeom>
          <a:noFill/>
        </p:spPr>
        <p:txBody>
          <a:bodyPr wrap="square">
            <a:spAutoFit/>
          </a:bodyPr>
          <a:lstStyle/>
          <a:p>
            <a:pPr>
              <a:spcBef>
                <a:spcPts val="150"/>
              </a:spcBef>
            </a:pPr>
            <a:r>
              <a:rPr sz="850">
                <a:solidFill>
                  <a:srgbClr val="475569"/>
                </a:solidFill>
                <a:latin typeface="Calibri"/>
              </a:rPr>
              <a:t>Apigee API Gateway</a:t>
            </a:r>
          </a:p>
          <a:p>
            <a:pPr>
              <a:spcBef>
                <a:spcPts val="150"/>
              </a:spcBef>
            </a:pPr>
            <a:r>
              <a:rPr sz="850">
                <a:solidFill>
                  <a:srgbClr val="475569"/>
                </a:solidFill>
                <a:latin typeface="Calibri"/>
              </a:rPr>
              <a:t>Cloud Run</a:t>
            </a:r>
          </a:p>
          <a:p>
            <a:pPr>
              <a:spcBef>
                <a:spcPts val="150"/>
              </a:spcBef>
            </a:pPr>
            <a:r>
              <a:rPr sz="850">
                <a:solidFill>
                  <a:srgbClr val="475569"/>
                </a:solidFill>
                <a:latin typeface="Calibri"/>
              </a:rPr>
              <a:t>Pub/Sub</a:t>
            </a:r>
          </a:p>
          <a:p>
            <a:pPr>
              <a:spcBef>
                <a:spcPts val="150"/>
              </a:spcBef>
            </a:pPr>
            <a:r>
              <a:rPr sz="850">
                <a:solidFill>
                  <a:srgbClr val="475569"/>
                </a:solidFill>
                <a:latin typeface="Calibri"/>
              </a:rPr>
              <a:t>Cloud Workflows</a:t>
            </a:r>
          </a:p>
          <a:p>
            <a:pPr>
              <a:spcBef>
                <a:spcPts val="150"/>
              </a:spcBef>
            </a:pPr>
            <a:r>
              <a:rPr sz="850">
                <a:solidFill>
                  <a:srgbClr val="475569"/>
                </a:solidFill>
                <a:latin typeface="Calibri"/>
              </a:rPr>
              <a:t>Eventarc</a:t>
            </a:r>
          </a:p>
        </p:txBody>
      </p:sp>
      <p:sp>
        <p:nvSpPr>
          <p:cNvPr id="50" name="Rectangle 49"/>
          <p:cNvSpPr/>
          <p:nvPr/>
        </p:nvSpPr>
        <p:spPr>
          <a:xfrm>
            <a:off x="7726680"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26680" y="2103120"/>
            <a:ext cx="141732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0" y="2148840"/>
            <a:ext cx="1344168" cy="256032"/>
          </a:xfrm>
          <a:prstGeom prst="rect">
            <a:avLst/>
          </a:prstGeom>
          <a:noFill/>
        </p:spPr>
        <p:txBody>
          <a:bodyPr wrap="square">
            <a:spAutoFit/>
          </a:bodyPr>
          <a:lstStyle/>
          <a:p>
            <a:pPr algn="l"/>
            <a:r>
              <a:rPr sz="800" b="1" i="0">
                <a:solidFill>
                  <a:srgbClr val="FFFFFF"/>
                </a:solidFill>
                <a:latin typeface="Calibri"/>
              </a:rPr>
              <a:t>EVALUATION</a:t>
            </a:r>
          </a:p>
        </p:txBody>
      </p:sp>
      <p:sp>
        <p:nvSpPr>
          <p:cNvPr id="53" name="TextBox 52"/>
          <p:cNvSpPr txBox="1"/>
          <p:nvPr/>
        </p:nvSpPr>
        <p:spPr>
          <a:xfrm>
            <a:off x="7790688" y="2468880"/>
            <a:ext cx="1325880" cy="2587752"/>
          </a:xfrm>
          <a:prstGeom prst="rect">
            <a:avLst/>
          </a:prstGeom>
          <a:noFill/>
        </p:spPr>
        <p:txBody>
          <a:bodyPr wrap="square">
            <a:spAutoFit/>
          </a:bodyPr>
          <a:lstStyle/>
          <a:p>
            <a:pPr>
              <a:spcBef>
                <a:spcPts val="150"/>
              </a:spcBef>
            </a:pPr>
            <a:r>
              <a:rPr sz="850">
                <a:solidFill>
                  <a:srgbClr val="475569"/>
                </a:solidFill>
                <a:latin typeface="Calibri"/>
              </a:rPr>
              <a:t>Pegasus (LBG)</a:t>
            </a:r>
          </a:p>
          <a:p>
            <a:pPr>
              <a:spcBef>
                <a:spcPts val="150"/>
              </a:spcBef>
            </a:pPr>
            <a:r>
              <a:rPr sz="850">
                <a:solidFill>
                  <a:srgbClr val="475569"/>
                </a:solidFill>
                <a:latin typeface="Calibri"/>
              </a:rPr>
              <a:t>Vertex AI Evaluation</a:t>
            </a:r>
          </a:p>
          <a:p>
            <a:pPr>
              <a:spcBef>
                <a:spcPts val="150"/>
              </a:spcBef>
            </a:pPr>
            <a:r>
              <a:rPr sz="850">
                <a:solidFill>
                  <a:srgbClr val="475569"/>
                </a:solidFill>
                <a:latin typeface="Calibri"/>
              </a:rPr>
              <a:t>ADK Evaluation</a:t>
            </a:r>
          </a:p>
          <a:p>
            <a:pPr>
              <a:spcBef>
                <a:spcPts val="150"/>
              </a:spcBef>
            </a:pPr>
            <a:r>
              <a:rPr sz="850">
                <a:solidFill>
                  <a:srgbClr val="475569"/>
                </a:solidFill>
                <a:latin typeface="Calibri"/>
              </a:rPr>
              <a:t>Golden Test Suites</a:t>
            </a:r>
          </a:p>
          <a:p>
            <a:pPr>
              <a:spcBef>
                <a:spcPts val="150"/>
              </a:spcBef>
            </a:pPr>
            <a:r>
              <a:rPr sz="850">
                <a:solidFill>
                  <a:srgbClr val="475569"/>
                </a:solidFill>
                <a:latin typeface="Calibri"/>
              </a:rPr>
              <a:t>Evaluation Pipelines</a:t>
            </a:r>
          </a:p>
        </p:txBody>
      </p:sp>
      <p:sp>
        <p:nvSpPr>
          <p:cNvPr id="54" name="Rectangle 53"/>
          <p:cNvSpPr/>
          <p:nvPr/>
        </p:nvSpPr>
        <p:spPr>
          <a:xfrm>
            <a:off x="9180576"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80576" y="2103120"/>
            <a:ext cx="1417320" cy="3200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26296" y="2148840"/>
            <a:ext cx="1344168" cy="256032"/>
          </a:xfrm>
          <a:prstGeom prst="rect">
            <a:avLst/>
          </a:prstGeom>
          <a:noFill/>
        </p:spPr>
        <p:txBody>
          <a:bodyPr wrap="square">
            <a:spAutoFit/>
          </a:bodyPr>
          <a:lstStyle/>
          <a:p>
            <a:pPr algn="l"/>
            <a:r>
              <a:rPr sz="800" b="1" i="0">
                <a:solidFill>
                  <a:srgbClr val="FFFFFF"/>
                </a:solidFill>
                <a:latin typeface="Calibri"/>
              </a:rPr>
              <a:t>OBSERVABILITY</a:t>
            </a:r>
          </a:p>
        </p:txBody>
      </p:sp>
      <p:sp>
        <p:nvSpPr>
          <p:cNvPr id="57" name="TextBox 56"/>
          <p:cNvSpPr txBox="1"/>
          <p:nvPr/>
        </p:nvSpPr>
        <p:spPr>
          <a:xfrm>
            <a:off x="9244584" y="2468880"/>
            <a:ext cx="1325880" cy="2587752"/>
          </a:xfrm>
          <a:prstGeom prst="rect">
            <a:avLst/>
          </a:prstGeom>
          <a:noFill/>
        </p:spPr>
        <p:txBody>
          <a:bodyPr wrap="square">
            <a:spAutoFit/>
          </a:bodyPr>
          <a:lstStyle/>
          <a:p>
            <a:pPr>
              <a:spcBef>
                <a:spcPts val="150"/>
              </a:spcBef>
            </a:pPr>
            <a:r>
              <a:rPr sz="850">
                <a:solidFill>
                  <a:srgbClr val="475569"/>
                </a:solidFill>
                <a:latin typeface="Calibri"/>
              </a:rPr>
              <a:t>ObserveAll (LBG)</a:t>
            </a:r>
          </a:p>
          <a:p>
            <a:pPr>
              <a:spcBef>
                <a:spcPts val="150"/>
              </a:spcBef>
            </a:pPr>
            <a:r>
              <a:rPr sz="850">
                <a:solidFill>
                  <a:srgbClr val="475569"/>
                </a:solidFill>
                <a:latin typeface="Calibri"/>
              </a:rPr>
              <a:t>Dynatrace</a:t>
            </a:r>
          </a:p>
          <a:p>
            <a:pPr>
              <a:spcBef>
                <a:spcPts val="150"/>
              </a:spcBef>
            </a:pPr>
            <a:r>
              <a:rPr sz="850">
                <a:solidFill>
                  <a:srgbClr val="475569"/>
                </a:solidFill>
                <a:latin typeface="Calibri"/>
              </a:rPr>
              <a:t>Cloud Monitoring</a:t>
            </a:r>
          </a:p>
          <a:p>
            <a:pPr>
              <a:spcBef>
                <a:spcPts val="150"/>
              </a:spcBef>
            </a:pPr>
            <a:r>
              <a:rPr sz="850">
                <a:solidFill>
                  <a:srgbClr val="475569"/>
                </a:solidFill>
                <a:latin typeface="Calibri"/>
              </a:rPr>
              <a:t>Cloud Logging</a:t>
            </a:r>
          </a:p>
          <a:p>
            <a:pPr>
              <a:spcBef>
                <a:spcPts val="150"/>
              </a:spcBef>
            </a:pPr>
            <a:r>
              <a:rPr sz="850">
                <a:solidFill>
                  <a:srgbClr val="475569"/>
                </a:solidFill>
                <a:latin typeface="Calibri"/>
              </a:rPr>
              <a:t>Audit Framework</a:t>
            </a:r>
          </a:p>
        </p:txBody>
      </p:sp>
      <p:sp>
        <p:nvSpPr>
          <p:cNvPr id="58" name="Rectangle 57"/>
          <p:cNvSpPr/>
          <p:nvPr/>
        </p:nvSpPr>
        <p:spPr>
          <a:xfrm>
            <a:off x="10634472" y="2103120"/>
            <a:ext cx="1417320" cy="29718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634472" y="2103120"/>
            <a:ext cx="1417320" cy="320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80192" y="2148840"/>
            <a:ext cx="1344168" cy="256032"/>
          </a:xfrm>
          <a:prstGeom prst="rect">
            <a:avLst/>
          </a:prstGeom>
          <a:noFill/>
        </p:spPr>
        <p:txBody>
          <a:bodyPr wrap="square">
            <a:spAutoFit/>
          </a:bodyPr>
          <a:lstStyle/>
          <a:p>
            <a:pPr algn="l"/>
            <a:r>
              <a:rPr sz="800" b="1" i="0">
                <a:solidFill>
                  <a:srgbClr val="FFFFFF"/>
                </a:solidFill>
                <a:latin typeface="Calibri"/>
              </a:rPr>
              <a:t>SECURITY</a:t>
            </a:r>
          </a:p>
        </p:txBody>
      </p:sp>
      <p:sp>
        <p:nvSpPr>
          <p:cNvPr id="61" name="TextBox 60"/>
          <p:cNvSpPr txBox="1"/>
          <p:nvPr/>
        </p:nvSpPr>
        <p:spPr>
          <a:xfrm>
            <a:off x="10698480" y="2468880"/>
            <a:ext cx="1325880" cy="2587752"/>
          </a:xfrm>
          <a:prstGeom prst="rect">
            <a:avLst/>
          </a:prstGeom>
          <a:noFill/>
        </p:spPr>
        <p:txBody>
          <a:bodyPr wrap="square">
            <a:spAutoFit/>
          </a:bodyPr>
          <a:lstStyle/>
          <a:p>
            <a:pPr>
              <a:spcBef>
                <a:spcPts val="150"/>
              </a:spcBef>
            </a:pPr>
            <a:r>
              <a:rPr sz="850">
                <a:solidFill>
                  <a:srgbClr val="475569"/>
                </a:solidFill>
                <a:latin typeface="Calibri"/>
              </a:rPr>
              <a:t>IAM &amp; RBAC</a:t>
            </a:r>
          </a:p>
          <a:p>
            <a:pPr>
              <a:spcBef>
                <a:spcPts val="150"/>
              </a:spcBef>
            </a:pPr>
            <a:r>
              <a:rPr sz="850">
                <a:solidFill>
                  <a:srgbClr val="475569"/>
                </a:solidFill>
                <a:latin typeface="Calibri"/>
              </a:rPr>
              <a:t>VPC-SC</a:t>
            </a:r>
          </a:p>
          <a:p>
            <a:pPr>
              <a:spcBef>
                <a:spcPts val="150"/>
              </a:spcBef>
            </a:pPr>
            <a:r>
              <a:rPr sz="850">
                <a:solidFill>
                  <a:srgbClr val="475569"/>
                </a:solidFill>
                <a:latin typeface="Calibri"/>
              </a:rPr>
              <a:t>Encryption</a:t>
            </a:r>
          </a:p>
          <a:p>
            <a:pPr>
              <a:spcBef>
                <a:spcPts val="150"/>
              </a:spcBef>
            </a:pPr>
            <a:r>
              <a:rPr sz="850">
                <a:solidFill>
                  <a:srgbClr val="475569"/>
                </a:solidFill>
                <a:latin typeface="Calibri"/>
              </a:rPr>
              <a:t>DLP</a:t>
            </a:r>
          </a:p>
          <a:p>
            <a:pPr>
              <a:spcBef>
                <a:spcPts val="150"/>
              </a:spcBef>
            </a:pPr>
            <a:r>
              <a:rPr sz="850">
                <a:solidFill>
                  <a:srgbClr val="475569"/>
                </a:solidFill>
                <a:latin typeface="Calibri"/>
              </a:rPr>
              <a:t>Model Armor</a:t>
            </a:r>
          </a:p>
          <a:p>
            <a:pPr>
              <a:spcBef>
                <a:spcPts val="150"/>
              </a:spcBef>
            </a:pPr>
            <a:r>
              <a:rPr sz="850">
                <a:solidFill>
                  <a:srgbClr val="475569"/>
                </a:solidFill>
                <a:latin typeface="Calibri"/>
              </a:rPr>
              <a:t>FCA Controls</a:t>
            </a:r>
          </a:p>
        </p:txBody>
      </p:sp>
      <p:sp>
        <p:nvSpPr>
          <p:cNvPr id="62" name="TextBox 61"/>
          <p:cNvSpPr txBox="1"/>
          <p:nvPr/>
        </p:nvSpPr>
        <p:spPr>
          <a:xfrm>
            <a:off x="457200" y="5230368"/>
            <a:ext cx="3657600" cy="228600"/>
          </a:xfrm>
          <a:prstGeom prst="rect">
            <a:avLst/>
          </a:prstGeom>
          <a:noFill/>
        </p:spPr>
        <p:txBody>
          <a:bodyPr wrap="square">
            <a:spAutoFit/>
          </a:bodyPr>
          <a:lstStyle/>
          <a:p>
            <a:pPr algn="l"/>
            <a:r>
              <a:rPr sz="900" b="1" i="0">
                <a:solidFill>
                  <a:srgbClr val="0A1628"/>
                </a:solidFill>
                <a:latin typeface="Calibri"/>
              </a:rPr>
              <a:t>Build vs Reuse Principle</a:t>
            </a:r>
          </a:p>
        </p:txBody>
      </p:sp>
      <p:sp>
        <p:nvSpPr>
          <p:cNvPr id="63" name="Rectangle 62"/>
          <p:cNvSpPr/>
          <p:nvPr/>
        </p:nvSpPr>
        <p:spPr>
          <a:xfrm>
            <a:off x="457200" y="5458968"/>
            <a:ext cx="2743200"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30352" y="5486400"/>
            <a:ext cx="640080" cy="201168"/>
          </a:xfrm>
          <a:prstGeom prst="rect">
            <a:avLst/>
          </a:prstGeom>
          <a:noFill/>
        </p:spPr>
        <p:txBody>
          <a:bodyPr wrap="square">
            <a:spAutoFit/>
          </a:bodyPr>
          <a:lstStyle/>
          <a:p>
            <a:pPr algn="l"/>
            <a:r>
              <a:rPr sz="800" b="1" i="0">
                <a:solidFill>
                  <a:srgbClr val="FFFFFF"/>
                </a:solidFill>
                <a:latin typeface="Calibri"/>
              </a:rPr>
              <a:t>REUSE</a:t>
            </a:r>
          </a:p>
        </p:txBody>
      </p:sp>
      <p:sp>
        <p:nvSpPr>
          <p:cNvPr id="65" name="TextBox 64"/>
          <p:cNvSpPr txBox="1"/>
          <p:nvPr/>
        </p:nvSpPr>
        <p:spPr>
          <a:xfrm>
            <a:off x="530352" y="5678424"/>
            <a:ext cx="2606040" cy="228600"/>
          </a:xfrm>
          <a:prstGeom prst="rect">
            <a:avLst/>
          </a:prstGeom>
          <a:noFill/>
        </p:spPr>
        <p:txBody>
          <a:bodyPr wrap="square">
            <a:spAutoFit/>
          </a:bodyPr>
          <a:lstStyle/>
          <a:p>
            <a:pPr algn="l"/>
            <a:r>
              <a:rPr sz="750" b="0" i="0">
                <a:solidFill>
                  <a:srgbClr val="FFFFFF"/>
                </a:solidFill>
                <a:latin typeface="Calibri"/>
              </a:rPr>
              <a:t>Apigee, Pega, AGGS, Duck Creek, ENVOY shared services, GCP infrastructure</a:t>
            </a:r>
          </a:p>
        </p:txBody>
      </p:sp>
      <p:sp>
        <p:nvSpPr>
          <p:cNvPr id="66" name="Rectangle 65"/>
          <p:cNvSpPr/>
          <p:nvPr/>
        </p:nvSpPr>
        <p:spPr>
          <a:xfrm>
            <a:off x="3310128" y="5458968"/>
            <a:ext cx="274320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83280" y="5486400"/>
            <a:ext cx="640080" cy="201168"/>
          </a:xfrm>
          <a:prstGeom prst="rect">
            <a:avLst/>
          </a:prstGeom>
          <a:noFill/>
        </p:spPr>
        <p:txBody>
          <a:bodyPr wrap="square">
            <a:spAutoFit/>
          </a:bodyPr>
          <a:lstStyle/>
          <a:p>
            <a:pPr algn="l"/>
            <a:r>
              <a:rPr sz="800" b="1" i="0">
                <a:solidFill>
                  <a:srgbClr val="FFFFFF"/>
                </a:solidFill>
                <a:latin typeface="Calibri"/>
              </a:rPr>
              <a:t>EXTEND</a:t>
            </a:r>
          </a:p>
        </p:txBody>
      </p:sp>
      <p:sp>
        <p:nvSpPr>
          <p:cNvPr id="68" name="TextBox 67"/>
          <p:cNvSpPr txBox="1"/>
          <p:nvPr/>
        </p:nvSpPr>
        <p:spPr>
          <a:xfrm>
            <a:off x="3383280" y="5678424"/>
            <a:ext cx="2606040" cy="228600"/>
          </a:xfrm>
          <a:prstGeom prst="rect">
            <a:avLst/>
          </a:prstGeom>
          <a:noFill/>
        </p:spPr>
        <p:txBody>
          <a:bodyPr wrap="square">
            <a:spAutoFit/>
          </a:bodyPr>
          <a:lstStyle/>
          <a:p>
            <a:pPr algn="l"/>
            <a:r>
              <a:rPr sz="750" b="0" i="0">
                <a:solidFill>
                  <a:srgbClr val="FFFFFF"/>
                </a:solidFill>
                <a:latin typeface="Calibri"/>
              </a:rPr>
              <a:t>ML pipelines, Pegasus evaluation, Vertex AI features for PCW-specific models</a:t>
            </a:r>
          </a:p>
        </p:txBody>
      </p:sp>
      <p:sp>
        <p:nvSpPr>
          <p:cNvPr id="69" name="Rectangle 68"/>
          <p:cNvSpPr/>
          <p:nvPr/>
        </p:nvSpPr>
        <p:spPr>
          <a:xfrm>
            <a:off x="6163056" y="5458968"/>
            <a:ext cx="274320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36208" y="5486400"/>
            <a:ext cx="640080" cy="201168"/>
          </a:xfrm>
          <a:prstGeom prst="rect">
            <a:avLst/>
          </a:prstGeom>
          <a:noFill/>
        </p:spPr>
        <p:txBody>
          <a:bodyPr wrap="square">
            <a:spAutoFit/>
          </a:bodyPr>
          <a:lstStyle/>
          <a:p>
            <a:pPr algn="l"/>
            <a:r>
              <a:rPr sz="800" b="1" i="0">
                <a:solidFill>
                  <a:srgbClr val="FFFFFF"/>
                </a:solidFill>
                <a:latin typeface="Calibri"/>
              </a:rPr>
              <a:t>CONFIGURE</a:t>
            </a:r>
          </a:p>
        </p:txBody>
      </p:sp>
      <p:sp>
        <p:nvSpPr>
          <p:cNvPr id="71" name="TextBox 70"/>
          <p:cNvSpPr txBox="1"/>
          <p:nvPr/>
        </p:nvSpPr>
        <p:spPr>
          <a:xfrm>
            <a:off x="6236208" y="5678424"/>
            <a:ext cx="2606040" cy="228600"/>
          </a:xfrm>
          <a:prstGeom prst="rect">
            <a:avLst/>
          </a:prstGeom>
          <a:noFill/>
        </p:spPr>
        <p:txBody>
          <a:bodyPr wrap="square">
            <a:spAutoFit/>
          </a:bodyPr>
          <a:lstStyle/>
          <a:p>
            <a:pPr algn="l"/>
            <a:r>
              <a:rPr sz="750" b="0" i="0">
                <a:solidFill>
                  <a:srgbClr val="FFFFFF"/>
                </a:solidFill>
                <a:latin typeface="Calibri"/>
              </a:rPr>
              <a:t>Gemini prompts, Cortex routing rules, Model Armor policies for PCW domain</a:t>
            </a:r>
          </a:p>
        </p:txBody>
      </p:sp>
      <p:sp>
        <p:nvSpPr>
          <p:cNvPr id="72" name="Rectangle 71"/>
          <p:cNvSpPr/>
          <p:nvPr/>
        </p:nvSpPr>
        <p:spPr>
          <a:xfrm>
            <a:off x="9015984" y="5458968"/>
            <a:ext cx="274320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089136" y="5486400"/>
            <a:ext cx="640080" cy="201168"/>
          </a:xfrm>
          <a:prstGeom prst="rect">
            <a:avLst/>
          </a:prstGeom>
          <a:noFill/>
        </p:spPr>
        <p:txBody>
          <a:bodyPr wrap="square">
            <a:spAutoFit/>
          </a:bodyPr>
          <a:lstStyle/>
          <a:p>
            <a:pPr algn="l"/>
            <a:r>
              <a:rPr sz="800" b="1" i="0">
                <a:solidFill>
                  <a:srgbClr val="FFFFFF"/>
                </a:solidFill>
                <a:latin typeface="Calibri"/>
              </a:rPr>
              <a:t>BUILD</a:t>
            </a:r>
          </a:p>
        </p:txBody>
      </p:sp>
      <p:sp>
        <p:nvSpPr>
          <p:cNvPr id="74" name="TextBox 73"/>
          <p:cNvSpPr txBox="1"/>
          <p:nvPr/>
        </p:nvSpPr>
        <p:spPr>
          <a:xfrm>
            <a:off x="9089136" y="5678424"/>
            <a:ext cx="2606040" cy="228600"/>
          </a:xfrm>
          <a:prstGeom prst="rect">
            <a:avLst/>
          </a:prstGeom>
          <a:noFill/>
        </p:spPr>
        <p:txBody>
          <a:bodyPr wrap="square">
            <a:spAutoFit/>
          </a:bodyPr>
          <a:lstStyle/>
          <a:p>
            <a:pPr algn="l"/>
            <a:r>
              <a:rPr sz="750" b="0" i="0">
                <a:solidFill>
                  <a:srgbClr val="FFFFFF"/>
                </a:solidFill>
                <a:latin typeface="Calibri"/>
              </a:rPr>
              <a:t>PCW-specific ADK agents, intelligence workflows, recommendation logic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OPERATING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Target Operating Model — ENVOY-Powered Seven-Stage Intelligence Cycle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09 / 20</a:t>
            </a:r>
          </a:p>
        </p:txBody>
      </p:sp>
      <p:sp>
        <p:nvSpPr>
          <p:cNvPr id="8" name="Rectangle 7"/>
          <p:cNvSpPr/>
          <p:nvPr/>
        </p:nvSpPr>
        <p:spPr>
          <a:xfrm>
            <a:off x="320040" y="1051560"/>
            <a:ext cx="164592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1572768" cy="274320"/>
          </a:xfrm>
          <a:prstGeom prst="rect">
            <a:avLst/>
          </a:prstGeom>
          <a:noFill/>
        </p:spPr>
        <p:txBody>
          <a:bodyPr wrap="square">
            <a:spAutoFit/>
          </a:bodyPr>
          <a:lstStyle/>
          <a:p>
            <a:pPr algn="l"/>
            <a:r>
              <a:rPr sz="850" b="1" i="0">
                <a:solidFill>
                  <a:srgbClr val="FFFFFF"/>
                </a:solidFill>
                <a:latin typeface="Calibri"/>
              </a:rPr>
              <a:t>1 / SENSE</a:t>
            </a:r>
          </a:p>
        </p:txBody>
      </p:sp>
      <p:sp>
        <p:nvSpPr>
          <p:cNvPr id="10" name="Rectangle 9"/>
          <p:cNvSpPr/>
          <p:nvPr/>
        </p:nvSpPr>
        <p:spPr>
          <a:xfrm>
            <a:off x="32004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527048"/>
            <a:ext cx="1536192" cy="3383280"/>
          </a:xfrm>
          <a:prstGeom prst="rect">
            <a:avLst/>
          </a:prstGeom>
          <a:noFill/>
        </p:spPr>
        <p:txBody>
          <a:bodyPr wrap="square">
            <a:spAutoFit/>
          </a:bodyPr>
          <a:lstStyle/>
          <a:p>
            <a:pPr algn="l"/>
            <a:r>
              <a:rPr sz="850" b="0" i="0">
                <a:solidFill>
                  <a:srgbClr val="475569"/>
                </a:solidFill>
                <a:latin typeface="Calibri"/>
              </a:rPr>
              <a:t>Automated collection of PCW market data. Scheduled and event-triggered. ENVOY ADK Market Collection Agent. Covers all monitored competitors, channels and product lines. Near real-time data freshness target &lt;15 minutes.</a:t>
            </a:r>
          </a:p>
        </p:txBody>
      </p:sp>
      <p:sp>
        <p:nvSpPr>
          <p:cNvPr id="12" name="Rectangle 11"/>
          <p:cNvSpPr/>
          <p:nvPr/>
        </p:nvSpPr>
        <p:spPr>
          <a:xfrm>
            <a:off x="39319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974336"/>
            <a:ext cx="1508760" cy="237744"/>
          </a:xfrm>
          <a:prstGeom prst="rect">
            <a:avLst/>
          </a:prstGeom>
          <a:noFill/>
        </p:spPr>
        <p:txBody>
          <a:bodyPr wrap="square">
            <a:spAutoFit/>
          </a:bodyPr>
          <a:lstStyle/>
          <a:p>
            <a:pPr algn="l"/>
            <a:r>
              <a:rPr sz="750" b="1" i="0">
                <a:solidFill>
                  <a:srgbClr val="0F7AC5"/>
                </a:solidFill>
                <a:latin typeface="Calibri"/>
              </a:rPr>
              <a:t>Agentic + ML Validation</a:t>
            </a:r>
          </a:p>
        </p:txBody>
      </p:sp>
      <p:sp>
        <p:nvSpPr>
          <p:cNvPr id="14" name="TextBox 13"/>
          <p:cNvSpPr txBox="1"/>
          <p:nvPr/>
        </p:nvSpPr>
        <p:spPr>
          <a:xfrm>
            <a:off x="197510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15" name="Rectangle 14"/>
          <p:cNvSpPr/>
          <p:nvPr/>
        </p:nvSpPr>
        <p:spPr>
          <a:xfrm>
            <a:off x="2029968" y="1051560"/>
            <a:ext cx="164592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1115568"/>
            <a:ext cx="1572768" cy="274320"/>
          </a:xfrm>
          <a:prstGeom prst="rect">
            <a:avLst/>
          </a:prstGeom>
          <a:noFill/>
        </p:spPr>
        <p:txBody>
          <a:bodyPr wrap="square">
            <a:spAutoFit/>
          </a:bodyPr>
          <a:lstStyle/>
          <a:p>
            <a:pPr algn="l"/>
            <a:r>
              <a:rPr sz="850" b="1" i="0">
                <a:solidFill>
                  <a:srgbClr val="FFFFFF"/>
                </a:solidFill>
                <a:latin typeface="Calibri"/>
              </a:rPr>
              <a:t>2 / ANALYSE</a:t>
            </a:r>
          </a:p>
        </p:txBody>
      </p:sp>
      <p:sp>
        <p:nvSpPr>
          <p:cNvPr id="17" name="Rectangle 16"/>
          <p:cNvSpPr/>
          <p:nvPr/>
        </p:nvSpPr>
        <p:spPr>
          <a:xfrm>
            <a:off x="202996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1527048"/>
            <a:ext cx="1536192" cy="3383280"/>
          </a:xfrm>
          <a:prstGeom prst="rect">
            <a:avLst/>
          </a:prstGeom>
          <a:noFill/>
        </p:spPr>
        <p:txBody>
          <a:bodyPr wrap="square">
            <a:spAutoFit/>
          </a:bodyPr>
          <a:lstStyle/>
          <a:p>
            <a:pPr algn="l"/>
            <a:r>
              <a:rPr sz="850" b="0" i="0">
                <a:solidFill>
                  <a:srgbClr val="475569"/>
                </a:solidFill>
                <a:latin typeface="Calibri"/>
              </a:rPr>
              <a:t>ML models (Vertex AI, Pegasus) detect ranking shifts, pricing anomalies and proposition changes. Patterns classified by significance, velocity and probable cause. Confidence scores assigned. Alerts generated for material movements.</a:t>
            </a:r>
          </a:p>
        </p:txBody>
      </p:sp>
      <p:sp>
        <p:nvSpPr>
          <p:cNvPr id="19" name="Rectangle 18"/>
          <p:cNvSpPr/>
          <p:nvPr/>
        </p:nvSpPr>
        <p:spPr>
          <a:xfrm>
            <a:off x="210312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21408" y="4974336"/>
            <a:ext cx="1508760" cy="237744"/>
          </a:xfrm>
          <a:prstGeom prst="rect">
            <a:avLst/>
          </a:prstGeom>
          <a:noFill/>
        </p:spPr>
        <p:txBody>
          <a:bodyPr wrap="square">
            <a:spAutoFit/>
          </a:bodyPr>
          <a:lstStyle/>
          <a:p>
            <a:pPr algn="l"/>
            <a:r>
              <a:rPr sz="750" b="1" i="0">
                <a:solidFill>
                  <a:srgbClr val="2563AB"/>
                </a:solidFill>
                <a:latin typeface="Calibri"/>
              </a:rPr>
              <a:t>ML + GenAI</a:t>
            </a:r>
          </a:p>
        </p:txBody>
      </p:sp>
      <p:sp>
        <p:nvSpPr>
          <p:cNvPr id="21" name="TextBox 20"/>
          <p:cNvSpPr txBox="1"/>
          <p:nvPr/>
        </p:nvSpPr>
        <p:spPr>
          <a:xfrm>
            <a:off x="3685032"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2" name="Rectangle 21"/>
          <p:cNvSpPr/>
          <p:nvPr/>
        </p:nvSpPr>
        <p:spPr>
          <a:xfrm>
            <a:off x="3739896" y="1051560"/>
            <a:ext cx="164592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85616" y="1115568"/>
            <a:ext cx="1572768" cy="274320"/>
          </a:xfrm>
          <a:prstGeom prst="rect">
            <a:avLst/>
          </a:prstGeom>
          <a:noFill/>
        </p:spPr>
        <p:txBody>
          <a:bodyPr wrap="square">
            <a:spAutoFit/>
          </a:bodyPr>
          <a:lstStyle/>
          <a:p>
            <a:pPr algn="l"/>
            <a:r>
              <a:rPr sz="850" b="1" i="0">
                <a:solidFill>
                  <a:srgbClr val="FFFFFF"/>
                </a:solidFill>
                <a:latin typeface="Calibri"/>
              </a:rPr>
              <a:t>3 / SIMULATE</a:t>
            </a:r>
          </a:p>
        </p:txBody>
      </p:sp>
      <p:sp>
        <p:nvSpPr>
          <p:cNvPr id="24" name="Rectangle 23"/>
          <p:cNvSpPr/>
          <p:nvPr/>
        </p:nvSpPr>
        <p:spPr>
          <a:xfrm>
            <a:off x="3739896"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13048" y="1527048"/>
            <a:ext cx="1536192" cy="3383280"/>
          </a:xfrm>
          <a:prstGeom prst="rect">
            <a:avLst/>
          </a:prstGeom>
          <a:noFill/>
        </p:spPr>
        <p:txBody>
          <a:bodyPr wrap="square">
            <a:spAutoFit/>
          </a:bodyPr>
          <a:lstStyle/>
          <a:p>
            <a:pPr algn="l"/>
            <a:r>
              <a:rPr sz="850" b="0" i="0">
                <a:solidFill>
                  <a:srgbClr val="475569"/>
                </a:solidFill>
                <a:latin typeface="Calibri"/>
              </a:rPr>
              <a:t>Pricing elasticity and volume simulation models evaluate likely commercial impact of potential interventions before recommendation. Quantifies expected ranking, quote volume and margin delta. Scenario comparison produced.</a:t>
            </a:r>
          </a:p>
        </p:txBody>
      </p:sp>
      <p:sp>
        <p:nvSpPr>
          <p:cNvPr id="26" name="Rectangle 25"/>
          <p:cNvSpPr/>
          <p:nvPr/>
        </p:nvSpPr>
        <p:spPr>
          <a:xfrm>
            <a:off x="3813048"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1336" y="4974336"/>
            <a:ext cx="1508760" cy="237744"/>
          </a:xfrm>
          <a:prstGeom prst="rect">
            <a:avLst/>
          </a:prstGeom>
          <a:noFill/>
        </p:spPr>
        <p:txBody>
          <a:bodyPr wrap="square">
            <a:spAutoFit/>
          </a:bodyPr>
          <a:lstStyle/>
          <a:p>
            <a:pPr algn="l"/>
            <a:r>
              <a:rPr sz="750" b="1" i="0">
                <a:solidFill>
                  <a:srgbClr val="0D9488"/>
                </a:solidFill>
                <a:latin typeface="Calibri"/>
              </a:rPr>
              <a:t>ML Simulation</a:t>
            </a:r>
          </a:p>
        </p:txBody>
      </p:sp>
      <p:sp>
        <p:nvSpPr>
          <p:cNvPr id="28" name="TextBox 27"/>
          <p:cNvSpPr txBox="1"/>
          <p:nvPr/>
        </p:nvSpPr>
        <p:spPr>
          <a:xfrm>
            <a:off x="5394960"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9" name="Rectangle 28"/>
          <p:cNvSpPr/>
          <p:nvPr/>
        </p:nvSpPr>
        <p:spPr>
          <a:xfrm>
            <a:off x="5449824" y="1051560"/>
            <a:ext cx="164592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95544" y="1115568"/>
            <a:ext cx="1572768" cy="274320"/>
          </a:xfrm>
          <a:prstGeom prst="rect">
            <a:avLst/>
          </a:prstGeom>
          <a:noFill/>
        </p:spPr>
        <p:txBody>
          <a:bodyPr wrap="square">
            <a:spAutoFit/>
          </a:bodyPr>
          <a:lstStyle/>
          <a:p>
            <a:pPr algn="l"/>
            <a:r>
              <a:rPr sz="850" b="1" i="0">
                <a:solidFill>
                  <a:srgbClr val="FFFFFF"/>
                </a:solidFill>
                <a:latin typeface="Calibri"/>
              </a:rPr>
              <a:t>4 / RECOMMEND</a:t>
            </a:r>
          </a:p>
        </p:txBody>
      </p:sp>
      <p:sp>
        <p:nvSpPr>
          <p:cNvPr id="31" name="Rectangle 30"/>
          <p:cNvSpPr/>
          <p:nvPr/>
        </p:nvSpPr>
        <p:spPr>
          <a:xfrm>
            <a:off x="5449824"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22976" y="1527048"/>
            <a:ext cx="1536192" cy="3383280"/>
          </a:xfrm>
          <a:prstGeom prst="rect">
            <a:avLst/>
          </a:prstGeom>
          <a:noFill/>
        </p:spPr>
        <p:txBody>
          <a:bodyPr wrap="square">
            <a:spAutoFit/>
          </a:bodyPr>
          <a:lstStyle/>
          <a:p>
            <a:pPr algn="l"/>
            <a:r>
              <a:rPr sz="850" b="0" i="0">
                <a:solidFill>
                  <a:srgbClr val="475569"/>
                </a:solidFill>
                <a:latin typeface="Calibri"/>
              </a:rPr>
              <a:t>Gemini synthesises multi-agent analysis into structured, prioritised, explainable recommendations. Each recommendation includes rationale, supporting evidence, confidence score and simulated impact. Routed via Cortex.</a:t>
            </a:r>
          </a:p>
        </p:txBody>
      </p:sp>
      <p:sp>
        <p:nvSpPr>
          <p:cNvPr id="33" name="Rectangle 32"/>
          <p:cNvSpPr/>
          <p:nvPr/>
        </p:nvSpPr>
        <p:spPr>
          <a:xfrm>
            <a:off x="5522976"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1264" y="4974336"/>
            <a:ext cx="1508760" cy="237744"/>
          </a:xfrm>
          <a:prstGeom prst="rect">
            <a:avLst/>
          </a:prstGeom>
          <a:noFill/>
        </p:spPr>
        <p:txBody>
          <a:bodyPr wrap="square">
            <a:spAutoFit/>
          </a:bodyPr>
          <a:lstStyle/>
          <a:p>
            <a:pPr algn="l"/>
            <a:r>
              <a:rPr sz="750" b="1" i="0">
                <a:solidFill>
                  <a:srgbClr val="7C3AED"/>
                </a:solidFill>
                <a:latin typeface="Calibri"/>
              </a:rPr>
              <a:t>GenAI + Agentic</a:t>
            </a:r>
          </a:p>
        </p:txBody>
      </p:sp>
      <p:sp>
        <p:nvSpPr>
          <p:cNvPr id="35" name="TextBox 34"/>
          <p:cNvSpPr txBox="1"/>
          <p:nvPr/>
        </p:nvSpPr>
        <p:spPr>
          <a:xfrm>
            <a:off x="7104888"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36" name="Rectangle 35"/>
          <p:cNvSpPr/>
          <p:nvPr/>
        </p:nvSpPr>
        <p:spPr>
          <a:xfrm>
            <a:off x="7159752" y="1051560"/>
            <a:ext cx="16459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05472" y="1115568"/>
            <a:ext cx="1572768" cy="274320"/>
          </a:xfrm>
          <a:prstGeom prst="rect">
            <a:avLst/>
          </a:prstGeom>
          <a:noFill/>
        </p:spPr>
        <p:txBody>
          <a:bodyPr wrap="square">
            <a:spAutoFit/>
          </a:bodyPr>
          <a:lstStyle/>
          <a:p>
            <a:pPr algn="l"/>
            <a:r>
              <a:rPr sz="850" b="1" i="0">
                <a:solidFill>
                  <a:srgbClr val="FFFFFF"/>
                </a:solidFill>
                <a:latin typeface="Calibri"/>
              </a:rPr>
              <a:t>5 / GOVERN</a:t>
            </a:r>
          </a:p>
        </p:txBody>
      </p:sp>
      <p:sp>
        <p:nvSpPr>
          <p:cNvPr id="38" name="Rectangle 37"/>
          <p:cNvSpPr/>
          <p:nvPr/>
        </p:nvSpPr>
        <p:spPr>
          <a:xfrm>
            <a:off x="7159752"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2904" y="1527048"/>
            <a:ext cx="1536192" cy="3383280"/>
          </a:xfrm>
          <a:prstGeom prst="rect">
            <a:avLst/>
          </a:prstGeom>
          <a:noFill/>
        </p:spPr>
        <p:txBody>
          <a:bodyPr wrap="square">
            <a:spAutoFit/>
          </a:bodyPr>
          <a:lstStyle/>
          <a:p>
            <a:pPr algn="l"/>
            <a:r>
              <a:rPr sz="850" b="0" i="0">
                <a:solidFill>
                  <a:srgbClr val="475569"/>
                </a:solidFill>
                <a:latin typeface="Calibri"/>
              </a:rPr>
              <a:t>Recommendations routed to pricing and proposition teams via Pega workflow. Full context and rationale provided. Tiered authority framework applied. Approval, modification or rejection recorded in ENVOY Audit Framework.</a:t>
            </a:r>
          </a:p>
        </p:txBody>
      </p:sp>
      <p:sp>
        <p:nvSpPr>
          <p:cNvPr id="40" name="Rectangle 39"/>
          <p:cNvSpPr/>
          <p:nvPr/>
        </p:nvSpPr>
        <p:spPr>
          <a:xfrm>
            <a:off x="7232904"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51192" y="4974336"/>
            <a:ext cx="1508760" cy="237744"/>
          </a:xfrm>
          <a:prstGeom prst="rect">
            <a:avLst/>
          </a:prstGeom>
          <a:noFill/>
        </p:spPr>
        <p:txBody>
          <a:bodyPr wrap="square">
            <a:spAutoFit/>
          </a:bodyPr>
          <a:lstStyle/>
          <a:p>
            <a:pPr algn="l"/>
            <a:r>
              <a:rPr sz="750" b="1" i="0">
                <a:solidFill>
                  <a:srgbClr val="C9A84C"/>
                </a:solidFill>
                <a:latin typeface="Calibri"/>
              </a:rPr>
              <a:t>Human + Pega + Cortex</a:t>
            </a:r>
          </a:p>
        </p:txBody>
      </p:sp>
      <p:sp>
        <p:nvSpPr>
          <p:cNvPr id="42" name="TextBox 41"/>
          <p:cNvSpPr txBox="1"/>
          <p:nvPr/>
        </p:nvSpPr>
        <p:spPr>
          <a:xfrm>
            <a:off x="8814816"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43" name="Rectangle 42"/>
          <p:cNvSpPr/>
          <p:nvPr/>
        </p:nvSpPr>
        <p:spPr>
          <a:xfrm>
            <a:off x="8869680" y="1051560"/>
            <a:ext cx="164592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15400" y="1115568"/>
            <a:ext cx="1572768" cy="274320"/>
          </a:xfrm>
          <a:prstGeom prst="rect">
            <a:avLst/>
          </a:prstGeom>
          <a:noFill/>
        </p:spPr>
        <p:txBody>
          <a:bodyPr wrap="square">
            <a:spAutoFit/>
          </a:bodyPr>
          <a:lstStyle/>
          <a:p>
            <a:pPr algn="l"/>
            <a:r>
              <a:rPr sz="850" b="1" i="0">
                <a:solidFill>
                  <a:srgbClr val="FFFFFF"/>
                </a:solidFill>
                <a:latin typeface="Calibri"/>
              </a:rPr>
              <a:t>6 / EXECUTE</a:t>
            </a:r>
          </a:p>
        </p:txBody>
      </p:sp>
      <p:sp>
        <p:nvSpPr>
          <p:cNvPr id="45" name="Rectangle 44"/>
          <p:cNvSpPr/>
          <p:nvPr/>
        </p:nvSpPr>
        <p:spPr>
          <a:xfrm>
            <a:off x="886968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2832" y="1527048"/>
            <a:ext cx="1536192" cy="3383280"/>
          </a:xfrm>
          <a:prstGeom prst="rect">
            <a:avLst/>
          </a:prstGeom>
          <a:noFill/>
        </p:spPr>
        <p:txBody>
          <a:bodyPr wrap="square">
            <a:spAutoFit/>
          </a:bodyPr>
          <a:lstStyle/>
          <a:p>
            <a:pPr algn="l"/>
            <a:r>
              <a:rPr sz="850" b="0" i="0">
                <a:solidFill>
                  <a:srgbClr val="475569"/>
                </a:solidFill>
                <a:latin typeface="Calibri"/>
              </a:rPr>
              <a:t>Approved changes implemented via Apigee-managed APIs to AGGS, Duck Creek and Pricing Services. Execution confirmed and logged. Post-change impact monitoring initiated automatically via ObserveAll.</a:t>
            </a:r>
          </a:p>
        </p:txBody>
      </p:sp>
      <p:sp>
        <p:nvSpPr>
          <p:cNvPr id="47" name="Rectangle 46"/>
          <p:cNvSpPr/>
          <p:nvPr/>
        </p:nvSpPr>
        <p:spPr>
          <a:xfrm>
            <a:off x="894283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0" y="4974336"/>
            <a:ext cx="1508760" cy="237744"/>
          </a:xfrm>
          <a:prstGeom prst="rect">
            <a:avLst/>
          </a:prstGeom>
          <a:noFill/>
        </p:spPr>
        <p:txBody>
          <a:bodyPr wrap="square">
            <a:spAutoFit/>
          </a:bodyPr>
          <a:lstStyle/>
          <a:p>
            <a:pPr algn="l"/>
            <a:r>
              <a:rPr sz="750" b="1" i="0">
                <a:solidFill>
                  <a:srgbClr val="059669"/>
                </a:solidFill>
                <a:latin typeface="Calibri"/>
              </a:rPr>
              <a:t>Agentic + Integration</a:t>
            </a:r>
          </a:p>
        </p:txBody>
      </p:sp>
      <p:sp>
        <p:nvSpPr>
          <p:cNvPr id="49" name="TextBox 48"/>
          <p:cNvSpPr txBox="1"/>
          <p:nvPr/>
        </p:nvSpPr>
        <p:spPr>
          <a:xfrm>
            <a:off x="1052474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50" name="Rectangle 49"/>
          <p:cNvSpPr/>
          <p:nvPr/>
        </p:nvSpPr>
        <p:spPr>
          <a:xfrm>
            <a:off x="10579608" y="1051560"/>
            <a:ext cx="1645920" cy="38404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625328" y="1115568"/>
            <a:ext cx="1572768" cy="274320"/>
          </a:xfrm>
          <a:prstGeom prst="rect">
            <a:avLst/>
          </a:prstGeom>
          <a:noFill/>
        </p:spPr>
        <p:txBody>
          <a:bodyPr wrap="square">
            <a:spAutoFit/>
          </a:bodyPr>
          <a:lstStyle/>
          <a:p>
            <a:pPr algn="l"/>
            <a:r>
              <a:rPr sz="850" b="1" i="0">
                <a:solidFill>
                  <a:srgbClr val="FFFFFF"/>
                </a:solidFill>
                <a:latin typeface="Calibri"/>
              </a:rPr>
              <a:t>7 / LEARN</a:t>
            </a:r>
          </a:p>
        </p:txBody>
      </p:sp>
      <p:sp>
        <p:nvSpPr>
          <p:cNvPr id="52" name="Rectangle 51"/>
          <p:cNvSpPr/>
          <p:nvPr/>
        </p:nvSpPr>
        <p:spPr>
          <a:xfrm>
            <a:off x="1057960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52760" y="1527048"/>
            <a:ext cx="1536192" cy="3383280"/>
          </a:xfrm>
          <a:prstGeom prst="rect">
            <a:avLst/>
          </a:prstGeom>
          <a:noFill/>
        </p:spPr>
        <p:txBody>
          <a:bodyPr wrap="square">
            <a:spAutoFit/>
          </a:bodyPr>
          <a:lstStyle/>
          <a:p>
            <a:pPr algn="l"/>
            <a:r>
              <a:rPr sz="850" b="0" i="0">
                <a:solidFill>
                  <a:srgbClr val="475569"/>
                </a:solidFill>
                <a:latin typeface="Calibri"/>
              </a:rPr>
              <a:t>ENVOY Learning Agent tracks recommendation outcomes. Pre/post-intervention PCW performance compared. Model performance evaluated in Pegasus. Retraining triggered on drift detection. Recommendation quality scores updated.</a:t>
            </a:r>
          </a:p>
        </p:txBody>
      </p:sp>
      <p:sp>
        <p:nvSpPr>
          <p:cNvPr id="54" name="Rectangle 53"/>
          <p:cNvSpPr/>
          <p:nvPr/>
        </p:nvSpPr>
        <p:spPr>
          <a:xfrm>
            <a:off x="1065276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71048" y="4974336"/>
            <a:ext cx="1508760" cy="237744"/>
          </a:xfrm>
          <a:prstGeom prst="rect">
            <a:avLst/>
          </a:prstGeom>
          <a:noFill/>
        </p:spPr>
        <p:txBody>
          <a:bodyPr wrap="square">
            <a:spAutoFit/>
          </a:bodyPr>
          <a:lstStyle/>
          <a:p>
            <a:pPr algn="l"/>
            <a:r>
              <a:rPr sz="750" b="1" i="0">
                <a:solidFill>
                  <a:srgbClr val="0891B2"/>
                </a:solidFill>
                <a:latin typeface="Calibri"/>
              </a:rPr>
              <a:t>ML + GenAI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CAPABILITY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Competitive Intelligence Platform — Five-Layer Architecture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10 / 20</a:t>
            </a:r>
          </a:p>
        </p:txBody>
      </p:sp>
      <p:sp>
        <p:nvSpPr>
          <p:cNvPr id="8" name="Rectangle 7"/>
          <p:cNvSpPr/>
          <p:nvPr/>
        </p:nvSpPr>
        <p:spPr>
          <a:xfrm>
            <a:off x="274320" y="1051560"/>
            <a:ext cx="2240280" cy="411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124712"/>
            <a:ext cx="2130552" cy="292608"/>
          </a:xfrm>
          <a:prstGeom prst="rect">
            <a:avLst/>
          </a:prstGeom>
          <a:noFill/>
        </p:spPr>
        <p:txBody>
          <a:bodyPr wrap="square">
            <a:spAutoFit/>
          </a:bodyPr>
          <a:lstStyle/>
          <a:p>
            <a:pPr algn="l"/>
            <a:r>
              <a:rPr sz="900" b="1" i="0">
                <a:solidFill>
                  <a:srgbClr val="FFFFFF"/>
                </a:solidFill>
                <a:latin typeface="Calibri"/>
              </a:rPr>
              <a:t>Market Intelligence Layer</a:t>
            </a:r>
          </a:p>
        </p:txBody>
      </p:sp>
      <p:sp>
        <p:nvSpPr>
          <p:cNvPr id="10" name="Rectangle 9"/>
          <p:cNvSpPr/>
          <p:nvPr/>
        </p:nvSpPr>
        <p:spPr>
          <a:xfrm>
            <a:off x="27432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50876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00200"/>
            <a:ext cx="2103120" cy="402336"/>
          </a:xfrm>
          <a:prstGeom prst="rect">
            <a:avLst/>
          </a:prstGeom>
          <a:noFill/>
        </p:spPr>
        <p:txBody>
          <a:bodyPr wrap="square">
            <a:spAutoFit/>
          </a:bodyPr>
          <a:lstStyle/>
          <a:p>
            <a:pPr algn="l"/>
            <a:r>
              <a:rPr sz="950" b="0" i="0">
                <a:solidFill>
                  <a:srgbClr val="1E293B"/>
                </a:solidFill>
                <a:latin typeface="Calibri"/>
              </a:rPr>
              <a:t>PCW ranking capture (all channels)</a:t>
            </a:r>
          </a:p>
        </p:txBody>
      </p:sp>
      <p:sp>
        <p:nvSpPr>
          <p:cNvPr id="13" name="Rectangle 12"/>
          <p:cNvSpPr/>
          <p:nvPr/>
        </p:nvSpPr>
        <p:spPr>
          <a:xfrm>
            <a:off x="27432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04825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39696"/>
            <a:ext cx="2103120" cy="402336"/>
          </a:xfrm>
          <a:prstGeom prst="rect">
            <a:avLst/>
          </a:prstGeom>
          <a:noFill/>
        </p:spPr>
        <p:txBody>
          <a:bodyPr wrap="square">
            <a:spAutoFit/>
          </a:bodyPr>
          <a:lstStyle/>
          <a:p>
            <a:pPr algn="l"/>
            <a:r>
              <a:rPr sz="950" b="0" i="0">
                <a:solidFill>
                  <a:srgbClr val="1E293B"/>
                </a:solidFill>
                <a:latin typeface="Calibri"/>
              </a:rPr>
              <a:t>Competitor price monitoring (real-time)</a:t>
            </a:r>
          </a:p>
        </p:txBody>
      </p:sp>
      <p:sp>
        <p:nvSpPr>
          <p:cNvPr id="16" name="Rectangle 15"/>
          <p:cNvSpPr/>
          <p:nvPr/>
        </p:nvSpPr>
        <p:spPr>
          <a:xfrm>
            <a:off x="27432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58775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679192"/>
            <a:ext cx="2103120" cy="402336"/>
          </a:xfrm>
          <a:prstGeom prst="rect">
            <a:avLst/>
          </a:prstGeom>
          <a:noFill/>
        </p:spPr>
        <p:txBody>
          <a:bodyPr wrap="square">
            <a:spAutoFit/>
          </a:bodyPr>
          <a:lstStyle/>
          <a:p>
            <a:pPr algn="l"/>
            <a:r>
              <a:rPr sz="950" b="0" i="0">
                <a:solidFill>
                  <a:srgbClr val="1E293B"/>
                </a:solidFill>
                <a:latin typeface="Calibri"/>
              </a:rPr>
              <a:t>Product &amp; excess tracking</a:t>
            </a:r>
          </a:p>
        </p:txBody>
      </p:sp>
      <p:sp>
        <p:nvSpPr>
          <p:cNvPr id="19" name="Rectangle 18"/>
          <p:cNvSpPr/>
          <p:nvPr/>
        </p:nvSpPr>
        <p:spPr>
          <a:xfrm>
            <a:off x="27432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127248"/>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18688"/>
            <a:ext cx="2103120" cy="402336"/>
          </a:xfrm>
          <a:prstGeom prst="rect">
            <a:avLst/>
          </a:prstGeom>
          <a:noFill/>
        </p:spPr>
        <p:txBody>
          <a:bodyPr wrap="square">
            <a:spAutoFit/>
          </a:bodyPr>
          <a:lstStyle/>
          <a:p>
            <a:pPr algn="l"/>
            <a:r>
              <a:rPr sz="950" b="0" i="0">
                <a:solidFill>
                  <a:srgbClr val="1E293B"/>
                </a:solidFill>
                <a:latin typeface="Calibri"/>
              </a:rPr>
              <a:t>Offer &amp; promotion detection</a:t>
            </a:r>
          </a:p>
        </p:txBody>
      </p:sp>
      <p:sp>
        <p:nvSpPr>
          <p:cNvPr id="22" name="Rectangle 21"/>
          <p:cNvSpPr/>
          <p:nvPr/>
        </p:nvSpPr>
        <p:spPr>
          <a:xfrm>
            <a:off x="27432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666744"/>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58184"/>
            <a:ext cx="2103120" cy="402336"/>
          </a:xfrm>
          <a:prstGeom prst="rect">
            <a:avLst/>
          </a:prstGeom>
          <a:noFill/>
        </p:spPr>
        <p:txBody>
          <a:bodyPr wrap="square">
            <a:spAutoFit/>
          </a:bodyPr>
          <a:lstStyle/>
          <a:p>
            <a:pPr algn="l"/>
            <a:r>
              <a:rPr sz="950" b="0" i="0">
                <a:solidFill>
                  <a:srgbClr val="1E293B"/>
                </a:solidFill>
                <a:latin typeface="Calibri"/>
              </a:rPr>
              <a:t>Frequency: &lt;15 min refresh</a:t>
            </a:r>
          </a:p>
        </p:txBody>
      </p:sp>
      <p:sp>
        <p:nvSpPr>
          <p:cNvPr id="25" name="Rectangle 24"/>
          <p:cNvSpPr/>
          <p:nvPr/>
        </p:nvSpPr>
        <p:spPr>
          <a:xfrm>
            <a:off x="27432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20624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297680"/>
            <a:ext cx="2103120" cy="402336"/>
          </a:xfrm>
          <a:prstGeom prst="rect">
            <a:avLst/>
          </a:prstGeom>
          <a:noFill/>
        </p:spPr>
        <p:txBody>
          <a:bodyPr wrap="square">
            <a:spAutoFit/>
          </a:bodyPr>
          <a:lstStyle/>
          <a:p>
            <a:pPr algn="l"/>
            <a:r>
              <a:rPr sz="950" b="0" i="0">
                <a:solidFill>
                  <a:srgbClr val="1E293B"/>
                </a:solidFill>
                <a:latin typeface="Calibri"/>
              </a:rPr>
              <a:t>Coverage: all active PCWs</a:t>
            </a:r>
          </a:p>
        </p:txBody>
      </p:sp>
      <p:sp>
        <p:nvSpPr>
          <p:cNvPr id="28" name="Rectangle 27"/>
          <p:cNvSpPr/>
          <p:nvPr/>
        </p:nvSpPr>
        <p:spPr>
          <a:xfrm>
            <a:off x="27432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74573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837176"/>
            <a:ext cx="2103120" cy="402336"/>
          </a:xfrm>
          <a:prstGeom prst="rect">
            <a:avLst/>
          </a:prstGeom>
          <a:noFill/>
        </p:spPr>
        <p:txBody>
          <a:bodyPr wrap="square">
            <a:spAutoFit/>
          </a:bodyPr>
          <a:lstStyle/>
          <a:p>
            <a:pPr algn="l"/>
            <a:r>
              <a:rPr sz="950" b="0" i="0">
                <a:solidFill>
                  <a:srgbClr val="1E293B"/>
                </a:solidFill>
                <a:latin typeface="Calibri"/>
              </a:rPr>
              <a:t>ADK Market Collection Agent</a:t>
            </a:r>
          </a:p>
        </p:txBody>
      </p:sp>
      <p:sp>
        <p:nvSpPr>
          <p:cNvPr id="31" name="Rectangle 30"/>
          <p:cNvSpPr/>
          <p:nvPr/>
        </p:nvSpPr>
        <p:spPr>
          <a:xfrm>
            <a:off x="27432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28523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376672"/>
            <a:ext cx="2103120" cy="402336"/>
          </a:xfrm>
          <a:prstGeom prst="rect">
            <a:avLst/>
          </a:prstGeom>
          <a:noFill/>
        </p:spPr>
        <p:txBody>
          <a:bodyPr wrap="square">
            <a:spAutoFit/>
          </a:bodyPr>
          <a:lstStyle/>
          <a:p>
            <a:pPr algn="l"/>
            <a:r>
              <a:rPr sz="950" b="0" i="0">
                <a:solidFill>
                  <a:srgbClr val="1E293B"/>
                </a:solidFill>
                <a:latin typeface="Calibri"/>
              </a:rPr>
              <a:t>Pub/Sub event streaming</a:t>
            </a:r>
          </a:p>
        </p:txBody>
      </p:sp>
      <p:sp>
        <p:nvSpPr>
          <p:cNvPr id="34" name="Rectangle 33"/>
          <p:cNvSpPr/>
          <p:nvPr/>
        </p:nvSpPr>
        <p:spPr>
          <a:xfrm>
            <a:off x="2606040" y="1051560"/>
            <a:ext cx="2240280" cy="4114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79192" y="1124712"/>
            <a:ext cx="2130552" cy="292608"/>
          </a:xfrm>
          <a:prstGeom prst="rect">
            <a:avLst/>
          </a:prstGeom>
          <a:noFill/>
        </p:spPr>
        <p:txBody>
          <a:bodyPr wrap="square">
            <a:spAutoFit/>
          </a:bodyPr>
          <a:lstStyle/>
          <a:p>
            <a:pPr algn="l"/>
            <a:r>
              <a:rPr sz="900" b="1" i="0">
                <a:solidFill>
                  <a:srgbClr val="FFFFFF"/>
                </a:solidFill>
                <a:latin typeface="Calibri"/>
              </a:rPr>
              <a:t>Insight &amp; Analysis Layer</a:t>
            </a:r>
          </a:p>
        </p:txBody>
      </p:sp>
      <p:sp>
        <p:nvSpPr>
          <p:cNvPr id="36" name="Rectangle 35"/>
          <p:cNvSpPr/>
          <p:nvPr/>
        </p:nvSpPr>
        <p:spPr>
          <a:xfrm>
            <a:off x="260604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06040" y="150876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1600200"/>
            <a:ext cx="2103120" cy="402336"/>
          </a:xfrm>
          <a:prstGeom prst="rect">
            <a:avLst/>
          </a:prstGeom>
          <a:noFill/>
        </p:spPr>
        <p:txBody>
          <a:bodyPr wrap="square">
            <a:spAutoFit/>
          </a:bodyPr>
          <a:lstStyle/>
          <a:p>
            <a:pPr algn="l"/>
            <a:r>
              <a:rPr sz="950" b="0" i="0">
                <a:solidFill>
                  <a:srgbClr val="1E293B"/>
                </a:solidFill>
                <a:latin typeface="Calibri"/>
              </a:rPr>
              <a:t>ML trend detection (Vertex AI)</a:t>
            </a:r>
          </a:p>
        </p:txBody>
      </p:sp>
      <p:sp>
        <p:nvSpPr>
          <p:cNvPr id="39" name="Rectangle 38"/>
          <p:cNvSpPr/>
          <p:nvPr/>
        </p:nvSpPr>
        <p:spPr>
          <a:xfrm>
            <a:off x="260604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606040" y="204825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97480" y="2139696"/>
            <a:ext cx="2103120" cy="402336"/>
          </a:xfrm>
          <a:prstGeom prst="rect">
            <a:avLst/>
          </a:prstGeom>
          <a:noFill/>
        </p:spPr>
        <p:txBody>
          <a:bodyPr wrap="square">
            <a:spAutoFit/>
          </a:bodyPr>
          <a:lstStyle/>
          <a:p>
            <a:pPr algn="l"/>
            <a:r>
              <a:rPr sz="950" b="0" i="0">
                <a:solidFill>
                  <a:srgbClr val="1E293B"/>
                </a:solidFill>
                <a:latin typeface="Calibri"/>
              </a:rPr>
              <a:t>Ranking movement classification</a:t>
            </a:r>
          </a:p>
        </p:txBody>
      </p:sp>
      <p:sp>
        <p:nvSpPr>
          <p:cNvPr id="42" name="Rectangle 41"/>
          <p:cNvSpPr/>
          <p:nvPr/>
        </p:nvSpPr>
        <p:spPr>
          <a:xfrm>
            <a:off x="260604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06040" y="258775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7480" y="2679192"/>
            <a:ext cx="2103120" cy="402336"/>
          </a:xfrm>
          <a:prstGeom prst="rect">
            <a:avLst/>
          </a:prstGeom>
          <a:noFill/>
        </p:spPr>
        <p:txBody>
          <a:bodyPr wrap="square">
            <a:spAutoFit/>
          </a:bodyPr>
          <a:lstStyle/>
          <a:p>
            <a:pPr algn="l"/>
            <a:r>
              <a:rPr sz="950" b="0" i="0">
                <a:solidFill>
                  <a:srgbClr val="1E293B"/>
                </a:solidFill>
                <a:latin typeface="Calibri"/>
              </a:rPr>
              <a:t>Competitor strategy inference</a:t>
            </a:r>
          </a:p>
        </p:txBody>
      </p:sp>
      <p:sp>
        <p:nvSpPr>
          <p:cNvPr id="45" name="Rectangle 44"/>
          <p:cNvSpPr/>
          <p:nvPr/>
        </p:nvSpPr>
        <p:spPr>
          <a:xfrm>
            <a:off x="260604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606040" y="3127248"/>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97480" y="3218688"/>
            <a:ext cx="2103120" cy="402336"/>
          </a:xfrm>
          <a:prstGeom prst="rect">
            <a:avLst/>
          </a:prstGeom>
          <a:noFill/>
        </p:spPr>
        <p:txBody>
          <a:bodyPr wrap="square">
            <a:spAutoFit/>
          </a:bodyPr>
          <a:lstStyle/>
          <a:p>
            <a:pPr algn="l"/>
            <a:r>
              <a:rPr sz="950" b="0" i="0">
                <a:solidFill>
                  <a:srgbClr val="1E293B"/>
                </a:solidFill>
                <a:latin typeface="Calibri"/>
              </a:rPr>
              <a:t>Gap &amp; opportunity scoring</a:t>
            </a:r>
          </a:p>
        </p:txBody>
      </p:sp>
      <p:sp>
        <p:nvSpPr>
          <p:cNvPr id="48" name="Rectangle 47"/>
          <p:cNvSpPr/>
          <p:nvPr/>
        </p:nvSpPr>
        <p:spPr>
          <a:xfrm>
            <a:off x="260604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06040" y="3666744"/>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3758184"/>
            <a:ext cx="2103120" cy="402336"/>
          </a:xfrm>
          <a:prstGeom prst="rect">
            <a:avLst/>
          </a:prstGeom>
          <a:noFill/>
        </p:spPr>
        <p:txBody>
          <a:bodyPr wrap="square">
            <a:spAutoFit/>
          </a:bodyPr>
          <a:lstStyle/>
          <a:p>
            <a:pPr algn="l"/>
            <a:r>
              <a:rPr sz="950" b="0" i="0">
                <a:solidFill>
                  <a:srgbClr val="1E293B"/>
                </a:solidFill>
                <a:latin typeface="Calibri"/>
              </a:rPr>
              <a:t>Anomaly flagging (price/product)</a:t>
            </a:r>
          </a:p>
        </p:txBody>
      </p:sp>
      <p:sp>
        <p:nvSpPr>
          <p:cNvPr id="51" name="Rectangle 50"/>
          <p:cNvSpPr/>
          <p:nvPr/>
        </p:nvSpPr>
        <p:spPr>
          <a:xfrm>
            <a:off x="260604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06040" y="420624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97480" y="4297680"/>
            <a:ext cx="2103120" cy="402336"/>
          </a:xfrm>
          <a:prstGeom prst="rect">
            <a:avLst/>
          </a:prstGeom>
          <a:noFill/>
        </p:spPr>
        <p:txBody>
          <a:bodyPr wrap="square">
            <a:spAutoFit/>
          </a:bodyPr>
          <a:lstStyle/>
          <a:p>
            <a:pPr algn="l"/>
            <a:r>
              <a:rPr sz="950" b="0" i="0">
                <a:solidFill>
                  <a:srgbClr val="1E293B"/>
                </a:solidFill>
                <a:latin typeface="Calibri"/>
              </a:rPr>
              <a:t>Confidence score assignment</a:t>
            </a:r>
          </a:p>
        </p:txBody>
      </p:sp>
      <p:sp>
        <p:nvSpPr>
          <p:cNvPr id="54" name="Rectangle 53"/>
          <p:cNvSpPr/>
          <p:nvPr/>
        </p:nvSpPr>
        <p:spPr>
          <a:xfrm>
            <a:off x="260604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06040" y="474573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97480" y="4837176"/>
            <a:ext cx="2103120" cy="402336"/>
          </a:xfrm>
          <a:prstGeom prst="rect">
            <a:avLst/>
          </a:prstGeom>
          <a:noFill/>
        </p:spPr>
        <p:txBody>
          <a:bodyPr wrap="square">
            <a:spAutoFit/>
          </a:bodyPr>
          <a:lstStyle/>
          <a:p>
            <a:pPr algn="l"/>
            <a:r>
              <a:rPr sz="950" b="0" i="0">
                <a:solidFill>
                  <a:srgbClr val="1E293B"/>
                </a:solidFill>
                <a:latin typeface="Calibri"/>
              </a:rPr>
              <a:t>Pegasus model evaluation</a:t>
            </a:r>
          </a:p>
        </p:txBody>
      </p:sp>
      <p:sp>
        <p:nvSpPr>
          <p:cNvPr id="57" name="Rectangle 56"/>
          <p:cNvSpPr/>
          <p:nvPr/>
        </p:nvSpPr>
        <p:spPr>
          <a:xfrm>
            <a:off x="260604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606040" y="528523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97480" y="5376672"/>
            <a:ext cx="2103120" cy="402336"/>
          </a:xfrm>
          <a:prstGeom prst="rect">
            <a:avLst/>
          </a:prstGeom>
          <a:noFill/>
        </p:spPr>
        <p:txBody>
          <a:bodyPr wrap="square">
            <a:spAutoFit/>
          </a:bodyPr>
          <a:lstStyle/>
          <a:p>
            <a:pPr algn="l"/>
            <a:r>
              <a:rPr sz="950" b="0" i="0">
                <a:solidFill>
                  <a:srgbClr val="1E293B"/>
                </a:solidFill>
                <a:latin typeface="Calibri"/>
              </a:rPr>
              <a:t>BigQuery analytics pipeline</a:t>
            </a:r>
          </a:p>
        </p:txBody>
      </p:sp>
      <p:sp>
        <p:nvSpPr>
          <p:cNvPr id="60" name="Rectangle 59"/>
          <p:cNvSpPr/>
          <p:nvPr/>
        </p:nvSpPr>
        <p:spPr>
          <a:xfrm>
            <a:off x="4937760" y="1051560"/>
            <a:ext cx="224028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10912" y="1124712"/>
            <a:ext cx="2130552" cy="292608"/>
          </a:xfrm>
          <a:prstGeom prst="rect">
            <a:avLst/>
          </a:prstGeom>
          <a:noFill/>
        </p:spPr>
        <p:txBody>
          <a:bodyPr wrap="square">
            <a:spAutoFit/>
          </a:bodyPr>
          <a:lstStyle/>
          <a:p>
            <a:pPr algn="l"/>
            <a:r>
              <a:rPr sz="900" b="1" i="0">
                <a:solidFill>
                  <a:srgbClr val="FFFFFF"/>
                </a:solidFill>
                <a:latin typeface="Calibri"/>
              </a:rPr>
              <a:t>Recommendation Layer</a:t>
            </a:r>
          </a:p>
        </p:txBody>
      </p:sp>
      <p:sp>
        <p:nvSpPr>
          <p:cNvPr id="62" name="Rectangle 61"/>
          <p:cNvSpPr/>
          <p:nvPr/>
        </p:nvSpPr>
        <p:spPr>
          <a:xfrm>
            <a:off x="493776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937760" y="150876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0" y="1600200"/>
            <a:ext cx="2103120" cy="402336"/>
          </a:xfrm>
          <a:prstGeom prst="rect">
            <a:avLst/>
          </a:prstGeom>
          <a:noFill/>
        </p:spPr>
        <p:txBody>
          <a:bodyPr wrap="square">
            <a:spAutoFit/>
          </a:bodyPr>
          <a:lstStyle/>
          <a:p>
            <a:pPr algn="l"/>
            <a:r>
              <a:rPr sz="950" b="0" i="0">
                <a:solidFill>
                  <a:srgbClr val="1E293B"/>
                </a:solidFill>
                <a:latin typeface="Calibri"/>
              </a:rPr>
              <a:t>Pricing action recommendations</a:t>
            </a:r>
          </a:p>
        </p:txBody>
      </p:sp>
      <p:sp>
        <p:nvSpPr>
          <p:cNvPr id="65" name="Rectangle 64"/>
          <p:cNvSpPr/>
          <p:nvPr/>
        </p:nvSpPr>
        <p:spPr>
          <a:xfrm>
            <a:off x="493776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37760" y="204825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0" y="2139696"/>
            <a:ext cx="2103120" cy="402336"/>
          </a:xfrm>
          <a:prstGeom prst="rect">
            <a:avLst/>
          </a:prstGeom>
          <a:noFill/>
        </p:spPr>
        <p:txBody>
          <a:bodyPr wrap="square">
            <a:spAutoFit/>
          </a:bodyPr>
          <a:lstStyle/>
          <a:p>
            <a:pPr algn="l"/>
            <a:r>
              <a:rPr sz="950" b="0" i="0">
                <a:solidFill>
                  <a:srgbClr val="1E293B"/>
                </a:solidFill>
                <a:latin typeface="Calibri"/>
              </a:rPr>
              <a:t>Excess adjustment proposals</a:t>
            </a:r>
          </a:p>
        </p:txBody>
      </p:sp>
      <p:sp>
        <p:nvSpPr>
          <p:cNvPr id="68" name="Rectangle 67"/>
          <p:cNvSpPr/>
          <p:nvPr/>
        </p:nvSpPr>
        <p:spPr>
          <a:xfrm>
            <a:off x="493776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937760" y="258775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29200" y="2679192"/>
            <a:ext cx="2103120" cy="402336"/>
          </a:xfrm>
          <a:prstGeom prst="rect">
            <a:avLst/>
          </a:prstGeom>
          <a:noFill/>
        </p:spPr>
        <p:txBody>
          <a:bodyPr wrap="square">
            <a:spAutoFit/>
          </a:bodyPr>
          <a:lstStyle/>
          <a:p>
            <a:pPr algn="l"/>
            <a:r>
              <a:rPr sz="950" b="0" i="0">
                <a:solidFill>
                  <a:srgbClr val="1E293B"/>
                </a:solidFill>
                <a:latin typeface="Calibri"/>
              </a:rPr>
              <a:t>Offer optimisation suggestions</a:t>
            </a:r>
          </a:p>
        </p:txBody>
      </p:sp>
      <p:sp>
        <p:nvSpPr>
          <p:cNvPr id="71" name="Rectangle 70"/>
          <p:cNvSpPr/>
          <p:nvPr/>
        </p:nvSpPr>
        <p:spPr>
          <a:xfrm>
            <a:off x="493776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937760" y="3127248"/>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0" y="3218688"/>
            <a:ext cx="2103120" cy="402336"/>
          </a:xfrm>
          <a:prstGeom prst="rect">
            <a:avLst/>
          </a:prstGeom>
          <a:noFill/>
        </p:spPr>
        <p:txBody>
          <a:bodyPr wrap="square">
            <a:spAutoFit/>
          </a:bodyPr>
          <a:lstStyle/>
          <a:p>
            <a:pPr algn="l"/>
            <a:r>
              <a:rPr sz="950" b="0" i="0">
                <a:solidFill>
                  <a:srgbClr val="1E293B"/>
                </a:solidFill>
                <a:latin typeface="Calibri"/>
              </a:rPr>
              <a:t>Product feature gap alerts</a:t>
            </a:r>
          </a:p>
        </p:txBody>
      </p:sp>
      <p:sp>
        <p:nvSpPr>
          <p:cNvPr id="74" name="Rectangle 73"/>
          <p:cNvSpPr/>
          <p:nvPr/>
        </p:nvSpPr>
        <p:spPr>
          <a:xfrm>
            <a:off x="493776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37760" y="3666744"/>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29200" y="3758184"/>
            <a:ext cx="2103120" cy="402336"/>
          </a:xfrm>
          <a:prstGeom prst="rect">
            <a:avLst/>
          </a:prstGeom>
          <a:noFill/>
        </p:spPr>
        <p:txBody>
          <a:bodyPr wrap="square">
            <a:spAutoFit/>
          </a:bodyPr>
          <a:lstStyle/>
          <a:p>
            <a:pPr algn="l"/>
            <a:r>
              <a:rPr sz="950" b="0" i="0">
                <a:solidFill>
                  <a:srgbClr val="1E293B"/>
                </a:solidFill>
                <a:latin typeface="Calibri"/>
              </a:rPr>
              <a:t>Simulation-backed evidence</a:t>
            </a:r>
          </a:p>
        </p:txBody>
      </p:sp>
      <p:sp>
        <p:nvSpPr>
          <p:cNvPr id="77" name="Rectangle 76"/>
          <p:cNvSpPr/>
          <p:nvPr/>
        </p:nvSpPr>
        <p:spPr>
          <a:xfrm>
            <a:off x="493776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37760" y="420624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29200" y="4297680"/>
            <a:ext cx="2103120" cy="402336"/>
          </a:xfrm>
          <a:prstGeom prst="rect">
            <a:avLst/>
          </a:prstGeom>
          <a:noFill/>
        </p:spPr>
        <p:txBody>
          <a:bodyPr wrap="square">
            <a:spAutoFit/>
          </a:bodyPr>
          <a:lstStyle/>
          <a:p>
            <a:pPr algn="l"/>
            <a:r>
              <a:rPr sz="950" b="0" i="0">
                <a:solidFill>
                  <a:srgbClr val="1E293B"/>
                </a:solidFill>
                <a:latin typeface="Calibri"/>
              </a:rPr>
              <a:t>Priority &amp; urgency scoring</a:t>
            </a:r>
          </a:p>
        </p:txBody>
      </p:sp>
      <p:sp>
        <p:nvSpPr>
          <p:cNvPr id="80" name="Rectangle 79"/>
          <p:cNvSpPr/>
          <p:nvPr/>
        </p:nvSpPr>
        <p:spPr>
          <a:xfrm>
            <a:off x="493776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37760" y="474573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29200" y="4837176"/>
            <a:ext cx="2103120" cy="402336"/>
          </a:xfrm>
          <a:prstGeom prst="rect">
            <a:avLst/>
          </a:prstGeom>
          <a:noFill/>
        </p:spPr>
        <p:txBody>
          <a:bodyPr wrap="square">
            <a:spAutoFit/>
          </a:bodyPr>
          <a:lstStyle/>
          <a:p>
            <a:pPr algn="l"/>
            <a:r>
              <a:rPr sz="950" b="0" i="0">
                <a:solidFill>
                  <a:srgbClr val="1E293B"/>
                </a:solidFill>
                <a:latin typeface="Calibri"/>
              </a:rPr>
              <a:t>Gemini rationale generation</a:t>
            </a:r>
          </a:p>
        </p:txBody>
      </p:sp>
      <p:sp>
        <p:nvSpPr>
          <p:cNvPr id="83" name="Rectangle 82"/>
          <p:cNvSpPr/>
          <p:nvPr/>
        </p:nvSpPr>
        <p:spPr>
          <a:xfrm>
            <a:off x="493776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937760" y="528523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0" y="5376672"/>
            <a:ext cx="2103120" cy="402336"/>
          </a:xfrm>
          <a:prstGeom prst="rect">
            <a:avLst/>
          </a:prstGeom>
          <a:noFill/>
        </p:spPr>
        <p:txBody>
          <a:bodyPr wrap="square">
            <a:spAutoFit/>
          </a:bodyPr>
          <a:lstStyle/>
          <a:p>
            <a:pPr algn="l"/>
            <a:r>
              <a:rPr sz="950" b="0" i="0">
                <a:solidFill>
                  <a:srgbClr val="1E293B"/>
                </a:solidFill>
                <a:latin typeface="Calibri"/>
              </a:rPr>
              <a:t>Cortex recommendation routing</a:t>
            </a:r>
          </a:p>
        </p:txBody>
      </p:sp>
      <p:sp>
        <p:nvSpPr>
          <p:cNvPr id="86" name="Rectangle 85"/>
          <p:cNvSpPr/>
          <p:nvPr/>
        </p:nvSpPr>
        <p:spPr>
          <a:xfrm>
            <a:off x="7269480" y="1051560"/>
            <a:ext cx="224028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42632" y="1124712"/>
            <a:ext cx="2130552" cy="292608"/>
          </a:xfrm>
          <a:prstGeom prst="rect">
            <a:avLst/>
          </a:prstGeom>
          <a:noFill/>
        </p:spPr>
        <p:txBody>
          <a:bodyPr wrap="square">
            <a:spAutoFit/>
          </a:bodyPr>
          <a:lstStyle/>
          <a:p>
            <a:pPr algn="l"/>
            <a:r>
              <a:rPr sz="900" b="1" i="0">
                <a:solidFill>
                  <a:srgbClr val="FFFFFF"/>
                </a:solidFill>
                <a:latin typeface="Calibri"/>
              </a:rPr>
              <a:t>Governance Layer</a:t>
            </a:r>
          </a:p>
        </p:txBody>
      </p:sp>
      <p:sp>
        <p:nvSpPr>
          <p:cNvPr id="88" name="Rectangle 87"/>
          <p:cNvSpPr/>
          <p:nvPr/>
        </p:nvSpPr>
        <p:spPr>
          <a:xfrm>
            <a:off x="726948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269480" y="150876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360920" y="1600200"/>
            <a:ext cx="2103120" cy="402336"/>
          </a:xfrm>
          <a:prstGeom prst="rect">
            <a:avLst/>
          </a:prstGeom>
          <a:noFill/>
        </p:spPr>
        <p:txBody>
          <a:bodyPr wrap="square">
            <a:spAutoFit/>
          </a:bodyPr>
          <a:lstStyle/>
          <a:p>
            <a:pPr algn="l"/>
            <a:r>
              <a:rPr sz="950" b="0" i="0">
                <a:solidFill>
                  <a:srgbClr val="1E293B"/>
                </a:solidFill>
                <a:latin typeface="Calibri"/>
              </a:rPr>
              <a:t>Human approval via Pega</a:t>
            </a:r>
          </a:p>
        </p:txBody>
      </p:sp>
      <p:sp>
        <p:nvSpPr>
          <p:cNvPr id="91" name="Rectangle 90"/>
          <p:cNvSpPr/>
          <p:nvPr/>
        </p:nvSpPr>
        <p:spPr>
          <a:xfrm>
            <a:off x="726948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269480" y="204825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60920" y="2139696"/>
            <a:ext cx="2103120" cy="402336"/>
          </a:xfrm>
          <a:prstGeom prst="rect">
            <a:avLst/>
          </a:prstGeom>
          <a:noFill/>
        </p:spPr>
        <p:txBody>
          <a:bodyPr wrap="square">
            <a:spAutoFit/>
          </a:bodyPr>
          <a:lstStyle/>
          <a:p>
            <a:pPr algn="l"/>
            <a:r>
              <a:rPr sz="950" b="0" i="0">
                <a:solidFill>
                  <a:srgbClr val="1E293B"/>
                </a:solidFill>
                <a:latin typeface="Calibri"/>
              </a:rPr>
              <a:t>Tiered authorisation controls</a:t>
            </a:r>
          </a:p>
        </p:txBody>
      </p:sp>
      <p:sp>
        <p:nvSpPr>
          <p:cNvPr id="94" name="Rectangle 93"/>
          <p:cNvSpPr/>
          <p:nvPr/>
        </p:nvSpPr>
        <p:spPr>
          <a:xfrm>
            <a:off x="726948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269480" y="258775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360920" y="2679192"/>
            <a:ext cx="2103120" cy="402336"/>
          </a:xfrm>
          <a:prstGeom prst="rect">
            <a:avLst/>
          </a:prstGeom>
          <a:noFill/>
        </p:spPr>
        <p:txBody>
          <a:bodyPr wrap="square">
            <a:spAutoFit/>
          </a:bodyPr>
          <a:lstStyle/>
          <a:p>
            <a:pPr algn="l"/>
            <a:r>
              <a:rPr sz="950" b="0" i="0">
                <a:solidFill>
                  <a:srgbClr val="1E293B"/>
                </a:solidFill>
                <a:latin typeface="Calibri"/>
              </a:rPr>
              <a:t>ENVOY Audit Framework</a:t>
            </a:r>
          </a:p>
        </p:txBody>
      </p:sp>
      <p:sp>
        <p:nvSpPr>
          <p:cNvPr id="97" name="Rectangle 96"/>
          <p:cNvSpPr/>
          <p:nvPr/>
        </p:nvSpPr>
        <p:spPr>
          <a:xfrm>
            <a:off x="726948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269480" y="3127248"/>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360920" y="3218688"/>
            <a:ext cx="2103120" cy="402336"/>
          </a:xfrm>
          <a:prstGeom prst="rect">
            <a:avLst/>
          </a:prstGeom>
          <a:noFill/>
        </p:spPr>
        <p:txBody>
          <a:bodyPr wrap="square">
            <a:spAutoFit/>
          </a:bodyPr>
          <a:lstStyle/>
          <a:p>
            <a:pPr algn="l"/>
            <a:r>
              <a:rPr sz="950" b="0" i="0">
                <a:solidFill>
                  <a:srgbClr val="1E293B"/>
                </a:solidFill>
                <a:latin typeface="Calibri"/>
              </a:rPr>
              <a:t>FCA explainability outputs</a:t>
            </a:r>
          </a:p>
        </p:txBody>
      </p:sp>
      <p:sp>
        <p:nvSpPr>
          <p:cNvPr id="100" name="Rectangle 99"/>
          <p:cNvSpPr/>
          <p:nvPr/>
        </p:nvSpPr>
        <p:spPr>
          <a:xfrm>
            <a:off x="726948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269480" y="3666744"/>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360920" y="3758184"/>
            <a:ext cx="2103120" cy="402336"/>
          </a:xfrm>
          <a:prstGeom prst="rect">
            <a:avLst/>
          </a:prstGeom>
          <a:noFill/>
        </p:spPr>
        <p:txBody>
          <a:bodyPr wrap="square">
            <a:spAutoFit/>
          </a:bodyPr>
          <a:lstStyle/>
          <a:p>
            <a:pPr algn="l"/>
            <a:r>
              <a:rPr sz="950" b="0" i="0">
                <a:solidFill>
                  <a:srgbClr val="1E293B"/>
                </a:solidFill>
                <a:latin typeface="Calibri"/>
              </a:rPr>
              <a:t>Model Armor output validation</a:t>
            </a:r>
          </a:p>
        </p:txBody>
      </p:sp>
      <p:sp>
        <p:nvSpPr>
          <p:cNvPr id="103" name="Rectangle 102"/>
          <p:cNvSpPr/>
          <p:nvPr/>
        </p:nvSpPr>
        <p:spPr>
          <a:xfrm>
            <a:off x="726948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269480" y="420624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60920" y="4297680"/>
            <a:ext cx="2103120" cy="402336"/>
          </a:xfrm>
          <a:prstGeom prst="rect">
            <a:avLst/>
          </a:prstGeom>
          <a:noFill/>
        </p:spPr>
        <p:txBody>
          <a:bodyPr wrap="square">
            <a:spAutoFit/>
          </a:bodyPr>
          <a:lstStyle/>
          <a:p>
            <a:pPr algn="l"/>
            <a:r>
              <a:rPr sz="950" b="0" i="0">
                <a:solidFill>
                  <a:srgbClr val="1E293B"/>
                </a:solidFill>
                <a:latin typeface="Calibri"/>
              </a:rPr>
              <a:t>Rejection feedback loop</a:t>
            </a:r>
          </a:p>
        </p:txBody>
      </p:sp>
      <p:sp>
        <p:nvSpPr>
          <p:cNvPr id="106" name="Rectangle 105"/>
          <p:cNvSpPr/>
          <p:nvPr/>
        </p:nvSpPr>
        <p:spPr>
          <a:xfrm>
            <a:off x="726948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269480" y="474573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360920" y="4837176"/>
            <a:ext cx="2103120" cy="402336"/>
          </a:xfrm>
          <a:prstGeom prst="rect">
            <a:avLst/>
          </a:prstGeom>
          <a:noFill/>
        </p:spPr>
        <p:txBody>
          <a:bodyPr wrap="square">
            <a:spAutoFit/>
          </a:bodyPr>
          <a:lstStyle/>
          <a:p>
            <a:pPr algn="l"/>
            <a:r>
              <a:rPr sz="950" b="0" i="0">
                <a:solidFill>
                  <a:srgbClr val="1E293B"/>
                </a:solidFill>
                <a:latin typeface="Calibri"/>
              </a:rPr>
              <a:t>Compliance change records</a:t>
            </a:r>
          </a:p>
        </p:txBody>
      </p:sp>
      <p:sp>
        <p:nvSpPr>
          <p:cNvPr id="109" name="Rectangle 108"/>
          <p:cNvSpPr/>
          <p:nvPr/>
        </p:nvSpPr>
        <p:spPr>
          <a:xfrm>
            <a:off x="726948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269480" y="528523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360920" y="5376672"/>
            <a:ext cx="2103120" cy="402336"/>
          </a:xfrm>
          <a:prstGeom prst="rect">
            <a:avLst/>
          </a:prstGeom>
          <a:noFill/>
        </p:spPr>
        <p:txBody>
          <a:bodyPr wrap="square">
            <a:spAutoFit/>
          </a:bodyPr>
          <a:lstStyle/>
          <a:p>
            <a:pPr algn="l"/>
            <a:r>
              <a:rPr sz="950" b="0" i="0">
                <a:solidFill>
                  <a:srgbClr val="1E293B"/>
                </a:solidFill>
                <a:latin typeface="Calibri"/>
              </a:rPr>
              <a:t>RBAC &amp; ABAC access controls</a:t>
            </a:r>
          </a:p>
        </p:txBody>
      </p:sp>
      <p:sp>
        <p:nvSpPr>
          <p:cNvPr id="112" name="Rectangle 111"/>
          <p:cNvSpPr/>
          <p:nvPr/>
        </p:nvSpPr>
        <p:spPr>
          <a:xfrm>
            <a:off x="9601200" y="1051560"/>
            <a:ext cx="22402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674352" y="1124712"/>
            <a:ext cx="2130552" cy="292608"/>
          </a:xfrm>
          <a:prstGeom prst="rect">
            <a:avLst/>
          </a:prstGeom>
          <a:noFill/>
        </p:spPr>
        <p:txBody>
          <a:bodyPr wrap="square">
            <a:spAutoFit/>
          </a:bodyPr>
          <a:lstStyle/>
          <a:p>
            <a:pPr algn="l"/>
            <a:r>
              <a:rPr sz="900" b="1" i="0">
                <a:solidFill>
                  <a:srgbClr val="FFFFFF"/>
                </a:solidFill>
                <a:latin typeface="Calibri"/>
              </a:rPr>
              <a:t>Execution Layer</a:t>
            </a:r>
          </a:p>
        </p:txBody>
      </p:sp>
      <p:sp>
        <p:nvSpPr>
          <p:cNvPr id="114" name="Rectangle 113"/>
          <p:cNvSpPr/>
          <p:nvPr/>
        </p:nvSpPr>
        <p:spPr>
          <a:xfrm>
            <a:off x="960120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601200" y="150876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692640" y="1600200"/>
            <a:ext cx="2103120" cy="402336"/>
          </a:xfrm>
          <a:prstGeom prst="rect">
            <a:avLst/>
          </a:prstGeom>
          <a:noFill/>
        </p:spPr>
        <p:txBody>
          <a:bodyPr wrap="square">
            <a:spAutoFit/>
          </a:bodyPr>
          <a:lstStyle/>
          <a:p>
            <a:pPr algn="l"/>
            <a:r>
              <a:rPr sz="950" b="0" i="0">
                <a:solidFill>
                  <a:srgbClr val="1E293B"/>
                </a:solidFill>
                <a:latin typeface="Calibri"/>
              </a:rPr>
              <a:t>AGGS rate submissions</a:t>
            </a:r>
          </a:p>
        </p:txBody>
      </p:sp>
      <p:sp>
        <p:nvSpPr>
          <p:cNvPr id="117" name="Rectangle 116"/>
          <p:cNvSpPr/>
          <p:nvPr/>
        </p:nvSpPr>
        <p:spPr>
          <a:xfrm>
            <a:off x="960120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601200" y="204825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692640" y="2139696"/>
            <a:ext cx="2103120" cy="402336"/>
          </a:xfrm>
          <a:prstGeom prst="rect">
            <a:avLst/>
          </a:prstGeom>
          <a:noFill/>
        </p:spPr>
        <p:txBody>
          <a:bodyPr wrap="square">
            <a:spAutoFit/>
          </a:bodyPr>
          <a:lstStyle/>
          <a:p>
            <a:pPr algn="l"/>
            <a:r>
              <a:rPr sz="950" b="0" i="0">
                <a:solidFill>
                  <a:srgbClr val="1E293B"/>
                </a:solidFill>
                <a:latin typeface="Calibri"/>
              </a:rPr>
              <a:t>Duck Creek policy updates</a:t>
            </a:r>
          </a:p>
        </p:txBody>
      </p:sp>
      <p:sp>
        <p:nvSpPr>
          <p:cNvPr id="120" name="Rectangle 119"/>
          <p:cNvSpPr/>
          <p:nvPr/>
        </p:nvSpPr>
        <p:spPr>
          <a:xfrm>
            <a:off x="960120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601200" y="258775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692640" y="2679192"/>
            <a:ext cx="2103120" cy="402336"/>
          </a:xfrm>
          <a:prstGeom prst="rect">
            <a:avLst/>
          </a:prstGeom>
          <a:noFill/>
        </p:spPr>
        <p:txBody>
          <a:bodyPr wrap="square">
            <a:spAutoFit/>
          </a:bodyPr>
          <a:lstStyle/>
          <a:p>
            <a:pPr algn="l"/>
            <a:r>
              <a:rPr sz="950" b="0" i="0">
                <a:solidFill>
                  <a:srgbClr val="1E293B"/>
                </a:solidFill>
                <a:latin typeface="Calibri"/>
              </a:rPr>
              <a:t>Pricing Services API calls</a:t>
            </a:r>
          </a:p>
        </p:txBody>
      </p:sp>
      <p:sp>
        <p:nvSpPr>
          <p:cNvPr id="123" name="Rectangle 122"/>
          <p:cNvSpPr/>
          <p:nvPr/>
        </p:nvSpPr>
        <p:spPr>
          <a:xfrm>
            <a:off x="960120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601200" y="3127248"/>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692640" y="3218688"/>
            <a:ext cx="2103120" cy="402336"/>
          </a:xfrm>
          <a:prstGeom prst="rect">
            <a:avLst/>
          </a:prstGeom>
          <a:noFill/>
        </p:spPr>
        <p:txBody>
          <a:bodyPr wrap="square">
            <a:spAutoFit/>
          </a:bodyPr>
          <a:lstStyle/>
          <a:p>
            <a:pPr algn="l"/>
            <a:r>
              <a:rPr sz="950" b="0" i="0">
                <a:solidFill>
                  <a:srgbClr val="1E293B"/>
                </a:solidFill>
                <a:latin typeface="Calibri"/>
              </a:rPr>
              <a:t>Product config changes</a:t>
            </a:r>
          </a:p>
        </p:txBody>
      </p:sp>
      <p:sp>
        <p:nvSpPr>
          <p:cNvPr id="126" name="Rectangle 125"/>
          <p:cNvSpPr/>
          <p:nvPr/>
        </p:nvSpPr>
        <p:spPr>
          <a:xfrm>
            <a:off x="960120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601200" y="3666744"/>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692640" y="3758184"/>
            <a:ext cx="2103120" cy="402336"/>
          </a:xfrm>
          <a:prstGeom prst="rect">
            <a:avLst/>
          </a:prstGeom>
          <a:noFill/>
        </p:spPr>
        <p:txBody>
          <a:bodyPr wrap="square">
            <a:spAutoFit/>
          </a:bodyPr>
          <a:lstStyle/>
          <a:p>
            <a:pPr algn="l"/>
            <a:r>
              <a:rPr sz="950" b="0" i="0">
                <a:solidFill>
                  <a:srgbClr val="1E293B"/>
                </a:solidFill>
                <a:latin typeface="Calibri"/>
              </a:rPr>
              <a:t>Execution confirmation log</a:t>
            </a:r>
          </a:p>
        </p:txBody>
      </p:sp>
      <p:sp>
        <p:nvSpPr>
          <p:cNvPr id="129" name="Rectangle 128"/>
          <p:cNvSpPr/>
          <p:nvPr/>
        </p:nvSpPr>
        <p:spPr>
          <a:xfrm>
            <a:off x="960120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9601200" y="420624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692640" y="4297680"/>
            <a:ext cx="2103120" cy="402336"/>
          </a:xfrm>
          <a:prstGeom prst="rect">
            <a:avLst/>
          </a:prstGeom>
          <a:noFill/>
        </p:spPr>
        <p:txBody>
          <a:bodyPr wrap="square">
            <a:spAutoFit/>
          </a:bodyPr>
          <a:lstStyle/>
          <a:p>
            <a:pPr algn="l"/>
            <a:r>
              <a:rPr sz="950" b="0" i="0">
                <a:solidFill>
                  <a:srgbClr val="1E293B"/>
                </a:solidFill>
                <a:latin typeface="Calibri"/>
              </a:rPr>
              <a:t>Apigee API management</a:t>
            </a:r>
          </a:p>
        </p:txBody>
      </p:sp>
      <p:sp>
        <p:nvSpPr>
          <p:cNvPr id="132" name="Rectangle 131"/>
          <p:cNvSpPr/>
          <p:nvPr/>
        </p:nvSpPr>
        <p:spPr>
          <a:xfrm>
            <a:off x="960120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9601200" y="474573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9692640" y="4837176"/>
            <a:ext cx="2103120" cy="402336"/>
          </a:xfrm>
          <a:prstGeom prst="rect">
            <a:avLst/>
          </a:prstGeom>
          <a:noFill/>
        </p:spPr>
        <p:txBody>
          <a:bodyPr wrap="square">
            <a:spAutoFit/>
          </a:bodyPr>
          <a:lstStyle/>
          <a:p>
            <a:pPr algn="l"/>
            <a:r>
              <a:rPr sz="950" b="0" i="0">
                <a:solidFill>
                  <a:srgbClr val="1E293B"/>
                </a:solidFill>
                <a:latin typeface="Calibri"/>
              </a:rPr>
              <a:t>Post-change monitoring</a:t>
            </a:r>
          </a:p>
        </p:txBody>
      </p:sp>
      <p:sp>
        <p:nvSpPr>
          <p:cNvPr id="135" name="Rectangle 134"/>
          <p:cNvSpPr/>
          <p:nvPr/>
        </p:nvSpPr>
        <p:spPr>
          <a:xfrm>
            <a:off x="960120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601200" y="528523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692640" y="5376672"/>
            <a:ext cx="2103120" cy="402336"/>
          </a:xfrm>
          <a:prstGeom prst="rect">
            <a:avLst/>
          </a:prstGeom>
          <a:noFill/>
        </p:spPr>
        <p:txBody>
          <a:bodyPr wrap="square">
            <a:spAutoFit/>
          </a:bodyPr>
          <a:lstStyle/>
          <a:p>
            <a:pPr algn="l"/>
            <a:r>
              <a:rPr sz="950" b="0" i="0">
                <a:solidFill>
                  <a:srgbClr val="1E293B"/>
                </a:solidFill>
                <a:latin typeface="Calibri"/>
              </a:rPr>
              <a:t>ObserveAll alerting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AGENTIC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Multi-Agent Intelligence Architecture — ENVOY ADK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11 / 20</a:t>
            </a:r>
          </a:p>
        </p:txBody>
      </p:sp>
      <p:sp>
        <p:nvSpPr>
          <p:cNvPr id="8" name="Rectangle 7"/>
          <p:cNvSpPr/>
          <p:nvPr/>
        </p:nvSpPr>
        <p:spPr>
          <a:xfrm>
            <a:off x="320040" y="1097280"/>
            <a:ext cx="11274552" cy="62179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54864" cy="6217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43000"/>
            <a:ext cx="2011680" cy="228600"/>
          </a:xfrm>
          <a:prstGeom prst="rect">
            <a:avLst/>
          </a:prstGeom>
          <a:noFill/>
        </p:spPr>
        <p:txBody>
          <a:bodyPr wrap="square">
            <a:spAutoFit/>
          </a:bodyPr>
          <a:lstStyle/>
          <a:p>
            <a:pPr algn="l"/>
            <a:r>
              <a:rPr sz="850" b="1" i="0">
                <a:solidFill>
                  <a:srgbClr val="C9A84C"/>
                </a:solidFill>
                <a:latin typeface="Calibri"/>
              </a:rPr>
              <a:t>ORCHESTRATOR AGENT</a:t>
            </a:r>
          </a:p>
        </p:txBody>
      </p:sp>
      <p:sp>
        <p:nvSpPr>
          <p:cNvPr id="11" name="TextBox 10"/>
          <p:cNvSpPr txBox="1"/>
          <p:nvPr/>
        </p:nvSpPr>
        <p:spPr>
          <a:xfrm>
            <a:off x="2560320" y="1143000"/>
            <a:ext cx="8869680" cy="502920"/>
          </a:xfrm>
          <a:prstGeom prst="rect">
            <a:avLst/>
          </a:prstGeom>
          <a:noFill/>
        </p:spPr>
        <p:txBody>
          <a:bodyPr wrap="square">
            <a:spAutoFit/>
          </a:bodyPr>
          <a:lstStyle/>
          <a:p>
            <a:pPr algn="l"/>
            <a:r>
              <a:rPr sz="900" b="0" i="0">
                <a:solidFill>
                  <a:srgbClr val="FFFFFF"/>
                </a:solidFill>
                <a:latin typeface="Calibri"/>
              </a:rPr>
              <a:t>Coordinates end-to-end intelligence workflow via ENVOY ADK. Routes tasks between specialist agents. Manages execution state via Session Store. Handles agent failures and retries. Aggregates outputs and escalates to human governance via Pega. Powered by: ENVOY ADK / Vertex AI Agent Engine / LangGraph / Cloud Workflows</a:t>
            </a:r>
          </a:p>
        </p:txBody>
      </p:sp>
      <p:sp>
        <p:nvSpPr>
          <p:cNvPr id="12" name="Rectangle 11"/>
          <p:cNvSpPr/>
          <p:nvPr/>
        </p:nvSpPr>
        <p:spPr>
          <a:xfrm>
            <a:off x="320040"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828800"/>
            <a:ext cx="27432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938528"/>
            <a:ext cx="2606040" cy="274320"/>
          </a:xfrm>
          <a:prstGeom prst="rect">
            <a:avLst/>
          </a:prstGeom>
          <a:noFill/>
        </p:spPr>
        <p:txBody>
          <a:bodyPr wrap="square">
            <a:spAutoFit/>
          </a:bodyPr>
          <a:lstStyle/>
          <a:p>
            <a:pPr algn="l"/>
            <a:r>
              <a:rPr sz="1050" b="1" i="0">
                <a:solidFill>
                  <a:srgbClr val="0A1628"/>
                </a:solidFill>
                <a:latin typeface="Calibri"/>
              </a:rPr>
              <a:t>Market Collection Agent</a:t>
            </a:r>
          </a:p>
        </p:txBody>
      </p:sp>
      <p:sp>
        <p:nvSpPr>
          <p:cNvPr id="15" name="TextBox 14"/>
          <p:cNvSpPr txBox="1"/>
          <p:nvPr/>
        </p:nvSpPr>
        <p:spPr>
          <a:xfrm>
            <a:off x="411480" y="2240280"/>
            <a:ext cx="2606040" cy="1417320"/>
          </a:xfrm>
          <a:prstGeom prst="rect">
            <a:avLst/>
          </a:prstGeom>
          <a:noFill/>
        </p:spPr>
        <p:txBody>
          <a:bodyPr wrap="square">
            <a:spAutoFit/>
          </a:bodyPr>
          <a:lstStyle/>
          <a:p>
            <a:pPr algn="l"/>
            <a:r>
              <a:rPr sz="850" b="0" i="0">
                <a:solidFill>
                  <a:srgbClr val="475569"/>
                </a:solidFill>
                <a:latin typeface="Calibri"/>
              </a:rPr>
              <a:t>Autonomously collects PCW pricing, product, excess and offer data across all monitored competitors. Validates data integrity via ML checks. Enriches with metadata and stores in BigQuery. Handles site structure changes and data anomalies.</a:t>
            </a:r>
          </a:p>
        </p:txBody>
      </p:sp>
      <p:sp>
        <p:nvSpPr>
          <p:cNvPr id="16" name="Rectangle 15"/>
          <p:cNvSpPr/>
          <p:nvPr/>
        </p:nvSpPr>
        <p:spPr>
          <a:xfrm>
            <a:off x="411480"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3703320"/>
            <a:ext cx="617220" cy="182880"/>
          </a:xfrm>
          <a:prstGeom prst="rect">
            <a:avLst/>
          </a:prstGeom>
          <a:noFill/>
        </p:spPr>
        <p:txBody>
          <a:bodyPr wrap="square">
            <a:spAutoFit/>
          </a:bodyPr>
          <a:lstStyle/>
          <a:p>
            <a:pPr algn="l"/>
            <a:r>
              <a:rPr sz="750" b="1" i="0">
                <a:solidFill>
                  <a:srgbClr val="0F7AC5"/>
                </a:solidFill>
                <a:latin typeface="Calibri"/>
              </a:rPr>
              <a:t>Agentic</a:t>
            </a:r>
          </a:p>
        </p:txBody>
      </p:sp>
      <p:sp>
        <p:nvSpPr>
          <p:cNvPr id="18" name="Rectangle 17"/>
          <p:cNvSpPr/>
          <p:nvPr/>
        </p:nvSpPr>
        <p:spPr>
          <a:xfrm>
            <a:off x="1129284"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5860" y="3703320"/>
            <a:ext cx="342900" cy="182880"/>
          </a:xfrm>
          <a:prstGeom prst="rect">
            <a:avLst/>
          </a:prstGeom>
          <a:noFill/>
        </p:spPr>
        <p:txBody>
          <a:bodyPr wrap="square">
            <a:spAutoFit/>
          </a:bodyPr>
          <a:lstStyle/>
          <a:p>
            <a:pPr algn="l"/>
            <a:r>
              <a:rPr sz="750" b="1" i="0">
                <a:solidFill>
                  <a:srgbClr val="0F7AC5"/>
                </a:solidFill>
                <a:latin typeface="Calibri"/>
              </a:rPr>
              <a:t>ADK</a:t>
            </a:r>
          </a:p>
        </p:txBody>
      </p:sp>
      <p:sp>
        <p:nvSpPr>
          <p:cNvPr id="20" name="Rectangle 19"/>
          <p:cNvSpPr/>
          <p:nvPr/>
        </p:nvSpPr>
        <p:spPr>
          <a:xfrm>
            <a:off x="1572768"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9344" y="3703320"/>
            <a:ext cx="617220" cy="182880"/>
          </a:xfrm>
          <a:prstGeom prst="rect">
            <a:avLst/>
          </a:prstGeom>
          <a:noFill/>
        </p:spPr>
        <p:txBody>
          <a:bodyPr wrap="square">
            <a:spAutoFit/>
          </a:bodyPr>
          <a:lstStyle/>
          <a:p>
            <a:pPr algn="l"/>
            <a:r>
              <a:rPr sz="750" b="1" i="0">
                <a:solidFill>
                  <a:srgbClr val="0F7AC5"/>
                </a:solidFill>
                <a:latin typeface="Calibri"/>
              </a:rPr>
              <a:t>Pub/Sub</a:t>
            </a:r>
          </a:p>
        </p:txBody>
      </p:sp>
      <p:sp>
        <p:nvSpPr>
          <p:cNvPr id="22" name="Rectangle 21"/>
          <p:cNvSpPr/>
          <p:nvPr/>
        </p:nvSpPr>
        <p:spPr>
          <a:xfrm>
            <a:off x="3172968"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72968" y="1828800"/>
            <a:ext cx="27432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64408" y="1938528"/>
            <a:ext cx="2606040" cy="274320"/>
          </a:xfrm>
          <a:prstGeom prst="rect">
            <a:avLst/>
          </a:prstGeom>
          <a:noFill/>
        </p:spPr>
        <p:txBody>
          <a:bodyPr wrap="square">
            <a:spAutoFit/>
          </a:bodyPr>
          <a:lstStyle/>
          <a:p>
            <a:pPr algn="l"/>
            <a:r>
              <a:rPr sz="1050" b="1" i="0">
                <a:solidFill>
                  <a:srgbClr val="0A1628"/>
                </a:solidFill>
                <a:latin typeface="Calibri"/>
              </a:rPr>
              <a:t>Position Intelligence Agent</a:t>
            </a:r>
          </a:p>
        </p:txBody>
      </p:sp>
      <p:sp>
        <p:nvSpPr>
          <p:cNvPr id="25" name="TextBox 24"/>
          <p:cNvSpPr txBox="1"/>
          <p:nvPr/>
        </p:nvSpPr>
        <p:spPr>
          <a:xfrm>
            <a:off x="3264408" y="2240280"/>
            <a:ext cx="2606040" cy="1417320"/>
          </a:xfrm>
          <a:prstGeom prst="rect">
            <a:avLst/>
          </a:prstGeom>
          <a:noFill/>
        </p:spPr>
        <p:txBody>
          <a:bodyPr wrap="square">
            <a:spAutoFit/>
          </a:bodyPr>
          <a:lstStyle/>
          <a:p>
            <a:pPr algn="l"/>
            <a:r>
              <a:rPr sz="850" b="0" i="0">
                <a:solidFill>
                  <a:srgbClr val="475569"/>
                </a:solidFill>
                <a:latin typeface="Calibri"/>
              </a:rPr>
              <a:t>Analyses ranking movement across PCW channels. Detects velocity, direction and significance of rank changes. Classifies movements by driver (price, product, offer, algorithm). Generates ranking trend reports for downstream agents.</a:t>
            </a:r>
          </a:p>
        </p:txBody>
      </p:sp>
      <p:sp>
        <p:nvSpPr>
          <p:cNvPr id="26" name="Rectangle 25"/>
          <p:cNvSpPr/>
          <p:nvPr/>
        </p:nvSpPr>
        <p:spPr>
          <a:xfrm>
            <a:off x="3264408"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00984" y="3703320"/>
            <a:ext cx="274320" cy="182880"/>
          </a:xfrm>
          <a:prstGeom prst="rect">
            <a:avLst/>
          </a:prstGeom>
          <a:noFill/>
        </p:spPr>
        <p:txBody>
          <a:bodyPr wrap="square">
            <a:spAutoFit/>
          </a:bodyPr>
          <a:lstStyle/>
          <a:p>
            <a:pPr algn="l"/>
            <a:r>
              <a:rPr sz="750" b="1" i="0">
                <a:solidFill>
                  <a:srgbClr val="2563AB"/>
                </a:solidFill>
                <a:latin typeface="Calibri"/>
              </a:rPr>
              <a:t>ML</a:t>
            </a:r>
          </a:p>
        </p:txBody>
      </p:sp>
      <p:sp>
        <p:nvSpPr>
          <p:cNvPr id="28" name="Rectangle 27"/>
          <p:cNvSpPr/>
          <p:nvPr/>
        </p:nvSpPr>
        <p:spPr>
          <a:xfrm>
            <a:off x="3639312"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5888" y="3703320"/>
            <a:ext cx="754380" cy="182880"/>
          </a:xfrm>
          <a:prstGeom prst="rect">
            <a:avLst/>
          </a:prstGeom>
          <a:noFill/>
        </p:spPr>
        <p:txBody>
          <a:bodyPr wrap="square">
            <a:spAutoFit/>
          </a:bodyPr>
          <a:lstStyle/>
          <a:p>
            <a:pPr algn="l"/>
            <a:r>
              <a:rPr sz="750" b="1" i="0">
                <a:solidFill>
                  <a:srgbClr val="2563AB"/>
                </a:solidFill>
                <a:latin typeface="Calibri"/>
              </a:rPr>
              <a:t>Vertex AI</a:t>
            </a:r>
          </a:p>
        </p:txBody>
      </p:sp>
      <p:sp>
        <p:nvSpPr>
          <p:cNvPr id="30" name="Rectangle 29"/>
          <p:cNvSpPr/>
          <p:nvPr/>
        </p:nvSpPr>
        <p:spPr>
          <a:xfrm>
            <a:off x="4494276" y="3685032"/>
            <a:ext cx="9372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0852" y="3703320"/>
            <a:ext cx="891539" cy="182880"/>
          </a:xfrm>
          <a:prstGeom prst="rect">
            <a:avLst/>
          </a:prstGeom>
          <a:noFill/>
        </p:spPr>
        <p:txBody>
          <a:bodyPr wrap="square">
            <a:spAutoFit/>
          </a:bodyPr>
          <a:lstStyle/>
          <a:p>
            <a:pPr algn="l"/>
            <a:r>
              <a:rPr sz="750" b="1" i="0">
                <a:solidFill>
                  <a:srgbClr val="2563AB"/>
                </a:solidFill>
                <a:latin typeface="Calibri"/>
              </a:rPr>
              <a:t>BigQuery ML</a:t>
            </a:r>
          </a:p>
        </p:txBody>
      </p:sp>
      <p:sp>
        <p:nvSpPr>
          <p:cNvPr id="32" name="Rectangle 31"/>
          <p:cNvSpPr/>
          <p:nvPr/>
        </p:nvSpPr>
        <p:spPr>
          <a:xfrm>
            <a:off x="6025896"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25896" y="1828800"/>
            <a:ext cx="27432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17336" y="1938528"/>
            <a:ext cx="2606040" cy="274320"/>
          </a:xfrm>
          <a:prstGeom prst="rect">
            <a:avLst/>
          </a:prstGeom>
          <a:noFill/>
        </p:spPr>
        <p:txBody>
          <a:bodyPr wrap="square">
            <a:spAutoFit/>
          </a:bodyPr>
          <a:lstStyle/>
          <a:p>
            <a:pPr algn="l"/>
            <a:r>
              <a:rPr sz="1050" b="1" i="0">
                <a:solidFill>
                  <a:srgbClr val="0A1628"/>
                </a:solidFill>
                <a:latin typeface="Calibri"/>
              </a:rPr>
              <a:t>Competitor Analysis Agent</a:t>
            </a:r>
          </a:p>
        </p:txBody>
      </p:sp>
      <p:sp>
        <p:nvSpPr>
          <p:cNvPr id="35" name="TextBox 34"/>
          <p:cNvSpPr txBox="1"/>
          <p:nvPr/>
        </p:nvSpPr>
        <p:spPr>
          <a:xfrm>
            <a:off x="6117336" y="2240280"/>
            <a:ext cx="2606040" cy="1417320"/>
          </a:xfrm>
          <a:prstGeom prst="rect">
            <a:avLst/>
          </a:prstGeom>
          <a:noFill/>
        </p:spPr>
        <p:txBody>
          <a:bodyPr wrap="square">
            <a:spAutoFit/>
          </a:bodyPr>
          <a:lstStyle/>
          <a:p>
            <a:pPr algn="l"/>
            <a:r>
              <a:rPr sz="850" b="0" i="0">
                <a:solidFill>
                  <a:srgbClr val="475569"/>
                </a:solidFill>
                <a:latin typeface="Calibri"/>
              </a:rPr>
              <a:t>Investigates market changes to determine root cause. Cross-references pricing, product and offer data via RAG. Uses Gemini to generate structured competitive assessments. Identifies strategic patterns across competitor portfolios.</a:t>
            </a:r>
          </a:p>
        </p:txBody>
      </p:sp>
      <p:sp>
        <p:nvSpPr>
          <p:cNvPr id="36" name="Rectangle 35"/>
          <p:cNvSpPr/>
          <p:nvPr/>
        </p:nvSpPr>
        <p:spPr>
          <a:xfrm>
            <a:off x="6117336" y="3685032"/>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53912" y="3703320"/>
            <a:ext cx="480060" cy="182880"/>
          </a:xfrm>
          <a:prstGeom prst="rect">
            <a:avLst/>
          </a:prstGeom>
          <a:noFill/>
        </p:spPr>
        <p:txBody>
          <a:bodyPr wrap="square">
            <a:spAutoFit/>
          </a:bodyPr>
          <a:lstStyle/>
          <a:p>
            <a:pPr algn="l"/>
            <a:r>
              <a:rPr sz="750" b="1" i="0">
                <a:solidFill>
                  <a:srgbClr val="0D9488"/>
                </a:solidFill>
                <a:latin typeface="Calibri"/>
              </a:rPr>
              <a:t>GenAI</a:t>
            </a:r>
          </a:p>
        </p:txBody>
      </p:sp>
      <p:sp>
        <p:nvSpPr>
          <p:cNvPr id="38" name="Rectangle 37"/>
          <p:cNvSpPr/>
          <p:nvPr/>
        </p:nvSpPr>
        <p:spPr>
          <a:xfrm>
            <a:off x="6697980" y="3685032"/>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34556" y="3703320"/>
            <a:ext cx="548639" cy="182880"/>
          </a:xfrm>
          <a:prstGeom prst="rect">
            <a:avLst/>
          </a:prstGeom>
          <a:noFill/>
        </p:spPr>
        <p:txBody>
          <a:bodyPr wrap="square">
            <a:spAutoFit/>
          </a:bodyPr>
          <a:lstStyle/>
          <a:p>
            <a:pPr algn="l"/>
            <a:r>
              <a:rPr sz="750" b="1" i="0">
                <a:solidFill>
                  <a:srgbClr val="0D9488"/>
                </a:solidFill>
                <a:latin typeface="Calibri"/>
              </a:rPr>
              <a:t>Gemini</a:t>
            </a:r>
          </a:p>
        </p:txBody>
      </p:sp>
      <p:sp>
        <p:nvSpPr>
          <p:cNvPr id="40" name="Rectangle 39"/>
          <p:cNvSpPr/>
          <p:nvPr/>
        </p:nvSpPr>
        <p:spPr>
          <a:xfrm>
            <a:off x="7347203"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83779" y="3703320"/>
            <a:ext cx="342900" cy="182880"/>
          </a:xfrm>
          <a:prstGeom prst="rect">
            <a:avLst/>
          </a:prstGeom>
          <a:noFill/>
        </p:spPr>
        <p:txBody>
          <a:bodyPr wrap="square">
            <a:spAutoFit/>
          </a:bodyPr>
          <a:lstStyle/>
          <a:p>
            <a:pPr algn="l"/>
            <a:r>
              <a:rPr sz="750" b="1" i="0">
                <a:solidFill>
                  <a:srgbClr val="0D9488"/>
                </a:solidFill>
                <a:latin typeface="Calibri"/>
              </a:rPr>
              <a:t>RAG</a:t>
            </a:r>
          </a:p>
        </p:txBody>
      </p:sp>
      <p:sp>
        <p:nvSpPr>
          <p:cNvPr id="42" name="Rectangle 41"/>
          <p:cNvSpPr/>
          <p:nvPr/>
        </p:nvSpPr>
        <p:spPr>
          <a:xfrm>
            <a:off x="8878824"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78824" y="1828800"/>
            <a:ext cx="27432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70264" y="1938528"/>
            <a:ext cx="2606040" cy="274320"/>
          </a:xfrm>
          <a:prstGeom prst="rect">
            <a:avLst/>
          </a:prstGeom>
          <a:noFill/>
        </p:spPr>
        <p:txBody>
          <a:bodyPr wrap="square">
            <a:spAutoFit/>
          </a:bodyPr>
          <a:lstStyle/>
          <a:p>
            <a:pPr algn="l"/>
            <a:r>
              <a:rPr sz="1050" b="1" i="0">
                <a:solidFill>
                  <a:srgbClr val="0A1628"/>
                </a:solidFill>
                <a:latin typeface="Calibri"/>
              </a:rPr>
              <a:t>Pricing Intelligence Agent</a:t>
            </a:r>
          </a:p>
        </p:txBody>
      </p:sp>
      <p:sp>
        <p:nvSpPr>
          <p:cNvPr id="45" name="TextBox 44"/>
          <p:cNvSpPr txBox="1"/>
          <p:nvPr/>
        </p:nvSpPr>
        <p:spPr>
          <a:xfrm>
            <a:off x="8970264" y="2240280"/>
            <a:ext cx="2606040" cy="1417320"/>
          </a:xfrm>
          <a:prstGeom prst="rect">
            <a:avLst/>
          </a:prstGeom>
          <a:noFill/>
        </p:spPr>
        <p:txBody>
          <a:bodyPr wrap="square">
            <a:spAutoFit/>
          </a:bodyPr>
          <a:lstStyle/>
          <a:p>
            <a:pPr algn="l"/>
            <a:r>
              <a:rPr sz="850" b="0" i="0">
                <a:solidFill>
                  <a:srgbClr val="475569"/>
                </a:solidFill>
                <a:latin typeface="Calibri"/>
              </a:rPr>
              <a:t>Evaluates LBG pricing competitiveness at segment and risk-group level. Identifies pricing gaps and over-competitiveness. Runs elasticity models. Feeds quantified pricing recommendations to Recommendation Agent.</a:t>
            </a:r>
          </a:p>
        </p:txBody>
      </p:sp>
      <p:sp>
        <p:nvSpPr>
          <p:cNvPr id="46" name="Rectangle 45"/>
          <p:cNvSpPr/>
          <p:nvPr/>
        </p:nvSpPr>
        <p:spPr>
          <a:xfrm>
            <a:off x="8970264"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06840" y="3703320"/>
            <a:ext cx="274320" cy="182880"/>
          </a:xfrm>
          <a:prstGeom prst="rect">
            <a:avLst/>
          </a:prstGeom>
          <a:noFill/>
        </p:spPr>
        <p:txBody>
          <a:bodyPr wrap="square">
            <a:spAutoFit/>
          </a:bodyPr>
          <a:lstStyle/>
          <a:p>
            <a:pPr algn="l"/>
            <a:r>
              <a:rPr sz="750" b="1" i="0">
                <a:solidFill>
                  <a:srgbClr val="7C3AED"/>
                </a:solidFill>
                <a:latin typeface="Calibri"/>
              </a:rPr>
              <a:t>ML</a:t>
            </a:r>
          </a:p>
        </p:txBody>
      </p:sp>
      <p:sp>
        <p:nvSpPr>
          <p:cNvPr id="48" name="Rectangle 47"/>
          <p:cNvSpPr/>
          <p:nvPr/>
        </p:nvSpPr>
        <p:spPr>
          <a:xfrm>
            <a:off x="9345168"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81744" y="3703320"/>
            <a:ext cx="617220" cy="182880"/>
          </a:xfrm>
          <a:prstGeom prst="rect">
            <a:avLst/>
          </a:prstGeom>
          <a:noFill/>
        </p:spPr>
        <p:txBody>
          <a:bodyPr wrap="square">
            <a:spAutoFit/>
          </a:bodyPr>
          <a:lstStyle/>
          <a:p>
            <a:pPr algn="l"/>
            <a:r>
              <a:rPr sz="750" b="1" i="0">
                <a:solidFill>
                  <a:srgbClr val="7C3AED"/>
                </a:solidFill>
                <a:latin typeface="Calibri"/>
              </a:rPr>
              <a:t>Pegasus</a:t>
            </a:r>
          </a:p>
        </p:txBody>
      </p:sp>
      <p:sp>
        <p:nvSpPr>
          <p:cNvPr id="50" name="Rectangle 49"/>
          <p:cNvSpPr/>
          <p:nvPr/>
        </p:nvSpPr>
        <p:spPr>
          <a:xfrm>
            <a:off x="10062972"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99548" y="3703320"/>
            <a:ext cx="754380" cy="182880"/>
          </a:xfrm>
          <a:prstGeom prst="rect">
            <a:avLst/>
          </a:prstGeom>
          <a:noFill/>
        </p:spPr>
        <p:txBody>
          <a:bodyPr wrap="square">
            <a:spAutoFit/>
          </a:bodyPr>
          <a:lstStyle/>
          <a:p>
            <a:pPr algn="l"/>
            <a:r>
              <a:rPr sz="750" b="1" i="0">
                <a:solidFill>
                  <a:srgbClr val="7C3AED"/>
                </a:solidFill>
                <a:latin typeface="Calibri"/>
              </a:rPr>
              <a:t>Vertex AI</a:t>
            </a:r>
          </a:p>
        </p:txBody>
      </p:sp>
      <p:sp>
        <p:nvSpPr>
          <p:cNvPr id="52" name="Rectangle 51"/>
          <p:cNvSpPr/>
          <p:nvPr/>
        </p:nvSpPr>
        <p:spPr>
          <a:xfrm>
            <a:off x="320040"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20040" y="4087368"/>
            <a:ext cx="27432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4197096"/>
            <a:ext cx="2606040" cy="274320"/>
          </a:xfrm>
          <a:prstGeom prst="rect">
            <a:avLst/>
          </a:prstGeom>
          <a:noFill/>
        </p:spPr>
        <p:txBody>
          <a:bodyPr wrap="square">
            <a:spAutoFit/>
          </a:bodyPr>
          <a:lstStyle/>
          <a:p>
            <a:pPr algn="l"/>
            <a:r>
              <a:rPr sz="1050" b="1" i="0">
                <a:solidFill>
                  <a:srgbClr val="0A1628"/>
                </a:solidFill>
                <a:latin typeface="Calibri"/>
              </a:rPr>
              <a:t>Proposition Intelligence Agent</a:t>
            </a:r>
          </a:p>
        </p:txBody>
      </p:sp>
      <p:sp>
        <p:nvSpPr>
          <p:cNvPr id="55" name="TextBox 54"/>
          <p:cNvSpPr txBox="1"/>
          <p:nvPr/>
        </p:nvSpPr>
        <p:spPr>
          <a:xfrm>
            <a:off x="411480" y="4498848"/>
            <a:ext cx="2606040" cy="1417320"/>
          </a:xfrm>
          <a:prstGeom prst="rect">
            <a:avLst/>
          </a:prstGeom>
          <a:noFill/>
        </p:spPr>
        <p:txBody>
          <a:bodyPr wrap="square">
            <a:spAutoFit/>
          </a:bodyPr>
          <a:lstStyle/>
          <a:p>
            <a:pPr algn="l"/>
            <a:r>
              <a:rPr sz="850" b="0" i="0">
                <a:solidFill>
                  <a:srgbClr val="475569"/>
                </a:solidFill>
                <a:latin typeface="Calibri"/>
              </a:rPr>
              <a:t>Monitors competitor product features, excess structures, optional covers and add-ons. Uses Gemini to analyse proposition narrative and identify differentiators. Tracks cover innovation and PCW feature weighting changes.</a:t>
            </a:r>
          </a:p>
        </p:txBody>
      </p:sp>
      <p:sp>
        <p:nvSpPr>
          <p:cNvPr id="56" name="Rectangle 55"/>
          <p:cNvSpPr/>
          <p:nvPr/>
        </p:nvSpPr>
        <p:spPr>
          <a:xfrm>
            <a:off x="411480"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6" y="5961888"/>
            <a:ext cx="480060" cy="182880"/>
          </a:xfrm>
          <a:prstGeom prst="rect">
            <a:avLst/>
          </a:prstGeom>
          <a:noFill/>
        </p:spPr>
        <p:txBody>
          <a:bodyPr wrap="square">
            <a:spAutoFit/>
          </a:bodyPr>
          <a:lstStyle/>
          <a:p>
            <a:pPr algn="l"/>
            <a:r>
              <a:rPr sz="750" b="1" i="0">
                <a:solidFill>
                  <a:srgbClr val="C9A84C"/>
                </a:solidFill>
                <a:latin typeface="Calibri"/>
              </a:rPr>
              <a:t>GenAI</a:t>
            </a:r>
          </a:p>
        </p:txBody>
      </p:sp>
      <p:sp>
        <p:nvSpPr>
          <p:cNvPr id="58" name="Rectangle 57"/>
          <p:cNvSpPr/>
          <p:nvPr/>
        </p:nvSpPr>
        <p:spPr>
          <a:xfrm>
            <a:off x="992124"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8700" y="5961888"/>
            <a:ext cx="548639" cy="182880"/>
          </a:xfrm>
          <a:prstGeom prst="rect">
            <a:avLst/>
          </a:prstGeom>
          <a:noFill/>
        </p:spPr>
        <p:txBody>
          <a:bodyPr wrap="square">
            <a:spAutoFit/>
          </a:bodyPr>
          <a:lstStyle/>
          <a:p>
            <a:pPr algn="l"/>
            <a:r>
              <a:rPr sz="750" b="1" i="0">
                <a:solidFill>
                  <a:srgbClr val="C9A84C"/>
                </a:solidFill>
                <a:latin typeface="Calibri"/>
              </a:rPr>
              <a:t>Gemini</a:t>
            </a:r>
          </a:p>
        </p:txBody>
      </p:sp>
      <p:sp>
        <p:nvSpPr>
          <p:cNvPr id="60" name="Rectangle 59"/>
          <p:cNvSpPr/>
          <p:nvPr/>
        </p:nvSpPr>
        <p:spPr>
          <a:xfrm>
            <a:off x="1641347"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677923" y="5961888"/>
            <a:ext cx="274320" cy="182880"/>
          </a:xfrm>
          <a:prstGeom prst="rect">
            <a:avLst/>
          </a:prstGeom>
          <a:noFill/>
        </p:spPr>
        <p:txBody>
          <a:bodyPr wrap="square">
            <a:spAutoFit/>
          </a:bodyPr>
          <a:lstStyle/>
          <a:p>
            <a:pPr algn="l"/>
            <a:r>
              <a:rPr sz="750" b="1" i="0">
                <a:solidFill>
                  <a:srgbClr val="C9A84C"/>
                </a:solidFill>
                <a:latin typeface="Calibri"/>
              </a:rPr>
              <a:t>ML</a:t>
            </a:r>
          </a:p>
        </p:txBody>
      </p:sp>
      <p:sp>
        <p:nvSpPr>
          <p:cNvPr id="62" name="Rectangle 61"/>
          <p:cNvSpPr/>
          <p:nvPr/>
        </p:nvSpPr>
        <p:spPr>
          <a:xfrm>
            <a:off x="3172968"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172968" y="4087368"/>
            <a:ext cx="274320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264408" y="4197096"/>
            <a:ext cx="2606040" cy="274320"/>
          </a:xfrm>
          <a:prstGeom prst="rect">
            <a:avLst/>
          </a:prstGeom>
          <a:noFill/>
        </p:spPr>
        <p:txBody>
          <a:bodyPr wrap="square">
            <a:spAutoFit/>
          </a:bodyPr>
          <a:lstStyle/>
          <a:p>
            <a:pPr algn="l"/>
            <a:r>
              <a:rPr sz="1050" b="1" i="0">
                <a:solidFill>
                  <a:srgbClr val="0A1628"/>
                </a:solidFill>
                <a:latin typeface="Calibri"/>
              </a:rPr>
              <a:t>Simulation Agent</a:t>
            </a:r>
          </a:p>
        </p:txBody>
      </p:sp>
      <p:sp>
        <p:nvSpPr>
          <p:cNvPr id="65" name="TextBox 64"/>
          <p:cNvSpPr txBox="1"/>
          <p:nvPr/>
        </p:nvSpPr>
        <p:spPr>
          <a:xfrm>
            <a:off x="3264408" y="4498848"/>
            <a:ext cx="2606040" cy="1417320"/>
          </a:xfrm>
          <a:prstGeom prst="rect">
            <a:avLst/>
          </a:prstGeom>
          <a:noFill/>
        </p:spPr>
        <p:txBody>
          <a:bodyPr wrap="square">
            <a:spAutoFit/>
          </a:bodyPr>
          <a:lstStyle/>
          <a:p>
            <a:pPr algn="l"/>
            <a:r>
              <a:rPr sz="850" b="0" i="0">
                <a:solidFill>
                  <a:srgbClr val="475569"/>
                </a:solidFill>
                <a:latin typeface="Calibri"/>
              </a:rPr>
              <a:t>Models commercial outcomes of proposed pricing and proposition interventions. Runs Monte Carlo and elasticity simulations. Quantifies expected rank, volume and margin impact per scenario. Produces scenario comparison for Recommendation Agent.</a:t>
            </a:r>
          </a:p>
        </p:txBody>
      </p:sp>
      <p:sp>
        <p:nvSpPr>
          <p:cNvPr id="66" name="Rectangle 65"/>
          <p:cNvSpPr/>
          <p:nvPr/>
        </p:nvSpPr>
        <p:spPr>
          <a:xfrm>
            <a:off x="3264408"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00984" y="5961888"/>
            <a:ext cx="274320" cy="182880"/>
          </a:xfrm>
          <a:prstGeom prst="rect">
            <a:avLst/>
          </a:prstGeom>
          <a:noFill/>
        </p:spPr>
        <p:txBody>
          <a:bodyPr wrap="square">
            <a:spAutoFit/>
          </a:bodyPr>
          <a:lstStyle/>
          <a:p>
            <a:pPr algn="l"/>
            <a:r>
              <a:rPr sz="750" b="1" i="0">
                <a:solidFill>
                  <a:srgbClr val="DC2626"/>
                </a:solidFill>
                <a:latin typeface="Calibri"/>
              </a:rPr>
              <a:t>ML</a:t>
            </a:r>
          </a:p>
        </p:txBody>
      </p:sp>
      <p:sp>
        <p:nvSpPr>
          <p:cNvPr id="68" name="Rectangle 67"/>
          <p:cNvSpPr/>
          <p:nvPr/>
        </p:nvSpPr>
        <p:spPr>
          <a:xfrm>
            <a:off x="363931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675888" y="5961888"/>
            <a:ext cx="754380" cy="182880"/>
          </a:xfrm>
          <a:prstGeom prst="rect">
            <a:avLst/>
          </a:prstGeom>
          <a:noFill/>
        </p:spPr>
        <p:txBody>
          <a:bodyPr wrap="square">
            <a:spAutoFit/>
          </a:bodyPr>
          <a:lstStyle/>
          <a:p>
            <a:pPr algn="l"/>
            <a:r>
              <a:rPr sz="750" b="1" i="0">
                <a:solidFill>
                  <a:srgbClr val="DC2626"/>
                </a:solidFill>
                <a:latin typeface="Calibri"/>
              </a:rPr>
              <a:t>Vertex AI</a:t>
            </a:r>
          </a:p>
        </p:txBody>
      </p:sp>
      <p:sp>
        <p:nvSpPr>
          <p:cNvPr id="70" name="Rectangle 69"/>
          <p:cNvSpPr/>
          <p:nvPr/>
        </p:nvSpPr>
        <p:spPr>
          <a:xfrm>
            <a:off x="4494276" y="5943600"/>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30852" y="5961888"/>
            <a:ext cx="685800" cy="182880"/>
          </a:xfrm>
          <a:prstGeom prst="rect">
            <a:avLst/>
          </a:prstGeom>
          <a:noFill/>
        </p:spPr>
        <p:txBody>
          <a:bodyPr wrap="square">
            <a:spAutoFit/>
          </a:bodyPr>
          <a:lstStyle/>
          <a:p>
            <a:pPr algn="l"/>
            <a:r>
              <a:rPr sz="750" b="1" i="0">
                <a:solidFill>
                  <a:srgbClr val="DC2626"/>
                </a:solidFill>
                <a:latin typeface="Calibri"/>
              </a:rPr>
              <a:t>BigQuery</a:t>
            </a:r>
          </a:p>
        </p:txBody>
      </p:sp>
      <p:sp>
        <p:nvSpPr>
          <p:cNvPr id="72" name="Rectangle 71"/>
          <p:cNvSpPr/>
          <p:nvPr/>
        </p:nvSpPr>
        <p:spPr>
          <a:xfrm>
            <a:off x="6025896"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025896" y="4087368"/>
            <a:ext cx="274320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17336" y="4197096"/>
            <a:ext cx="2606040" cy="274320"/>
          </a:xfrm>
          <a:prstGeom prst="rect">
            <a:avLst/>
          </a:prstGeom>
          <a:noFill/>
        </p:spPr>
        <p:txBody>
          <a:bodyPr wrap="square">
            <a:spAutoFit/>
          </a:bodyPr>
          <a:lstStyle/>
          <a:p>
            <a:pPr algn="l"/>
            <a:r>
              <a:rPr sz="1050" b="1" i="0">
                <a:solidFill>
                  <a:srgbClr val="0A1628"/>
                </a:solidFill>
                <a:latin typeface="Calibri"/>
              </a:rPr>
              <a:t>Recommendation Agent</a:t>
            </a:r>
          </a:p>
        </p:txBody>
      </p:sp>
      <p:sp>
        <p:nvSpPr>
          <p:cNvPr id="75" name="TextBox 74"/>
          <p:cNvSpPr txBox="1"/>
          <p:nvPr/>
        </p:nvSpPr>
        <p:spPr>
          <a:xfrm>
            <a:off x="6117336" y="4498848"/>
            <a:ext cx="2606040" cy="1417320"/>
          </a:xfrm>
          <a:prstGeom prst="rect">
            <a:avLst/>
          </a:prstGeom>
          <a:noFill/>
        </p:spPr>
        <p:txBody>
          <a:bodyPr wrap="square">
            <a:spAutoFit/>
          </a:bodyPr>
          <a:lstStyle/>
          <a:p>
            <a:pPr algn="l"/>
            <a:r>
              <a:rPr sz="850" b="0" i="0">
                <a:solidFill>
                  <a:srgbClr val="475569"/>
                </a:solidFill>
                <a:latin typeface="Calibri"/>
              </a:rPr>
              <a:t>Synthesises all agent outputs into prioritised recommendations via Gemini structured output. Assigns confidence, urgency and risk scores. Formats recommendations for Pega governance workflow. Stores in ENVOY Policy Registry.</a:t>
            </a:r>
          </a:p>
        </p:txBody>
      </p:sp>
      <p:sp>
        <p:nvSpPr>
          <p:cNvPr id="76" name="Rectangle 75"/>
          <p:cNvSpPr/>
          <p:nvPr/>
        </p:nvSpPr>
        <p:spPr>
          <a:xfrm>
            <a:off x="6117336"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153912" y="5961888"/>
            <a:ext cx="480060" cy="182880"/>
          </a:xfrm>
          <a:prstGeom prst="rect">
            <a:avLst/>
          </a:prstGeom>
          <a:noFill/>
        </p:spPr>
        <p:txBody>
          <a:bodyPr wrap="square">
            <a:spAutoFit/>
          </a:bodyPr>
          <a:lstStyle/>
          <a:p>
            <a:pPr algn="l"/>
            <a:r>
              <a:rPr sz="750" b="1" i="0">
                <a:solidFill>
                  <a:srgbClr val="059669"/>
                </a:solidFill>
                <a:latin typeface="Calibri"/>
              </a:rPr>
              <a:t>GenAI</a:t>
            </a:r>
          </a:p>
        </p:txBody>
      </p:sp>
      <p:sp>
        <p:nvSpPr>
          <p:cNvPr id="78" name="Rectangle 77"/>
          <p:cNvSpPr/>
          <p:nvPr/>
        </p:nvSpPr>
        <p:spPr>
          <a:xfrm>
            <a:off x="6697980"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34556" y="5961888"/>
            <a:ext cx="548639" cy="182880"/>
          </a:xfrm>
          <a:prstGeom prst="rect">
            <a:avLst/>
          </a:prstGeom>
          <a:noFill/>
        </p:spPr>
        <p:txBody>
          <a:bodyPr wrap="square">
            <a:spAutoFit/>
          </a:bodyPr>
          <a:lstStyle/>
          <a:p>
            <a:pPr algn="l"/>
            <a:r>
              <a:rPr sz="750" b="1" i="0">
                <a:solidFill>
                  <a:srgbClr val="059669"/>
                </a:solidFill>
                <a:latin typeface="Calibri"/>
              </a:rPr>
              <a:t>Gemini</a:t>
            </a:r>
          </a:p>
        </p:txBody>
      </p:sp>
      <p:sp>
        <p:nvSpPr>
          <p:cNvPr id="80" name="Rectangle 79"/>
          <p:cNvSpPr/>
          <p:nvPr/>
        </p:nvSpPr>
        <p:spPr>
          <a:xfrm>
            <a:off x="7347203"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83779" y="5961888"/>
            <a:ext cx="548639" cy="182880"/>
          </a:xfrm>
          <a:prstGeom prst="rect">
            <a:avLst/>
          </a:prstGeom>
          <a:noFill/>
        </p:spPr>
        <p:txBody>
          <a:bodyPr wrap="square">
            <a:spAutoFit/>
          </a:bodyPr>
          <a:lstStyle/>
          <a:p>
            <a:pPr algn="l"/>
            <a:r>
              <a:rPr sz="750" b="1" i="0">
                <a:solidFill>
                  <a:srgbClr val="059669"/>
                </a:solidFill>
                <a:latin typeface="Calibri"/>
              </a:rPr>
              <a:t>Cortex</a:t>
            </a:r>
          </a:p>
        </p:txBody>
      </p:sp>
      <p:sp>
        <p:nvSpPr>
          <p:cNvPr id="82" name="Rectangle 81"/>
          <p:cNvSpPr/>
          <p:nvPr/>
        </p:nvSpPr>
        <p:spPr>
          <a:xfrm>
            <a:off x="8878824"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878824" y="4087368"/>
            <a:ext cx="274320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970264" y="4197096"/>
            <a:ext cx="2606040" cy="274320"/>
          </a:xfrm>
          <a:prstGeom prst="rect">
            <a:avLst/>
          </a:prstGeom>
          <a:noFill/>
        </p:spPr>
        <p:txBody>
          <a:bodyPr wrap="square">
            <a:spAutoFit/>
          </a:bodyPr>
          <a:lstStyle/>
          <a:p>
            <a:pPr algn="l"/>
            <a:r>
              <a:rPr sz="1050" b="1" i="0">
                <a:solidFill>
                  <a:srgbClr val="0A1628"/>
                </a:solidFill>
                <a:latin typeface="Calibri"/>
              </a:rPr>
              <a:t>Learning Agent</a:t>
            </a:r>
          </a:p>
        </p:txBody>
      </p:sp>
      <p:sp>
        <p:nvSpPr>
          <p:cNvPr id="85" name="TextBox 84"/>
          <p:cNvSpPr txBox="1"/>
          <p:nvPr/>
        </p:nvSpPr>
        <p:spPr>
          <a:xfrm>
            <a:off x="8970264" y="4498848"/>
            <a:ext cx="2606040" cy="1417320"/>
          </a:xfrm>
          <a:prstGeom prst="rect">
            <a:avLst/>
          </a:prstGeom>
          <a:noFill/>
        </p:spPr>
        <p:txBody>
          <a:bodyPr wrap="square">
            <a:spAutoFit/>
          </a:bodyPr>
          <a:lstStyle/>
          <a:p>
            <a:pPr algn="l"/>
            <a:r>
              <a:rPr sz="850" b="0" i="0">
                <a:solidFill>
                  <a:srgbClr val="475569"/>
                </a:solidFill>
                <a:latin typeface="Calibri"/>
              </a:rPr>
              <a:t>Tracks recommendation acceptance rates and post-intervention PCW performance. Updates Vertex AI feature stores with outcome data. Identifies systematic errors. Triggers model retraining via Pegasus when drift detected.</a:t>
            </a:r>
          </a:p>
        </p:txBody>
      </p:sp>
      <p:sp>
        <p:nvSpPr>
          <p:cNvPr id="86" name="Rectangle 85"/>
          <p:cNvSpPr/>
          <p:nvPr/>
        </p:nvSpPr>
        <p:spPr>
          <a:xfrm>
            <a:off x="8970264"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006840" y="5961888"/>
            <a:ext cx="274320" cy="182880"/>
          </a:xfrm>
          <a:prstGeom prst="rect">
            <a:avLst/>
          </a:prstGeom>
          <a:noFill/>
        </p:spPr>
        <p:txBody>
          <a:bodyPr wrap="square">
            <a:spAutoFit/>
          </a:bodyPr>
          <a:lstStyle/>
          <a:p>
            <a:pPr algn="l"/>
            <a:r>
              <a:rPr sz="750" b="1" i="0">
                <a:solidFill>
                  <a:srgbClr val="0891B2"/>
                </a:solidFill>
                <a:latin typeface="Calibri"/>
              </a:rPr>
              <a:t>ML</a:t>
            </a:r>
          </a:p>
        </p:txBody>
      </p:sp>
      <p:sp>
        <p:nvSpPr>
          <p:cNvPr id="88" name="Rectangle 87"/>
          <p:cNvSpPr/>
          <p:nvPr/>
        </p:nvSpPr>
        <p:spPr>
          <a:xfrm>
            <a:off x="9345168" y="5943600"/>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381744" y="5961888"/>
            <a:ext cx="617220" cy="182880"/>
          </a:xfrm>
          <a:prstGeom prst="rect">
            <a:avLst/>
          </a:prstGeom>
          <a:noFill/>
        </p:spPr>
        <p:txBody>
          <a:bodyPr wrap="square">
            <a:spAutoFit/>
          </a:bodyPr>
          <a:lstStyle/>
          <a:p>
            <a:pPr algn="l"/>
            <a:r>
              <a:rPr sz="750" b="1" i="0">
                <a:solidFill>
                  <a:srgbClr val="0891B2"/>
                </a:solidFill>
                <a:latin typeface="Calibri"/>
              </a:rPr>
              <a:t>Pegasus</a:t>
            </a:r>
          </a:p>
        </p:txBody>
      </p:sp>
      <p:sp>
        <p:nvSpPr>
          <p:cNvPr id="90" name="Rectangle 89"/>
          <p:cNvSpPr/>
          <p:nvPr/>
        </p:nvSpPr>
        <p:spPr>
          <a:xfrm>
            <a:off x="1006297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99548" y="5961888"/>
            <a:ext cx="754380" cy="182880"/>
          </a:xfrm>
          <a:prstGeom prst="rect">
            <a:avLst/>
          </a:prstGeom>
          <a:noFill/>
        </p:spPr>
        <p:txBody>
          <a:bodyPr wrap="square">
            <a:spAutoFit/>
          </a:bodyPr>
          <a:lstStyle/>
          <a:p>
            <a:pPr algn="l"/>
            <a:r>
              <a:rPr sz="750" b="1" i="0">
                <a:solidFill>
                  <a:srgbClr val="0891B2"/>
                </a:solidFill>
                <a:latin typeface="Calibri"/>
              </a:rPr>
              <a:t>Vertex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SYSTEMS INTEGRATION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Integration with Existing LBG Architecture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12 / 20</a:t>
            </a:r>
          </a:p>
        </p:txBody>
      </p:sp>
      <p:sp>
        <p:nvSpPr>
          <p:cNvPr id="8" name="TextBox 7"/>
          <p:cNvSpPr txBox="1"/>
          <p:nvPr/>
        </p:nvSpPr>
        <p:spPr>
          <a:xfrm>
            <a:off x="457200" y="1051560"/>
            <a:ext cx="6400800" cy="274320"/>
          </a:xfrm>
          <a:prstGeom prst="rect">
            <a:avLst/>
          </a:prstGeom>
          <a:noFill/>
        </p:spPr>
        <p:txBody>
          <a:bodyPr wrap="square">
            <a:spAutoFit/>
          </a:bodyPr>
          <a:lstStyle/>
          <a:p>
            <a:pPr algn="l"/>
            <a:r>
              <a:rPr sz="1200" b="1" i="0">
                <a:solidFill>
                  <a:srgbClr val="0A1628"/>
                </a:solidFill>
                <a:latin typeface="Calibri"/>
              </a:rPr>
              <a:t>Existing Systems &amp; ENVOY Integration Points</a:t>
            </a:r>
          </a:p>
        </p:txBody>
      </p:sp>
      <p:sp>
        <p:nvSpPr>
          <p:cNvPr id="9" name="Rectangle 8"/>
          <p:cNvSpPr/>
          <p:nvPr/>
        </p:nvSpPr>
        <p:spPr>
          <a:xfrm>
            <a:off x="457200" y="1371600"/>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17320"/>
            <a:ext cx="1005840" cy="201168"/>
          </a:xfrm>
          <a:prstGeom prst="rect">
            <a:avLst/>
          </a:prstGeom>
          <a:noFill/>
        </p:spPr>
        <p:txBody>
          <a:bodyPr wrap="square">
            <a:spAutoFit/>
          </a:bodyPr>
          <a:lstStyle/>
          <a:p>
            <a:pPr algn="l"/>
            <a:r>
              <a:rPr sz="900" b="1" i="0">
                <a:solidFill>
                  <a:srgbClr val="1E293B"/>
                </a:solidFill>
                <a:latin typeface="Calibri"/>
              </a:rPr>
              <a:t>AGGS</a:t>
            </a:r>
          </a:p>
        </p:txBody>
      </p:sp>
      <p:sp>
        <p:nvSpPr>
          <p:cNvPr id="12" name="TextBox 11"/>
          <p:cNvSpPr txBox="1"/>
          <p:nvPr/>
        </p:nvSpPr>
        <p:spPr>
          <a:xfrm>
            <a:off x="1691640" y="1417320"/>
            <a:ext cx="4663440" cy="384048"/>
          </a:xfrm>
          <a:prstGeom prst="rect">
            <a:avLst/>
          </a:prstGeom>
          <a:noFill/>
        </p:spPr>
        <p:txBody>
          <a:bodyPr wrap="square">
            <a:spAutoFit/>
          </a:bodyPr>
          <a:lstStyle/>
          <a:p>
            <a:pPr algn="l"/>
            <a:r>
              <a:rPr sz="850" b="0" i="0">
                <a:solidFill>
                  <a:srgbClr val="475569"/>
                </a:solidFill>
                <a:latin typeface="Calibri"/>
              </a:rPr>
              <a:t>Quote aggregation &amp; PCW submission gateway — primary channel interface</a:t>
            </a:r>
          </a:p>
        </p:txBody>
      </p:sp>
      <p:sp>
        <p:nvSpPr>
          <p:cNvPr id="13" name="Rectangle 12"/>
          <p:cNvSpPr/>
          <p:nvPr/>
        </p:nvSpPr>
        <p:spPr>
          <a:xfrm>
            <a:off x="5989320" y="1481328"/>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1490472"/>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15" name="Rectangle 14"/>
          <p:cNvSpPr/>
          <p:nvPr/>
        </p:nvSpPr>
        <p:spPr>
          <a:xfrm>
            <a:off x="457200" y="1892807"/>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892807"/>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938527"/>
            <a:ext cx="1005840" cy="201168"/>
          </a:xfrm>
          <a:prstGeom prst="rect">
            <a:avLst/>
          </a:prstGeom>
          <a:noFill/>
        </p:spPr>
        <p:txBody>
          <a:bodyPr wrap="square">
            <a:spAutoFit/>
          </a:bodyPr>
          <a:lstStyle/>
          <a:p>
            <a:pPr algn="l"/>
            <a:r>
              <a:rPr sz="900" b="1" i="0">
                <a:solidFill>
                  <a:srgbClr val="1E293B"/>
                </a:solidFill>
                <a:latin typeface="Calibri"/>
              </a:rPr>
              <a:t>Apigee</a:t>
            </a:r>
          </a:p>
        </p:txBody>
      </p:sp>
      <p:sp>
        <p:nvSpPr>
          <p:cNvPr id="18" name="TextBox 17"/>
          <p:cNvSpPr txBox="1"/>
          <p:nvPr/>
        </p:nvSpPr>
        <p:spPr>
          <a:xfrm>
            <a:off x="1691640" y="1938527"/>
            <a:ext cx="4663440" cy="384048"/>
          </a:xfrm>
          <a:prstGeom prst="rect">
            <a:avLst/>
          </a:prstGeom>
          <a:noFill/>
        </p:spPr>
        <p:txBody>
          <a:bodyPr wrap="square">
            <a:spAutoFit/>
          </a:bodyPr>
          <a:lstStyle/>
          <a:p>
            <a:pPr algn="l"/>
            <a:r>
              <a:rPr sz="850" b="0" i="0">
                <a:solidFill>
                  <a:srgbClr val="475569"/>
                </a:solidFill>
                <a:latin typeface="Calibri"/>
              </a:rPr>
              <a:t>API management, security, rate limiting and audit logging for all platform integrations</a:t>
            </a:r>
          </a:p>
        </p:txBody>
      </p:sp>
      <p:sp>
        <p:nvSpPr>
          <p:cNvPr id="19" name="Rectangle 18"/>
          <p:cNvSpPr/>
          <p:nvPr/>
        </p:nvSpPr>
        <p:spPr>
          <a:xfrm>
            <a:off x="5989320" y="2002535"/>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07608" y="2011679"/>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1" name="Rectangle 20"/>
          <p:cNvSpPr/>
          <p:nvPr/>
        </p:nvSpPr>
        <p:spPr>
          <a:xfrm>
            <a:off x="457200" y="2414014"/>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41401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459734"/>
            <a:ext cx="1005840" cy="201168"/>
          </a:xfrm>
          <a:prstGeom prst="rect">
            <a:avLst/>
          </a:prstGeom>
          <a:noFill/>
        </p:spPr>
        <p:txBody>
          <a:bodyPr wrap="square">
            <a:spAutoFit/>
          </a:bodyPr>
          <a:lstStyle/>
          <a:p>
            <a:pPr algn="l"/>
            <a:r>
              <a:rPr sz="900" b="1" i="0">
                <a:solidFill>
                  <a:srgbClr val="1E293B"/>
                </a:solidFill>
                <a:latin typeface="Calibri"/>
              </a:rPr>
              <a:t>Pega</a:t>
            </a:r>
          </a:p>
        </p:txBody>
      </p:sp>
      <p:sp>
        <p:nvSpPr>
          <p:cNvPr id="24" name="TextBox 23"/>
          <p:cNvSpPr txBox="1"/>
          <p:nvPr/>
        </p:nvSpPr>
        <p:spPr>
          <a:xfrm>
            <a:off x="1691640" y="2459734"/>
            <a:ext cx="4663440" cy="384048"/>
          </a:xfrm>
          <a:prstGeom prst="rect">
            <a:avLst/>
          </a:prstGeom>
          <a:noFill/>
        </p:spPr>
        <p:txBody>
          <a:bodyPr wrap="square">
            <a:spAutoFit/>
          </a:bodyPr>
          <a:lstStyle/>
          <a:p>
            <a:pPr algn="l"/>
            <a:r>
              <a:rPr sz="850" b="0" i="0">
                <a:solidFill>
                  <a:srgbClr val="475569"/>
                </a:solidFill>
                <a:latin typeface="Calibri"/>
              </a:rPr>
              <a:t>Governance workflow, approval routing, SLA management and decision record management</a:t>
            </a:r>
          </a:p>
        </p:txBody>
      </p:sp>
      <p:sp>
        <p:nvSpPr>
          <p:cNvPr id="25" name="Rectangle 24"/>
          <p:cNvSpPr/>
          <p:nvPr/>
        </p:nvSpPr>
        <p:spPr>
          <a:xfrm>
            <a:off x="5989320" y="2523742"/>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07608" y="2532886"/>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7" name="Rectangle 26"/>
          <p:cNvSpPr/>
          <p:nvPr/>
        </p:nvSpPr>
        <p:spPr>
          <a:xfrm>
            <a:off x="457200" y="2935221"/>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935221"/>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980941"/>
            <a:ext cx="1005840" cy="201168"/>
          </a:xfrm>
          <a:prstGeom prst="rect">
            <a:avLst/>
          </a:prstGeom>
          <a:noFill/>
        </p:spPr>
        <p:txBody>
          <a:bodyPr wrap="square">
            <a:spAutoFit/>
          </a:bodyPr>
          <a:lstStyle/>
          <a:p>
            <a:pPr algn="l"/>
            <a:r>
              <a:rPr sz="900" b="1" i="0">
                <a:solidFill>
                  <a:srgbClr val="1E293B"/>
                </a:solidFill>
                <a:latin typeface="Calibri"/>
              </a:rPr>
              <a:t>Duck Creek</a:t>
            </a:r>
          </a:p>
        </p:txBody>
      </p:sp>
      <p:sp>
        <p:nvSpPr>
          <p:cNvPr id="30" name="TextBox 29"/>
          <p:cNvSpPr txBox="1"/>
          <p:nvPr/>
        </p:nvSpPr>
        <p:spPr>
          <a:xfrm>
            <a:off x="1691640" y="2980941"/>
            <a:ext cx="4663440" cy="384048"/>
          </a:xfrm>
          <a:prstGeom prst="rect">
            <a:avLst/>
          </a:prstGeom>
          <a:noFill/>
        </p:spPr>
        <p:txBody>
          <a:bodyPr wrap="square">
            <a:spAutoFit/>
          </a:bodyPr>
          <a:lstStyle/>
          <a:p>
            <a:pPr algn="l"/>
            <a:r>
              <a:rPr sz="850" b="0" i="0">
                <a:solidFill>
                  <a:srgbClr val="475569"/>
                </a:solidFill>
                <a:latin typeface="Calibri"/>
              </a:rPr>
              <a:t>Policy administration, rating engine and product configuration</a:t>
            </a:r>
          </a:p>
        </p:txBody>
      </p:sp>
      <p:sp>
        <p:nvSpPr>
          <p:cNvPr id="31" name="Rectangle 30"/>
          <p:cNvSpPr/>
          <p:nvPr/>
        </p:nvSpPr>
        <p:spPr>
          <a:xfrm>
            <a:off x="5989320" y="3044949"/>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07608" y="3054093"/>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3" name="Rectangle 32"/>
          <p:cNvSpPr/>
          <p:nvPr/>
        </p:nvSpPr>
        <p:spPr>
          <a:xfrm>
            <a:off x="457200" y="3456428"/>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3456428"/>
            <a:ext cx="45720"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502148"/>
            <a:ext cx="1005840" cy="201168"/>
          </a:xfrm>
          <a:prstGeom prst="rect">
            <a:avLst/>
          </a:prstGeom>
          <a:noFill/>
        </p:spPr>
        <p:txBody>
          <a:bodyPr wrap="square">
            <a:spAutoFit/>
          </a:bodyPr>
          <a:lstStyle/>
          <a:p>
            <a:pPr algn="l"/>
            <a:r>
              <a:rPr sz="900" b="1" i="0">
                <a:solidFill>
                  <a:srgbClr val="1E293B"/>
                </a:solidFill>
                <a:latin typeface="Calibri"/>
              </a:rPr>
              <a:t>Pricing Services</a:t>
            </a:r>
          </a:p>
        </p:txBody>
      </p:sp>
      <p:sp>
        <p:nvSpPr>
          <p:cNvPr id="36" name="TextBox 35"/>
          <p:cNvSpPr txBox="1"/>
          <p:nvPr/>
        </p:nvSpPr>
        <p:spPr>
          <a:xfrm>
            <a:off x="1691640" y="3502148"/>
            <a:ext cx="4663440" cy="384048"/>
          </a:xfrm>
          <a:prstGeom prst="rect">
            <a:avLst/>
          </a:prstGeom>
          <a:noFill/>
        </p:spPr>
        <p:txBody>
          <a:bodyPr wrap="square">
            <a:spAutoFit/>
          </a:bodyPr>
          <a:lstStyle/>
          <a:p>
            <a:pPr algn="l"/>
            <a:r>
              <a:rPr sz="850" b="0" i="0">
                <a:solidFill>
                  <a:srgbClr val="475569"/>
                </a:solidFill>
                <a:latin typeface="Calibri"/>
              </a:rPr>
              <a:t>Rate engine, band management and pricing band submission</a:t>
            </a:r>
          </a:p>
        </p:txBody>
      </p:sp>
      <p:sp>
        <p:nvSpPr>
          <p:cNvPr id="37" name="Rectangle 36"/>
          <p:cNvSpPr/>
          <p:nvPr/>
        </p:nvSpPr>
        <p:spPr>
          <a:xfrm>
            <a:off x="5989320" y="3566156"/>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07608" y="3575300"/>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9" name="Rectangle 38"/>
          <p:cNvSpPr/>
          <p:nvPr/>
        </p:nvSpPr>
        <p:spPr>
          <a:xfrm>
            <a:off x="457200" y="3977635"/>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977635"/>
            <a:ext cx="45720" cy="47548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023355"/>
            <a:ext cx="1005840" cy="201168"/>
          </a:xfrm>
          <a:prstGeom prst="rect">
            <a:avLst/>
          </a:prstGeom>
          <a:noFill/>
        </p:spPr>
        <p:txBody>
          <a:bodyPr wrap="square">
            <a:spAutoFit/>
          </a:bodyPr>
          <a:lstStyle/>
          <a:p>
            <a:pPr algn="l"/>
            <a:r>
              <a:rPr sz="900" b="1" i="0">
                <a:solidFill>
                  <a:srgbClr val="1E293B"/>
                </a:solidFill>
                <a:latin typeface="Calibri"/>
              </a:rPr>
              <a:t>Data Platform</a:t>
            </a:r>
          </a:p>
        </p:txBody>
      </p:sp>
      <p:sp>
        <p:nvSpPr>
          <p:cNvPr id="42" name="TextBox 41"/>
          <p:cNvSpPr txBox="1"/>
          <p:nvPr/>
        </p:nvSpPr>
        <p:spPr>
          <a:xfrm>
            <a:off x="1691640" y="4023355"/>
            <a:ext cx="4663440" cy="384048"/>
          </a:xfrm>
          <a:prstGeom prst="rect">
            <a:avLst/>
          </a:prstGeom>
          <a:noFill/>
        </p:spPr>
        <p:txBody>
          <a:bodyPr wrap="square">
            <a:spAutoFit/>
          </a:bodyPr>
          <a:lstStyle/>
          <a:p>
            <a:pPr algn="l"/>
            <a:r>
              <a:rPr sz="850" b="0" i="0">
                <a:solidFill>
                  <a:srgbClr val="475569"/>
                </a:solidFill>
                <a:latin typeface="Calibri"/>
              </a:rPr>
              <a:t>Feature store, ML pipelines and BigQuery analytics layer</a:t>
            </a:r>
          </a:p>
        </p:txBody>
      </p:sp>
      <p:sp>
        <p:nvSpPr>
          <p:cNvPr id="43" name="Rectangle 42"/>
          <p:cNvSpPr/>
          <p:nvPr/>
        </p:nvSpPr>
        <p:spPr>
          <a:xfrm>
            <a:off x="5989320" y="4087363"/>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07608" y="4096507"/>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45" name="Rectangle 44"/>
          <p:cNvSpPr/>
          <p:nvPr/>
        </p:nvSpPr>
        <p:spPr>
          <a:xfrm>
            <a:off x="457200" y="4498842"/>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498842"/>
            <a:ext cx="4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4544562"/>
            <a:ext cx="1005840" cy="201168"/>
          </a:xfrm>
          <a:prstGeom prst="rect">
            <a:avLst/>
          </a:prstGeom>
          <a:noFill/>
        </p:spPr>
        <p:txBody>
          <a:bodyPr wrap="square">
            <a:spAutoFit/>
          </a:bodyPr>
          <a:lstStyle/>
          <a:p>
            <a:pPr algn="l"/>
            <a:r>
              <a:rPr sz="900" b="1" i="0">
                <a:solidFill>
                  <a:srgbClr val="1E293B"/>
                </a:solidFill>
                <a:latin typeface="Calibri"/>
              </a:rPr>
              <a:t>ENVOY Platform</a:t>
            </a:r>
          </a:p>
        </p:txBody>
      </p:sp>
      <p:sp>
        <p:nvSpPr>
          <p:cNvPr id="48" name="TextBox 47"/>
          <p:cNvSpPr txBox="1"/>
          <p:nvPr/>
        </p:nvSpPr>
        <p:spPr>
          <a:xfrm>
            <a:off x="1691640" y="4544562"/>
            <a:ext cx="4663440" cy="384048"/>
          </a:xfrm>
          <a:prstGeom prst="rect">
            <a:avLst/>
          </a:prstGeom>
          <a:noFill/>
        </p:spPr>
        <p:txBody>
          <a:bodyPr wrap="square">
            <a:spAutoFit/>
          </a:bodyPr>
          <a:lstStyle/>
          <a:p>
            <a:pPr algn="l"/>
            <a:r>
              <a:rPr sz="850" b="0" i="0">
                <a:solidFill>
                  <a:srgbClr val="475569"/>
                </a:solidFill>
                <a:latin typeface="Calibri"/>
              </a:rPr>
              <a:t>Agent runtime, shared services, governance and observability layer</a:t>
            </a:r>
          </a:p>
        </p:txBody>
      </p:sp>
      <p:sp>
        <p:nvSpPr>
          <p:cNvPr id="49" name="Rectangle 48"/>
          <p:cNvSpPr/>
          <p:nvPr/>
        </p:nvSpPr>
        <p:spPr>
          <a:xfrm>
            <a:off x="5989320" y="4608570"/>
            <a:ext cx="100584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07608" y="4617714"/>
            <a:ext cx="969264" cy="182880"/>
          </a:xfrm>
          <a:prstGeom prst="rect">
            <a:avLst/>
          </a:prstGeom>
          <a:noFill/>
        </p:spPr>
        <p:txBody>
          <a:bodyPr wrap="square">
            <a:spAutoFit/>
          </a:bodyPr>
          <a:lstStyle/>
          <a:p>
            <a:pPr algn="ctr"/>
            <a:r>
              <a:rPr sz="700" b="1" i="0">
                <a:solidFill>
                  <a:srgbClr val="FFFFFF"/>
                </a:solidFill>
                <a:latin typeface="Calibri"/>
              </a:rPr>
              <a:t>New Capability</a:t>
            </a:r>
          </a:p>
        </p:txBody>
      </p:sp>
      <p:sp>
        <p:nvSpPr>
          <p:cNvPr id="51" name="Rectangle 50"/>
          <p:cNvSpPr/>
          <p:nvPr/>
        </p:nvSpPr>
        <p:spPr>
          <a:xfrm>
            <a:off x="457200" y="5093201"/>
            <a:ext cx="658368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5093201"/>
            <a:ext cx="54864" cy="6858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129777"/>
            <a:ext cx="6355080" cy="594360"/>
          </a:xfrm>
          <a:prstGeom prst="rect">
            <a:avLst/>
          </a:prstGeom>
          <a:noFill/>
        </p:spPr>
        <p:txBody>
          <a:bodyPr wrap="square">
            <a:spAutoFit/>
          </a:bodyPr>
          <a:lstStyle/>
          <a:p>
            <a:pPr algn="l"/>
            <a:r>
              <a:rPr sz="850" b="0" i="0">
                <a:solidFill>
                  <a:srgbClr val="FFFFFF"/>
                </a:solidFill>
                <a:latin typeface="Calibri"/>
              </a:rPr>
              <a:t>Architecture Principle: The PCW CI Platform is a governed capability layer on top of LBG's existing technology estate. All data flows through Apigee. All decisions flow through Pega. All AI calls governed by Cortex and Model Armor. No duplication of core systems.</a:t>
            </a:r>
          </a:p>
        </p:txBody>
      </p:sp>
      <p:sp>
        <p:nvSpPr>
          <p:cNvPr id="54" name="TextBox 53"/>
          <p:cNvSpPr txBox="1"/>
          <p:nvPr/>
        </p:nvSpPr>
        <p:spPr>
          <a:xfrm>
            <a:off x="7223760" y="1051560"/>
            <a:ext cx="4297680" cy="274320"/>
          </a:xfrm>
          <a:prstGeom prst="rect">
            <a:avLst/>
          </a:prstGeom>
          <a:noFill/>
        </p:spPr>
        <p:txBody>
          <a:bodyPr wrap="square">
            <a:spAutoFit/>
          </a:bodyPr>
          <a:lstStyle/>
          <a:p>
            <a:pPr algn="l"/>
            <a:r>
              <a:rPr sz="1200" b="1" i="0">
                <a:solidFill>
                  <a:srgbClr val="0A1628"/>
                </a:solidFill>
                <a:latin typeface="Calibri"/>
              </a:rPr>
              <a:t>End-to-End Data &amp; Decision Flow</a:t>
            </a:r>
          </a:p>
        </p:txBody>
      </p:sp>
      <p:sp>
        <p:nvSpPr>
          <p:cNvPr id="55" name="Rectangle 54"/>
          <p:cNvSpPr/>
          <p:nvPr/>
        </p:nvSpPr>
        <p:spPr>
          <a:xfrm>
            <a:off x="7223760" y="1371600"/>
            <a:ext cx="4297680" cy="402336"/>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0" y="1444752"/>
            <a:ext cx="4114800" cy="274320"/>
          </a:xfrm>
          <a:prstGeom prst="rect">
            <a:avLst/>
          </a:prstGeom>
          <a:noFill/>
        </p:spPr>
        <p:txBody>
          <a:bodyPr wrap="square">
            <a:spAutoFit/>
          </a:bodyPr>
          <a:lstStyle/>
          <a:p>
            <a:pPr algn="l"/>
            <a:r>
              <a:rPr sz="850" b="0" i="0">
                <a:solidFill>
                  <a:srgbClr val="FFFFFF"/>
                </a:solidFill>
                <a:latin typeface="Calibri"/>
              </a:rPr>
              <a:t>PCWs — Real-Time Market Data Source</a:t>
            </a:r>
          </a:p>
        </p:txBody>
      </p:sp>
      <p:sp>
        <p:nvSpPr>
          <p:cNvPr id="57" name="TextBox 56"/>
          <p:cNvSpPr txBox="1"/>
          <p:nvPr/>
        </p:nvSpPr>
        <p:spPr>
          <a:xfrm>
            <a:off x="9235440" y="17739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58" name="Rectangle 57"/>
          <p:cNvSpPr/>
          <p:nvPr/>
        </p:nvSpPr>
        <p:spPr>
          <a:xfrm>
            <a:off x="7223760" y="1965960"/>
            <a:ext cx="4297680" cy="402336"/>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0" y="2039112"/>
            <a:ext cx="4114800" cy="274320"/>
          </a:xfrm>
          <a:prstGeom prst="rect">
            <a:avLst/>
          </a:prstGeom>
          <a:noFill/>
        </p:spPr>
        <p:txBody>
          <a:bodyPr wrap="square">
            <a:spAutoFit/>
          </a:bodyPr>
          <a:lstStyle/>
          <a:p>
            <a:pPr algn="l"/>
            <a:r>
              <a:rPr sz="850" b="0" i="0">
                <a:solidFill>
                  <a:srgbClr val="FFFFFF"/>
                </a:solidFill>
                <a:latin typeface="Calibri"/>
              </a:rPr>
              <a:t>ENVOY ADK — Market Collection &amp; Intelligence Agents</a:t>
            </a:r>
          </a:p>
        </p:txBody>
      </p:sp>
      <p:sp>
        <p:nvSpPr>
          <p:cNvPr id="60" name="TextBox 59"/>
          <p:cNvSpPr txBox="1"/>
          <p:nvPr/>
        </p:nvSpPr>
        <p:spPr>
          <a:xfrm>
            <a:off x="9235440" y="236829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1" name="Rectangle 60"/>
          <p:cNvSpPr/>
          <p:nvPr/>
        </p:nvSpPr>
        <p:spPr>
          <a:xfrm>
            <a:off x="7223760" y="2560320"/>
            <a:ext cx="429768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0" y="2633472"/>
            <a:ext cx="4114800" cy="274320"/>
          </a:xfrm>
          <a:prstGeom prst="rect">
            <a:avLst/>
          </a:prstGeom>
          <a:noFill/>
        </p:spPr>
        <p:txBody>
          <a:bodyPr wrap="square">
            <a:spAutoFit/>
          </a:bodyPr>
          <a:lstStyle/>
          <a:p>
            <a:pPr algn="l"/>
            <a:r>
              <a:rPr sz="850" b="0" i="0">
                <a:solidFill>
                  <a:srgbClr val="FFFFFF"/>
                </a:solidFill>
                <a:latin typeface="Calibri"/>
              </a:rPr>
              <a:t>LBG Data Platform — BigQuery Feature Store &amp; ML Registry</a:t>
            </a:r>
          </a:p>
        </p:txBody>
      </p:sp>
      <p:sp>
        <p:nvSpPr>
          <p:cNvPr id="63" name="TextBox 62"/>
          <p:cNvSpPr txBox="1"/>
          <p:nvPr/>
        </p:nvSpPr>
        <p:spPr>
          <a:xfrm>
            <a:off x="9235440" y="296265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4" name="Rectangle 63"/>
          <p:cNvSpPr/>
          <p:nvPr/>
        </p:nvSpPr>
        <p:spPr>
          <a:xfrm>
            <a:off x="7223760" y="3154680"/>
            <a:ext cx="4297680" cy="402336"/>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0" y="3227832"/>
            <a:ext cx="4114800" cy="274320"/>
          </a:xfrm>
          <a:prstGeom prst="rect">
            <a:avLst/>
          </a:prstGeom>
          <a:noFill/>
        </p:spPr>
        <p:txBody>
          <a:bodyPr wrap="square">
            <a:spAutoFit/>
          </a:bodyPr>
          <a:lstStyle/>
          <a:p>
            <a:pPr algn="l"/>
            <a:r>
              <a:rPr sz="850" b="0" i="0">
                <a:solidFill>
                  <a:srgbClr val="FFFFFF"/>
                </a:solidFill>
                <a:latin typeface="Calibri"/>
              </a:rPr>
              <a:t>Apigee — API Management, Security &amp; Audit</a:t>
            </a:r>
          </a:p>
        </p:txBody>
      </p:sp>
      <p:sp>
        <p:nvSpPr>
          <p:cNvPr id="66" name="TextBox 65"/>
          <p:cNvSpPr txBox="1"/>
          <p:nvPr/>
        </p:nvSpPr>
        <p:spPr>
          <a:xfrm>
            <a:off x="9235440" y="355701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7" name="Rectangle 66"/>
          <p:cNvSpPr/>
          <p:nvPr/>
        </p:nvSpPr>
        <p:spPr>
          <a:xfrm>
            <a:off x="7223760" y="3749040"/>
            <a:ext cx="4297680" cy="40233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0" y="3822192"/>
            <a:ext cx="4114800" cy="274320"/>
          </a:xfrm>
          <a:prstGeom prst="rect">
            <a:avLst/>
          </a:prstGeom>
          <a:noFill/>
        </p:spPr>
        <p:txBody>
          <a:bodyPr wrap="square">
            <a:spAutoFit/>
          </a:bodyPr>
          <a:lstStyle/>
          <a:p>
            <a:pPr algn="l"/>
            <a:r>
              <a:rPr sz="850" b="0" i="0">
                <a:solidFill>
                  <a:srgbClr val="FFFFFF"/>
                </a:solidFill>
                <a:latin typeface="Calibri"/>
              </a:rPr>
              <a:t>AGGS / Duck Creek / Pricing Services — Execution Systems</a:t>
            </a:r>
          </a:p>
        </p:txBody>
      </p:sp>
      <p:sp>
        <p:nvSpPr>
          <p:cNvPr id="69" name="TextBox 68"/>
          <p:cNvSpPr txBox="1"/>
          <p:nvPr/>
        </p:nvSpPr>
        <p:spPr>
          <a:xfrm>
            <a:off x="9235440" y="415137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0" name="Rectangle 69"/>
          <p:cNvSpPr/>
          <p:nvPr/>
        </p:nvSpPr>
        <p:spPr>
          <a:xfrm>
            <a:off x="7223760" y="4343400"/>
            <a:ext cx="4297680" cy="4023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0" y="4416552"/>
            <a:ext cx="4114800" cy="274320"/>
          </a:xfrm>
          <a:prstGeom prst="rect">
            <a:avLst/>
          </a:prstGeom>
          <a:noFill/>
        </p:spPr>
        <p:txBody>
          <a:bodyPr wrap="square">
            <a:spAutoFit/>
          </a:bodyPr>
          <a:lstStyle/>
          <a:p>
            <a:pPr algn="l"/>
            <a:r>
              <a:rPr sz="850" b="0" i="0">
                <a:solidFill>
                  <a:srgbClr val="FFFFFF"/>
                </a:solidFill>
                <a:latin typeface="Calibri"/>
              </a:rPr>
              <a:t>Pega — Governance Workflow &amp; Human Approval</a:t>
            </a:r>
          </a:p>
        </p:txBody>
      </p:sp>
      <p:sp>
        <p:nvSpPr>
          <p:cNvPr id="72" name="TextBox 71"/>
          <p:cNvSpPr txBox="1"/>
          <p:nvPr/>
        </p:nvSpPr>
        <p:spPr>
          <a:xfrm>
            <a:off x="9235440" y="47457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3" name="Rectangle 72"/>
          <p:cNvSpPr/>
          <p:nvPr/>
        </p:nvSpPr>
        <p:spPr>
          <a:xfrm>
            <a:off x="7223760" y="4937760"/>
            <a:ext cx="4297680" cy="402336"/>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0" y="5010912"/>
            <a:ext cx="4114800" cy="274320"/>
          </a:xfrm>
          <a:prstGeom prst="rect">
            <a:avLst/>
          </a:prstGeom>
          <a:noFill/>
        </p:spPr>
        <p:txBody>
          <a:bodyPr wrap="square">
            <a:spAutoFit/>
          </a:bodyPr>
          <a:lstStyle/>
          <a:p>
            <a:pPr algn="l"/>
            <a:r>
              <a:rPr sz="850" b="1" i="0">
                <a:solidFill>
                  <a:srgbClr val="FFFFFF"/>
                </a:solidFill>
                <a:latin typeface="Calibri"/>
              </a:rPr>
              <a:t>Business Users — Review, Approve &amp; Monitor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GOVERNANCE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Human-in-the-Loop Decision Model — ENVOY HITL Framework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13 / 20</a:t>
            </a:r>
          </a:p>
        </p:txBody>
      </p:sp>
      <p:sp>
        <p:nvSpPr>
          <p:cNvPr id="8" name="Rectangle 7"/>
          <p:cNvSpPr/>
          <p:nvPr/>
        </p:nvSpPr>
        <p:spPr>
          <a:xfrm>
            <a:off x="457200" y="1097280"/>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914400"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17320"/>
            <a:ext cx="914400" cy="274320"/>
          </a:xfrm>
          <a:prstGeom prst="rect">
            <a:avLst/>
          </a:prstGeom>
          <a:noFill/>
        </p:spPr>
        <p:txBody>
          <a:bodyPr wrap="square">
            <a:spAutoFit/>
          </a:bodyPr>
          <a:lstStyle/>
          <a:p>
            <a:pPr algn="ctr"/>
            <a:r>
              <a:rPr sz="800" b="1" i="0">
                <a:solidFill>
                  <a:srgbClr val="FFFFFF"/>
                </a:solidFill>
                <a:latin typeface="Calibri"/>
              </a:rPr>
              <a:t>AUTO</a:t>
            </a:r>
          </a:p>
        </p:txBody>
      </p:sp>
      <p:sp>
        <p:nvSpPr>
          <p:cNvPr id="11" name="TextBox 10"/>
          <p:cNvSpPr txBox="1"/>
          <p:nvPr/>
        </p:nvSpPr>
        <p:spPr>
          <a:xfrm>
            <a:off x="1463040" y="1152144"/>
            <a:ext cx="6858000" cy="256032"/>
          </a:xfrm>
          <a:prstGeom prst="rect">
            <a:avLst/>
          </a:prstGeom>
          <a:noFill/>
        </p:spPr>
        <p:txBody>
          <a:bodyPr wrap="square">
            <a:spAutoFit/>
          </a:bodyPr>
          <a:lstStyle/>
          <a:p>
            <a:pPr algn="l"/>
            <a:r>
              <a:rPr sz="1000" b="1" i="0">
                <a:solidFill>
                  <a:srgbClr val="0A1628"/>
                </a:solidFill>
                <a:latin typeface="Calibri"/>
              </a:rPr>
              <a:t>Market Monitoring &amp; Data Collection</a:t>
            </a:r>
          </a:p>
        </p:txBody>
      </p:sp>
      <p:sp>
        <p:nvSpPr>
          <p:cNvPr id="12" name="TextBox 11"/>
          <p:cNvSpPr txBox="1"/>
          <p:nvPr/>
        </p:nvSpPr>
        <p:spPr>
          <a:xfrm>
            <a:off x="1463040" y="1408176"/>
            <a:ext cx="6858000" cy="548640"/>
          </a:xfrm>
          <a:prstGeom prst="rect">
            <a:avLst/>
          </a:prstGeom>
          <a:noFill/>
        </p:spPr>
        <p:txBody>
          <a:bodyPr wrap="square">
            <a:spAutoFit/>
          </a:bodyPr>
          <a:lstStyle/>
          <a:p>
            <a:pPr algn="l"/>
            <a:r>
              <a:rPr sz="850" b="0" i="0">
                <a:solidFill>
                  <a:srgbClr val="475569"/>
                </a:solidFill>
                <a:latin typeface="Calibri"/>
              </a:rPr>
              <a:t>Fully automated. ENVOY ADK agents continuously collect, validate and process PCW data. ML anomaly detection flags material movements. Exceptions escalated via Cloud Workflows. No human intervention in steady state.</a:t>
            </a:r>
          </a:p>
        </p:txBody>
      </p:sp>
      <p:sp>
        <p:nvSpPr>
          <p:cNvPr id="13" name="TextBox 12"/>
          <p:cNvSpPr txBox="1"/>
          <p:nvPr/>
        </p:nvSpPr>
        <p:spPr>
          <a:xfrm>
            <a:off x="8412480" y="1170432"/>
            <a:ext cx="1828800" cy="777240"/>
          </a:xfrm>
          <a:prstGeom prst="rect">
            <a:avLst/>
          </a:prstGeom>
          <a:noFill/>
        </p:spPr>
        <p:txBody>
          <a:bodyPr wrap="square">
            <a:spAutoFit/>
          </a:bodyPr>
          <a:lstStyle/>
          <a:p>
            <a:pPr algn="l"/>
            <a:r>
              <a:rPr sz="850" b="0" i="0">
                <a:solidFill>
                  <a:srgbClr val="0F7AC5"/>
                </a:solidFill>
                <a:latin typeface="Calibri"/>
              </a:rPr>
              <a:t>ENVOY ADK
Pub/Sub
Cloud Workflows</a:t>
            </a:r>
          </a:p>
        </p:txBody>
      </p:sp>
      <p:sp>
        <p:nvSpPr>
          <p:cNvPr id="14" name="Rectangle 13"/>
          <p:cNvSpPr/>
          <p:nvPr/>
        </p:nvSpPr>
        <p:spPr>
          <a:xfrm>
            <a:off x="10332720" y="1371600"/>
            <a:ext cx="1188720" cy="274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1389888"/>
            <a:ext cx="1188720" cy="237744"/>
          </a:xfrm>
          <a:prstGeom prst="rect">
            <a:avLst/>
          </a:prstGeom>
          <a:noFill/>
        </p:spPr>
        <p:txBody>
          <a:bodyPr wrap="square">
            <a:spAutoFit/>
          </a:bodyPr>
          <a:lstStyle/>
          <a:p>
            <a:pPr algn="ctr"/>
            <a:r>
              <a:rPr sz="800" b="1" i="0">
                <a:solidFill>
                  <a:srgbClr val="FFFFFF"/>
                </a:solidFill>
                <a:latin typeface="Calibri"/>
              </a:rPr>
              <a:t>Automated</a:t>
            </a:r>
          </a:p>
        </p:txBody>
      </p:sp>
      <p:sp>
        <p:nvSpPr>
          <p:cNvPr id="16" name="Rectangle 15"/>
          <p:cNvSpPr/>
          <p:nvPr/>
        </p:nvSpPr>
        <p:spPr>
          <a:xfrm>
            <a:off x="457200" y="2084832"/>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084832"/>
            <a:ext cx="914400" cy="9144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404872"/>
            <a:ext cx="914400" cy="274320"/>
          </a:xfrm>
          <a:prstGeom prst="rect">
            <a:avLst/>
          </a:prstGeom>
          <a:noFill/>
        </p:spPr>
        <p:txBody>
          <a:bodyPr wrap="square">
            <a:spAutoFit/>
          </a:bodyPr>
          <a:lstStyle/>
          <a:p>
            <a:pPr algn="ctr"/>
            <a:r>
              <a:rPr sz="800" b="1" i="0">
                <a:solidFill>
                  <a:srgbClr val="FFFFFF"/>
                </a:solidFill>
                <a:latin typeface="Calibri"/>
              </a:rPr>
              <a:t>ANALYSE</a:t>
            </a:r>
          </a:p>
        </p:txBody>
      </p:sp>
      <p:sp>
        <p:nvSpPr>
          <p:cNvPr id="19" name="TextBox 18"/>
          <p:cNvSpPr txBox="1"/>
          <p:nvPr/>
        </p:nvSpPr>
        <p:spPr>
          <a:xfrm>
            <a:off x="1463040" y="2139696"/>
            <a:ext cx="6858000" cy="256032"/>
          </a:xfrm>
          <a:prstGeom prst="rect">
            <a:avLst/>
          </a:prstGeom>
          <a:noFill/>
        </p:spPr>
        <p:txBody>
          <a:bodyPr wrap="square">
            <a:spAutoFit/>
          </a:bodyPr>
          <a:lstStyle/>
          <a:p>
            <a:pPr algn="l"/>
            <a:r>
              <a:rPr sz="1000" b="1" i="0">
                <a:solidFill>
                  <a:srgbClr val="0A1628"/>
                </a:solidFill>
                <a:latin typeface="Calibri"/>
              </a:rPr>
              <a:t>Intelligence Generation &amp; Analysis</a:t>
            </a:r>
          </a:p>
        </p:txBody>
      </p:sp>
      <p:sp>
        <p:nvSpPr>
          <p:cNvPr id="20" name="TextBox 19"/>
          <p:cNvSpPr txBox="1"/>
          <p:nvPr/>
        </p:nvSpPr>
        <p:spPr>
          <a:xfrm>
            <a:off x="1463040" y="2395728"/>
            <a:ext cx="6858000" cy="548640"/>
          </a:xfrm>
          <a:prstGeom prst="rect">
            <a:avLst/>
          </a:prstGeom>
          <a:noFill/>
        </p:spPr>
        <p:txBody>
          <a:bodyPr wrap="square">
            <a:spAutoFit/>
          </a:bodyPr>
          <a:lstStyle/>
          <a:p>
            <a:pPr algn="l"/>
            <a:r>
              <a:rPr sz="850" b="0" i="0">
                <a:solidFill>
                  <a:srgbClr val="475569"/>
                </a:solidFill>
                <a:latin typeface="Calibri"/>
              </a:rPr>
              <a:t>AI-driven. ML models (Vertex AI, Pegasus) and Gemini analyse data, detect patterns and generate contextual intelligence. Output quality validated via ENVOY Evaluation Framework before escalation to recommendation stage.</a:t>
            </a:r>
          </a:p>
        </p:txBody>
      </p:sp>
      <p:sp>
        <p:nvSpPr>
          <p:cNvPr id="21" name="TextBox 20"/>
          <p:cNvSpPr txBox="1"/>
          <p:nvPr/>
        </p:nvSpPr>
        <p:spPr>
          <a:xfrm>
            <a:off x="8412480" y="2157984"/>
            <a:ext cx="1828800" cy="777240"/>
          </a:xfrm>
          <a:prstGeom prst="rect">
            <a:avLst/>
          </a:prstGeom>
          <a:noFill/>
        </p:spPr>
        <p:txBody>
          <a:bodyPr wrap="square">
            <a:spAutoFit/>
          </a:bodyPr>
          <a:lstStyle/>
          <a:p>
            <a:pPr algn="l"/>
            <a:r>
              <a:rPr sz="850" b="0" i="0">
                <a:solidFill>
                  <a:srgbClr val="0F7AC5"/>
                </a:solidFill>
                <a:latin typeface="Calibri"/>
              </a:rPr>
              <a:t>Vertex AI
Gemini
Pegasus Eval</a:t>
            </a:r>
          </a:p>
        </p:txBody>
      </p:sp>
      <p:sp>
        <p:nvSpPr>
          <p:cNvPr id="22" name="Rectangle 21"/>
          <p:cNvSpPr/>
          <p:nvPr/>
        </p:nvSpPr>
        <p:spPr>
          <a:xfrm>
            <a:off x="10332720" y="2359152"/>
            <a:ext cx="1188720" cy="2743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2377440"/>
            <a:ext cx="1188720" cy="237744"/>
          </a:xfrm>
          <a:prstGeom prst="rect">
            <a:avLst/>
          </a:prstGeom>
          <a:noFill/>
        </p:spPr>
        <p:txBody>
          <a:bodyPr wrap="square">
            <a:spAutoFit/>
          </a:bodyPr>
          <a:lstStyle/>
          <a:p>
            <a:pPr algn="ctr"/>
            <a:r>
              <a:rPr sz="800" b="1" i="0">
                <a:solidFill>
                  <a:srgbClr val="FFFFFF"/>
                </a:solidFill>
                <a:latin typeface="Calibri"/>
              </a:rPr>
              <a:t>AI-Driven</a:t>
            </a:r>
          </a:p>
        </p:txBody>
      </p:sp>
      <p:sp>
        <p:nvSpPr>
          <p:cNvPr id="24" name="Rectangle 23"/>
          <p:cNvSpPr/>
          <p:nvPr/>
        </p:nvSpPr>
        <p:spPr>
          <a:xfrm>
            <a:off x="457200" y="3072384"/>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072384"/>
            <a:ext cx="91440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392424"/>
            <a:ext cx="914400" cy="274320"/>
          </a:xfrm>
          <a:prstGeom prst="rect">
            <a:avLst/>
          </a:prstGeom>
          <a:noFill/>
        </p:spPr>
        <p:txBody>
          <a:bodyPr wrap="square">
            <a:spAutoFit/>
          </a:bodyPr>
          <a:lstStyle/>
          <a:p>
            <a:pPr algn="ctr"/>
            <a:r>
              <a:rPr sz="800" b="1" i="0">
                <a:solidFill>
                  <a:srgbClr val="FFFFFF"/>
                </a:solidFill>
                <a:latin typeface="Calibri"/>
              </a:rPr>
              <a:t>RECOMMEND</a:t>
            </a:r>
          </a:p>
        </p:txBody>
      </p:sp>
      <p:sp>
        <p:nvSpPr>
          <p:cNvPr id="27" name="TextBox 26"/>
          <p:cNvSpPr txBox="1"/>
          <p:nvPr/>
        </p:nvSpPr>
        <p:spPr>
          <a:xfrm>
            <a:off x="1463040" y="3127248"/>
            <a:ext cx="6858000" cy="256032"/>
          </a:xfrm>
          <a:prstGeom prst="rect">
            <a:avLst/>
          </a:prstGeom>
          <a:noFill/>
        </p:spPr>
        <p:txBody>
          <a:bodyPr wrap="square">
            <a:spAutoFit/>
          </a:bodyPr>
          <a:lstStyle/>
          <a:p>
            <a:pPr algn="l"/>
            <a:r>
              <a:rPr sz="1000" b="1" i="0">
                <a:solidFill>
                  <a:srgbClr val="0A1628"/>
                </a:solidFill>
                <a:latin typeface="Calibri"/>
              </a:rPr>
              <a:t>Recommendation Review &amp; Human Judgement</a:t>
            </a:r>
          </a:p>
        </p:txBody>
      </p:sp>
      <p:sp>
        <p:nvSpPr>
          <p:cNvPr id="28" name="TextBox 27"/>
          <p:cNvSpPr txBox="1"/>
          <p:nvPr/>
        </p:nvSpPr>
        <p:spPr>
          <a:xfrm>
            <a:off x="1463040" y="3383280"/>
            <a:ext cx="6858000" cy="548640"/>
          </a:xfrm>
          <a:prstGeom prst="rect">
            <a:avLst/>
          </a:prstGeom>
          <a:noFill/>
        </p:spPr>
        <p:txBody>
          <a:bodyPr wrap="square">
            <a:spAutoFit/>
          </a:bodyPr>
          <a:lstStyle/>
          <a:p>
            <a:pPr algn="l"/>
            <a:r>
              <a:rPr sz="850" b="0" i="0">
                <a:solidFill>
                  <a:srgbClr val="475569"/>
                </a:solidFill>
                <a:latin typeface="Calibri"/>
              </a:rPr>
              <a:t>Human review required. Pricing and proposition teams receive Gemini-generated recommendations with full evidence, rationale, simulated impact and confidence scores. Teams approve, modify or reject. All decisions logged in ENVOY Audit Framework. Target SLA: same-day for urgent signals.</a:t>
            </a:r>
          </a:p>
        </p:txBody>
      </p:sp>
      <p:sp>
        <p:nvSpPr>
          <p:cNvPr id="29" name="TextBox 28"/>
          <p:cNvSpPr txBox="1"/>
          <p:nvPr/>
        </p:nvSpPr>
        <p:spPr>
          <a:xfrm>
            <a:off x="8412480" y="3145536"/>
            <a:ext cx="1828800" cy="777240"/>
          </a:xfrm>
          <a:prstGeom prst="rect">
            <a:avLst/>
          </a:prstGeom>
          <a:noFill/>
        </p:spPr>
        <p:txBody>
          <a:bodyPr wrap="square">
            <a:spAutoFit/>
          </a:bodyPr>
          <a:lstStyle/>
          <a:p>
            <a:pPr algn="l"/>
            <a:r>
              <a:rPr sz="850" b="0" i="0">
                <a:solidFill>
                  <a:srgbClr val="0F7AC5"/>
                </a:solidFill>
                <a:latin typeface="Calibri"/>
              </a:rPr>
              <a:t>Gemini
Cortex Routing
Pega Workflow</a:t>
            </a:r>
          </a:p>
        </p:txBody>
      </p:sp>
      <p:sp>
        <p:nvSpPr>
          <p:cNvPr id="30" name="Rectangle 29"/>
          <p:cNvSpPr/>
          <p:nvPr/>
        </p:nvSpPr>
        <p:spPr>
          <a:xfrm>
            <a:off x="10332720" y="3346704"/>
            <a:ext cx="1188720" cy="274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0" y="3364992"/>
            <a:ext cx="1188720" cy="237744"/>
          </a:xfrm>
          <a:prstGeom prst="rect">
            <a:avLst/>
          </a:prstGeom>
          <a:noFill/>
        </p:spPr>
        <p:txBody>
          <a:bodyPr wrap="square">
            <a:spAutoFit/>
          </a:bodyPr>
          <a:lstStyle/>
          <a:p>
            <a:pPr algn="ctr"/>
            <a:r>
              <a:rPr sz="800" b="1" i="0">
                <a:solidFill>
                  <a:srgbClr val="FFFFFF"/>
                </a:solidFill>
                <a:latin typeface="Calibri"/>
              </a:rPr>
              <a:t>Human Required</a:t>
            </a:r>
          </a:p>
        </p:txBody>
      </p:sp>
      <p:sp>
        <p:nvSpPr>
          <p:cNvPr id="32" name="Rectangle 31"/>
          <p:cNvSpPr/>
          <p:nvPr/>
        </p:nvSpPr>
        <p:spPr>
          <a:xfrm>
            <a:off x="457200" y="4059936"/>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059936"/>
            <a:ext cx="914400"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379976"/>
            <a:ext cx="914400" cy="274320"/>
          </a:xfrm>
          <a:prstGeom prst="rect">
            <a:avLst/>
          </a:prstGeom>
          <a:noFill/>
        </p:spPr>
        <p:txBody>
          <a:bodyPr wrap="square">
            <a:spAutoFit/>
          </a:bodyPr>
          <a:lstStyle/>
          <a:p>
            <a:pPr algn="ctr"/>
            <a:r>
              <a:rPr sz="800" b="1" i="0">
                <a:solidFill>
                  <a:srgbClr val="FFFFFF"/>
                </a:solidFill>
                <a:latin typeface="Calibri"/>
              </a:rPr>
              <a:t>APPROVE</a:t>
            </a:r>
          </a:p>
        </p:txBody>
      </p:sp>
      <p:sp>
        <p:nvSpPr>
          <p:cNvPr id="35" name="TextBox 34"/>
          <p:cNvSpPr txBox="1"/>
          <p:nvPr/>
        </p:nvSpPr>
        <p:spPr>
          <a:xfrm>
            <a:off x="1463040" y="4114800"/>
            <a:ext cx="6858000" cy="256032"/>
          </a:xfrm>
          <a:prstGeom prst="rect">
            <a:avLst/>
          </a:prstGeom>
          <a:noFill/>
        </p:spPr>
        <p:txBody>
          <a:bodyPr wrap="square">
            <a:spAutoFit/>
          </a:bodyPr>
          <a:lstStyle/>
          <a:p>
            <a:pPr algn="l"/>
            <a:r>
              <a:rPr sz="1000" b="1" i="0">
                <a:solidFill>
                  <a:srgbClr val="0A1628"/>
                </a:solidFill>
                <a:latin typeface="Calibri"/>
              </a:rPr>
              <a:t>Governance Approval &amp; Senior Sign-Off</a:t>
            </a:r>
          </a:p>
        </p:txBody>
      </p:sp>
      <p:sp>
        <p:nvSpPr>
          <p:cNvPr id="36" name="TextBox 35"/>
          <p:cNvSpPr txBox="1"/>
          <p:nvPr/>
        </p:nvSpPr>
        <p:spPr>
          <a:xfrm>
            <a:off x="1463040" y="4370832"/>
            <a:ext cx="6858000" cy="548640"/>
          </a:xfrm>
          <a:prstGeom prst="rect">
            <a:avLst/>
          </a:prstGeom>
          <a:noFill/>
        </p:spPr>
        <p:txBody>
          <a:bodyPr wrap="square">
            <a:spAutoFit/>
          </a:bodyPr>
          <a:lstStyle/>
          <a:p>
            <a:pPr algn="l"/>
            <a:r>
              <a:rPr sz="850" b="0" i="0">
                <a:solidFill>
                  <a:srgbClr val="475569"/>
                </a:solidFill>
                <a:latin typeface="Calibri"/>
              </a:rPr>
              <a:t>Senior approval required for material pricing changes. Delegated authority framework applied in Pega. Compliance team notified for significant movements. Full decision record created in ENVOY Audit Framework for FCA review.</a:t>
            </a:r>
          </a:p>
        </p:txBody>
      </p:sp>
      <p:sp>
        <p:nvSpPr>
          <p:cNvPr id="37" name="TextBox 36"/>
          <p:cNvSpPr txBox="1"/>
          <p:nvPr/>
        </p:nvSpPr>
        <p:spPr>
          <a:xfrm>
            <a:off x="8412480" y="4133088"/>
            <a:ext cx="1828800" cy="777240"/>
          </a:xfrm>
          <a:prstGeom prst="rect">
            <a:avLst/>
          </a:prstGeom>
          <a:noFill/>
        </p:spPr>
        <p:txBody>
          <a:bodyPr wrap="square">
            <a:spAutoFit/>
          </a:bodyPr>
          <a:lstStyle/>
          <a:p>
            <a:pPr algn="l"/>
            <a:r>
              <a:rPr sz="850" b="0" i="0">
                <a:solidFill>
                  <a:srgbClr val="0F7AC5"/>
                </a:solidFill>
                <a:latin typeface="Calibri"/>
              </a:rPr>
              <a:t>Pega
Audit Framework
Model Armor</a:t>
            </a:r>
          </a:p>
        </p:txBody>
      </p:sp>
      <p:sp>
        <p:nvSpPr>
          <p:cNvPr id="38" name="Rectangle 37"/>
          <p:cNvSpPr/>
          <p:nvPr/>
        </p:nvSpPr>
        <p:spPr>
          <a:xfrm>
            <a:off x="10332720" y="4334256"/>
            <a:ext cx="118872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0" y="4352544"/>
            <a:ext cx="1188720" cy="237744"/>
          </a:xfrm>
          <a:prstGeom prst="rect">
            <a:avLst/>
          </a:prstGeom>
          <a:noFill/>
        </p:spPr>
        <p:txBody>
          <a:bodyPr wrap="square">
            <a:spAutoFit/>
          </a:bodyPr>
          <a:lstStyle/>
          <a:p>
            <a:pPr algn="ctr"/>
            <a:r>
              <a:rPr sz="800" b="1" i="0">
                <a:solidFill>
                  <a:srgbClr val="FFFFFF"/>
                </a:solidFill>
                <a:latin typeface="Calibri"/>
              </a:rPr>
              <a:t>Governed</a:t>
            </a:r>
          </a:p>
        </p:txBody>
      </p:sp>
      <p:sp>
        <p:nvSpPr>
          <p:cNvPr id="40" name="Rectangle 39"/>
          <p:cNvSpPr/>
          <p:nvPr/>
        </p:nvSpPr>
        <p:spPr>
          <a:xfrm>
            <a:off x="457200" y="5047488"/>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047488"/>
            <a:ext cx="914400"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367528"/>
            <a:ext cx="914400" cy="274320"/>
          </a:xfrm>
          <a:prstGeom prst="rect">
            <a:avLst/>
          </a:prstGeom>
          <a:noFill/>
        </p:spPr>
        <p:txBody>
          <a:bodyPr wrap="square">
            <a:spAutoFit/>
          </a:bodyPr>
          <a:lstStyle/>
          <a:p>
            <a:pPr algn="ctr"/>
            <a:r>
              <a:rPr sz="800" b="1" i="0">
                <a:solidFill>
                  <a:srgbClr val="FFFFFF"/>
                </a:solidFill>
                <a:latin typeface="Calibri"/>
              </a:rPr>
              <a:t>EXECUTE &amp; LEARN</a:t>
            </a:r>
          </a:p>
        </p:txBody>
      </p:sp>
      <p:sp>
        <p:nvSpPr>
          <p:cNvPr id="43" name="TextBox 42"/>
          <p:cNvSpPr txBox="1"/>
          <p:nvPr/>
        </p:nvSpPr>
        <p:spPr>
          <a:xfrm>
            <a:off x="1463040" y="5102352"/>
            <a:ext cx="6858000" cy="256032"/>
          </a:xfrm>
          <a:prstGeom prst="rect">
            <a:avLst/>
          </a:prstGeom>
          <a:noFill/>
        </p:spPr>
        <p:txBody>
          <a:bodyPr wrap="square">
            <a:spAutoFit/>
          </a:bodyPr>
          <a:lstStyle/>
          <a:p>
            <a:pPr algn="l"/>
            <a:r>
              <a:rPr sz="1000" b="1" i="0">
                <a:solidFill>
                  <a:srgbClr val="0A1628"/>
                </a:solidFill>
                <a:latin typeface="Calibri"/>
              </a:rPr>
              <a:t>Execution, Monitoring &amp; Closed-Loop Learning</a:t>
            </a:r>
          </a:p>
        </p:txBody>
      </p:sp>
      <p:sp>
        <p:nvSpPr>
          <p:cNvPr id="44" name="TextBox 43"/>
          <p:cNvSpPr txBox="1"/>
          <p:nvPr/>
        </p:nvSpPr>
        <p:spPr>
          <a:xfrm>
            <a:off x="1463040" y="5358384"/>
            <a:ext cx="6858000" cy="548640"/>
          </a:xfrm>
          <a:prstGeom prst="rect">
            <a:avLst/>
          </a:prstGeom>
          <a:noFill/>
        </p:spPr>
        <p:txBody>
          <a:bodyPr wrap="square">
            <a:spAutoFit/>
          </a:bodyPr>
          <a:lstStyle/>
          <a:p>
            <a:pPr algn="l"/>
            <a:r>
              <a:rPr sz="850" b="0" i="0">
                <a:solidFill>
                  <a:srgbClr val="475569"/>
                </a:solidFill>
                <a:latin typeface="Calibri"/>
              </a:rPr>
              <a:t>Approved changes executed via Apigee to AGGS, Duck Creek and Pricing Services. Execution confirmed and logged. ObserveAll monitors post-change PCW performance. ENVOY Learning Agent ingests outcomes, updates Pegasus and triggers retraining where required.</a:t>
            </a:r>
          </a:p>
        </p:txBody>
      </p:sp>
      <p:sp>
        <p:nvSpPr>
          <p:cNvPr id="45" name="TextBox 44"/>
          <p:cNvSpPr txBox="1"/>
          <p:nvPr/>
        </p:nvSpPr>
        <p:spPr>
          <a:xfrm>
            <a:off x="8412480" y="5120640"/>
            <a:ext cx="1828800" cy="777240"/>
          </a:xfrm>
          <a:prstGeom prst="rect">
            <a:avLst/>
          </a:prstGeom>
          <a:noFill/>
        </p:spPr>
        <p:txBody>
          <a:bodyPr wrap="square">
            <a:spAutoFit/>
          </a:bodyPr>
          <a:lstStyle/>
          <a:p>
            <a:pPr algn="l"/>
            <a:r>
              <a:rPr sz="850" b="0" i="0">
                <a:solidFill>
                  <a:srgbClr val="0F7AC5"/>
                </a:solidFill>
                <a:latin typeface="Calibri"/>
              </a:rPr>
              <a:t>Apigee / AGGS
ObserveAll
Pegasus</a:t>
            </a:r>
          </a:p>
        </p:txBody>
      </p:sp>
      <p:sp>
        <p:nvSpPr>
          <p:cNvPr id="46" name="Rectangle 45"/>
          <p:cNvSpPr/>
          <p:nvPr/>
        </p:nvSpPr>
        <p:spPr>
          <a:xfrm>
            <a:off x="10332720" y="5321808"/>
            <a:ext cx="118872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2720" y="5340096"/>
            <a:ext cx="1188720" cy="237744"/>
          </a:xfrm>
          <a:prstGeom prst="rect">
            <a:avLst/>
          </a:prstGeom>
          <a:noFill/>
        </p:spPr>
        <p:txBody>
          <a:bodyPr wrap="square">
            <a:spAutoFit/>
          </a:bodyPr>
          <a:lstStyle/>
          <a:p>
            <a:pPr algn="ctr"/>
            <a:r>
              <a:rPr sz="800" b="1" i="0">
                <a:solidFill>
                  <a:srgbClr val="FFFFFF"/>
                </a:solidFill>
                <a:latin typeface="Calibri"/>
              </a:rPr>
              <a:t>Closed-Loop</a:t>
            </a:r>
          </a:p>
        </p:txBody>
      </p:sp>
      <p:sp>
        <p:nvSpPr>
          <p:cNvPr id="48" name="Rectangle 47"/>
          <p:cNvSpPr/>
          <p:nvPr/>
        </p:nvSpPr>
        <p:spPr>
          <a:xfrm>
            <a:off x="457200" y="5760720"/>
            <a:ext cx="11274552" cy="5029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5833872"/>
            <a:ext cx="10972800" cy="365760"/>
          </a:xfrm>
          <a:prstGeom prst="rect">
            <a:avLst/>
          </a:prstGeom>
          <a:noFill/>
        </p:spPr>
        <p:txBody>
          <a:bodyPr wrap="square">
            <a:spAutoFit/>
          </a:bodyPr>
          <a:lstStyle/>
          <a:p>
            <a:pPr algn="ctr"/>
            <a:r>
              <a:rPr sz="1000" b="1" i="0">
                <a:solidFill>
                  <a:srgbClr val="FFFFFF"/>
                </a:solidFill>
                <a:latin typeface="Calibri"/>
              </a:rPr>
              <a:t>The platform RECOMMENDS via Gemini.   People DECIDE via Pega.   Systems EXECUTE via Apigee.   ENVOY LEARNS continuously.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&amp; COMPLIANCE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Governance &amp; Risk Framework — FCA Aligned</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14 / 20</a:t>
            </a:r>
          </a:p>
        </p:txBody>
      </p:sp>
      <p:sp>
        <p:nvSpPr>
          <p:cNvPr id="8" name="Rectangle 7"/>
          <p:cNvSpPr/>
          <p:nvPr/>
        </p:nvSpPr>
        <p:spPr>
          <a:xfrm>
            <a:off x="457200"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749039"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88720"/>
            <a:ext cx="3611879" cy="274320"/>
          </a:xfrm>
          <a:prstGeom prst="rect">
            <a:avLst/>
          </a:prstGeom>
          <a:noFill/>
        </p:spPr>
        <p:txBody>
          <a:bodyPr wrap="square">
            <a:spAutoFit/>
          </a:bodyPr>
          <a:lstStyle/>
          <a:p>
            <a:pPr algn="l"/>
            <a:r>
              <a:rPr sz="1000" b="1" i="0">
                <a:solidFill>
                  <a:srgbClr val="0A1628"/>
                </a:solidFill>
                <a:latin typeface="Calibri"/>
              </a:rPr>
              <a:t>FCA Alignment &amp; Consumer Duty</a:t>
            </a:r>
          </a:p>
        </p:txBody>
      </p:sp>
      <p:sp>
        <p:nvSpPr>
          <p:cNvPr id="11" name="TextBox 10"/>
          <p:cNvSpPr txBox="1"/>
          <p:nvPr/>
        </p:nvSpPr>
        <p:spPr>
          <a:xfrm>
            <a:off x="548640" y="1499616"/>
            <a:ext cx="3611879" cy="1828800"/>
          </a:xfrm>
          <a:prstGeom prst="rect">
            <a:avLst/>
          </a:prstGeom>
          <a:noFill/>
        </p:spPr>
        <p:txBody>
          <a:bodyPr wrap="square">
            <a:spAutoFit/>
          </a:bodyPr>
          <a:lstStyle/>
          <a:p>
            <a:pPr algn="l"/>
            <a:r>
              <a:rPr sz="850" b="0" i="0">
                <a:solidFill>
                  <a:srgbClr val="475569"/>
                </a:solidFill>
                <a:latin typeface="Calibri"/>
              </a:rPr>
              <a:t>Consumer Duty obligations met through explainable AI outputs and maintained human decision accountability. All pricing decisions remain with FCA-authorised individuals — AI provides decision support, not autonomous pricing. Recommendations include fair value assessment context. Regular review against FCA GI pricing rules. Cortex routing ensures no ungoverned model calls.</a:t>
            </a:r>
          </a:p>
        </p:txBody>
      </p:sp>
      <p:sp>
        <p:nvSpPr>
          <p:cNvPr id="12" name="Rectangle 11"/>
          <p:cNvSpPr/>
          <p:nvPr/>
        </p:nvSpPr>
        <p:spPr>
          <a:xfrm>
            <a:off x="4343399"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399" y="1097280"/>
            <a:ext cx="3749039"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39" y="1188720"/>
            <a:ext cx="3611879" cy="274320"/>
          </a:xfrm>
          <a:prstGeom prst="rect">
            <a:avLst/>
          </a:prstGeom>
          <a:noFill/>
        </p:spPr>
        <p:txBody>
          <a:bodyPr wrap="square">
            <a:spAutoFit/>
          </a:bodyPr>
          <a:lstStyle/>
          <a:p>
            <a:pPr algn="l"/>
            <a:r>
              <a:rPr sz="1000" b="1" i="0">
                <a:solidFill>
                  <a:srgbClr val="0A1628"/>
                </a:solidFill>
                <a:latin typeface="Calibri"/>
              </a:rPr>
              <a:t>Auditability &amp; Decision Lineage</a:t>
            </a:r>
          </a:p>
        </p:txBody>
      </p:sp>
      <p:sp>
        <p:nvSpPr>
          <p:cNvPr id="15" name="TextBox 14"/>
          <p:cNvSpPr txBox="1"/>
          <p:nvPr/>
        </p:nvSpPr>
        <p:spPr>
          <a:xfrm>
            <a:off x="4434839" y="1499616"/>
            <a:ext cx="3611879" cy="1828800"/>
          </a:xfrm>
          <a:prstGeom prst="rect">
            <a:avLst/>
          </a:prstGeom>
          <a:noFill/>
        </p:spPr>
        <p:txBody>
          <a:bodyPr wrap="square">
            <a:spAutoFit/>
          </a:bodyPr>
          <a:lstStyle/>
          <a:p>
            <a:pPr algn="l"/>
            <a:r>
              <a:rPr sz="850" b="0" i="0">
                <a:solidFill>
                  <a:srgbClr val="475569"/>
                </a:solidFill>
                <a:latin typeface="Calibri"/>
              </a:rPr>
              <a:t>Complete audit trail from PCW data collection through to executed change maintained in ENVOY Audit Framework. Every recommendation, approval, modification and rejection recorded with timestamp, user identity, rationale and ENVOY session ID. Audit logs stored in Cloud Logging with defined retention. Accessible for regulatory review within agreed SLAs. Immutable audit records via Cloud Storage.</a:t>
            </a:r>
          </a:p>
        </p:txBody>
      </p:sp>
      <p:sp>
        <p:nvSpPr>
          <p:cNvPr id="16" name="Rectangle 15"/>
          <p:cNvSpPr/>
          <p:nvPr/>
        </p:nvSpPr>
        <p:spPr>
          <a:xfrm>
            <a:off x="8229598"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598" y="1097280"/>
            <a:ext cx="3749039"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8" y="1188720"/>
            <a:ext cx="3611879" cy="274320"/>
          </a:xfrm>
          <a:prstGeom prst="rect">
            <a:avLst/>
          </a:prstGeom>
          <a:noFill/>
        </p:spPr>
        <p:txBody>
          <a:bodyPr wrap="square">
            <a:spAutoFit/>
          </a:bodyPr>
          <a:lstStyle/>
          <a:p>
            <a:pPr algn="l"/>
            <a:r>
              <a:rPr sz="1000" b="1" i="0">
                <a:solidFill>
                  <a:srgbClr val="0A1628"/>
                </a:solidFill>
                <a:latin typeface="Calibri"/>
              </a:rPr>
              <a:t>Explainability &amp; Transparency</a:t>
            </a:r>
          </a:p>
        </p:txBody>
      </p:sp>
      <p:sp>
        <p:nvSpPr>
          <p:cNvPr id="19" name="TextBox 18"/>
          <p:cNvSpPr txBox="1"/>
          <p:nvPr/>
        </p:nvSpPr>
        <p:spPr>
          <a:xfrm>
            <a:off x="8321038" y="1499616"/>
            <a:ext cx="3611879" cy="1828800"/>
          </a:xfrm>
          <a:prstGeom prst="rect">
            <a:avLst/>
          </a:prstGeom>
          <a:noFill/>
        </p:spPr>
        <p:txBody>
          <a:bodyPr wrap="square">
            <a:spAutoFit/>
          </a:bodyPr>
          <a:lstStyle/>
          <a:p>
            <a:pPr algn="l"/>
            <a:r>
              <a:rPr sz="850" b="0" i="0">
                <a:solidFill>
                  <a:srgbClr val="475569"/>
                </a:solidFill>
                <a:latin typeface="Calibri"/>
              </a:rPr>
              <a:t>All Gemini recommendations include human-readable rationale and source data references. ML model outputs include SHAP feature importance and confidence intervals via Pegasus. Model cards maintained for all production models. Pricing teams able to interrogate and challenge any recommendation before approval. No black-box decisions.</a:t>
            </a:r>
          </a:p>
        </p:txBody>
      </p:sp>
      <p:sp>
        <p:nvSpPr>
          <p:cNvPr id="20" name="Rectangle 19"/>
          <p:cNvSpPr/>
          <p:nvPr/>
        </p:nvSpPr>
        <p:spPr>
          <a:xfrm>
            <a:off x="457200"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20440"/>
            <a:ext cx="3749039"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611880"/>
            <a:ext cx="3611879" cy="274320"/>
          </a:xfrm>
          <a:prstGeom prst="rect">
            <a:avLst/>
          </a:prstGeom>
          <a:noFill/>
        </p:spPr>
        <p:txBody>
          <a:bodyPr wrap="square">
            <a:spAutoFit/>
          </a:bodyPr>
          <a:lstStyle/>
          <a:p>
            <a:pPr algn="l"/>
            <a:r>
              <a:rPr sz="1000" b="1" i="0">
                <a:solidFill>
                  <a:srgbClr val="0A1628"/>
                </a:solidFill>
                <a:latin typeface="Calibri"/>
              </a:rPr>
              <a:t>Data Protection &amp; Privacy</a:t>
            </a:r>
          </a:p>
        </p:txBody>
      </p:sp>
      <p:sp>
        <p:nvSpPr>
          <p:cNvPr id="23" name="TextBox 22"/>
          <p:cNvSpPr txBox="1"/>
          <p:nvPr/>
        </p:nvSpPr>
        <p:spPr>
          <a:xfrm>
            <a:off x="548640" y="3922776"/>
            <a:ext cx="3611879" cy="1828800"/>
          </a:xfrm>
          <a:prstGeom prst="rect">
            <a:avLst/>
          </a:prstGeom>
          <a:noFill/>
        </p:spPr>
        <p:txBody>
          <a:bodyPr wrap="square">
            <a:spAutoFit/>
          </a:bodyPr>
          <a:lstStyle/>
          <a:p>
            <a:pPr algn="l"/>
            <a:r>
              <a:rPr sz="850" b="0" i="0">
                <a:solidFill>
                  <a:srgbClr val="475569"/>
                </a:solidFill>
                <a:latin typeface="Calibri"/>
              </a:rPr>
              <a:t>No customer PII used in competitive intelligence workflows. Competitor market data treated as commercially sensitive. DLP policies enforced via Model Armor and GCP DLP. Role-based access controls managed via IAM &amp; RBAC. UK data residency maintained (VPC-SC). GDPR-aligned retention policies applied. Data minimisation principles throughout.</a:t>
            </a:r>
          </a:p>
        </p:txBody>
      </p:sp>
      <p:sp>
        <p:nvSpPr>
          <p:cNvPr id="24" name="Rectangle 23"/>
          <p:cNvSpPr/>
          <p:nvPr/>
        </p:nvSpPr>
        <p:spPr>
          <a:xfrm>
            <a:off x="4343399"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399" y="3520440"/>
            <a:ext cx="3749039"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39" y="3611880"/>
            <a:ext cx="3611879" cy="274320"/>
          </a:xfrm>
          <a:prstGeom prst="rect">
            <a:avLst/>
          </a:prstGeom>
          <a:noFill/>
        </p:spPr>
        <p:txBody>
          <a:bodyPr wrap="square">
            <a:spAutoFit/>
          </a:bodyPr>
          <a:lstStyle/>
          <a:p>
            <a:pPr algn="l"/>
            <a:r>
              <a:rPr sz="1000" b="1" i="0">
                <a:solidFill>
                  <a:srgbClr val="0A1628"/>
                </a:solidFill>
                <a:latin typeface="Calibri"/>
              </a:rPr>
              <a:t>Model Governance (Pegasus)</a:t>
            </a:r>
          </a:p>
        </p:txBody>
      </p:sp>
      <p:sp>
        <p:nvSpPr>
          <p:cNvPr id="27" name="TextBox 26"/>
          <p:cNvSpPr txBox="1"/>
          <p:nvPr/>
        </p:nvSpPr>
        <p:spPr>
          <a:xfrm>
            <a:off x="4434839" y="3922776"/>
            <a:ext cx="3611879" cy="1828800"/>
          </a:xfrm>
          <a:prstGeom prst="rect">
            <a:avLst/>
          </a:prstGeom>
          <a:noFill/>
        </p:spPr>
        <p:txBody>
          <a:bodyPr wrap="square">
            <a:spAutoFit/>
          </a:bodyPr>
          <a:lstStyle/>
          <a:p>
            <a:pPr algn="l"/>
            <a:r>
              <a:rPr sz="850" b="0" i="0">
                <a:solidFill>
                  <a:srgbClr val="475569"/>
                </a:solidFill>
                <a:latin typeface="Calibri"/>
              </a:rPr>
              <a:t>All ML and GenAI models subject to LBG model governance policy enforced via Pegasus. Pre-deployment validation, champion/challenger testing and post-deployment monitoring mandatory. Model performance reviewed quarterly. Retraining triggered automatically on drift detection. Model cards and lineage tracked in Vertex AI Model Registry. External model risk review for material models.</a:t>
            </a:r>
          </a:p>
        </p:txBody>
      </p:sp>
      <p:sp>
        <p:nvSpPr>
          <p:cNvPr id="28" name="Rectangle 27"/>
          <p:cNvSpPr/>
          <p:nvPr/>
        </p:nvSpPr>
        <p:spPr>
          <a:xfrm>
            <a:off x="8229598"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8" y="3520440"/>
            <a:ext cx="3749039"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8" y="3611880"/>
            <a:ext cx="3611879" cy="274320"/>
          </a:xfrm>
          <a:prstGeom prst="rect">
            <a:avLst/>
          </a:prstGeom>
          <a:noFill/>
        </p:spPr>
        <p:txBody>
          <a:bodyPr wrap="square">
            <a:spAutoFit/>
          </a:bodyPr>
          <a:lstStyle/>
          <a:p>
            <a:pPr algn="l"/>
            <a:r>
              <a:rPr sz="1000" b="1" i="0">
                <a:solidFill>
                  <a:srgbClr val="0A1628"/>
                </a:solidFill>
                <a:latin typeface="Calibri"/>
              </a:rPr>
              <a:t>Operational Resilience &amp; Recovery</a:t>
            </a:r>
          </a:p>
        </p:txBody>
      </p:sp>
      <p:sp>
        <p:nvSpPr>
          <p:cNvPr id="31" name="TextBox 30"/>
          <p:cNvSpPr txBox="1"/>
          <p:nvPr/>
        </p:nvSpPr>
        <p:spPr>
          <a:xfrm>
            <a:off x="8321038" y="3922776"/>
            <a:ext cx="3611879" cy="1828800"/>
          </a:xfrm>
          <a:prstGeom prst="rect">
            <a:avLst/>
          </a:prstGeom>
          <a:noFill/>
        </p:spPr>
        <p:txBody>
          <a:bodyPr wrap="square">
            <a:spAutoFit/>
          </a:bodyPr>
          <a:lstStyle/>
          <a:p>
            <a:pPr algn="l"/>
            <a:r>
              <a:rPr sz="850" b="0" i="0">
                <a:solidFill>
                  <a:srgbClr val="475569"/>
                </a:solidFill>
                <a:latin typeface="Calibri"/>
              </a:rPr>
              <a:t>Platform designed for graceful degradation — core pricing operations continue if CI platform is unavailable. Recovery time and recovery point objectives defined per component. Manual fallback procedures documented and tested quarterly. Dependency risk assessed for all third-party PCW data sources. Pega workflows continue to function independently of AI layer. Chaos engineering tests conducted pre-production.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MEASUREMENT FRAMEWORK</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KPI &amp; Measurement Framework — Commercial, Operational, Strategic &amp; Risk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15 / 20</a:t>
            </a:r>
          </a:p>
        </p:txBody>
      </p:sp>
      <p:sp>
        <p:nvSpPr>
          <p:cNvPr id="8" name="Rectangle 7"/>
          <p:cNvSpPr/>
          <p:nvPr/>
        </p:nvSpPr>
        <p:spPr>
          <a:xfrm>
            <a:off x="457200" y="1051560"/>
            <a:ext cx="274320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97280"/>
            <a:ext cx="2651760" cy="292608"/>
          </a:xfrm>
          <a:prstGeom prst="rect">
            <a:avLst/>
          </a:prstGeom>
          <a:noFill/>
        </p:spPr>
        <p:txBody>
          <a:bodyPr wrap="square">
            <a:spAutoFit/>
          </a:bodyPr>
          <a:lstStyle/>
          <a:p>
            <a:pPr algn="l"/>
            <a:r>
              <a:rPr sz="1000" b="1" i="0">
                <a:solidFill>
                  <a:srgbClr val="FFFFFF"/>
                </a:solidFill>
                <a:latin typeface="Calibri"/>
              </a:rPr>
              <a:t>Commercial KPIs</a:t>
            </a:r>
          </a:p>
        </p:txBody>
      </p:sp>
      <p:sp>
        <p:nvSpPr>
          <p:cNvPr id="10" name="Rectangle 9"/>
          <p:cNvSpPr/>
          <p:nvPr/>
        </p:nvSpPr>
        <p:spPr>
          <a:xfrm>
            <a:off x="457200"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813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54480"/>
            <a:ext cx="2606040" cy="420624"/>
          </a:xfrm>
          <a:prstGeom prst="rect">
            <a:avLst/>
          </a:prstGeom>
          <a:noFill/>
        </p:spPr>
        <p:txBody>
          <a:bodyPr wrap="square">
            <a:spAutoFit/>
          </a:bodyPr>
          <a:lstStyle/>
          <a:p>
            <a:pPr algn="l"/>
            <a:r>
              <a:rPr sz="900" b="0" i="0">
                <a:solidFill>
                  <a:srgbClr val="1E293B"/>
                </a:solidFill>
                <a:latin typeface="Calibri"/>
              </a:rPr>
              <a:t>PCW ranking position (by channel, brand, product line)</a:t>
            </a:r>
          </a:p>
        </p:txBody>
      </p:sp>
      <p:sp>
        <p:nvSpPr>
          <p:cNvPr id="13" name="Rectangle 12"/>
          <p:cNvSpPr/>
          <p:nvPr/>
        </p:nvSpPr>
        <p:spPr>
          <a:xfrm>
            <a:off x="457200"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2996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03120"/>
            <a:ext cx="2606040" cy="420624"/>
          </a:xfrm>
          <a:prstGeom prst="rect">
            <a:avLst/>
          </a:prstGeom>
          <a:noFill/>
        </p:spPr>
        <p:txBody>
          <a:bodyPr wrap="square">
            <a:spAutoFit/>
          </a:bodyPr>
          <a:lstStyle/>
          <a:p>
            <a:pPr algn="l"/>
            <a:r>
              <a:rPr sz="900" b="0" i="0">
                <a:solidFill>
                  <a:srgbClr val="1E293B"/>
                </a:solidFill>
                <a:latin typeface="Calibri"/>
              </a:rPr>
              <a:t>Quote conversion rate — PCW-sourced new business</a:t>
            </a:r>
          </a:p>
        </p:txBody>
      </p:sp>
      <p:sp>
        <p:nvSpPr>
          <p:cNvPr id="16" name="Rectangle 15"/>
          <p:cNvSpPr/>
          <p:nvPr/>
        </p:nvSpPr>
        <p:spPr>
          <a:xfrm>
            <a:off x="457200"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57860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51760"/>
            <a:ext cx="2606040" cy="420624"/>
          </a:xfrm>
          <a:prstGeom prst="rect">
            <a:avLst/>
          </a:prstGeom>
          <a:noFill/>
        </p:spPr>
        <p:txBody>
          <a:bodyPr wrap="square">
            <a:spAutoFit/>
          </a:bodyPr>
          <a:lstStyle/>
          <a:p>
            <a:pPr algn="l"/>
            <a:r>
              <a:rPr sz="900" b="0" i="0">
                <a:solidFill>
                  <a:srgbClr val="1E293B"/>
                </a:solidFill>
                <a:latin typeface="Calibri"/>
              </a:rPr>
              <a:t>New business volume via PCW channel</a:t>
            </a:r>
          </a:p>
        </p:txBody>
      </p:sp>
      <p:sp>
        <p:nvSpPr>
          <p:cNvPr id="19" name="Rectangle 18"/>
          <p:cNvSpPr/>
          <p:nvPr/>
        </p:nvSpPr>
        <p:spPr>
          <a:xfrm>
            <a:off x="457200"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2724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200400"/>
            <a:ext cx="2606040" cy="420624"/>
          </a:xfrm>
          <a:prstGeom prst="rect">
            <a:avLst/>
          </a:prstGeom>
          <a:noFill/>
        </p:spPr>
        <p:txBody>
          <a:bodyPr wrap="square">
            <a:spAutoFit/>
          </a:bodyPr>
          <a:lstStyle/>
          <a:p>
            <a:pPr algn="l"/>
            <a:r>
              <a:rPr sz="900" b="0" i="0">
                <a:solidFill>
                  <a:srgbClr val="1E293B"/>
                </a:solidFill>
                <a:latin typeface="Calibri"/>
              </a:rPr>
              <a:t>Revenue per PCW quote (risk-adjusted)</a:t>
            </a:r>
          </a:p>
        </p:txBody>
      </p:sp>
      <p:sp>
        <p:nvSpPr>
          <p:cNvPr id="22" name="Rectangle 21"/>
          <p:cNvSpPr/>
          <p:nvPr/>
        </p:nvSpPr>
        <p:spPr>
          <a:xfrm>
            <a:off x="457200"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67588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49040"/>
            <a:ext cx="2606040" cy="420624"/>
          </a:xfrm>
          <a:prstGeom prst="rect">
            <a:avLst/>
          </a:prstGeom>
          <a:noFill/>
        </p:spPr>
        <p:txBody>
          <a:bodyPr wrap="square">
            <a:spAutoFit/>
          </a:bodyPr>
          <a:lstStyle/>
          <a:p>
            <a:pPr algn="l"/>
            <a:r>
              <a:rPr sz="900" b="0" i="0">
                <a:solidFill>
                  <a:srgbClr val="1E293B"/>
                </a:solidFill>
                <a:latin typeface="Calibri"/>
              </a:rPr>
              <a:t>Competitive win rate vs key competitors</a:t>
            </a:r>
          </a:p>
        </p:txBody>
      </p:sp>
      <p:sp>
        <p:nvSpPr>
          <p:cNvPr id="25" name="Rectangle 24"/>
          <p:cNvSpPr/>
          <p:nvPr/>
        </p:nvSpPr>
        <p:spPr>
          <a:xfrm>
            <a:off x="457200"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2245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97680"/>
            <a:ext cx="2606040" cy="420624"/>
          </a:xfrm>
          <a:prstGeom prst="rect">
            <a:avLst/>
          </a:prstGeom>
          <a:noFill/>
        </p:spPr>
        <p:txBody>
          <a:bodyPr wrap="square">
            <a:spAutoFit/>
          </a:bodyPr>
          <a:lstStyle/>
          <a:p>
            <a:pPr algn="l"/>
            <a:r>
              <a:rPr sz="900" b="0" i="0">
                <a:solidFill>
                  <a:srgbClr val="1E293B"/>
                </a:solidFill>
                <a:latin typeface="Calibri"/>
              </a:rPr>
              <a:t>Market share by PCW (where measurable)</a:t>
            </a:r>
          </a:p>
        </p:txBody>
      </p:sp>
      <p:sp>
        <p:nvSpPr>
          <p:cNvPr id="28" name="Rectangle 27"/>
          <p:cNvSpPr/>
          <p:nvPr/>
        </p:nvSpPr>
        <p:spPr>
          <a:xfrm>
            <a:off x="3602736" y="1051560"/>
            <a:ext cx="274320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5888" y="1097280"/>
            <a:ext cx="2651760" cy="292608"/>
          </a:xfrm>
          <a:prstGeom prst="rect">
            <a:avLst/>
          </a:prstGeom>
          <a:noFill/>
        </p:spPr>
        <p:txBody>
          <a:bodyPr wrap="square">
            <a:spAutoFit/>
          </a:bodyPr>
          <a:lstStyle/>
          <a:p>
            <a:pPr algn="l"/>
            <a:r>
              <a:rPr sz="1000" b="1" i="0">
                <a:solidFill>
                  <a:srgbClr val="FFFFFF"/>
                </a:solidFill>
                <a:latin typeface="Calibri"/>
              </a:rPr>
              <a:t>Operational KPIs</a:t>
            </a:r>
          </a:p>
        </p:txBody>
      </p:sp>
      <p:sp>
        <p:nvSpPr>
          <p:cNvPr id="30" name="Rectangle 29"/>
          <p:cNvSpPr/>
          <p:nvPr/>
        </p:nvSpPr>
        <p:spPr>
          <a:xfrm>
            <a:off x="3602736"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2736" y="14813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94176" y="1554480"/>
            <a:ext cx="2606040" cy="420624"/>
          </a:xfrm>
          <a:prstGeom prst="rect">
            <a:avLst/>
          </a:prstGeom>
          <a:noFill/>
        </p:spPr>
        <p:txBody>
          <a:bodyPr wrap="square">
            <a:spAutoFit/>
          </a:bodyPr>
          <a:lstStyle/>
          <a:p>
            <a:pPr algn="l"/>
            <a:r>
              <a:rPr sz="900" b="0" i="0">
                <a:solidFill>
                  <a:srgbClr val="1E293B"/>
                </a:solidFill>
                <a:latin typeface="Calibri"/>
              </a:rPr>
              <a:t>Market data freshness — target &lt;15 minutes</a:t>
            </a:r>
          </a:p>
        </p:txBody>
      </p:sp>
      <p:sp>
        <p:nvSpPr>
          <p:cNvPr id="33" name="Rectangle 32"/>
          <p:cNvSpPr/>
          <p:nvPr/>
        </p:nvSpPr>
        <p:spPr>
          <a:xfrm>
            <a:off x="3602736"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02736" y="202996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94176" y="2103120"/>
            <a:ext cx="2606040" cy="420624"/>
          </a:xfrm>
          <a:prstGeom prst="rect">
            <a:avLst/>
          </a:prstGeom>
          <a:noFill/>
        </p:spPr>
        <p:txBody>
          <a:bodyPr wrap="square">
            <a:spAutoFit/>
          </a:bodyPr>
          <a:lstStyle/>
          <a:p>
            <a:pPr algn="l"/>
            <a:r>
              <a:rPr sz="900" b="0" i="0">
                <a:solidFill>
                  <a:srgbClr val="1E293B"/>
                </a:solidFill>
                <a:latin typeface="Calibri"/>
              </a:rPr>
              <a:t>Signal to insight latency — target &lt;30 minutes</a:t>
            </a:r>
          </a:p>
        </p:txBody>
      </p:sp>
      <p:sp>
        <p:nvSpPr>
          <p:cNvPr id="36" name="Rectangle 35"/>
          <p:cNvSpPr/>
          <p:nvPr/>
        </p:nvSpPr>
        <p:spPr>
          <a:xfrm>
            <a:off x="3602736"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02736" y="257860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94176" y="2651760"/>
            <a:ext cx="2606040" cy="420624"/>
          </a:xfrm>
          <a:prstGeom prst="rect">
            <a:avLst/>
          </a:prstGeom>
          <a:noFill/>
        </p:spPr>
        <p:txBody>
          <a:bodyPr wrap="square">
            <a:spAutoFit/>
          </a:bodyPr>
          <a:lstStyle/>
          <a:p>
            <a:pPr algn="l"/>
            <a:r>
              <a:rPr sz="900" b="0" i="0">
                <a:solidFill>
                  <a:srgbClr val="1E293B"/>
                </a:solidFill>
                <a:latin typeface="Calibri"/>
              </a:rPr>
              <a:t>Insight to recommendation — target &lt;2 hours</a:t>
            </a:r>
          </a:p>
        </p:txBody>
      </p:sp>
      <p:sp>
        <p:nvSpPr>
          <p:cNvPr id="39" name="Rectangle 38"/>
          <p:cNvSpPr/>
          <p:nvPr/>
        </p:nvSpPr>
        <p:spPr>
          <a:xfrm>
            <a:off x="3602736"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02736" y="312724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94176" y="3200400"/>
            <a:ext cx="2606040" cy="420624"/>
          </a:xfrm>
          <a:prstGeom prst="rect">
            <a:avLst/>
          </a:prstGeom>
          <a:noFill/>
        </p:spPr>
        <p:txBody>
          <a:bodyPr wrap="square">
            <a:spAutoFit/>
          </a:bodyPr>
          <a:lstStyle/>
          <a:p>
            <a:pPr algn="l"/>
            <a:r>
              <a:rPr sz="900" b="0" i="0">
                <a:solidFill>
                  <a:srgbClr val="1E293B"/>
                </a:solidFill>
                <a:latin typeface="Calibri"/>
              </a:rPr>
              <a:t>Recommendation to decision — target same day</a:t>
            </a:r>
          </a:p>
        </p:txBody>
      </p:sp>
      <p:sp>
        <p:nvSpPr>
          <p:cNvPr id="42" name="Rectangle 41"/>
          <p:cNvSpPr/>
          <p:nvPr/>
        </p:nvSpPr>
        <p:spPr>
          <a:xfrm>
            <a:off x="3602736"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02736" y="367588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94176" y="3749040"/>
            <a:ext cx="2606040" cy="420624"/>
          </a:xfrm>
          <a:prstGeom prst="rect">
            <a:avLst/>
          </a:prstGeom>
          <a:noFill/>
        </p:spPr>
        <p:txBody>
          <a:bodyPr wrap="square">
            <a:spAutoFit/>
          </a:bodyPr>
          <a:lstStyle/>
          <a:p>
            <a:pPr algn="l"/>
            <a:r>
              <a:rPr sz="900" b="0" i="0">
                <a:solidFill>
                  <a:srgbClr val="1E293B"/>
                </a:solidFill>
                <a:latin typeface="Calibri"/>
              </a:rPr>
              <a:t>FTE hours saved on monitoring &amp; analysis</a:t>
            </a:r>
          </a:p>
        </p:txBody>
      </p:sp>
      <p:sp>
        <p:nvSpPr>
          <p:cNvPr id="45" name="Rectangle 44"/>
          <p:cNvSpPr/>
          <p:nvPr/>
        </p:nvSpPr>
        <p:spPr>
          <a:xfrm>
            <a:off x="3602736"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02736" y="42245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94176" y="4297680"/>
            <a:ext cx="2606040" cy="420624"/>
          </a:xfrm>
          <a:prstGeom prst="rect">
            <a:avLst/>
          </a:prstGeom>
          <a:noFill/>
        </p:spPr>
        <p:txBody>
          <a:bodyPr wrap="square">
            <a:spAutoFit/>
          </a:bodyPr>
          <a:lstStyle/>
          <a:p>
            <a:pPr algn="l"/>
            <a:r>
              <a:rPr sz="900" b="0" i="0">
                <a:solidFill>
                  <a:srgbClr val="1E293B"/>
                </a:solidFill>
                <a:latin typeface="Calibri"/>
              </a:rPr>
              <a:t>ENVOY agent uptime &amp; SLA compliance (%)</a:t>
            </a:r>
          </a:p>
        </p:txBody>
      </p:sp>
      <p:sp>
        <p:nvSpPr>
          <p:cNvPr id="48" name="Rectangle 47"/>
          <p:cNvSpPr/>
          <p:nvPr/>
        </p:nvSpPr>
        <p:spPr>
          <a:xfrm>
            <a:off x="6748272" y="1051560"/>
            <a:ext cx="274320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21424" y="1097280"/>
            <a:ext cx="2651760" cy="292608"/>
          </a:xfrm>
          <a:prstGeom prst="rect">
            <a:avLst/>
          </a:prstGeom>
          <a:noFill/>
        </p:spPr>
        <p:txBody>
          <a:bodyPr wrap="square">
            <a:spAutoFit/>
          </a:bodyPr>
          <a:lstStyle/>
          <a:p>
            <a:pPr algn="l"/>
            <a:r>
              <a:rPr sz="1000" b="1" i="0">
                <a:solidFill>
                  <a:srgbClr val="FFFFFF"/>
                </a:solidFill>
                <a:latin typeface="Calibri"/>
              </a:rPr>
              <a:t>Strategic KPIs</a:t>
            </a:r>
          </a:p>
        </p:txBody>
      </p:sp>
      <p:sp>
        <p:nvSpPr>
          <p:cNvPr id="50" name="Rectangle 49"/>
          <p:cNvSpPr/>
          <p:nvPr/>
        </p:nvSpPr>
        <p:spPr>
          <a:xfrm>
            <a:off x="6748272"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748272" y="14813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39712" y="1554480"/>
            <a:ext cx="2606040" cy="420624"/>
          </a:xfrm>
          <a:prstGeom prst="rect">
            <a:avLst/>
          </a:prstGeom>
          <a:noFill/>
        </p:spPr>
        <p:txBody>
          <a:bodyPr wrap="square">
            <a:spAutoFit/>
          </a:bodyPr>
          <a:lstStyle/>
          <a:p>
            <a:pPr algn="l"/>
            <a:r>
              <a:rPr sz="900" b="0" i="0">
                <a:solidFill>
                  <a:srgbClr val="1E293B"/>
                </a:solidFill>
                <a:latin typeface="Calibri"/>
              </a:rPr>
              <a:t>PCW channel coverage breadth (% of market)</a:t>
            </a:r>
          </a:p>
        </p:txBody>
      </p:sp>
      <p:sp>
        <p:nvSpPr>
          <p:cNvPr id="53" name="Rectangle 52"/>
          <p:cNvSpPr/>
          <p:nvPr/>
        </p:nvSpPr>
        <p:spPr>
          <a:xfrm>
            <a:off x="6748272"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748272" y="202996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39712" y="2103120"/>
            <a:ext cx="2606040" cy="420624"/>
          </a:xfrm>
          <a:prstGeom prst="rect">
            <a:avLst/>
          </a:prstGeom>
          <a:noFill/>
        </p:spPr>
        <p:txBody>
          <a:bodyPr wrap="square">
            <a:spAutoFit/>
          </a:bodyPr>
          <a:lstStyle/>
          <a:p>
            <a:pPr algn="l"/>
            <a:r>
              <a:rPr sz="900" b="0" i="0">
                <a:solidFill>
                  <a:srgbClr val="1E293B"/>
                </a:solidFill>
                <a:latin typeface="Calibri"/>
              </a:rPr>
              <a:t>Recommendation adoption rate (%)</a:t>
            </a:r>
          </a:p>
        </p:txBody>
      </p:sp>
      <p:sp>
        <p:nvSpPr>
          <p:cNvPr id="56" name="Rectangle 55"/>
          <p:cNvSpPr/>
          <p:nvPr/>
        </p:nvSpPr>
        <p:spPr>
          <a:xfrm>
            <a:off x="6748272"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748272" y="257860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39712" y="2651760"/>
            <a:ext cx="2606040" cy="420624"/>
          </a:xfrm>
          <a:prstGeom prst="rect">
            <a:avLst/>
          </a:prstGeom>
          <a:noFill/>
        </p:spPr>
        <p:txBody>
          <a:bodyPr wrap="square">
            <a:spAutoFit/>
          </a:bodyPr>
          <a:lstStyle/>
          <a:p>
            <a:pPr algn="l"/>
            <a:r>
              <a:rPr sz="900" b="0" i="0">
                <a:solidFill>
                  <a:srgbClr val="1E293B"/>
                </a:solidFill>
                <a:latin typeface="Calibri"/>
              </a:rPr>
              <a:t>Recommendation accuracy (post-outcome validation)</a:t>
            </a:r>
          </a:p>
        </p:txBody>
      </p:sp>
      <p:sp>
        <p:nvSpPr>
          <p:cNvPr id="59" name="Rectangle 58"/>
          <p:cNvSpPr/>
          <p:nvPr/>
        </p:nvSpPr>
        <p:spPr>
          <a:xfrm>
            <a:off x="6748272"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48272" y="312724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3200400"/>
            <a:ext cx="2606040" cy="420624"/>
          </a:xfrm>
          <a:prstGeom prst="rect">
            <a:avLst/>
          </a:prstGeom>
          <a:noFill/>
        </p:spPr>
        <p:txBody>
          <a:bodyPr wrap="square">
            <a:spAutoFit/>
          </a:bodyPr>
          <a:lstStyle/>
          <a:p>
            <a:pPr algn="l"/>
            <a:r>
              <a:rPr sz="900" b="0" i="0">
                <a:solidFill>
                  <a:srgbClr val="1E293B"/>
                </a:solidFill>
                <a:latin typeface="Calibri"/>
              </a:rPr>
              <a:t>Intelligence latency vs competitor benchmark</a:t>
            </a:r>
          </a:p>
        </p:txBody>
      </p:sp>
      <p:sp>
        <p:nvSpPr>
          <p:cNvPr id="62" name="Rectangle 61"/>
          <p:cNvSpPr/>
          <p:nvPr/>
        </p:nvSpPr>
        <p:spPr>
          <a:xfrm>
            <a:off x="6748272"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48272" y="367588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39712" y="3749040"/>
            <a:ext cx="2606040" cy="420624"/>
          </a:xfrm>
          <a:prstGeom prst="rect">
            <a:avLst/>
          </a:prstGeom>
          <a:noFill/>
        </p:spPr>
        <p:txBody>
          <a:bodyPr wrap="square">
            <a:spAutoFit/>
          </a:bodyPr>
          <a:lstStyle/>
          <a:p>
            <a:pPr algn="l"/>
            <a:r>
              <a:rPr sz="900" b="0" i="0">
                <a:solidFill>
                  <a:srgbClr val="1E293B"/>
                </a:solidFill>
                <a:latin typeface="Calibri"/>
              </a:rPr>
              <a:t>Platform reuse across GI product lines</a:t>
            </a:r>
          </a:p>
        </p:txBody>
      </p:sp>
      <p:sp>
        <p:nvSpPr>
          <p:cNvPr id="65" name="Rectangle 64"/>
          <p:cNvSpPr/>
          <p:nvPr/>
        </p:nvSpPr>
        <p:spPr>
          <a:xfrm>
            <a:off x="6748272"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42245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4297680"/>
            <a:ext cx="2606040" cy="420624"/>
          </a:xfrm>
          <a:prstGeom prst="rect">
            <a:avLst/>
          </a:prstGeom>
          <a:noFill/>
        </p:spPr>
        <p:txBody>
          <a:bodyPr wrap="square">
            <a:spAutoFit/>
          </a:bodyPr>
          <a:lstStyle/>
          <a:p>
            <a:pPr algn="l"/>
            <a:r>
              <a:rPr sz="900" b="0" i="0">
                <a:solidFill>
                  <a:srgbClr val="1E293B"/>
                </a:solidFill>
                <a:latin typeface="Calibri"/>
              </a:rPr>
              <a:t>Pegasus model quality scores (trend)</a:t>
            </a:r>
          </a:p>
        </p:txBody>
      </p:sp>
      <p:sp>
        <p:nvSpPr>
          <p:cNvPr id="68" name="Rectangle 67"/>
          <p:cNvSpPr/>
          <p:nvPr/>
        </p:nvSpPr>
        <p:spPr>
          <a:xfrm>
            <a:off x="9893808" y="1051560"/>
            <a:ext cx="2743200" cy="38404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66960" y="1097280"/>
            <a:ext cx="2651760" cy="292608"/>
          </a:xfrm>
          <a:prstGeom prst="rect">
            <a:avLst/>
          </a:prstGeom>
          <a:noFill/>
        </p:spPr>
        <p:txBody>
          <a:bodyPr wrap="square">
            <a:spAutoFit/>
          </a:bodyPr>
          <a:lstStyle/>
          <a:p>
            <a:pPr algn="l"/>
            <a:r>
              <a:rPr sz="1000" b="1" i="0">
                <a:solidFill>
                  <a:srgbClr val="FFFFFF"/>
                </a:solidFill>
                <a:latin typeface="Calibri"/>
              </a:rPr>
              <a:t>Risk &amp; Model KPIs</a:t>
            </a:r>
          </a:p>
        </p:txBody>
      </p:sp>
      <p:sp>
        <p:nvSpPr>
          <p:cNvPr id="70" name="Rectangle 69"/>
          <p:cNvSpPr/>
          <p:nvPr/>
        </p:nvSpPr>
        <p:spPr>
          <a:xfrm>
            <a:off x="9893808"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93808" y="14813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85248" y="1554480"/>
            <a:ext cx="2606040" cy="420624"/>
          </a:xfrm>
          <a:prstGeom prst="rect">
            <a:avLst/>
          </a:prstGeom>
          <a:noFill/>
        </p:spPr>
        <p:txBody>
          <a:bodyPr wrap="square">
            <a:spAutoFit/>
          </a:bodyPr>
          <a:lstStyle/>
          <a:p>
            <a:pPr algn="l"/>
            <a:r>
              <a:rPr sz="900" b="0" i="0">
                <a:solidFill>
                  <a:srgbClr val="1E293B"/>
                </a:solidFill>
                <a:latin typeface="Calibri"/>
              </a:rPr>
              <a:t>Audit compliance rate (100% target)</a:t>
            </a:r>
          </a:p>
        </p:txBody>
      </p:sp>
      <p:sp>
        <p:nvSpPr>
          <p:cNvPr id="73" name="Rectangle 72"/>
          <p:cNvSpPr/>
          <p:nvPr/>
        </p:nvSpPr>
        <p:spPr>
          <a:xfrm>
            <a:off x="9893808"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893808" y="202996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985248" y="2103120"/>
            <a:ext cx="2606040" cy="420624"/>
          </a:xfrm>
          <a:prstGeom prst="rect">
            <a:avLst/>
          </a:prstGeom>
          <a:noFill/>
        </p:spPr>
        <p:txBody>
          <a:bodyPr wrap="square">
            <a:spAutoFit/>
          </a:bodyPr>
          <a:lstStyle/>
          <a:p>
            <a:pPr algn="l"/>
            <a:r>
              <a:rPr sz="900" b="0" i="0">
                <a:solidFill>
                  <a:srgbClr val="1E293B"/>
                </a:solidFill>
                <a:latin typeface="Calibri"/>
              </a:rPr>
              <a:t>Pegasus model performance vs baseline</a:t>
            </a:r>
          </a:p>
        </p:txBody>
      </p:sp>
      <p:sp>
        <p:nvSpPr>
          <p:cNvPr id="76" name="Rectangle 75"/>
          <p:cNvSpPr/>
          <p:nvPr/>
        </p:nvSpPr>
        <p:spPr>
          <a:xfrm>
            <a:off x="9893808"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93808" y="257860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85248" y="2651760"/>
            <a:ext cx="2606040" cy="420624"/>
          </a:xfrm>
          <a:prstGeom prst="rect">
            <a:avLst/>
          </a:prstGeom>
          <a:noFill/>
        </p:spPr>
        <p:txBody>
          <a:bodyPr wrap="square">
            <a:spAutoFit/>
          </a:bodyPr>
          <a:lstStyle/>
          <a:p>
            <a:pPr algn="l"/>
            <a:r>
              <a:rPr sz="900" b="0" i="0">
                <a:solidFill>
                  <a:srgbClr val="1E293B"/>
                </a:solidFill>
                <a:latin typeface="Calibri"/>
              </a:rPr>
              <a:t>Data quality score — BigQuery pipeline</a:t>
            </a:r>
          </a:p>
        </p:txBody>
      </p:sp>
      <p:sp>
        <p:nvSpPr>
          <p:cNvPr id="79" name="Rectangle 78"/>
          <p:cNvSpPr/>
          <p:nvPr/>
        </p:nvSpPr>
        <p:spPr>
          <a:xfrm>
            <a:off x="9893808"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893808" y="312724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85248" y="3200400"/>
            <a:ext cx="2606040" cy="420624"/>
          </a:xfrm>
          <a:prstGeom prst="rect">
            <a:avLst/>
          </a:prstGeom>
          <a:noFill/>
        </p:spPr>
        <p:txBody>
          <a:bodyPr wrap="square">
            <a:spAutoFit/>
          </a:bodyPr>
          <a:lstStyle/>
          <a:p>
            <a:pPr algn="l"/>
            <a:r>
              <a:rPr sz="900" b="0" i="0">
                <a:solidFill>
                  <a:srgbClr val="1E293B"/>
                </a:solidFill>
                <a:latin typeface="Calibri"/>
              </a:rPr>
              <a:t>Governance SLA compliance — Pega (%)</a:t>
            </a:r>
          </a:p>
        </p:txBody>
      </p:sp>
      <p:sp>
        <p:nvSpPr>
          <p:cNvPr id="82" name="Rectangle 81"/>
          <p:cNvSpPr/>
          <p:nvPr/>
        </p:nvSpPr>
        <p:spPr>
          <a:xfrm>
            <a:off x="9893808"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893808" y="367588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3749040"/>
            <a:ext cx="2606040" cy="420624"/>
          </a:xfrm>
          <a:prstGeom prst="rect">
            <a:avLst/>
          </a:prstGeom>
          <a:noFill/>
        </p:spPr>
        <p:txBody>
          <a:bodyPr wrap="square">
            <a:spAutoFit/>
          </a:bodyPr>
          <a:lstStyle/>
          <a:p>
            <a:pPr algn="l"/>
            <a:r>
              <a:rPr sz="900" b="0" i="0">
                <a:solidFill>
                  <a:srgbClr val="1E293B"/>
                </a:solidFill>
                <a:latin typeface="Calibri"/>
              </a:rPr>
              <a:t>Model drift incidents — target zero</a:t>
            </a:r>
          </a:p>
        </p:txBody>
      </p:sp>
      <p:sp>
        <p:nvSpPr>
          <p:cNvPr id="85" name="Rectangle 84"/>
          <p:cNvSpPr/>
          <p:nvPr/>
        </p:nvSpPr>
        <p:spPr>
          <a:xfrm>
            <a:off x="9893808"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893808" y="42245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85248" y="4297680"/>
            <a:ext cx="2606040" cy="420624"/>
          </a:xfrm>
          <a:prstGeom prst="rect">
            <a:avLst/>
          </a:prstGeom>
          <a:noFill/>
        </p:spPr>
        <p:txBody>
          <a:bodyPr wrap="square">
            <a:spAutoFit/>
          </a:bodyPr>
          <a:lstStyle/>
          <a:p>
            <a:pPr algn="l"/>
            <a:r>
              <a:rPr sz="900" b="0" i="0">
                <a:solidFill>
                  <a:srgbClr val="1E293B"/>
                </a:solidFill>
                <a:latin typeface="Calibri"/>
              </a:rPr>
              <a:t>FCA review findings — target zero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DELIVERY ROADMAP</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Phased Delivery Roadmap — Four Waves to Full Optimisation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16 / 20</a:t>
            </a:r>
          </a:p>
        </p:txBody>
      </p:sp>
      <p:sp>
        <p:nvSpPr>
          <p:cNvPr id="8" name="Rectangle 7"/>
          <p:cNvSpPr/>
          <p:nvPr/>
        </p:nvSpPr>
        <p:spPr>
          <a:xfrm>
            <a:off x="457200" y="1051560"/>
            <a:ext cx="2743200" cy="56692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78992"/>
            <a:ext cx="2651760" cy="256032"/>
          </a:xfrm>
          <a:prstGeom prst="rect">
            <a:avLst/>
          </a:prstGeom>
          <a:noFill/>
        </p:spPr>
        <p:txBody>
          <a:bodyPr wrap="square">
            <a:spAutoFit/>
          </a:bodyPr>
          <a:lstStyle/>
          <a:p>
            <a:pPr algn="l"/>
            <a:r>
              <a:rPr sz="1000" b="1" i="0">
                <a:solidFill>
                  <a:srgbClr val="FFFFFF"/>
                </a:solidFill>
                <a:latin typeface="Calibri"/>
              </a:rPr>
              <a:t>Wave 1 — Market Visibility</a:t>
            </a:r>
          </a:p>
        </p:txBody>
      </p:sp>
      <p:sp>
        <p:nvSpPr>
          <p:cNvPr id="10" name="TextBox 9"/>
          <p:cNvSpPr txBox="1"/>
          <p:nvPr/>
        </p:nvSpPr>
        <p:spPr>
          <a:xfrm>
            <a:off x="530352" y="1325880"/>
            <a:ext cx="2651760" cy="201168"/>
          </a:xfrm>
          <a:prstGeom prst="rect">
            <a:avLst/>
          </a:prstGeom>
          <a:noFill/>
        </p:spPr>
        <p:txBody>
          <a:bodyPr wrap="square">
            <a:spAutoFit/>
          </a:bodyPr>
          <a:lstStyle/>
          <a:p>
            <a:pPr algn="l"/>
            <a:r>
              <a:rPr sz="850" b="0" i="1">
                <a:solidFill>
                  <a:srgbClr val="FFFFFF"/>
                </a:solidFill>
                <a:latin typeface="Calibri"/>
              </a:rPr>
              <a:t>Months 1-3</a:t>
            </a:r>
          </a:p>
        </p:txBody>
      </p:sp>
      <p:sp>
        <p:nvSpPr>
          <p:cNvPr id="11" name="Rectangle 10"/>
          <p:cNvSpPr/>
          <p:nvPr/>
        </p:nvSpPr>
        <p:spPr>
          <a:xfrm>
            <a:off x="457200"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66420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46504"/>
            <a:ext cx="2606040" cy="384048"/>
          </a:xfrm>
          <a:prstGeom prst="rect">
            <a:avLst/>
          </a:prstGeom>
          <a:noFill/>
        </p:spPr>
        <p:txBody>
          <a:bodyPr wrap="square">
            <a:spAutoFit/>
          </a:bodyPr>
          <a:lstStyle/>
          <a:p>
            <a:pPr algn="l"/>
            <a:r>
              <a:rPr sz="900" b="0" i="0">
                <a:solidFill>
                  <a:srgbClr val="1E293B"/>
                </a:solidFill>
                <a:latin typeface="Calibri"/>
              </a:rPr>
              <a:t>PCW data collection pipeline (ADK)</a:t>
            </a:r>
          </a:p>
        </p:txBody>
      </p:sp>
      <p:sp>
        <p:nvSpPr>
          <p:cNvPr id="14" name="Rectangle 13"/>
          <p:cNvSpPr/>
          <p:nvPr/>
        </p:nvSpPr>
        <p:spPr>
          <a:xfrm>
            <a:off x="457200"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17627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258568"/>
            <a:ext cx="2606040" cy="384048"/>
          </a:xfrm>
          <a:prstGeom prst="rect">
            <a:avLst/>
          </a:prstGeom>
          <a:noFill/>
        </p:spPr>
        <p:txBody>
          <a:bodyPr wrap="square">
            <a:spAutoFit/>
          </a:bodyPr>
          <a:lstStyle/>
          <a:p>
            <a:pPr algn="l"/>
            <a:r>
              <a:rPr sz="900" b="0" i="0">
                <a:solidFill>
                  <a:srgbClr val="1E293B"/>
                </a:solidFill>
                <a:latin typeface="Calibri"/>
              </a:rPr>
              <a:t>Competitor baseline dataset (BigQuery)</a:t>
            </a:r>
          </a:p>
        </p:txBody>
      </p:sp>
      <p:sp>
        <p:nvSpPr>
          <p:cNvPr id="17" name="Rectangle 16"/>
          <p:cNvSpPr/>
          <p:nvPr/>
        </p:nvSpPr>
        <p:spPr>
          <a:xfrm>
            <a:off x="457200"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68833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70632"/>
            <a:ext cx="2606040" cy="384048"/>
          </a:xfrm>
          <a:prstGeom prst="rect">
            <a:avLst/>
          </a:prstGeom>
          <a:noFill/>
        </p:spPr>
        <p:txBody>
          <a:bodyPr wrap="square">
            <a:spAutoFit/>
          </a:bodyPr>
          <a:lstStyle/>
          <a:p>
            <a:pPr algn="l"/>
            <a:r>
              <a:rPr sz="900" b="0" i="0">
                <a:solidFill>
                  <a:srgbClr val="1E293B"/>
                </a:solidFill>
                <a:latin typeface="Calibri"/>
              </a:rPr>
              <a:t>Ranking capture — 2 pilot PCWs</a:t>
            </a:r>
          </a:p>
        </p:txBody>
      </p:sp>
      <p:sp>
        <p:nvSpPr>
          <p:cNvPr id="20" name="Rectangle 19"/>
          <p:cNvSpPr/>
          <p:nvPr/>
        </p:nvSpPr>
        <p:spPr>
          <a:xfrm>
            <a:off x="457200"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200400"/>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82696"/>
            <a:ext cx="2606040" cy="384048"/>
          </a:xfrm>
          <a:prstGeom prst="rect">
            <a:avLst/>
          </a:prstGeom>
          <a:noFill/>
        </p:spPr>
        <p:txBody>
          <a:bodyPr wrap="square">
            <a:spAutoFit/>
          </a:bodyPr>
          <a:lstStyle/>
          <a:p>
            <a:pPr algn="l"/>
            <a:r>
              <a:rPr sz="900" b="0" i="0">
                <a:solidFill>
                  <a:srgbClr val="1E293B"/>
                </a:solidFill>
                <a:latin typeface="Calibri"/>
              </a:rPr>
              <a:t>ENVOY platform onboarding</a:t>
            </a:r>
          </a:p>
        </p:txBody>
      </p:sp>
      <p:sp>
        <p:nvSpPr>
          <p:cNvPr id="23" name="Rectangle 22"/>
          <p:cNvSpPr/>
          <p:nvPr/>
        </p:nvSpPr>
        <p:spPr>
          <a:xfrm>
            <a:off x="457200"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712464"/>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94760"/>
            <a:ext cx="2606040" cy="384048"/>
          </a:xfrm>
          <a:prstGeom prst="rect">
            <a:avLst/>
          </a:prstGeom>
          <a:noFill/>
        </p:spPr>
        <p:txBody>
          <a:bodyPr wrap="square">
            <a:spAutoFit/>
          </a:bodyPr>
          <a:lstStyle/>
          <a:p>
            <a:pPr algn="l"/>
            <a:r>
              <a:rPr sz="900" b="0" i="0">
                <a:solidFill>
                  <a:srgbClr val="1E293B"/>
                </a:solidFill>
                <a:latin typeface="Calibri"/>
              </a:rPr>
              <a:t>Data quality framework (Pegasus)</a:t>
            </a:r>
          </a:p>
        </p:txBody>
      </p:sp>
      <p:sp>
        <p:nvSpPr>
          <p:cNvPr id="26" name="Rectangle 25"/>
          <p:cNvSpPr/>
          <p:nvPr/>
        </p:nvSpPr>
        <p:spPr>
          <a:xfrm>
            <a:off x="457200"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2452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06824"/>
            <a:ext cx="2606040" cy="384048"/>
          </a:xfrm>
          <a:prstGeom prst="rect">
            <a:avLst/>
          </a:prstGeom>
          <a:noFill/>
        </p:spPr>
        <p:txBody>
          <a:bodyPr wrap="square">
            <a:spAutoFit/>
          </a:bodyPr>
          <a:lstStyle/>
          <a:p>
            <a:pPr algn="l"/>
            <a:r>
              <a:rPr sz="900" b="0" i="0">
                <a:solidFill>
                  <a:srgbClr val="1E293B"/>
                </a:solidFill>
                <a:latin typeface="Calibri"/>
              </a:rPr>
              <a:t>Executive monitoring dashboard</a:t>
            </a:r>
          </a:p>
        </p:txBody>
      </p:sp>
      <p:sp>
        <p:nvSpPr>
          <p:cNvPr id="29" name="Rectangle 28"/>
          <p:cNvSpPr/>
          <p:nvPr/>
        </p:nvSpPr>
        <p:spPr>
          <a:xfrm>
            <a:off x="457200"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73659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818888"/>
            <a:ext cx="2606040" cy="384048"/>
          </a:xfrm>
          <a:prstGeom prst="rect">
            <a:avLst/>
          </a:prstGeom>
          <a:noFill/>
        </p:spPr>
        <p:txBody>
          <a:bodyPr wrap="square">
            <a:spAutoFit/>
          </a:bodyPr>
          <a:lstStyle/>
          <a:p>
            <a:pPr algn="l"/>
            <a:r>
              <a:rPr sz="900" b="0" i="0">
                <a:solidFill>
                  <a:srgbClr val="1E293B"/>
                </a:solidFill>
                <a:latin typeface="Calibri"/>
              </a:rPr>
              <a:t>ML anomaly detection (Vertex AI)</a:t>
            </a:r>
          </a:p>
        </p:txBody>
      </p:sp>
      <p:sp>
        <p:nvSpPr>
          <p:cNvPr id="32" name="Rectangle 31"/>
          <p:cNvSpPr/>
          <p:nvPr/>
        </p:nvSpPr>
        <p:spPr>
          <a:xfrm>
            <a:off x="457200"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24865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330952"/>
            <a:ext cx="2606040" cy="384048"/>
          </a:xfrm>
          <a:prstGeom prst="rect">
            <a:avLst/>
          </a:prstGeom>
          <a:noFill/>
        </p:spPr>
        <p:txBody>
          <a:bodyPr wrap="square">
            <a:spAutoFit/>
          </a:bodyPr>
          <a:lstStyle/>
          <a:p>
            <a:pPr algn="l"/>
            <a:r>
              <a:rPr sz="900" b="0" i="0">
                <a:solidFill>
                  <a:srgbClr val="1E293B"/>
                </a:solidFill>
                <a:latin typeface="Calibri"/>
              </a:rPr>
              <a:t>Apigee integration setup</a:t>
            </a:r>
          </a:p>
        </p:txBody>
      </p:sp>
      <p:sp>
        <p:nvSpPr>
          <p:cNvPr id="35" name="Rectangle 34"/>
          <p:cNvSpPr/>
          <p:nvPr/>
        </p:nvSpPr>
        <p:spPr>
          <a:xfrm>
            <a:off x="3602736" y="1051560"/>
            <a:ext cx="2743200" cy="5669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1078992"/>
            <a:ext cx="2651760" cy="256032"/>
          </a:xfrm>
          <a:prstGeom prst="rect">
            <a:avLst/>
          </a:prstGeom>
          <a:noFill/>
        </p:spPr>
        <p:txBody>
          <a:bodyPr wrap="square">
            <a:spAutoFit/>
          </a:bodyPr>
          <a:lstStyle/>
          <a:p>
            <a:pPr algn="l"/>
            <a:r>
              <a:rPr sz="1000" b="1" i="0">
                <a:solidFill>
                  <a:srgbClr val="FFFFFF"/>
                </a:solidFill>
                <a:latin typeface="Calibri"/>
              </a:rPr>
              <a:t>Wave 2 — Intelligence</a:t>
            </a:r>
          </a:p>
        </p:txBody>
      </p:sp>
      <p:sp>
        <p:nvSpPr>
          <p:cNvPr id="37" name="TextBox 36"/>
          <p:cNvSpPr txBox="1"/>
          <p:nvPr/>
        </p:nvSpPr>
        <p:spPr>
          <a:xfrm>
            <a:off x="3675888" y="1325880"/>
            <a:ext cx="2651760" cy="201168"/>
          </a:xfrm>
          <a:prstGeom prst="rect">
            <a:avLst/>
          </a:prstGeom>
          <a:noFill/>
        </p:spPr>
        <p:txBody>
          <a:bodyPr wrap="square">
            <a:spAutoFit/>
          </a:bodyPr>
          <a:lstStyle/>
          <a:p>
            <a:pPr algn="l"/>
            <a:r>
              <a:rPr sz="850" b="0" i="1">
                <a:solidFill>
                  <a:srgbClr val="FFFFFF"/>
                </a:solidFill>
                <a:latin typeface="Calibri"/>
              </a:rPr>
              <a:t>Months 4-6</a:t>
            </a:r>
          </a:p>
        </p:txBody>
      </p:sp>
      <p:sp>
        <p:nvSpPr>
          <p:cNvPr id="38" name="Rectangle 37"/>
          <p:cNvSpPr/>
          <p:nvPr/>
        </p:nvSpPr>
        <p:spPr>
          <a:xfrm>
            <a:off x="3602736"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02736" y="166420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94176" y="1746504"/>
            <a:ext cx="2606040" cy="384048"/>
          </a:xfrm>
          <a:prstGeom prst="rect">
            <a:avLst/>
          </a:prstGeom>
          <a:noFill/>
        </p:spPr>
        <p:txBody>
          <a:bodyPr wrap="square">
            <a:spAutoFit/>
          </a:bodyPr>
          <a:lstStyle/>
          <a:p>
            <a:pPr algn="l"/>
            <a:r>
              <a:rPr sz="900" b="0" i="0">
                <a:solidFill>
                  <a:srgbClr val="1E293B"/>
                </a:solidFill>
                <a:latin typeface="Calibri"/>
              </a:rPr>
              <a:t>ML trend detection models (Vertex AI)</a:t>
            </a:r>
          </a:p>
        </p:txBody>
      </p:sp>
      <p:sp>
        <p:nvSpPr>
          <p:cNvPr id="41" name="Rectangle 40"/>
          <p:cNvSpPr/>
          <p:nvPr/>
        </p:nvSpPr>
        <p:spPr>
          <a:xfrm>
            <a:off x="3602736"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02736" y="217627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4176" y="2258568"/>
            <a:ext cx="2606040" cy="384048"/>
          </a:xfrm>
          <a:prstGeom prst="rect">
            <a:avLst/>
          </a:prstGeom>
          <a:noFill/>
        </p:spPr>
        <p:txBody>
          <a:bodyPr wrap="square">
            <a:spAutoFit/>
          </a:bodyPr>
          <a:lstStyle/>
          <a:p>
            <a:pPr algn="l"/>
            <a:r>
              <a:rPr sz="900" b="0" i="0">
                <a:solidFill>
                  <a:srgbClr val="1E293B"/>
                </a:solidFill>
                <a:latin typeface="Calibri"/>
              </a:rPr>
              <a:t>Competitor profiling (Gemini + RAG)</a:t>
            </a:r>
          </a:p>
        </p:txBody>
      </p:sp>
      <p:sp>
        <p:nvSpPr>
          <p:cNvPr id="44" name="Rectangle 43"/>
          <p:cNvSpPr/>
          <p:nvPr/>
        </p:nvSpPr>
        <p:spPr>
          <a:xfrm>
            <a:off x="3602736"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02736" y="268833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94176" y="2770632"/>
            <a:ext cx="2606040" cy="384048"/>
          </a:xfrm>
          <a:prstGeom prst="rect">
            <a:avLst/>
          </a:prstGeom>
          <a:noFill/>
        </p:spPr>
        <p:txBody>
          <a:bodyPr wrap="square">
            <a:spAutoFit/>
          </a:bodyPr>
          <a:lstStyle/>
          <a:p>
            <a:pPr algn="l"/>
            <a:r>
              <a:rPr sz="900" b="0" i="0">
                <a:solidFill>
                  <a:srgbClr val="1E293B"/>
                </a:solidFill>
                <a:latin typeface="Calibri"/>
              </a:rPr>
              <a:t>GenAI intelligence summaries</a:t>
            </a:r>
          </a:p>
        </p:txBody>
      </p:sp>
      <p:sp>
        <p:nvSpPr>
          <p:cNvPr id="47" name="Rectangle 46"/>
          <p:cNvSpPr/>
          <p:nvPr/>
        </p:nvSpPr>
        <p:spPr>
          <a:xfrm>
            <a:off x="3602736"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02736" y="32004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94176" y="3282696"/>
            <a:ext cx="2606040" cy="384048"/>
          </a:xfrm>
          <a:prstGeom prst="rect">
            <a:avLst/>
          </a:prstGeom>
          <a:noFill/>
        </p:spPr>
        <p:txBody>
          <a:bodyPr wrap="square">
            <a:spAutoFit/>
          </a:bodyPr>
          <a:lstStyle/>
          <a:p>
            <a:pPr algn="l"/>
            <a:r>
              <a:rPr sz="900" b="0" i="0">
                <a:solidFill>
                  <a:srgbClr val="1E293B"/>
                </a:solidFill>
                <a:latin typeface="Calibri"/>
              </a:rPr>
              <a:t>Opportunity identification engine</a:t>
            </a:r>
          </a:p>
        </p:txBody>
      </p:sp>
      <p:sp>
        <p:nvSpPr>
          <p:cNvPr id="50" name="Rectangle 49"/>
          <p:cNvSpPr/>
          <p:nvPr/>
        </p:nvSpPr>
        <p:spPr>
          <a:xfrm>
            <a:off x="3602736"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02736" y="3712464"/>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94176" y="3794760"/>
            <a:ext cx="2606040" cy="384048"/>
          </a:xfrm>
          <a:prstGeom prst="rect">
            <a:avLst/>
          </a:prstGeom>
          <a:noFill/>
        </p:spPr>
        <p:txBody>
          <a:bodyPr wrap="square">
            <a:spAutoFit/>
          </a:bodyPr>
          <a:lstStyle/>
          <a:p>
            <a:pPr algn="l"/>
            <a:r>
              <a:rPr sz="900" b="0" i="0">
                <a:solidFill>
                  <a:srgbClr val="1E293B"/>
                </a:solidFill>
                <a:latin typeface="Calibri"/>
              </a:rPr>
              <a:t>Full PCW channel coverage</a:t>
            </a:r>
          </a:p>
        </p:txBody>
      </p:sp>
      <p:sp>
        <p:nvSpPr>
          <p:cNvPr id="53" name="Rectangle 52"/>
          <p:cNvSpPr/>
          <p:nvPr/>
        </p:nvSpPr>
        <p:spPr>
          <a:xfrm>
            <a:off x="3602736"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02736" y="422452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94176" y="4306824"/>
            <a:ext cx="2606040" cy="384048"/>
          </a:xfrm>
          <a:prstGeom prst="rect">
            <a:avLst/>
          </a:prstGeom>
          <a:noFill/>
        </p:spPr>
        <p:txBody>
          <a:bodyPr wrap="square">
            <a:spAutoFit/>
          </a:bodyPr>
          <a:lstStyle/>
          <a:p>
            <a:pPr algn="l"/>
            <a:r>
              <a:rPr sz="900" b="0" i="0">
                <a:solidFill>
                  <a:srgbClr val="1E293B"/>
                </a:solidFill>
                <a:latin typeface="Calibri"/>
              </a:rPr>
              <a:t>Pegasus model evaluation live</a:t>
            </a:r>
          </a:p>
        </p:txBody>
      </p:sp>
      <p:sp>
        <p:nvSpPr>
          <p:cNvPr id="56" name="Rectangle 55"/>
          <p:cNvSpPr/>
          <p:nvPr/>
        </p:nvSpPr>
        <p:spPr>
          <a:xfrm>
            <a:off x="3602736"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02736" y="473659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94176" y="4818888"/>
            <a:ext cx="2606040" cy="384048"/>
          </a:xfrm>
          <a:prstGeom prst="rect">
            <a:avLst/>
          </a:prstGeom>
          <a:noFill/>
        </p:spPr>
        <p:txBody>
          <a:bodyPr wrap="square">
            <a:spAutoFit/>
          </a:bodyPr>
          <a:lstStyle/>
          <a:p>
            <a:pPr algn="l"/>
            <a:r>
              <a:rPr sz="900" b="0" i="0">
                <a:solidFill>
                  <a:srgbClr val="1E293B"/>
                </a:solidFill>
                <a:latin typeface="Calibri"/>
              </a:rPr>
              <a:t>ENVOY agent observability (ObserveAll)</a:t>
            </a:r>
          </a:p>
        </p:txBody>
      </p:sp>
      <p:sp>
        <p:nvSpPr>
          <p:cNvPr id="59" name="Rectangle 58"/>
          <p:cNvSpPr/>
          <p:nvPr/>
        </p:nvSpPr>
        <p:spPr>
          <a:xfrm>
            <a:off x="3602736"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02736" y="524865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94176" y="5330952"/>
            <a:ext cx="2606040" cy="384048"/>
          </a:xfrm>
          <a:prstGeom prst="rect">
            <a:avLst/>
          </a:prstGeom>
          <a:noFill/>
        </p:spPr>
        <p:txBody>
          <a:bodyPr wrap="square">
            <a:spAutoFit/>
          </a:bodyPr>
          <a:lstStyle/>
          <a:p>
            <a:pPr algn="l"/>
            <a:r>
              <a:rPr sz="900" b="0" i="0">
                <a:solidFill>
                  <a:srgbClr val="1E293B"/>
                </a:solidFill>
                <a:latin typeface="Calibri"/>
              </a:rPr>
              <a:t>Stakeholder feedback &amp; iteration</a:t>
            </a:r>
          </a:p>
        </p:txBody>
      </p:sp>
      <p:sp>
        <p:nvSpPr>
          <p:cNvPr id="62" name="Rectangle 61"/>
          <p:cNvSpPr/>
          <p:nvPr/>
        </p:nvSpPr>
        <p:spPr>
          <a:xfrm>
            <a:off x="6748272" y="1051560"/>
            <a:ext cx="2743200"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21424" y="1078992"/>
            <a:ext cx="2651760" cy="256032"/>
          </a:xfrm>
          <a:prstGeom prst="rect">
            <a:avLst/>
          </a:prstGeom>
          <a:noFill/>
        </p:spPr>
        <p:txBody>
          <a:bodyPr wrap="square">
            <a:spAutoFit/>
          </a:bodyPr>
          <a:lstStyle/>
          <a:p>
            <a:pPr algn="l"/>
            <a:r>
              <a:rPr sz="1000" b="1" i="0">
                <a:solidFill>
                  <a:srgbClr val="FFFFFF"/>
                </a:solidFill>
                <a:latin typeface="Calibri"/>
              </a:rPr>
              <a:t>Wave 3 — Decision Support</a:t>
            </a:r>
          </a:p>
        </p:txBody>
      </p:sp>
      <p:sp>
        <p:nvSpPr>
          <p:cNvPr id="64" name="TextBox 63"/>
          <p:cNvSpPr txBox="1"/>
          <p:nvPr/>
        </p:nvSpPr>
        <p:spPr>
          <a:xfrm>
            <a:off x="6821424" y="1325880"/>
            <a:ext cx="2651760" cy="201168"/>
          </a:xfrm>
          <a:prstGeom prst="rect">
            <a:avLst/>
          </a:prstGeom>
          <a:noFill/>
        </p:spPr>
        <p:txBody>
          <a:bodyPr wrap="square">
            <a:spAutoFit/>
          </a:bodyPr>
          <a:lstStyle/>
          <a:p>
            <a:pPr algn="l"/>
            <a:r>
              <a:rPr sz="850" b="0" i="1">
                <a:solidFill>
                  <a:srgbClr val="FFFFFF"/>
                </a:solidFill>
                <a:latin typeface="Calibri"/>
              </a:rPr>
              <a:t>Months 7-9</a:t>
            </a:r>
          </a:p>
        </p:txBody>
      </p:sp>
      <p:sp>
        <p:nvSpPr>
          <p:cNvPr id="65" name="Rectangle 64"/>
          <p:cNvSpPr/>
          <p:nvPr/>
        </p:nvSpPr>
        <p:spPr>
          <a:xfrm>
            <a:off x="6748272"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166420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1746504"/>
            <a:ext cx="2606040" cy="384048"/>
          </a:xfrm>
          <a:prstGeom prst="rect">
            <a:avLst/>
          </a:prstGeom>
          <a:noFill/>
        </p:spPr>
        <p:txBody>
          <a:bodyPr wrap="square">
            <a:spAutoFit/>
          </a:bodyPr>
          <a:lstStyle/>
          <a:p>
            <a:pPr algn="l"/>
            <a:r>
              <a:rPr sz="900" b="0" i="0">
                <a:solidFill>
                  <a:srgbClr val="1E293B"/>
                </a:solidFill>
                <a:latin typeface="Calibri"/>
              </a:rPr>
              <a:t>Gemini recommendation engine</a:t>
            </a:r>
          </a:p>
        </p:txBody>
      </p:sp>
      <p:sp>
        <p:nvSpPr>
          <p:cNvPr id="68" name="Rectangle 67"/>
          <p:cNvSpPr/>
          <p:nvPr/>
        </p:nvSpPr>
        <p:spPr>
          <a:xfrm>
            <a:off x="6748272"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748272" y="21762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39712" y="2258568"/>
            <a:ext cx="2606040" cy="384048"/>
          </a:xfrm>
          <a:prstGeom prst="rect">
            <a:avLst/>
          </a:prstGeom>
          <a:noFill/>
        </p:spPr>
        <p:txBody>
          <a:bodyPr wrap="square">
            <a:spAutoFit/>
          </a:bodyPr>
          <a:lstStyle/>
          <a:p>
            <a:pPr algn="l"/>
            <a:r>
              <a:rPr sz="900" b="0" i="0">
                <a:solidFill>
                  <a:srgbClr val="1E293B"/>
                </a:solidFill>
                <a:latin typeface="Calibri"/>
              </a:rPr>
              <a:t>Pega governance workflow integration</a:t>
            </a:r>
          </a:p>
        </p:txBody>
      </p:sp>
      <p:sp>
        <p:nvSpPr>
          <p:cNvPr id="71" name="Rectangle 70"/>
          <p:cNvSpPr/>
          <p:nvPr/>
        </p:nvSpPr>
        <p:spPr>
          <a:xfrm>
            <a:off x="6748272"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48272" y="268833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39712" y="2770632"/>
            <a:ext cx="2606040" cy="384048"/>
          </a:xfrm>
          <a:prstGeom prst="rect">
            <a:avLst/>
          </a:prstGeom>
          <a:noFill/>
        </p:spPr>
        <p:txBody>
          <a:bodyPr wrap="square">
            <a:spAutoFit/>
          </a:bodyPr>
          <a:lstStyle/>
          <a:p>
            <a:pPr algn="l"/>
            <a:r>
              <a:rPr sz="900" b="0" i="0">
                <a:solidFill>
                  <a:srgbClr val="1E293B"/>
                </a:solidFill>
                <a:latin typeface="Calibri"/>
              </a:rPr>
              <a:t>Tiered approval framework</a:t>
            </a:r>
          </a:p>
        </p:txBody>
      </p:sp>
      <p:sp>
        <p:nvSpPr>
          <p:cNvPr id="74" name="Rectangle 73"/>
          <p:cNvSpPr/>
          <p:nvPr/>
        </p:nvSpPr>
        <p:spPr>
          <a:xfrm>
            <a:off x="6748272"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748272" y="3200400"/>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839712" y="3282696"/>
            <a:ext cx="2606040" cy="384048"/>
          </a:xfrm>
          <a:prstGeom prst="rect">
            <a:avLst/>
          </a:prstGeom>
          <a:noFill/>
        </p:spPr>
        <p:txBody>
          <a:bodyPr wrap="square">
            <a:spAutoFit/>
          </a:bodyPr>
          <a:lstStyle/>
          <a:p>
            <a:pPr algn="l"/>
            <a:r>
              <a:rPr sz="900" b="0" i="0">
                <a:solidFill>
                  <a:srgbClr val="1E293B"/>
                </a:solidFill>
                <a:latin typeface="Calibri"/>
              </a:rPr>
              <a:t>Pricing simulation (ML, Vertex AI)</a:t>
            </a:r>
          </a:p>
        </p:txBody>
      </p:sp>
      <p:sp>
        <p:nvSpPr>
          <p:cNvPr id="77" name="Rectangle 76"/>
          <p:cNvSpPr/>
          <p:nvPr/>
        </p:nvSpPr>
        <p:spPr>
          <a:xfrm>
            <a:off x="6748272"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748272" y="3712464"/>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39712" y="3794760"/>
            <a:ext cx="2606040" cy="384048"/>
          </a:xfrm>
          <a:prstGeom prst="rect">
            <a:avLst/>
          </a:prstGeom>
          <a:noFill/>
        </p:spPr>
        <p:txBody>
          <a:bodyPr wrap="square">
            <a:spAutoFit/>
          </a:bodyPr>
          <a:lstStyle/>
          <a:p>
            <a:pPr algn="l"/>
            <a:r>
              <a:rPr sz="900" b="0" i="0">
                <a:solidFill>
                  <a:srgbClr val="1E293B"/>
                </a:solidFill>
                <a:latin typeface="Calibri"/>
              </a:rPr>
              <a:t>AGGS &amp; Duck Creek integration (Apigee)</a:t>
            </a:r>
          </a:p>
        </p:txBody>
      </p:sp>
      <p:sp>
        <p:nvSpPr>
          <p:cNvPr id="80" name="Rectangle 79"/>
          <p:cNvSpPr/>
          <p:nvPr/>
        </p:nvSpPr>
        <p:spPr>
          <a:xfrm>
            <a:off x="6748272"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748272" y="422452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39712" y="4306824"/>
            <a:ext cx="2606040" cy="384048"/>
          </a:xfrm>
          <a:prstGeom prst="rect">
            <a:avLst/>
          </a:prstGeom>
          <a:noFill/>
        </p:spPr>
        <p:txBody>
          <a:bodyPr wrap="square">
            <a:spAutoFit/>
          </a:bodyPr>
          <a:lstStyle/>
          <a:p>
            <a:pPr algn="l"/>
            <a:r>
              <a:rPr sz="900" b="0" i="0">
                <a:solidFill>
                  <a:srgbClr val="1E293B"/>
                </a:solidFill>
                <a:latin typeface="Calibri"/>
              </a:rPr>
              <a:t>Cortex recommendation routing</a:t>
            </a:r>
          </a:p>
        </p:txBody>
      </p:sp>
      <p:sp>
        <p:nvSpPr>
          <p:cNvPr id="83" name="Rectangle 82"/>
          <p:cNvSpPr/>
          <p:nvPr/>
        </p:nvSpPr>
        <p:spPr>
          <a:xfrm>
            <a:off x="6748272"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748272" y="473659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839712" y="4818888"/>
            <a:ext cx="2606040" cy="384048"/>
          </a:xfrm>
          <a:prstGeom prst="rect">
            <a:avLst/>
          </a:prstGeom>
          <a:noFill/>
        </p:spPr>
        <p:txBody>
          <a:bodyPr wrap="square">
            <a:spAutoFit/>
          </a:bodyPr>
          <a:lstStyle/>
          <a:p>
            <a:pPr algn="l"/>
            <a:r>
              <a:rPr sz="900" b="0" i="0">
                <a:solidFill>
                  <a:srgbClr val="1E293B"/>
                </a:solidFill>
                <a:latin typeface="Calibri"/>
              </a:rPr>
              <a:t>Model Armor guardrails active</a:t>
            </a:r>
          </a:p>
        </p:txBody>
      </p:sp>
      <p:sp>
        <p:nvSpPr>
          <p:cNvPr id="86" name="Rectangle 85"/>
          <p:cNvSpPr/>
          <p:nvPr/>
        </p:nvSpPr>
        <p:spPr>
          <a:xfrm>
            <a:off x="6748272"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48272" y="524865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839712" y="5330952"/>
            <a:ext cx="2606040" cy="384048"/>
          </a:xfrm>
          <a:prstGeom prst="rect">
            <a:avLst/>
          </a:prstGeom>
          <a:noFill/>
        </p:spPr>
        <p:txBody>
          <a:bodyPr wrap="square">
            <a:spAutoFit/>
          </a:bodyPr>
          <a:lstStyle/>
          <a:p>
            <a:pPr algn="l"/>
            <a:r>
              <a:rPr sz="900" b="0" i="0">
                <a:solidFill>
                  <a:srgbClr val="1E293B"/>
                </a:solidFill>
                <a:latin typeface="Calibri"/>
              </a:rPr>
              <a:t>Audit Framework compliance checks</a:t>
            </a:r>
          </a:p>
        </p:txBody>
      </p:sp>
      <p:sp>
        <p:nvSpPr>
          <p:cNvPr id="89" name="Rectangle 88"/>
          <p:cNvSpPr/>
          <p:nvPr/>
        </p:nvSpPr>
        <p:spPr>
          <a:xfrm>
            <a:off x="9893808" y="1051560"/>
            <a:ext cx="2743200"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966960" y="1078992"/>
            <a:ext cx="2651760" cy="256032"/>
          </a:xfrm>
          <a:prstGeom prst="rect">
            <a:avLst/>
          </a:prstGeom>
          <a:noFill/>
        </p:spPr>
        <p:txBody>
          <a:bodyPr wrap="square">
            <a:spAutoFit/>
          </a:bodyPr>
          <a:lstStyle/>
          <a:p>
            <a:pPr algn="l"/>
            <a:r>
              <a:rPr sz="1000" b="1" i="0">
                <a:solidFill>
                  <a:srgbClr val="FFFFFF"/>
                </a:solidFill>
                <a:latin typeface="Calibri"/>
              </a:rPr>
              <a:t>Wave 4 — Optimisation</a:t>
            </a:r>
          </a:p>
        </p:txBody>
      </p:sp>
      <p:sp>
        <p:nvSpPr>
          <p:cNvPr id="91" name="TextBox 90"/>
          <p:cNvSpPr txBox="1"/>
          <p:nvPr/>
        </p:nvSpPr>
        <p:spPr>
          <a:xfrm>
            <a:off x="9966960" y="1325880"/>
            <a:ext cx="2651760" cy="201168"/>
          </a:xfrm>
          <a:prstGeom prst="rect">
            <a:avLst/>
          </a:prstGeom>
          <a:noFill/>
        </p:spPr>
        <p:txBody>
          <a:bodyPr wrap="square">
            <a:spAutoFit/>
          </a:bodyPr>
          <a:lstStyle/>
          <a:p>
            <a:pPr algn="l"/>
            <a:r>
              <a:rPr sz="850" b="0" i="1">
                <a:solidFill>
                  <a:srgbClr val="FFFFFF"/>
                </a:solidFill>
                <a:latin typeface="Calibri"/>
              </a:rPr>
              <a:t>Months 10-12</a:t>
            </a:r>
          </a:p>
        </p:txBody>
      </p:sp>
      <p:sp>
        <p:nvSpPr>
          <p:cNvPr id="92" name="Rectangle 91"/>
          <p:cNvSpPr/>
          <p:nvPr/>
        </p:nvSpPr>
        <p:spPr>
          <a:xfrm>
            <a:off x="9893808"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893808" y="166420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85248" y="1746504"/>
            <a:ext cx="2606040" cy="384048"/>
          </a:xfrm>
          <a:prstGeom prst="rect">
            <a:avLst/>
          </a:prstGeom>
          <a:noFill/>
        </p:spPr>
        <p:txBody>
          <a:bodyPr wrap="square">
            <a:spAutoFit/>
          </a:bodyPr>
          <a:lstStyle/>
          <a:p>
            <a:pPr algn="l"/>
            <a:r>
              <a:rPr sz="900" b="0" i="0">
                <a:solidFill>
                  <a:srgbClr val="1E293B"/>
                </a:solidFill>
                <a:latin typeface="Calibri"/>
              </a:rPr>
              <a:t>ENVOY Learning Agent (closed-loop)</a:t>
            </a:r>
          </a:p>
        </p:txBody>
      </p:sp>
      <p:sp>
        <p:nvSpPr>
          <p:cNvPr id="95" name="Rectangle 94"/>
          <p:cNvSpPr/>
          <p:nvPr/>
        </p:nvSpPr>
        <p:spPr>
          <a:xfrm>
            <a:off x="9893808"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893808" y="217627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85248" y="2258568"/>
            <a:ext cx="2606040" cy="384048"/>
          </a:xfrm>
          <a:prstGeom prst="rect">
            <a:avLst/>
          </a:prstGeom>
          <a:noFill/>
        </p:spPr>
        <p:txBody>
          <a:bodyPr wrap="square">
            <a:spAutoFit/>
          </a:bodyPr>
          <a:lstStyle/>
          <a:p>
            <a:pPr algn="l"/>
            <a:r>
              <a:rPr sz="900" b="0" i="0">
                <a:solidFill>
                  <a:srgbClr val="1E293B"/>
                </a:solidFill>
                <a:latin typeface="Calibri"/>
              </a:rPr>
              <a:t>Continuous optimisation models</a:t>
            </a:r>
          </a:p>
        </p:txBody>
      </p:sp>
      <p:sp>
        <p:nvSpPr>
          <p:cNvPr id="98" name="Rectangle 97"/>
          <p:cNvSpPr/>
          <p:nvPr/>
        </p:nvSpPr>
        <p:spPr>
          <a:xfrm>
            <a:off x="9893808"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893808" y="268833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985248" y="2770632"/>
            <a:ext cx="2606040" cy="384048"/>
          </a:xfrm>
          <a:prstGeom prst="rect">
            <a:avLst/>
          </a:prstGeom>
          <a:noFill/>
        </p:spPr>
        <p:txBody>
          <a:bodyPr wrap="square">
            <a:spAutoFit/>
          </a:bodyPr>
          <a:lstStyle/>
          <a:p>
            <a:pPr algn="l"/>
            <a:r>
              <a:rPr sz="900" b="0" i="0">
                <a:solidFill>
                  <a:srgbClr val="1E293B"/>
                </a:solidFill>
                <a:latin typeface="Calibri"/>
              </a:rPr>
              <a:t>Full proposition simulation</a:t>
            </a:r>
          </a:p>
        </p:txBody>
      </p:sp>
      <p:sp>
        <p:nvSpPr>
          <p:cNvPr id="101" name="Rectangle 100"/>
          <p:cNvSpPr/>
          <p:nvPr/>
        </p:nvSpPr>
        <p:spPr>
          <a:xfrm>
            <a:off x="9893808"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893808" y="3200400"/>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985248" y="3282696"/>
            <a:ext cx="2606040" cy="384048"/>
          </a:xfrm>
          <a:prstGeom prst="rect">
            <a:avLst/>
          </a:prstGeom>
          <a:noFill/>
        </p:spPr>
        <p:txBody>
          <a:bodyPr wrap="square">
            <a:spAutoFit/>
          </a:bodyPr>
          <a:lstStyle/>
          <a:p>
            <a:pPr algn="l"/>
            <a:r>
              <a:rPr sz="900" b="0" i="0">
                <a:solidFill>
                  <a:srgbClr val="1E293B"/>
                </a:solidFill>
                <a:latin typeface="Calibri"/>
              </a:rPr>
              <a:t>Multi-agent orchestration (A2A)</a:t>
            </a:r>
          </a:p>
        </p:txBody>
      </p:sp>
      <p:sp>
        <p:nvSpPr>
          <p:cNvPr id="104" name="Rectangle 103"/>
          <p:cNvSpPr/>
          <p:nvPr/>
        </p:nvSpPr>
        <p:spPr>
          <a:xfrm>
            <a:off x="9893808"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893808" y="371246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85248" y="3794760"/>
            <a:ext cx="2606040" cy="384048"/>
          </a:xfrm>
          <a:prstGeom prst="rect">
            <a:avLst/>
          </a:prstGeom>
          <a:noFill/>
        </p:spPr>
        <p:txBody>
          <a:bodyPr wrap="square">
            <a:spAutoFit/>
          </a:bodyPr>
          <a:lstStyle/>
          <a:p>
            <a:pPr algn="l"/>
            <a:r>
              <a:rPr sz="900" b="0" i="0">
                <a:solidFill>
                  <a:srgbClr val="1E293B"/>
                </a:solidFill>
                <a:latin typeface="Calibri"/>
              </a:rPr>
              <a:t>Platform extensibility — other GI lines</a:t>
            </a:r>
          </a:p>
        </p:txBody>
      </p:sp>
      <p:sp>
        <p:nvSpPr>
          <p:cNvPr id="107" name="Rectangle 106"/>
          <p:cNvSpPr/>
          <p:nvPr/>
        </p:nvSpPr>
        <p:spPr>
          <a:xfrm>
            <a:off x="9893808"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893808" y="422452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985248" y="4306824"/>
            <a:ext cx="2606040" cy="384048"/>
          </a:xfrm>
          <a:prstGeom prst="rect">
            <a:avLst/>
          </a:prstGeom>
          <a:noFill/>
        </p:spPr>
        <p:txBody>
          <a:bodyPr wrap="square">
            <a:spAutoFit/>
          </a:bodyPr>
          <a:lstStyle/>
          <a:p>
            <a:pPr algn="l"/>
            <a:r>
              <a:rPr sz="900" b="0" i="0">
                <a:solidFill>
                  <a:srgbClr val="1E293B"/>
                </a:solidFill>
                <a:latin typeface="Calibri"/>
              </a:rPr>
              <a:t>Pegasus retraining automation</a:t>
            </a:r>
          </a:p>
        </p:txBody>
      </p:sp>
      <p:sp>
        <p:nvSpPr>
          <p:cNvPr id="110" name="Rectangle 109"/>
          <p:cNvSpPr/>
          <p:nvPr/>
        </p:nvSpPr>
        <p:spPr>
          <a:xfrm>
            <a:off x="9893808"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893808" y="473659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985248" y="4818888"/>
            <a:ext cx="2606040" cy="384048"/>
          </a:xfrm>
          <a:prstGeom prst="rect">
            <a:avLst/>
          </a:prstGeom>
          <a:noFill/>
        </p:spPr>
        <p:txBody>
          <a:bodyPr wrap="square">
            <a:spAutoFit/>
          </a:bodyPr>
          <a:lstStyle/>
          <a:p>
            <a:pPr algn="l"/>
            <a:r>
              <a:rPr sz="900" b="0" i="0">
                <a:solidFill>
                  <a:srgbClr val="1E293B"/>
                </a:solidFill>
                <a:latin typeface="Calibri"/>
              </a:rPr>
              <a:t>Performance benchmarking vs baseline</a:t>
            </a:r>
          </a:p>
        </p:txBody>
      </p:sp>
      <p:sp>
        <p:nvSpPr>
          <p:cNvPr id="113" name="Rectangle 112"/>
          <p:cNvSpPr/>
          <p:nvPr/>
        </p:nvSpPr>
        <p:spPr>
          <a:xfrm>
            <a:off x="9893808"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893808" y="524865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985248" y="5330952"/>
            <a:ext cx="2606040" cy="384048"/>
          </a:xfrm>
          <a:prstGeom prst="rect">
            <a:avLst/>
          </a:prstGeom>
          <a:noFill/>
        </p:spPr>
        <p:txBody>
          <a:bodyPr wrap="square">
            <a:spAutoFit/>
          </a:bodyPr>
          <a:lstStyle/>
          <a:p>
            <a:pPr algn="l"/>
            <a:r>
              <a:rPr sz="900" b="0" i="0">
                <a:solidFill>
                  <a:srgbClr val="1E293B"/>
                </a:solidFill>
                <a:latin typeface="Calibri"/>
              </a:rPr>
              <a:t>Scale &amp; operate model finalised</a:t>
            </a:r>
          </a:p>
        </p:txBody>
      </p:sp>
      <p:sp>
        <p:nvSpPr>
          <p:cNvPr id="116" name="Rectangle 115"/>
          <p:cNvSpPr/>
          <p:nvPr/>
        </p:nvSpPr>
        <p:spPr>
          <a:xfrm>
            <a:off x="457200" y="6144768"/>
            <a:ext cx="274320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30352" y="6181344"/>
            <a:ext cx="2606040" cy="228600"/>
          </a:xfrm>
          <a:prstGeom prst="rect">
            <a:avLst/>
          </a:prstGeom>
          <a:noFill/>
        </p:spPr>
        <p:txBody>
          <a:bodyPr wrap="square">
            <a:spAutoFit/>
          </a:bodyPr>
          <a:lstStyle/>
          <a:p>
            <a:pPr algn="l"/>
            <a:r>
              <a:rPr sz="850" b="1" i="0">
                <a:solidFill>
                  <a:srgbClr val="FFFFFF"/>
                </a:solidFill>
                <a:latin typeface="Calibri"/>
              </a:rPr>
              <a:t>Months 1-3</a:t>
            </a:r>
          </a:p>
        </p:txBody>
      </p:sp>
      <p:sp>
        <p:nvSpPr>
          <p:cNvPr id="118" name="Rectangle 117"/>
          <p:cNvSpPr/>
          <p:nvPr/>
        </p:nvSpPr>
        <p:spPr>
          <a:xfrm>
            <a:off x="3602736" y="6144768"/>
            <a:ext cx="274320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675888" y="6181344"/>
            <a:ext cx="2606040" cy="228600"/>
          </a:xfrm>
          <a:prstGeom prst="rect">
            <a:avLst/>
          </a:prstGeom>
          <a:noFill/>
        </p:spPr>
        <p:txBody>
          <a:bodyPr wrap="square">
            <a:spAutoFit/>
          </a:bodyPr>
          <a:lstStyle/>
          <a:p>
            <a:pPr algn="l"/>
            <a:r>
              <a:rPr sz="850" b="1" i="0">
                <a:solidFill>
                  <a:srgbClr val="FFFFFF"/>
                </a:solidFill>
                <a:latin typeface="Calibri"/>
              </a:rPr>
              <a:t>Months 4-6</a:t>
            </a:r>
          </a:p>
        </p:txBody>
      </p:sp>
      <p:sp>
        <p:nvSpPr>
          <p:cNvPr id="120" name="Rectangle 119"/>
          <p:cNvSpPr/>
          <p:nvPr/>
        </p:nvSpPr>
        <p:spPr>
          <a:xfrm>
            <a:off x="6748272" y="6144768"/>
            <a:ext cx="274320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821424" y="6181344"/>
            <a:ext cx="2606040" cy="228600"/>
          </a:xfrm>
          <a:prstGeom prst="rect">
            <a:avLst/>
          </a:prstGeom>
          <a:noFill/>
        </p:spPr>
        <p:txBody>
          <a:bodyPr wrap="square">
            <a:spAutoFit/>
          </a:bodyPr>
          <a:lstStyle/>
          <a:p>
            <a:pPr algn="l"/>
            <a:r>
              <a:rPr sz="850" b="1" i="0">
                <a:solidFill>
                  <a:srgbClr val="FFFFFF"/>
                </a:solidFill>
                <a:latin typeface="Calibri"/>
              </a:rPr>
              <a:t>Months 7-9</a:t>
            </a:r>
          </a:p>
        </p:txBody>
      </p:sp>
      <p:sp>
        <p:nvSpPr>
          <p:cNvPr id="122" name="Rectangle 121"/>
          <p:cNvSpPr/>
          <p:nvPr/>
        </p:nvSpPr>
        <p:spPr>
          <a:xfrm>
            <a:off x="9893808" y="6144768"/>
            <a:ext cx="274320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66960" y="6181344"/>
            <a:ext cx="2606040" cy="228600"/>
          </a:xfrm>
          <a:prstGeom prst="rect">
            <a:avLst/>
          </a:prstGeom>
          <a:noFill/>
        </p:spPr>
        <p:txBody>
          <a:bodyPr wrap="square">
            <a:spAutoFit/>
          </a:bodyPr>
          <a:lstStyle/>
          <a:p>
            <a:pPr algn="l"/>
            <a:r>
              <a:rPr sz="850" b="1" i="0">
                <a:solidFill>
                  <a:srgbClr val="FFFFFF"/>
                </a:solidFill>
                <a:latin typeface="Calibri"/>
              </a:rPr>
              <a:t>Months 10-12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BUSINESS CASE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Business Value Summary — Four Dimensions of Value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17 / 20</a:t>
            </a:r>
          </a:p>
        </p:txBody>
      </p:sp>
      <p:sp>
        <p:nvSpPr>
          <p:cNvPr id="8" name="Rectangle 7"/>
          <p:cNvSpPr/>
          <p:nvPr/>
        </p:nvSpPr>
        <p:spPr>
          <a:xfrm>
            <a:off x="45720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557784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188720"/>
            <a:ext cx="5394960" cy="274320"/>
          </a:xfrm>
          <a:prstGeom prst="rect">
            <a:avLst/>
          </a:prstGeom>
          <a:noFill/>
        </p:spPr>
        <p:txBody>
          <a:bodyPr wrap="square">
            <a:spAutoFit/>
          </a:bodyPr>
          <a:lstStyle/>
          <a:p>
            <a:pPr algn="l"/>
            <a:r>
              <a:rPr sz="1100" b="1" i="0">
                <a:solidFill>
                  <a:srgbClr val="0A1628"/>
                </a:solidFill>
                <a:latin typeface="Calibri"/>
              </a:rPr>
              <a:t>Faster Market Response</a:t>
            </a:r>
          </a:p>
        </p:txBody>
      </p:sp>
      <p:sp>
        <p:nvSpPr>
          <p:cNvPr id="11" name="TextBox 10"/>
          <p:cNvSpPr txBox="1"/>
          <p:nvPr/>
        </p:nvSpPr>
        <p:spPr>
          <a:xfrm>
            <a:off x="566928" y="1499616"/>
            <a:ext cx="5394960" cy="1920240"/>
          </a:xfrm>
          <a:prstGeom prst="rect">
            <a:avLst/>
          </a:prstGeom>
          <a:noFill/>
        </p:spPr>
        <p:txBody>
          <a:bodyPr wrap="square">
            <a:spAutoFit/>
          </a:bodyPr>
          <a:lstStyle/>
          <a:p>
            <a:pPr algn="l"/>
            <a:r>
              <a:rPr sz="950" b="0" i="0">
                <a:solidFill>
                  <a:srgbClr val="475569"/>
                </a:solidFill>
                <a:latin typeface="Calibri"/>
              </a:rPr>
              <a:t>Reduce competitor response time from days to hours. ENVOY ADK agents provide continuous market sensing with &lt;15 minute data freshness. Event-triggered analysis via Pub/Sub ensures material market movements are surfaced immediately. ML anomaly detection identifies significant changes without manual review. Intelligence latency reduced from days to &lt;2 hours end-to-end.</a:t>
            </a:r>
          </a:p>
        </p:txBody>
      </p:sp>
      <p:sp>
        <p:nvSpPr>
          <p:cNvPr id="12" name="Rectangle 11"/>
          <p:cNvSpPr/>
          <p:nvPr/>
        </p:nvSpPr>
        <p:spPr>
          <a:xfrm>
            <a:off x="621792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097280"/>
            <a:ext cx="557784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188720"/>
            <a:ext cx="5394960" cy="274320"/>
          </a:xfrm>
          <a:prstGeom prst="rect">
            <a:avLst/>
          </a:prstGeom>
          <a:noFill/>
        </p:spPr>
        <p:txBody>
          <a:bodyPr wrap="square">
            <a:spAutoFit/>
          </a:bodyPr>
          <a:lstStyle/>
          <a:p>
            <a:pPr algn="l"/>
            <a:r>
              <a:rPr sz="1100" b="1" i="0">
                <a:solidFill>
                  <a:srgbClr val="0A1628"/>
                </a:solidFill>
                <a:latin typeface="Calibri"/>
              </a:rPr>
              <a:t>Better Commercial Outcomes</a:t>
            </a:r>
          </a:p>
        </p:txBody>
      </p:sp>
      <p:sp>
        <p:nvSpPr>
          <p:cNvPr id="15" name="TextBox 14"/>
          <p:cNvSpPr txBox="1"/>
          <p:nvPr/>
        </p:nvSpPr>
        <p:spPr>
          <a:xfrm>
            <a:off x="6327648" y="1499616"/>
            <a:ext cx="5394960" cy="1920240"/>
          </a:xfrm>
          <a:prstGeom prst="rect">
            <a:avLst/>
          </a:prstGeom>
          <a:noFill/>
        </p:spPr>
        <p:txBody>
          <a:bodyPr wrap="square">
            <a:spAutoFit/>
          </a:bodyPr>
          <a:lstStyle/>
          <a:p>
            <a:pPr algn="l"/>
            <a:r>
              <a:rPr sz="950" b="0" i="0">
                <a:solidFill>
                  <a:srgbClr val="475569"/>
                </a:solidFill>
                <a:latin typeface="Calibri"/>
              </a:rPr>
              <a:t>Gemini-powered recommendations improve PCW ranking position and conversion performance. ML simulation quantifies intervention impact before execution — reducing risk of commercial missteps. Closed-loop Learning Agent ensures recommendation quality compounds over time. Evidence-based decisions replace analyst judgement under uncertainty. Better rank position directly drives new business volume growth.</a:t>
            </a:r>
          </a:p>
        </p:txBody>
      </p:sp>
      <p:sp>
        <p:nvSpPr>
          <p:cNvPr id="16" name="Rectangle 15"/>
          <p:cNvSpPr/>
          <p:nvPr/>
        </p:nvSpPr>
        <p:spPr>
          <a:xfrm>
            <a:off x="45720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11880"/>
            <a:ext cx="55778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703320"/>
            <a:ext cx="5394960" cy="274320"/>
          </a:xfrm>
          <a:prstGeom prst="rect">
            <a:avLst/>
          </a:prstGeom>
          <a:noFill/>
        </p:spPr>
        <p:txBody>
          <a:bodyPr wrap="square">
            <a:spAutoFit/>
          </a:bodyPr>
          <a:lstStyle/>
          <a:p>
            <a:pPr algn="l"/>
            <a:r>
              <a:rPr sz="1100" b="1" i="0">
                <a:solidFill>
                  <a:srgbClr val="0A1628"/>
                </a:solidFill>
                <a:latin typeface="Calibri"/>
              </a:rPr>
              <a:t>Operational Efficiency</a:t>
            </a:r>
          </a:p>
        </p:txBody>
      </p:sp>
      <p:sp>
        <p:nvSpPr>
          <p:cNvPr id="19" name="TextBox 18"/>
          <p:cNvSpPr txBox="1"/>
          <p:nvPr/>
        </p:nvSpPr>
        <p:spPr>
          <a:xfrm>
            <a:off x="566928" y="4014216"/>
            <a:ext cx="5394960" cy="1920240"/>
          </a:xfrm>
          <a:prstGeom prst="rect">
            <a:avLst/>
          </a:prstGeom>
          <a:noFill/>
        </p:spPr>
        <p:txBody>
          <a:bodyPr wrap="square">
            <a:spAutoFit/>
          </a:bodyPr>
          <a:lstStyle/>
          <a:p>
            <a:pPr algn="l"/>
            <a:r>
              <a:rPr sz="950" b="0" i="0">
                <a:solidFill>
                  <a:srgbClr val="475569"/>
                </a:solidFill>
                <a:latin typeface="Calibri"/>
              </a:rPr>
              <a:t>ENVOY agents automate end-to-end data collection, validation, analysis and recommendation drafting — significantly reducing FTE effort on low-value monitoring tasks. Pricing and proposition teams redirected to higher-value approval and strategic judgement work. Pega workflow eliminates manual coordination overhead. ObserveAll provides proactive alerting, reducing reactive investigation effort.</a:t>
            </a:r>
          </a:p>
        </p:txBody>
      </p:sp>
      <p:sp>
        <p:nvSpPr>
          <p:cNvPr id="20" name="Rectangle 19"/>
          <p:cNvSpPr/>
          <p:nvPr/>
        </p:nvSpPr>
        <p:spPr>
          <a:xfrm>
            <a:off x="621792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611880"/>
            <a:ext cx="557784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703320"/>
            <a:ext cx="5394960" cy="274320"/>
          </a:xfrm>
          <a:prstGeom prst="rect">
            <a:avLst/>
          </a:prstGeom>
          <a:noFill/>
        </p:spPr>
        <p:txBody>
          <a:bodyPr wrap="square">
            <a:spAutoFit/>
          </a:bodyPr>
          <a:lstStyle/>
          <a:p>
            <a:pPr algn="l"/>
            <a:r>
              <a:rPr sz="1100" b="1" i="0">
                <a:solidFill>
                  <a:srgbClr val="0A1628"/>
                </a:solidFill>
                <a:latin typeface="Calibri"/>
              </a:rPr>
              <a:t>Reusable ENVOY Platform Capability</a:t>
            </a:r>
          </a:p>
        </p:txBody>
      </p:sp>
      <p:sp>
        <p:nvSpPr>
          <p:cNvPr id="23" name="TextBox 22"/>
          <p:cNvSpPr txBox="1"/>
          <p:nvPr/>
        </p:nvSpPr>
        <p:spPr>
          <a:xfrm>
            <a:off x="6327648" y="4014216"/>
            <a:ext cx="5394960" cy="1920240"/>
          </a:xfrm>
          <a:prstGeom prst="rect">
            <a:avLst/>
          </a:prstGeom>
          <a:noFill/>
        </p:spPr>
        <p:txBody>
          <a:bodyPr wrap="square">
            <a:spAutoFit/>
          </a:bodyPr>
          <a:lstStyle/>
          <a:p>
            <a:pPr algn="l"/>
            <a:r>
              <a:rPr sz="950" b="0" i="0">
                <a:solidFill>
                  <a:srgbClr val="475569"/>
                </a:solidFill>
                <a:latin typeface="Calibri"/>
              </a:rPr>
              <a:t>PCW CI Platform is built on ENVOY's enterprise-grade agentic infrastructure — reusable across LBG General Insurance and broader BCB use cases. ML model patterns, Gemini prompts, ADK agent designs and Pega governance workflows are all extensible. Each new use case benefits from accumulated ENVOY platform investment. Lower cost-to-serve for subsequent AI deployments across the organisation.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MANAGEMENT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Key Risks, Assumptions &amp; Mitigations</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18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200" b="1" i="0">
                <a:solidFill>
                  <a:srgbClr val="0A1628"/>
                </a:solidFill>
                <a:latin typeface="Calibri"/>
              </a:rPr>
              <a:t>Risk Register</a:t>
            </a:r>
          </a:p>
        </p:txBody>
      </p:sp>
      <p:sp>
        <p:nvSpPr>
          <p:cNvPr id="9" name="Rectangle 8"/>
          <p:cNvSpPr/>
          <p:nvPr/>
        </p:nvSpPr>
        <p:spPr>
          <a:xfrm>
            <a:off x="457200" y="1371600"/>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26464"/>
            <a:ext cx="3474720" cy="256032"/>
          </a:xfrm>
          <a:prstGeom prst="rect">
            <a:avLst/>
          </a:prstGeom>
          <a:noFill/>
        </p:spPr>
        <p:txBody>
          <a:bodyPr wrap="square">
            <a:spAutoFit/>
          </a:bodyPr>
          <a:lstStyle/>
          <a:p>
            <a:pPr algn="l"/>
            <a:r>
              <a:rPr sz="850" b="1" i="0">
                <a:solidFill>
                  <a:srgbClr val="1E293B"/>
                </a:solidFill>
                <a:latin typeface="Calibri"/>
              </a:rPr>
              <a:t>PCW data quality and availability below required threshold</a:t>
            </a:r>
          </a:p>
        </p:txBody>
      </p:sp>
      <p:sp>
        <p:nvSpPr>
          <p:cNvPr id="12" name="TextBox 11"/>
          <p:cNvSpPr txBox="1"/>
          <p:nvPr/>
        </p:nvSpPr>
        <p:spPr>
          <a:xfrm>
            <a:off x="594360" y="1691640"/>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3" name="TextBox 12"/>
          <p:cNvSpPr txBox="1"/>
          <p:nvPr/>
        </p:nvSpPr>
        <p:spPr>
          <a:xfrm>
            <a:off x="1737360" y="1691640"/>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14" name="TextBox 13"/>
          <p:cNvSpPr txBox="1"/>
          <p:nvPr/>
        </p:nvSpPr>
        <p:spPr>
          <a:xfrm>
            <a:off x="3017520" y="1691640"/>
            <a:ext cx="4297680" cy="384048"/>
          </a:xfrm>
          <a:prstGeom prst="rect">
            <a:avLst/>
          </a:prstGeom>
          <a:noFill/>
        </p:spPr>
        <p:txBody>
          <a:bodyPr wrap="square">
            <a:spAutoFit/>
          </a:bodyPr>
          <a:lstStyle/>
          <a:p>
            <a:pPr algn="l"/>
            <a:r>
              <a:rPr sz="800" b="0" i="0">
                <a:solidFill>
                  <a:srgbClr val="475569"/>
                </a:solidFill>
                <a:latin typeface="Calibri"/>
              </a:rPr>
              <a:t>ML data validation layer in BigQuery. Data quality scoring in Pegasus. Manual fallback process documented. Vendor SLA assessment for data sources.</a:t>
            </a:r>
          </a:p>
        </p:txBody>
      </p:sp>
      <p:sp>
        <p:nvSpPr>
          <p:cNvPr id="15" name="Rectangle 14"/>
          <p:cNvSpPr/>
          <p:nvPr/>
        </p:nvSpPr>
        <p:spPr>
          <a:xfrm>
            <a:off x="457200" y="2176272"/>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176272"/>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231136"/>
            <a:ext cx="3474720" cy="256032"/>
          </a:xfrm>
          <a:prstGeom prst="rect">
            <a:avLst/>
          </a:prstGeom>
          <a:noFill/>
        </p:spPr>
        <p:txBody>
          <a:bodyPr wrap="square">
            <a:spAutoFit/>
          </a:bodyPr>
          <a:lstStyle/>
          <a:p>
            <a:pPr algn="l"/>
            <a:r>
              <a:rPr sz="850" b="1" i="0">
                <a:solidFill>
                  <a:srgbClr val="1E293B"/>
                </a:solidFill>
                <a:latin typeface="Calibri"/>
              </a:rPr>
              <a:t>ML/GenAI model accuracy below acceptance threshold</a:t>
            </a:r>
          </a:p>
        </p:txBody>
      </p:sp>
      <p:sp>
        <p:nvSpPr>
          <p:cNvPr id="18" name="TextBox 17"/>
          <p:cNvSpPr txBox="1"/>
          <p:nvPr/>
        </p:nvSpPr>
        <p:spPr>
          <a:xfrm>
            <a:off x="594360" y="2496312"/>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9" name="TextBox 18"/>
          <p:cNvSpPr txBox="1"/>
          <p:nvPr/>
        </p:nvSpPr>
        <p:spPr>
          <a:xfrm>
            <a:off x="1737360" y="2496312"/>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20" name="TextBox 19"/>
          <p:cNvSpPr txBox="1"/>
          <p:nvPr/>
        </p:nvSpPr>
        <p:spPr>
          <a:xfrm>
            <a:off x="3017520" y="2496312"/>
            <a:ext cx="4297680" cy="384048"/>
          </a:xfrm>
          <a:prstGeom prst="rect">
            <a:avLst/>
          </a:prstGeom>
          <a:noFill/>
        </p:spPr>
        <p:txBody>
          <a:bodyPr wrap="square">
            <a:spAutoFit/>
          </a:bodyPr>
          <a:lstStyle/>
          <a:p>
            <a:pPr algn="l"/>
            <a:r>
              <a:rPr sz="800" b="0" i="0">
                <a:solidFill>
                  <a:srgbClr val="475569"/>
                </a:solidFill>
                <a:latin typeface="Calibri"/>
              </a:rPr>
              <a:t>Pegasus champion/challenger framework. Phased rollout with human validation gates. Clear accuracy KPIs defined before production deployment.</a:t>
            </a:r>
          </a:p>
        </p:txBody>
      </p:sp>
      <p:sp>
        <p:nvSpPr>
          <p:cNvPr id="21" name="Rectangle 20"/>
          <p:cNvSpPr/>
          <p:nvPr/>
        </p:nvSpPr>
        <p:spPr>
          <a:xfrm>
            <a:off x="457200" y="2980944"/>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980944"/>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035808"/>
            <a:ext cx="3474720" cy="256032"/>
          </a:xfrm>
          <a:prstGeom prst="rect">
            <a:avLst/>
          </a:prstGeom>
          <a:noFill/>
        </p:spPr>
        <p:txBody>
          <a:bodyPr wrap="square">
            <a:spAutoFit/>
          </a:bodyPr>
          <a:lstStyle/>
          <a:p>
            <a:pPr algn="l"/>
            <a:r>
              <a:rPr sz="850" b="1" i="0">
                <a:solidFill>
                  <a:srgbClr val="1E293B"/>
                </a:solidFill>
                <a:latin typeface="Calibri"/>
              </a:rPr>
              <a:t>Pricing team adoption and change management</a:t>
            </a:r>
          </a:p>
        </p:txBody>
      </p:sp>
      <p:sp>
        <p:nvSpPr>
          <p:cNvPr id="24" name="TextBox 23"/>
          <p:cNvSpPr txBox="1"/>
          <p:nvPr/>
        </p:nvSpPr>
        <p:spPr>
          <a:xfrm>
            <a:off x="594360" y="3300984"/>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25" name="TextBox 24"/>
          <p:cNvSpPr txBox="1"/>
          <p:nvPr/>
        </p:nvSpPr>
        <p:spPr>
          <a:xfrm>
            <a:off x="1737360" y="3300984"/>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26" name="TextBox 25"/>
          <p:cNvSpPr txBox="1"/>
          <p:nvPr/>
        </p:nvSpPr>
        <p:spPr>
          <a:xfrm>
            <a:off x="3017520" y="3300984"/>
            <a:ext cx="4297680" cy="384048"/>
          </a:xfrm>
          <a:prstGeom prst="rect">
            <a:avLst/>
          </a:prstGeom>
          <a:noFill/>
        </p:spPr>
        <p:txBody>
          <a:bodyPr wrap="square">
            <a:spAutoFit/>
          </a:bodyPr>
          <a:lstStyle/>
          <a:p>
            <a:pPr algn="l"/>
            <a:r>
              <a:rPr sz="800" b="0" i="0">
                <a:solidFill>
                  <a:srgbClr val="475569"/>
                </a:solidFill>
                <a:latin typeface="Calibri"/>
              </a:rPr>
              <a:t>Co-design from Wave 1. Explainable AI outputs build trust. Pega workflow familiar to users. Phased capability introduction reduces change burden.</a:t>
            </a:r>
          </a:p>
        </p:txBody>
      </p:sp>
      <p:sp>
        <p:nvSpPr>
          <p:cNvPr id="27" name="Rectangle 26"/>
          <p:cNvSpPr/>
          <p:nvPr/>
        </p:nvSpPr>
        <p:spPr>
          <a:xfrm>
            <a:off x="457200" y="3785616"/>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85616"/>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840480"/>
            <a:ext cx="3474720" cy="256032"/>
          </a:xfrm>
          <a:prstGeom prst="rect">
            <a:avLst/>
          </a:prstGeom>
          <a:noFill/>
        </p:spPr>
        <p:txBody>
          <a:bodyPr wrap="square">
            <a:spAutoFit/>
          </a:bodyPr>
          <a:lstStyle/>
          <a:p>
            <a:pPr algn="l"/>
            <a:r>
              <a:rPr sz="850" b="1" i="0">
                <a:solidFill>
                  <a:srgbClr val="1E293B"/>
                </a:solidFill>
                <a:latin typeface="Calibri"/>
              </a:rPr>
              <a:t>FCA scrutiny of AI-assisted pricing recommendation inputs</a:t>
            </a:r>
          </a:p>
        </p:txBody>
      </p:sp>
      <p:sp>
        <p:nvSpPr>
          <p:cNvPr id="30" name="TextBox 29"/>
          <p:cNvSpPr txBox="1"/>
          <p:nvPr/>
        </p:nvSpPr>
        <p:spPr>
          <a:xfrm>
            <a:off x="594360" y="4105656"/>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1" name="TextBox 30"/>
          <p:cNvSpPr txBox="1"/>
          <p:nvPr/>
        </p:nvSpPr>
        <p:spPr>
          <a:xfrm>
            <a:off x="1737360" y="4105656"/>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32" name="TextBox 31"/>
          <p:cNvSpPr txBox="1"/>
          <p:nvPr/>
        </p:nvSpPr>
        <p:spPr>
          <a:xfrm>
            <a:off x="3017520" y="4105656"/>
            <a:ext cx="4297680" cy="384048"/>
          </a:xfrm>
          <a:prstGeom prst="rect">
            <a:avLst/>
          </a:prstGeom>
          <a:noFill/>
        </p:spPr>
        <p:txBody>
          <a:bodyPr wrap="square">
            <a:spAutoFit/>
          </a:bodyPr>
          <a:lstStyle/>
          <a:p>
            <a:pPr algn="l"/>
            <a:r>
              <a:rPr sz="800" b="0" i="0">
                <a:solidFill>
                  <a:srgbClr val="475569"/>
                </a:solidFill>
                <a:latin typeface="Calibri"/>
              </a:rPr>
              <a:t>Human decision accountability maintained. Full explainability via Pegasus and Gemini. Legal &amp; Compliance review at each wave gate. FCA engagement planned.</a:t>
            </a:r>
          </a:p>
        </p:txBody>
      </p:sp>
      <p:sp>
        <p:nvSpPr>
          <p:cNvPr id="33" name="Rectangle 32"/>
          <p:cNvSpPr/>
          <p:nvPr/>
        </p:nvSpPr>
        <p:spPr>
          <a:xfrm>
            <a:off x="457200" y="4590288"/>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590288"/>
            <a:ext cx="45720" cy="7498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645152"/>
            <a:ext cx="3474720" cy="256032"/>
          </a:xfrm>
          <a:prstGeom prst="rect">
            <a:avLst/>
          </a:prstGeom>
          <a:noFill/>
        </p:spPr>
        <p:txBody>
          <a:bodyPr wrap="square">
            <a:spAutoFit/>
          </a:bodyPr>
          <a:lstStyle/>
          <a:p>
            <a:pPr algn="l"/>
            <a:r>
              <a:rPr sz="850" b="1" i="0">
                <a:solidFill>
                  <a:srgbClr val="1E293B"/>
                </a:solidFill>
                <a:latin typeface="Calibri"/>
              </a:rPr>
              <a:t>ENVOY platform integration and onboarding complexity</a:t>
            </a:r>
          </a:p>
        </p:txBody>
      </p:sp>
      <p:sp>
        <p:nvSpPr>
          <p:cNvPr id="36" name="TextBox 35"/>
          <p:cNvSpPr txBox="1"/>
          <p:nvPr/>
        </p:nvSpPr>
        <p:spPr>
          <a:xfrm>
            <a:off x="594360" y="4910328"/>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7" name="TextBox 36"/>
          <p:cNvSpPr txBox="1"/>
          <p:nvPr/>
        </p:nvSpPr>
        <p:spPr>
          <a:xfrm>
            <a:off x="1737360" y="4910328"/>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38" name="TextBox 37"/>
          <p:cNvSpPr txBox="1"/>
          <p:nvPr/>
        </p:nvSpPr>
        <p:spPr>
          <a:xfrm>
            <a:off x="3017520" y="4910328"/>
            <a:ext cx="4297680" cy="384048"/>
          </a:xfrm>
          <a:prstGeom prst="rect">
            <a:avLst/>
          </a:prstGeom>
          <a:noFill/>
        </p:spPr>
        <p:txBody>
          <a:bodyPr wrap="square">
            <a:spAutoFit/>
          </a:bodyPr>
          <a:lstStyle/>
          <a:p>
            <a:pPr algn="l"/>
            <a:r>
              <a:rPr sz="800" b="0" i="0">
                <a:solidFill>
                  <a:srgbClr val="475569"/>
                </a:solidFill>
                <a:latin typeface="Calibri"/>
              </a:rPr>
              <a:t>ENVOY onboarding model agreed. Reuse of existing ADK patterns. Integration spikes in Wave 1. Platform team support embedded in delivery.</a:t>
            </a:r>
          </a:p>
        </p:txBody>
      </p:sp>
      <p:sp>
        <p:nvSpPr>
          <p:cNvPr id="39" name="TextBox 38"/>
          <p:cNvSpPr txBox="1"/>
          <p:nvPr/>
        </p:nvSpPr>
        <p:spPr>
          <a:xfrm>
            <a:off x="7589520" y="1051560"/>
            <a:ext cx="3657600" cy="256032"/>
          </a:xfrm>
          <a:prstGeom prst="rect">
            <a:avLst/>
          </a:prstGeom>
          <a:noFill/>
        </p:spPr>
        <p:txBody>
          <a:bodyPr wrap="square">
            <a:spAutoFit/>
          </a:bodyPr>
          <a:lstStyle/>
          <a:p>
            <a:pPr algn="l"/>
            <a:r>
              <a:rPr sz="1200" b="1" i="0">
                <a:solidFill>
                  <a:srgbClr val="0A1628"/>
                </a:solidFill>
                <a:latin typeface="Calibri"/>
              </a:rPr>
              <a:t>Key Assumptions</a:t>
            </a:r>
          </a:p>
        </p:txBody>
      </p:sp>
      <p:sp>
        <p:nvSpPr>
          <p:cNvPr id="40" name="Rectangle 39"/>
          <p:cNvSpPr/>
          <p:nvPr/>
        </p:nvSpPr>
        <p:spPr>
          <a:xfrm>
            <a:off x="7589520" y="1371600"/>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89520" y="1371600"/>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9248" y="1435608"/>
            <a:ext cx="3840480" cy="566928"/>
          </a:xfrm>
          <a:prstGeom prst="rect">
            <a:avLst/>
          </a:prstGeom>
          <a:noFill/>
        </p:spPr>
        <p:txBody>
          <a:bodyPr wrap="square">
            <a:spAutoFit/>
          </a:bodyPr>
          <a:lstStyle/>
          <a:p>
            <a:pPr algn="l"/>
            <a:r>
              <a:rPr sz="850" b="0" i="0">
                <a:solidFill>
                  <a:srgbClr val="1E293B"/>
                </a:solidFill>
                <a:latin typeface="Calibri"/>
              </a:rPr>
              <a:t>Google Cloud and ENVOY platform approved as strategic infrastructure for this use case</a:t>
            </a:r>
          </a:p>
        </p:txBody>
      </p:sp>
      <p:sp>
        <p:nvSpPr>
          <p:cNvPr id="43" name="Rectangle 42"/>
          <p:cNvSpPr/>
          <p:nvPr/>
        </p:nvSpPr>
        <p:spPr>
          <a:xfrm>
            <a:off x="7589520" y="2084832"/>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89520" y="2084832"/>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99248" y="2148840"/>
            <a:ext cx="3840480" cy="566928"/>
          </a:xfrm>
          <a:prstGeom prst="rect">
            <a:avLst/>
          </a:prstGeom>
          <a:noFill/>
        </p:spPr>
        <p:txBody>
          <a:bodyPr wrap="square">
            <a:spAutoFit/>
          </a:bodyPr>
          <a:lstStyle/>
          <a:p>
            <a:pPr algn="l"/>
            <a:r>
              <a:rPr sz="850" b="0" i="0">
                <a:solidFill>
                  <a:srgbClr val="1E293B"/>
                </a:solidFill>
                <a:latin typeface="Calibri"/>
              </a:rPr>
              <a:t>Cortex is the strategic AI control plane — all model routing governed through Cortex</a:t>
            </a:r>
          </a:p>
        </p:txBody>
      </p:sp>
      <p:sp>
        <p:nvSpPr>
          <p:cNvPr id="46" name="Rectangle 45"/>
          <p:cNvSpPr/>
          <p:nvPr/>
        </p:nvSpPr>
        <p:spPr>
          <a:xfrm>
            <a:off x="7589520" y="2798064"/>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89520" y="2798064"/>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99248" y="2862072"/>
            <a:ext cx="3840480" cy="566928"/>
          </a:xfrm>
          <a:prstGeom prst="rect">
            <a:avLst/>
          </a:prstGeom>
          <a:noFill/>
        </p:spPr>
        <p:txBody>
          <a:bodyPr wrap="square">
            <a:spAutoFit/>
          </a:bodyPr>
          <a:lstStyle/>
          <a:p>
            <a:pPr algn="l"/>
            <a:r>
              <a:rPr sz="850" b="0" i="0">
                <a:solidFill>
                  <a:srgbClr val="1E293B"/>
                </a:solidFill>
                <a:latin typeface="Calibri"/>
              </a:rPr>
              <a:t>HITL (Human-in-the-Loop) retained for all recommendation approval — no fully autonomous pricing changes</a:t>
            </a:r>
          </a:p>
        </p:txBody>
      </p:sp>
      <p:sp>
        <p:nvSpPr>
          <p:cNvPr id="49" name="Rectangle 48"/>
          <p:cNvSpPr/>
          <p:nvPr/>
        </p:nvSpPr>
        <p:spPr>
          <a:xfrm>
            <a:off x="7589520" y="3511296"/>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3511296"/>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9248" y="3575304"/>
            <a:ext cx="3840480" cy="566928"/>
          </a:xfrm>
          <a:prstGeom prst="rect">
            <a:avLst/>
          </a:prstGeom>
          <a:noFill/>
        </p:spPr>
        <p:txBody>
          <a:bodyPr wrap="square">
            <a:spAutoFit/>
          </a:bodyPr>
          <a:lstStyle/>
          <a:p>
            <a:pPr algn="l"/>
            <a:r>
              <a:rPr sz="850" b="0" i="0">
                <a:solidFill>
                  <a:srgbClr val="1E293B"/>
                </a:solidFill>
                <a:latin typeface="Calibri"/>
              </a:rPr>
              <a:t>PCW data is available at sufficient frequency and quality to support near-real-time monitoring</a:t>
            </a:r>
          </a:p>
        </p:txBody>
      </p:sp>
      <p:sp>
        <p:nvSpPr>
          <p:cNvPr id="52" name="Rectangle 51"/>
          <p:cNvSpPr/>
          <p:nvPr/>
        </p:nvSpPr>
        <p:spPr>
          <a:xfrm>
            <a:off x="7589520" y="4224528"/>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589520" y="4224528"/>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99248" y="4288536"/>
            <a:ext cx="3840480" cy="566928"/>
          </a:xfrm>
          <a:prstGeom prst="rect">
            <a:avLst/>
          </a:prstGeom>
          <a:noFill/>
        </p:spPr>
        <p:txBody>
          <a:bodyPr wrap="square">
            <a:spAutoFit/>
          </a:bodyPr>
          <a:lstStyle/>
          <a:p>
            <a:pPr algn="l"/>
            <a:r>
              <a:rPr sz="850" b="0" i="0">
                <a:solidFill>
                  <a:srgbClr val="1E293B"/>
                </a:solidFill>
                <a:latin typeface="Calibri"/>
              </a:rPr>
              <a:t>Pricing and proposition teams have capacity to engage in co-design and adopt AI-assisted workflows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0972800" cy="256032"/>
          </a:xfrm>
          <a:prstGeom prst="rect">
            <a:avLst/>
          </a:prstGeom>
          <a:noFill/>
        </p:spPr>
        <p:txBody>
          <a:bodyPr wrap="square">
            <a:spAutoFit/>
          </a:bodyPr>
          <a:lstStyle/>
          <a:p>
            <a:pPr algn="l"/>
            <a:r>
              <a:rPr sz="800" b="1" i="0">
                <a:solidFill>
                  <a:srgbClr val="C9A84C"/>
                </a:solidFill>
                <a:latin typeface="Calibri"/>
              </a:rPr>
              <a:t>RECOMMENDATION &amp; DECISION REQUIRED</a:t>
            </a:r>
          </a:p>
        </p:txBody>
      </p:sp>
      <p:sp>
        <p:nvSpPr>
          <p:cNvPr id="6" name="Rectangle 5"/>
          <p:cNvSpPr/>
          <p:nvPr/>
        </p:nvSpPr>
        <p:spPr>
          <a:xfrm>
            <a:off x="457200" y="749808"/>
            <a:ext cx="11274552" cy="105156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49808"/>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04672"/>
            <a:ext cx="10972800" cy="914400"/>
          </a:xfrm>
          <a:prstGeom prst="rect">
            <a:avLst/>
          </a:prstGeom>
          <a:noFill/>
        </p:spPr>
        <p:txBody>
          <a:bodyPr wrap="square">
            <a:spAutoFit/>
          </a:bodyPr>
          <a:lstStyle/>
          <a:p>
            <a:pPr algn="l"/>
            <a:r>
              <a:rPr sz="1150" b="0" i="0">
                <a:solidFill>
                  <a:srgbClr val="FFFFFF"/>
                </a:solidFill>
                <a:latin typeface="Calibri"/>
              </a:rPr>
              <a:t>Proceed with a focused MVP targeting a single PCW channel and a defined set of pricing and proposition use cases — building on LBG's ENVOY Agentic Platform, Google Cloud infrastructure and existing system investments. The MVP validates the end-to-end workflow from PCW data collection through ENVOY ADK agent orchestration to Pega-governed recommendation delivery, establishing confidence in capability and commercial impact before scaling.</a:t>
            </a:r>
          </a:p>
        </p:txBody>
      </p:sp>
      <p:sp>
        <p:nvSpPr>
          <p:cNvPr id="9" name="TextBox 8"/>
          <p:cNvSpPr txBox="1"/>
          <p:nvPr/>
        </p:nvSpPr>
        <p:spPr>
          <a:xfrm>
            <a:off x="457200" y="1965960"/>
            <a:ext cx="4572000" cy="228600"/>
          </a:xfrm>
          <a:prstGeom prst="rect">
            <a:avLst/>
          </a:prstGeom>
          <a:noFill/>
        </p:spPr>
        <p:txBody>
          <a:bodyPr wrap="square">
            <a:spAutoFit/>
          </a:bodyPr>
          <a:lstStyle/>
          <a:p>
            <a:pPr algn="l"/>
            <a:r>
              <a:rPr sz="800" b="1" i="0">
                <a:solidFill>
                  <a:srgbClr val="94A3B8"/>
                </a:solidFill>
                <a:latin typeface="Calibri"/>
              </a:rPr>
              <a:t>IMMEDIATE NEXT STEPS</a:t>
            </a:r>
          </a:p>
        </p:txBody>
      </p:sp>
      <p:sp>
        <p:nvSpPr>
          <p:cNvPr id="10" name="Rectangle 9"/>
          <p:cNvSpPr/>
          <p:nvPr/>
        </p:nvSpPr>
        <p:spPr>
          <a:xfrm>
            <a:off x="4572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313432"/>
            <a:ext cx="274320" cy="256032"/>
          </a:xfrm>
          <a:prstGeom prst="rect">
            <a:avLst/>
          </a:prstGeom>
          <a:noFill/>
        </p:spPr>
        <p:txBody>
          <a:bodyPr wrap="square">
            <a:spAutoFit/>
          </a:bodyPr>
          <a:lstStyle/>
          <a:p>
            <a:pPr algn="ctr"/>
            <a:r>
              <a:rPr sz="1100" b="1" i="0">
                <a:solidFill>
                  <a:srgbClr val="0A1628"/>
                </a:solidFill>
                <a:latin typeface="Calibri"/>
              </a:rPr>
              <a:t>1</a:t>
            </a:r>
          </a:p>
        </p:txBody>
      </p:sp>
      <p:sp>
        <p:nvSpPr>
          <p:cNvPr id="12" name="TextBox 11"/>
          <p:cNvSpPr txBox="1"/>
          <p:nvPr/>
        </p:nvSpPr>
        <p:spPr>
          <a:xfrm>
            <a:off x="877824" y="2304288"/>
            <a:ext cx="5303520" cy="502920"/>
          </a:xfrm>
          <a:prstGeom prst="rect">
            <a:avLst/>
          </a:prstGeom>
          <a:noFill/>
        </p:spPr>
        <p:txBody>
          <a:bodyPr wrap="square">
            <a:spAutoFit/>
          </a:bodyPr>
          <a:lstStyle/>
          <a:p>
            <a:pPr algn="l"/>
            <a:r>
              <a:rPr sz="950" b="0" i="0">
                <a:solidFill>
                  <a:srgbClr val="FFFFFF"/>
                </a:solidFill>
                <a:latin typeface="Calibri"/>
              </a:rPr>
              <a:t>Confirm executive sponsorship, investment approval and ENVOY platform onboarding agreement</a:t>
            </a:r>
          </a:p>
        </p:txBody>
      </p:sp>
      <p:sp>
        <p:nvSpPr>
          <p:cNvPr id="13" name="Rectangle 12"/>
          <p:cNvSpPr/>
          <p:nvPr/>
        </p:nvSpPr>
        <p:spPr>
          <a:xfrm>
            <a:off x="59436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2313432"/>
            <a:ext cx="274320" cy="256032"/>
          </a:xfrm>
          <a:prstGeom prst="rect">
            <a:avLst/>
          </a:prstGeom>
          <a:noFill/>
        </p:spPr>
        <p:txBody>
          <a:bodyPr wrap="square">
            <a:spAutoFit/>
          </a:bodyPr>
          <a:lstStyle/>
          <a:p>
            <a:pPr algn="ctr"/>
            <a:r>
              <a:rPr sz="1100" b="1" i="0">
                <a:solidFill>
                  <a:srgbClr val="0A1628"/>
                </a:solidFill>
                <a:latin typeface="Calibri"/>
              </a:rPr>
              <a:t>2</a:t>
            </a:r>
          </a:p>
        </p:txBody>
      </p:sp>
      <p:sp>
        <p:nvSpPr>
          <p:cNvPr id="15" name="TextBox 14"/>
          <p:cNvSpPr txBox="1"/>
          <p:nvPr/>
        </p:nvSpPr>
        <p:spPr>
          <a:xfrm>
            <a:off x="6364224" y="2304288"/>
            <a:ext cx="5303520" cy="502920"/>
          </a:xfrm>
          <a:prstGeom prst="rect">
            <a:avLst/>
          </a:prstGeom>
          <a:noFill/>
        </p:spPr>
        <p:txBody>
          <a:bodyPr wrap="square">
            <a:spAutoFit/>
          </a:bodyPr>
          <a:lstStyle/>
          <a:p>
            <a:pPr algn="l"/>
            <a:r>
              <a:rPr sz="950" b="0" i="0">
                <a:solidFill>
                  <a:srgbClr val="FFFFFF"/>
                </a:solidFill>
                <a:latin typeface="Calibri"/>
              </a:rPr>
              <a:t>Establish cross-functional delivery team spanning Pricing, Product, Technology, Risk and Compliance</a:t>
            </a:r>
          </a:p>
        </p:txBody>
      </p:sp>
      <p:sp>
        <p:nvSpPr>
          <p:cNvPr id="16" name="Rectangle 15"/>
          <p:cNvSpPr/>
          <p:nvPr/>
        </p:nvSpPr>
        <p:spPr>
          <a:xfrm>
            <a:off x="4572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2880360"/>
            <a:ext cx="274320" cy="256032"/>
          </a:xfrm>
          <a:prstGeom prst="rect">
            <a:avLst/>
          </a:prstGeom>
          <a:noFill/>
        </p:spPr>
        <p:txBody>
          <a:bodyPr wrap="square">
            <a:spAutoFit/>
          </a:bodyPr>
          <a:lstStyle/>
          <a:p>
            <a:pPr algn="ctr"/>
            <a:r>
              <a:rPr sz="1100" b="1" i="0">
                <a:solidFill>
                  <a:srgbClr val="0A1628"/>
                </a:solidFill>
                <a:latin typeface="Calibri"/>
              </a:rPr>
              <a:t>3</a:t>
            </a:r>
          </a:p>
        </p:txBody>
      </p:sp>
      <p:sp>
        <p:nvSpPr>
          <p:cNvPr id="18" name="TextBox 17"/>
          <p:cNvSpPr txBox="1"/>
          <p:nvPr/>
        </p:nvSpPr>
        <p:spPr>
          <a:xfrm>
            <a:off x="877824" y="2871216"/>
            <a:ext cx="5303520" cy="502920"/>
          </a:xfrm>
          <a:prstGeom prst="rect">
            <a:avLst/>
          </a:prstGeom>
          <a:noFill/>
        </p:spPr>
        <p:txBody>
          <a:bodyPr wrap="square">
            <a:spAutoFit/>
          </a:bodyPr>
          <a:lstStyle/>
          <a:p>
            <a:pPr algn="l"/>
            <a:r>
              <a:rPr sz="950" b="0" i="0">
                <a:solidFill>
                  <a:srgbClr val="FFFFFF"/>
                </a:solidFill>
                <a:latin typeface="Calibri"/>
              </a:rPr>
              <a:t>Select pilot PCW channel and define MVP scope with pricing team co-design</a:t>
            </a:r>
          </a:p>
        </p:txBody>
      </p:sp>
      <p:sp>
        <p:nvSpPr>
          <p:cNvPr id="19" name="Rectangle 18"/>
          <p:cNvSpPr/>
          <p:nvPr/>
        </p:nvSpPr>
        <p:spPr>
          <a:xfrm>
            <a:off x="59436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880360"/>
            <a:ext cx="274320" cy="256032"/>
          </a:xfrm>
          <a:prstGeom prst="rect">
            <a:avLst/>
          </a:prstGeom>
          <a:noFill/>
        </p:spPr>
        <p:txBody>
          <a:bodyPr wrap="square">
            <a:spAutoFit/>
          </a:bodyPr>
          <a:lstStyle/>
          <a:p>
            <a:pPr algn="ctr"/>
            <a:r>
              <a:rPr sz="1100" b="1" i="0">
                <a:solidFill>
                  <a:srgbClr val="0A1628"/>
                </a:solidFill>
                <a:latin typeface="Calibri"/>
              </a:rPr>
              <a:t>4</a:t>
            </a:r>
          </a:p>
        </p:txBody>
      </p:sp>
      <p:sp>
        <p:nvSpPr>
          <p:cNvPr id="21" name="TextBox 20"/>
          <p:cNvSpPr txBox="1"/>
          <p:nvPr/>
        </p:nvSpPr>
        <p:spPr>
          <a:xfrm>
            <a:off x="6364224" y="2871216"/>
            <a:ext cx="5303520" cy="502920"/>
          </a:xfrm>
          <a:prstGeom prst="rect">
            <a:avLst/>
          </a:prstGeom>
          <a:noFill/>
        </p:spPr>
        <p:txBody>
          <a:bodyPr wrap="square">
            <a:spAutoFit/>
          </a:bodyPr>
          <a:lstStyle/>
          <a:p>
            <a:pPr algn="l"/>
            <a:r>
              <a:rPr sz="950" b="0" i="0">
                <a:solidFill>
                  <a:srgbClr val="FFFFFF"/>
                </a:solidFill>
                <a:latin typeface="Calibri"/>
              </a:rPr>
              <a:t>Conduct PCW data availability assessment and ENVOY ADK integration spike</a:t>
            </a:r>
          </a:p>
        </p:txBody>
      </p:sp>
      <p:sp>
        <p:nvSpPr>
          <p:cNvPr id="22" name="Rectangle 21"/>
          <p:cNvSpPr/>
          <p:nvPr/>
        </p:nvSpPr>
        <p:spPr>
          <a:xfrm>
            <a:off x="4572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3447288"/>
            <a:ext cx="274320" cy="256032"/>
          </a:xfrm>
          <a:prstGeom prst="rect">
            <a:avLst/>
          </a:prstGeom>
          <a:noFill/>
        </p:spPr>
        <p:txBody>
          <a:bodyPr wrap="square">
            <a:spAutoFit/>
          </a:bodyPr>
          <a:lstStyle/>
          <a:p>
            <a:pPr algn="ctr"/>
            <a:r>
              <a:rPr sz="1100" b="1" i="0">
                <a:solidFill>
                  <a:srgbClr val="0A1628"/>
                </a:solidFill>
                <a:latin typeface="Calibri"/>
              </a:rPr>
              <a:t>5</a:t>
            </a:r>
          </a:p>
        </p:txBody>
      </p:sp>
      <p:sp>
        <p:nvSpPr>
          <p:cNvPr id="24" name="TextBox 23"/>
          <p:cNvSpPr txBox="1"/>
          <p:nvPr/>
        </p:nvSpPr>
        <p:spPr>
          <a:xfrm>
            <a:off x="877824" y="3438144"/>
            <a:ext cx="5303520" cy="502920"/>
          </a:xfrm>
          <a:prstGeom prst="rect">
            <a:avLst/>
          </a:prstGeom>
          <a:noFill/>
        </p:spPr>
        <p:txBody>
          <a:bodyPr wrap="square">
            <a:spAutoFit/>
          </a:bodyPr>
          <a:lstStyle/>
          <a:p>
            <a:pPr algn="l"/>
            <a:r>
              <a:rPr sz="950" b="0" i="0">
                <a:solidFill>
                  <a:srgbClr val="FFFFFF"/>
                </a:solidFill>
                <a:latin typeface="Calibri"/>
              </a:rPr>
              <a:t>Define success criteria, baseline KPIs and Pegasus model evaluation framework</a:t>
            </a:r>
          </a:p>
        </p:txBody>
      </p:sp>
      <p:sp>
        <p:nvSpPr>
          <p:cNvPr id="25" name="Rectangle 24"/>
          <p:cNvSpPr/>
          <p:nvPr/>
        </p:nvSpPr>
        <p:spPr>
          <a:xfrm>
            <a:off x="59436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447288"/>
            <a:ext cx="274320" cy="256032"/>
          </a:xfrm>
          <a:prstGeom prst="rect">
            <a:avLst/>
          </a:prstGeom>
          <a:noFill/>
        </p:spPr>
        <p:txBody>
          <a:bodyPr wrap="square">
            <a:spAutoFit/>
          </a:bodyPr>
          <a:lstStyle/>
          <a:p>
            <a:pPr algn="ctr"/>
            <a:r>
              <a:rPr sz="1100" b="1" i="0">
                <a:solidFill>
                  <a:srgbClr val="0A1628"/>
                </a:solidFill>
                <a:latin typeface="Calibri"/>
              </a:rPr>
              <a:t>6</a:t>
            </a:r>
          </a:p>
        </p:txBody>
      </p:sp>
      <p:sp>
        <p:nvSpPr>
          <p:cNvPr id="27" name="TextBox 26"/>
          <p:cNvSpPr txBox="1"/>
          <p:nvPr/>
        </p:nvSpPr>
        <p:spPr>
          <a:xfrm>
            <a:off x="6364224" y="3438144"/>
            <a:ext cx="5303520" cy="502920"/>
          </a:xfrm>
          <a:prstGeom prst="rect">
            <a:avLst/>
          </a:prstGeom>
          <a:noFill/>
        </p:spPr>
        <p:txBody>
          <a:bodyPr wrap="square">
            <a:spAutoFit/>
          </a:bodyPr>
          <a:lstStyle/>
          <a:p>
            <a:pPr algn="l"/>
            <a:r>
              <a:rPr sz="950" b="0" i="0">
                <a:solidFill>
                  <a:srgbClr val="FFFFFF"/>
                </a:solidFill>
                <a:latin typeface="Calibri"/>
              </a:rPr>
              <a:t>Commence Wave 1 delivery: ENVOY platform setup, data pipelines and monitoring dashboard</a:t>
            </a:r>
          </a:p>
        </p:txBody>
      </p:sp>
      <p:sp>
        <p:nvSpPr>
          <p:cNvPr id="28" name="TextBox 27"/>
          <p:cNvSpPr txBox="1"/>
          <p:nvPr/>
        </p:nvSpPr>
        <p:spPr>
          <a:xfrm>
            <a:off x="457200" y="4297680"/>
            <a:ext cx="5486400" cy="228600"/>
          </a:xfrm>
          <a:prstGeom prst="rect">
            <a:avLst/>
          </a:prstGeom>
          <a:noFill/>
        </p:spPr>
        <p:txBody>
          <a:bodyPr wrap="square">
            <a:spAutoFit/>
          </a:bodyPr>
          <a:lstStyle/>
          <a:p>
            <a:pPr algn="l"/>
            <a:r>
              <a:rPr sz="800" b="1" i="0">
                <a:solidFill>
                  <a:srgbClr val="C9A84C"/>
                </a:solidFill>
                <a:latin typeface="Calibri"/>
              </a:rPr>
              <a:t>ENVOY PLATFORM COMMITMENTS</a:t>
            </a:r>
          </a:p>
        </p:txBody>
      </p:sp>
      <p:sp>
        <p:nvSpPr>
          <p:cNvPr id="29" name="Rectangle 28"/>
          <p:cNvSpPr/>
          <p:nvPr/>
        </p:nvSpPr>
        <p:spPr>
          <a:xfrm>
            <a:off x="457200"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57200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663440"/>
            <a:ext cx="3474720" cy="594360"/>
          </a:xfrm>
          <a:prstGeom prst="rect">
            <a:avLst/>
          </a:prstGeom>
          <a:noFill/>
        </p:spPr>
        <p:txBody>
          <a:bodyPr wrap="square">
            <a:spAutoFit/>
          </a:bodyPr>
          <a:lstStyle/>
          <a:p>
            <a:pPr algn="l"/>
            <a:r>
              <a:rPr sz="900" b="0" i="0">
                <a:solidFill>
                  <a:srgbClr val="FFFFFF"/>
                </a:solidFill>
                <a:latin typeface="Calibri"/>
              </a:rPr>
              <a:t>Governance: 100% of AI recommendations governed via Cortex, Model Armor and Pega before execution</a:t>
            </a:r>
          </a:p>
        </p:txBody>
      </p:sp>
      <p:sp>
        <p:nvSpPr>
          <p:cNvPr id="32" name="Rectangle 31"/>
          <p:cNvSpPr/>
          <p:nvPr/>
        </p:nvSpPr>
        <p:spPr>
          <a:xfrm>
            <a:off x="4224528"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24528" y="4572000"/>
            <a:ext cx="36576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15968" y="4663440"/>
            <a:ext cx="3474720" cy="594360"/>
          </a:xfrm>
          <a:prstGeom prst="rect">
            <a:avLst/>
          </a:prstGeom>
          <a:noFill/>
        </p:spPr>
        <p:txBody>
          <a:bodyPr wrap="square">
            <a:spAutoFit/>
          </a:bodyPr>
          <a:lstStyle/>
          <a:p>
            <a:pPr algn="l"/>
            <a:r>
              <a:rPr sz="900" b="0" i="0">
                <a:solidFill>
                  <a:srgbClr val="FFFFFF"/>
                </a:solidFill>
                <a:latin typeface="Calibri"/>
              </a:rPr>
              <a:t>Observability: Full agent traceability via ObserveAll and Dynatrace from Day 1 of production</a:t>
            </a:r>
          </a:p>
        </p:txBody>
      </p:sp>
      <p:sp>
        <p:nvSpPr>
          <p:cNvPr id="35" name="Rectangle 34"/>
          <p:cNvSpPr/>
          <p:nvPr/>
        </p:nvSpPr>
        <p:spPr>
          <a:xfrm>
            <a:off x="7991856"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91856" y="4572000"/>
            <a:ext cx="36576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83296" y="4663440"/>
            <a:ext cx="3474720" cy="594360"/>
          </a:xfrm>
          <a:prstGeom prst="rect">
            <a:avLst/>
          </a:prstGeom>
          <a:noFill/>
        </p:spPr>
        <p:txBody>
          <a:bodyPr wrap="square">
            <a:spAutoFit/>
          </a:bodyPr>
          <a:lstStyle/>
          <a:p>
            <a:pPr algn="l"/>
            <a:r>
              <a:rPr sz="900" b="0" i="0">
                <a:solidFill>
                  <a:srgbClr val="FFFFFF"/>
                </a:solidFill>
                <a:latin typeface="Calibri"/>
              </a:rPr>
              <a:t>Reusability: All ENVOY agent patterns, prompts and ML models registered in shared services for BCB reuse</a:t>
            </a:r>
          </a:p>
        </p:txBody>
      </p:sp>
      <p:sp>
        <p:nvSpPr>
          <p:cNvPr id="38" name="TextBox 37"/>
          <p:cNvSpPr txBox="1"/>
          <p:nvPr/>
        </p:nvSpPr>
        <p:spPr>
          <a:xfrm>
            <a:off x="457200" y="5486400"/>
            <a:ext cx="11274552" cy="384048"/>
          </a:xfrm>
          <a:prstGeom prst="rect">
            <a:avLst/>
          </a:prstGeom>
          <a:noFill/>
        </p:spPr>
        <p:txBody>
          <a:bodyPr wrap="square">
            <a:spAutoFit/>
          </a:bodyPr>
          <a:lstStyle/>
          <a:p>
            <a:pPr algn="ctr"/>
            <a:r>
              <a:rPr sz="950" b="0" i="1">
                <a:solidFill>
                  <a:srgbClr val="94A3B8"/>
                </a:solidFill>
                <a:latin typeface="Calibri"/>
              </a:rPr>
              <a:t>Transforming competitor monitoring into continuous competitive intelligence — powered by ENVOY, Gemini, Vertex AI and ML, governed by human oversight.</a:t>
            </a:r>
          </a:p>
        </p:txBody>
      </p:sp>
      <p:sp>
        <p:nvSpPr>
          <p:cNvPr id="39" name="TextBox 38"/>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APPENDIX</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Technical Reference — Platform Components &amp; PCW CI Mapping</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20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100" b="1" i="0">
                <a:solidFill>
                  <a:srgbClr val="0A1628"/>
                </a:solidFill>
                <a:latin typeface="Calibri"/>
              </a:rPr>
              <a:t>ENVOY Component Mapping</a:t>
            </a:r>
          </a:p>
        </p:txBody>
      </p:sp>
      <p:sp>
        <p:nvSpPr>
          <p:cNvPr id="9" name="Rectangle 8"/>
          <p:cNvSpPr/>
          <p:nvPr/>
        </p:nvSpPr>
        <p:spPr>
          <a:xfrm>
            <a:off x="4572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99032"/>
            <a:ext cx="1554480" cy="237744"/>
          </a:xfrm>
          <a:prstGeom prst="rect">
            <a:avLst/>
          </a:prstGeom>
          <a:noFill/>
        </p:spPr>
        <p:txBody>
          <a:bodyPr wrap="square">
            <a:spAutoFit/>
          </a:bodyPr>
          <a:lstStyle/>
          <a:p>
            <a:pPr algn="l"/>
            <a:r>
              <a:rPr sz="750" b="1" i="0">
                <a:solidFill>
                  <a:srgbClr val="1E293B"/>
                </a:solidFill>
                <a:latin typeface="Calibri"/>
              </a:rPr>
              <a:t>Vertex AI Agent Engine</a:t>
            </a:r>
          </a:p>
        </p:txBody>
      </p:sp>
      <p:sp>
        <p:nvSpPr>
          <p:cNvPr id="11" name="TextBox 10"/>
          <p:cNvSpPr txBox="1"/>
          <p:nvPr/>
        </p:nvSpPr>
        <p:spPr>
          <a:xfrm>
            <a:off x="2103120" y="1399032"/>
            <a:ext cx="2057400" cy="237744"/>
          </a:xfrm>
          <a:prstGeom prst="rect">
            <a:avLst/>
          </a:prstGeom>
          <a:noFill/>
        </p:spPr>
        <p:txBody>
          <a:bodyPr wrap="square">
            <a:spAutoFit/>
          </a:bodyPr>
          <a:lstStyle/>
          <a:p>
            <a:pPr algn="l"/>
            <a:r>
              <a:rPr sz="750" b="0" i="0">
                <a:solidFill>
                  <a:srgbClr val="475569"/>
                </a:solidFill>
                <a:latin typeface="Calibri"/>
              </a:rPr>
              <a:t>ADK agent hosting &amp; execution</a:t>
            </a:r>
          </a:p>
        </p:txBody>
      </p:sp>
      <p:sp>
        <p:nvSpPr>
          <p:cNvPr id="12" name="Rectangle 11"/>
          <p:cNvSpPr/>
          <p:nvPr/>
        </p:nvSpPr>
        <p:spPr>
          <a:xfrm>
            <a:off x="4572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28216"/>
            <a:ext cx="1554480" cy="237744"/>
          </a:xfrm>
          <a:prstGeom prst="rect">
            <a:avLst/>
          </a:prstGeom>
          <a:noFill/>
        </p:spPr>
        <p:txBody>
          <a:bodyPr wrap="square">
            <a:spAutoFit/>
          </a:bodyPr>
          <a:lstStyle/>
          <a:p>
            <a:pPr algn="l"/>
            <a:r>
              <a:rPr sz="750" b="1" i="0">
                <a:solidFill>
                  <a:srgbClr val="1E293B"/>
                </a:solidFill>
                <a:latin typeface="Calibri"/>
              </a:rPr>
              <a:t>ADK (Agent Dev Kit)</a:t>
            </a:r>
          </a:p>
        </p:txBody>
      </p:sp>
      <p:sp>
        <p:nvSpPr>
          <p:cNvPr id="14" name="TextBox 13"/>
          <p:cNvSpPr txBox="1"/>
          <p:nvPr/>
        </p:nvSpPr>
        <p:spPr>
          <a:xfrm>
            <a:off x="2103120" y="1728216"/>
            <a:ext cx="2057400" cy="237744"/>
          </a:xfrm>
          <a:prstGeom prst="rect">
            <a:avLst/>
          </a:prstGeom>
          <a:noFill/>
        </p:spPr>
        <p:txBody>
          <a:bodyPr wrap="square">
            <a:spAutoFit/>
          </a:bodyPr>
          <a:lstStyle/>
          <a:p>
            <a:pPr algn="l"/>
            <a:r>
              <a:rPr sz="750" b="0" i="0">
                <a:solidFill>
                  <a:srgbClr val="475569"/>
                </a:solidFill>
                <a:latin typeface="Calibri"/>
              </a:rPr>
              <a:t>PCW collection, analysis, recommendation agents</a:t>
            </a:r>
          </a:p>
        </p:txBody>
      </p:sp>
      <p:sp>
        <p:nvSpPr>
          <p:cNvPr id="15" name="Rectangle 14"/>
          <p:cNvSpPr/>
          <p:nvPr/>
        </p:nvSpPr>
        <p:spPr>
          <a:xfrm>
            <a:off x="4572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57400"/>
            <a:ext cx="1554480" cy="237744"/>
          </a:xfrm>
          <a:prstGeom prst="rect">
            <a:avLst/>
          </a:prstGeom>
          <a:noFill/>
        </p:spPr>
        <p:txBody>
          <a:bodyPr wrap="square">
            <a:spAutoFit/>
          </a:bodyPr>
          <a:lstStyle/>
          <a:p>
            <a:pPr algn="l"/>
            <a:r>
              <a:rPr sz="750" b="1" i="0">
                <a:solidFill>
                  <a:srgbClr val="1E293B"/>
                </a:solidFill>
                <a:latin typeface="Calibri"/>
              </a:rPr>
              <a:t>LangGraph</a:t>
            </a:r>
          </a:p>
        </p:txBody>
      </p:sp>
      <p:sp>
        <p:nvSpPr>
          <p:cNvPr id="17" name="TextBox 16"/>
          <p:cNvSpPr txBox="1"/>
          <p:nvPr/>
        </p:nvSpPr>
        <p:spPr>
          <a:xfrm>
            <a:off x="2103120" y="2057400"/>
            <a:ext cx="2057400" cy="237744"/>
          </a:xfrm>
          <a:prstGeom prst="rect">
            <a:avLst/>
          </a:prstGeom>
          <a:noFill/>
        </p:spPr>
        <p:txBody>
          <a:bodyPr wrap="square">
            <a:spAutoFit/>
          </a:bodyPr>
          <a:lstStyle/>
          <a:p>
            <a:pPr algn="l"/>
            <a:r>
              <a:rPr sz="750" b="0" i="0">
                <a:solidFill>
                  <a:srgbClr val="475569"/>
                </a:solidFill>
                <a:latin typeface="Calibri"/>
              </a:rPr>
              <a:t>Multi-step agent workflow orchestration</a:t>
            </a:r>
          </a:p>
        </p:txBody>
      </p:sp>
      <p:sp>
        <p:nvSpPr>
          <p:cNvPr id="18" name="Rectangle 17"/>
          <p:cNvSpPr/>
          <p:nvPr/>
        </p:nvSpPr>
        <p:spPr>
          <a:xfrm>
            <a:off x="4572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386584"/>
            <a:ext cx="1554480" cy="237744"/>
          </a:xfrm>
          <a:prstGeom prst="rect">
            <a:avLst/>
          </a:prstGeom>
          <a:noFill/>
        </p:spPr>
        <p:txBody>
          <a:bodyPr wrap="square">
            <a:spAutoFit/>
          </a:bodyPr>
          <a:lstStyle/>
          <a:p>
            <a:pPr algn="l"/>
            <a:r>
              <a:rPr sz="750" b="1" i="0">
                <a:solidFill>
                  <a:srgbClr val="1E293B"/>
                </a:solidFill>
                <a:latin typeface="Calibri"/>
              </a:rPr>
              <a:t>Gemini Pro</a:t>
            </a:r>
          </a:p>
        </p:txBody>
      </p:sp>
      <p:sp>
        <p:nvSpPr>
          <p:cNvPr id="20" name="TextBox 19"/>
          <p:cNvSpPr txBox="1"/>
          <p:nvPr/>
        </p:nvSpPr>
        <p:spPr>
          <a:xfrm>
            <a:off x="2103120" y="2386584"/>
            <a:ext cx="2057400" cy="237744"/>
          </a:xfrm>
          <a:prstGeom prst="rect">
            <a:avLst/>
          </a:prstGeom>
          <a:noFill/>
        </p:spPr>
        <p:txBody>
          <a:bodyPr wrap="square">
            <a:spAutoFit/>
          </a:bodyPr>
          <a:lstStyle/>
          <a:p>
            <a:pPr algn="l"/>
            <a:r>
              <a:rPr sz="750" b="0" i="0">
                <a:solidFill>
                  <a:srgbClr val="475569"/>
                </a:solidFill>
                <a:latin typeface="Calibri"/>
              </a:rPr>
              <a:t>Competitor analysis &amp; recommendation generation</a:t>
            </a:r>
          </a:p>
        </p:txBody>
      </p:sp>
      <p:sp>
        <p:nvSpPr>
          <p:cNvPr id="21" name="Rectangle 20"/>
          <p:cNvSpPr/>
          <p:nvPr/>
        </p:nvSpPr>
        <p:spPr>
          <a:xfrm>
            <a:off x="4572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715768"/>
            <a:ext cx="1554480" cy="237744"/>
          </a:xfrm>
          <a:prstGeom prst="rect">
            <a:avLst/>
          </a:prstGeom>
          <a:noFill/>
        </p:spPr>
        <p:txBody>
          <a:bodyPr wrap="square">
            <a:spAutoFit/>
          </a:bodyPr>
          <a:lstStyle/>
          <a:p>
            <a:pPr algn="l"/>
            <a:r>
              <a:rPr sz="750" b="1" i="0">
                <a:solidFill>
                  <a:srgbClr val="1E293B"/>
                </a:solidFill>
                <a:latin typeface="Calibri"/>
              </a:rPr>
              <a:t>Cortex</a:t>
            </a:r>
          </a:p>
        </p:txBody>
      </p:sp>
      <p:sp>
        <p:nvSpPr>
          <p:cNvPr id="23" name="TextBox 22"/>
          <p:cNvSpPr txBox="1"/>
          <p:nvPr/>
        </p:nvSpPr>
        <p:spPr>
          <a:xfrm>
            <a:off x="2103120" y="2715768"/>
            <a:ext cx="2057400" cy="237744"/>
          </a:xfrm>
          <a:prstGeom prst="rect">
            <a:avLst/>
          </a:prstGeom>
          <a:noFill/>
        </p:spPr>
        <p:txBody>
          <a:bodyPr wrap="square">
            <a:spAutoFit/>
          </a:bodyPr>
          <a:lstStyle/>
          <a:p>
            <a:pPr algn="l"/>
            <a:r>
              <a:rPr sz="750" b="0" i="0">
                <a:solidFill>
                  <a:srgbClr val="475569"/>
                </a:solidFill>
                <a:latin typeface="Calibri"/>
              </a:rPr>
              <a:t>Model routing &amp; guardrail enforcement</a:t>
            </a:r>
          </a:p>
        </p:txBody>
      </p:sp>
      <p:sp>
        <p:nvSpPr>
          <p:cNvPr id="24" name="Rectangle 23"/>
          <p:cNvSpPr/>
          <p:nvPr/>
        </p:nvSpPr>
        <p:spPr>
          <a:xfrm>
            <a:off x="4572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044952"/>
            <a:ext cx="1554480" cy="237744"/>
          </a:xfrm>
          <a:prstGeom prst="rect">
            <a:avLst/>
          </a:prstGeom>
          <a:noFill/>
        </p:spPr>
        <p:txBody>
          <a:bodyPr wrap="square">
            <a:spAutoFit/>
          </a:bodyPr>
          <a:lstStyle/>
          <a:p>
            <a:pPr algn="l"/>
            <a:r>
              <a:rPr sz="750" b="1" i="0">
                <a:solidFill>
                  <a:srgbClr val="1E293B"/>
                </a:solidFill>
                <a:latin typeface="Calibri"/>
              </a:rPr>
              <a:t>Pegasus (LBG)</a:t>
            </a:r>
          </a:p>
        </p:txBody>
      </p:sp>
      <p:sp>
        <p:nvSpPr>
          <p:cNvPr id="26" name="TextBox 25"/>
          <p:cNvSpPr txBox="1"/>
          <p:nvPr/>
        </p:nvSpPr>
        <p:spPr>
          <a:xfrm>
            <a:off x="2103120" y="3044952"/>
            <a:ext cx="2057400" cy="237744"/>
          </a:xfrm>
          <a:prstGeom prst="rect">
            <a:avLst/>
          </a:prstGeom>
          <a:noFill/>
        </p:spPr>
        <p:txBody>
          <a:bodyPr wrap="square">
            <a:spAutoFit/>
          </a:bodyPr>
          <a:lstStyle/>
          <a:p>
            <a:pPr algn="l"/>
            <a:r>
              <a:rPr sz="750" b="0" i="0">
                <a:solidFill>
                  <a:srgbClr val="475569"/>
                </a:solidFill>
                <a:latin typeface="Calibri"/>
              </a:rPr>
              <a:t>ML model evaluation &amp; quality monitoring</a:t>
            </a:r>
          </a:p>
        </p:txBody>
      </p:sp>
      <p:sp>
        <p:nvSpPr>
          <p:cNvPr id="27" name="Rectangle 26"/>
          <p:cNvSpPr/>
          <p:nvPr/>
        </p:nvSpPr>
        <p:spPr>
          <a:xfrm>
            <a:off x="4572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374136"/>
            <a:ext cx="1554480" cy="237744"/>
          </a:xfrm>
          <a:prstGeom prst="rect">
            <a:avLst/>
          </a:prstGeom>
          <a:noFill/>
        </p:spPr>
        <p:txBody>
          <a:bodyPr wrap="square">
            <a:spAutoFit/>
          </a:bodyPr>
          <a:lstStyle/>
          <a:p>
            <a:pPr algn="l"/>
            <a:r>
              <a:rPr sz="750" b="1" i="0">
                <a:solidFill>
                  <a:srgbClr val="1E293B"/>
                </a:solidFill>
                <a:latin typeface="Calibri"/>
              </a:rPr>
              <a:t>Model Armor</a:t>
            </a:r>
          </a:p>
        </p:txBody>
      </p:sp>
      <p:sp>
        <p:nvSpPr>
          <p:cNvPr id="29" name="TextBox 28"/>
          <p:cNvSpPr txBox="1"/>
          <p:nvPr/>
        </p:nvSpPr>
        <p:spPr>
          <a:xfrm>
            <a:off x="2103120" y="3374136"/>
            <a:ext cx="2057400" cy="237744"/>
          </a:xfrm>
          <a:prstGeom prst="rect">
            <a:avLst/>
          </a:prstGeom>
          <a:noFill/>
        </p:spPr>
        <p:txBody>
          <a:bodyPr wrap="square">
            <a:spAutoFit/>
          </a:bodyPr>
          <a:lstStyle/>
          <a:p>
            <a:pPr algn="l"/>
            <a:r>
              <a:rPr sz="750" b="0" i="0">
                <a:solidFill>
                  <a:srgbClr val="475569"/>
                </a:solidFill>
                <a:latin typeface="Calibri"/>
              </a:rPr>
              <a:t>Prompt protection &amp; output validation</a:t>
            </a:r>
          </a:p>
        </p:txBody>
      </p:sp>
      <p:sp>
        <p:nvSpPr>
          <p:cNvPr id="30" name="Rectangle 29"/>
          <p:cNvSpPr/>
          <p:nvPr/>
        </p:nvSpPr>
        <p:spPr>
          <a:xfrm>
            <a:off x="4572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703320"/>
            <a:ext cx="1554480" cy="237744"/>
          </a:xfrm>
          <a:prstGeom prst="rect">
            <a:avLst/>
          </a:prstGeom>
          <a:noFill/>
        </p:spPr>
        <p:txBody>
          <a:bodyPr wrap="square">
            <a:spAutoFit/>
          </a:bodyPr>
          <a:lstStyle/>
          <a:p>
            <a:pPr algn="l"/>
            <a:r>
              <a:rPr sz="750" b="1" i="0">
                <a:solidFill>
                  <a:srgbClr val="1E293B"/>
                </a:solidFill>
                <a:latin typeface="Calibri"/>
              </a:rPr>
              <a:t>Vector Search</a:t>
            </a:r>
          </a:p>
        </p:txBody>
      </p:sp>
      <p:sp>
        <p:nvSpPr>
          <p:cNvPr id="32" name="TextBox 31"/>
          <p:cNvSpPr txBox="1"/>
          <p:nvPr/>
        </p:nvSpPr>
        <p:spPr>
          <a:xfrm>
            <a:off x="2103120" y="3703320"/>
            <a:ext cx="2057400" cy="237744"/>
          </a:xfrm>
          <a:prstGeom prst="rect">
            <a:avLst/>
          </a:prstGeom>
          <a:noFill/>
        </p:spPr>
        <p:txBody>
          <a:bodyPr wrap="square">
            <a:spAutoFit/>
          </a:bodyPr>
          <a:lstStyle/>
          <a:p>
            <a:pPr algn="l"/>
            <a:r>
              <a:rPr sz="750" b="0" i="0">
                <a:solidFill>
                  <a:srgbClr val="475569"/>
                </a:solidFill>
                <a:latin typeface="Calibri"/>
              </a:rPr>
              <a:t>RAG for competitor knowledge base</a:t>
            </a:r>
          </a:p>
        </p:txBody>
      </p:sp>
      <p:sp>
        <p:nvSpPr>
          <p:cNvPr id="33" name="Rectangle 32"/>
          <p:cNvSpPr/>
          <p:nvPr/>
        </p:nvSpPr>
        <p:spPr>
          <a:xfrm>
            <a:off x="4572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032504"/>
            <a:ext cx="1554480" cy="237744"/>
          </a:xfrm>
          <a:prstGeom prst="rect">
            <a:avLst/>
          </a:prstGeom>
          <a:noFill/>
        </p:spPr>
        <p:txBody>
          <a:bodyPr wrap="square">
            <a:spAutoFit/>
          </a:bodyPr>
          <a:lstStyle/>
          <a:p>
            <a:pPr algn="l"/>
            <a:r>
              <a:rPr sz="750" b="1" i="0">
                <a:solidFill>
                  <a:srgbClr val="1E293B"/>
                </a:solidFill>
                <a:latin typeface="Calibri"/>
              </a:rPr>
              <a:t>BigQuery</a:t>
            </a:r>
          </a:p>
        </p:txBody>
      </p:sp>
      <p:sp>
        <p:nvSpPr>
          <p:cNvPr id="35" name="TextBox 34"/>
          <p:cNvSpPr txBox="1"/>
          <p:nvPr/>
        </p:nvSpPr>
        <p:spPr>
          <a:xfrm>
            <a:off x="2103120" y="4032504"/>
            <a:ext cx="2057400" cy="237744"/>
          </a:xfrm>
          <a:prstGeom prst="rect">
            <a:avLst/>
          </a:prstGeom>
          <a:noFill/>
        </p:spPr>
        <p:txBody>
          <a:bodyPr wrap="square">
            <a:spAutoFit/>
          </a:bodyPr>
          <a:lstStyle/>
          <a:p>
            <a:pPr algn="l"/>
            <a:r>
              <a:rPr sz="750" b="0" i="0">
                <a:solidFill>
                  <a:srgbClr val="475569"/>
                </a:solidFill>
                <a:latin typeface="Calibri"/>
              </a:rPr>
              <a:t>Market data storage &amp; ML feature engineering</a:t>
            </a:r>
          </a:p>
        </p:txBody>
      </p:sp>
      <p:sp>
        <p:nvSpPr>
          <p:cNvPr id="36" name="Rectangle 35"/>
          <p:cNvSpPr/>
          <p:nvPr/>
        </p:nvSpPr>
        <p:spPr>
          <a:xfrm>
            <a:off x="4572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361688"/>
            <a:ext cx="1554480" cy="237744"/>
          </a:xfrm>
          <a:prstGeom prst="rect">
            <a:avLst/>
          </a:prstGeom>
          <a:noFill/>
        </p:spPr>
        <p:txBody>
          <a:bodyPr wrap="square">
            <a:spAutoFit/>
          </a:bodyPr>
          <a:lstStyle/>
          <a:p>
            <a:pPr algn="l"/>
            <a:r>
              <a:rPr sz="750" b="1" i="0">
                <a:solidFill>
                  <a:srgbClr val="1E293B"/>
                </a:solidFill>
                <a:latin typeface="Calibri"/>
              </a:rPr>
              <a:t>Pub/Sub</a:t>
            </a:r>
          </a:p>
        </p:txBody>
      </p:sp>
      <p:sp>
        <p:nvSpPr>
          <p:cNvPr id="38" name="TextBox 37"/>
          <p:cNvSpPr txBox="1"/>
          <p:nvPr/>
        </p:nvSpPr>
        <p:spPr>
          <a:xfrm>
            <a:off x="2103120" y="4361688"/>
            <a:ext cx="2057400" cy="237744"/>
          </a:xfrm>
          <a:prstGeom prst="rect">
            <a:avLst/>
          </a:prstGeom>
          <a:noFill/>
        </p:spPr>
        <p:txBody>
          <a:bodyPr wrap="square">
            <a:spAutoFit/>
          </a:bodyPr>
          <a:lstStyle/>
          <a:p>
            <a:pPr algn="l"/>
            <a:r>
              <a:rPr sz="750" b="0" i="0">
                <a:solidFill>
                  <a:srgbClr val="475569"/>
                </a:solidFill>
                <a:latin typeface="Calibri"/>
              </a:rPr>
              <a:t>Event-driven agent triggering</a:t>
            </a:r>
          </a:p>
        </p:txBody>
      </p:sp>
      <p:sp>
        <p:nvSpPr>
          <p:cNvPr id="39" name="Rectangle 38"/>
          <p:cNvSpPr/>
          <p:nvPr/>
        </p:nvSpPr>
        <p:spPr>
          <a:xfrm>
            <a:off x="457200" y="464515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690872"/>
            <a:ext cx="1554480" cy="237744"/>
          </a:xfrm>
          <a:prstGeom prst="rect">
            <a:avLst/>
          </a:prstGeom>
          <a:noFill/>
        </p:spPr>
        <p:txBody>
          <a:bodyPr wrap="square">
            <a:spAutoFit/>
          </a:bodyPr>
          <a:lstStyle/>
          <a:p>
            <a:pPr algn="l"/>
            <a:r>
              <a:rPr sz="750" b="1" i="0">
                <a:solidFill>
                  <a:srgbClr val="1E293B"/>
                </a:solidFill>
                <a:latin typeface="Calibri"/>
              </a:rPr>
              <a:t>Cloud Workflows</a:t>
            </a:r>
          </a:p>
        </p:txBody>
      </p:sp>
      <p:sp>
        <p:nvSpPr>
          <p:cNvPr id="41" name="TextBox 40"/>
          <p:cNvSpPr txBox="1"/>
          <p:nvPr/>
        </p:nvSpPr>
        <p:spPr>
          <a:xfrm>
            <a:off x="2103120" y="4690872"/>
            <a:ext cx="2057400" cy="237744"/>
          </a:xfrm>
          <a:prstGeom prst="rect">
            <a:avLst/>
          </a:prstGeom>
          <a:noFill/>
        </p:spPr>
        <p:txBody>
          <a:bodyPr wrap="square">
            <a:spAutoFit/>
          </a:bodyPr>
          <a:lstStyle/>
          <a:p>
            <a:pPr algn="l"/>
            <a:r>
              <a:rPr sz="750" b="0" i="0">
                <a:solidFill>
                  <a:srgbClr val="475569"/>
                </a:solidFill>
                <a:latin typeface="Calibri"/>
              </a:rPr>
              <a:t>Long-running process orchestration</a:t>
            </a:r>
          </a:p>
        </p:txBody>
      </p:sp>
      <p:sp>
        <p:nvSpPr>
          <p:cNvPr id="42" name="Rectangle 41"/>
          <p:cNvSpPr/>
          <p:nvPr/>
        </p:nvSpPr>
        <p:spPr>
          <a:xfrm>
            <a:off x="457200" y="497433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020056"/>
            <a:ext cx="1554480" cy="237744"/>
          </a:xfrm>
          <a:prstGeom prst="rect">
            <a:avLst/>
          </a:prstGeom>
          <a:noFill/>
        </p:spPr>
        <p:txBody>
          <a:bodyPr wrap="square">
            <a:spAutoFit/>
          </a:bodyPr>
          <a:lstStyle/>
          <a:p>
            <a:pPr algn="l"/>
            <a:r>
              <a:rPr sz="750" b="1" i="0">
                <a:solidFill>
                  <a:srgbClr val="1E293B"/>
                </a:solidFill>
                <a:latin typeface="Calibri"/>
              </a:rPr>
              <a:t>Apigee</a:t>
            </a:r>
          </a:p>
        </p:txBody>
      </p:sp>
      <p:sp>
        <p:nvSpPr>
          <p:cNvPr id="44" name="TextBox 43"/>
          <p:cNvSpPr txBox="1"/>
          <p:nvPr/>
        </p:nvSpPr>
        <p:spPr>
          <a:xfrm>
            <a:off x="2103120" y="5020056"/>
            <a:ext cx="2057400" cy="237744"/>
          </a:xfrm>
          <a:prstGeom prst="rect">
            <a:avLst/>
          </a:prstGeom>
          <a:noFill/>
        </p:spPr>
        <p:txBody>
          <a:bodyPr wrap="square">
            <a:spAutoFit/>
          </a:bodyPr>
          <a:lstStyle/>
          <a:p>
            <a:pPr algn="l"/>
            <a:r>
              <a:rPr sz="750" b="0" i="0">
                <a:solidFill>
                  <a:srgbClr val="475569"/>
                </a:solidFill>
                <a:latin typeface="Calibri"/>
              </a:rPr>
              <a:t>API gateway for AGGS, Duck Creek, Pricing</a:t>
            </a:r>
          </a:p>
        </p:txBody>
      </p:sp>
      <p:sp>
        <p:nvSpPr>
          <p:cNvPr id="45" name="Rectangle 44"/>
          <p:cNvSpPr/>
          <p:nvPr/>
        </p:nvSpPr>
        <p:spPr>
          <a:xfrm>
            <a:off x="457200" y="530352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5349240"/>
            <a:ext cx="1554480" cy="237744"/>
          </a:xfrm>
          <a:prstGeom prst="rect">
            <a:avLst/>
          </a:prstGeom>
          <a:noFill/>
        </p:spPr>
        <p:txBody>
          <a:bodyPr wrap="square">
            <a:spAutoFit/>
          </a:bodyPr>
          <a:lstStyle/>
          <a:p>
            <a:pPr algn="l"/>
            <a:r>
              <a:rPr sz="750" b="1" i="0">
                <a:solidFill>
                  <a:srgbClr val="1E293B"/>
                </a:solidFill>
                <a:latin typeface="Calibri"/>
              </a:rPr>
              <a:t>Pega</a:t>
            </a:r>
          </a:p>
        </p:txBody>
      </p:sp>
      <p:sp>
        <p:nvSpPr>
          <p:cNvPr id="47" name="TextBox 46"/>
          <p:cNvSpPr txBox="1"/>
          <p:nvPr/>
        </p:nvSpPr>
        <p:spPr>
          <a:xfrm>
            <a:off x="2103120" y="5349240"/>
            <a:ext cx="2057400" cy="237744"/>
          </a:xfrm>
          <a:prstGeom prst="rect">
            <a:avLst/>
          </a:prstGeom>
          <a:noFill/>
        </p:spPr>
        <p:txBody>
          <a:bodyPr wrap="square">
            <a:spAutoFit/>
          </a:bodyPr>
          <a:lstStyle/>
          <a:p>
            <a:pPr algn="l"/>
            <a:r>
              <a:rPr sz="750" b="0" i="0">
                <a:solidFill>
                  <a:srgbClr val="475569"/>
                </a:solidFill>
                <a:latin typeface="Calibri"/>
              </a:rPr>
              <a:t>Human approval workflow &amp; governance</a:t>
            </a:r>
          </a:p>
        </p:txBody>
      </p:sp>
      <p:sp>
        <p:nvSpPr>
          <p:cNvPr id="48" name="Rectangle 47"/>
          <p:cNvSpPr/>
          <p:nvPr/>
        </p:nvSpPr>
        <p:spPr>
          <a:xfrm>
            <a:off x="457200" y="563270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5678424"/>
            <a:ext cx="1554480" cy="237744"/>
          </a:xfrm>
          <a:prstGeom prst="rect">
            <a:avLst/>
          </a:prstGeom>
          <a:noFill/>
        </p:spPr>
        <p:txBody>
          <a:bodyPr wrap="square">
            <a:spAutoFit/>
          </a:bodyPr>
          <a:lstStyle/>
          <a:p>
            <a:pPr algn="l"/>
            <a:r>
              <a:rPr sz="750" b="1" i="0">
                <a:solidFill>
                  <a:srgbClr val="1E293B"/>
                </a:solidFill>
                <a:latin typeface="Calibri"/>
              </a:rPr>
              <a:t>ObserveAll</a:t>
            </a:r>
          </a:p>
        </p:txBody>
      </p:sp>
      <p:sp>
        <p:nvSpPr>
          <p:cNvPr id="50" name="TextBox 49"/>
          <p:cNvSpPr txBox="1"/>
          <p:nvPr/>
        </p:nvSpPr>
        <p:spPr>
          <a:xfrm>
            <a:off x="2103120" y="5678424"/>
            <a:ext cx="2057400" cy="237744"/>
          </a:xfrm>
          <a:prstGeom prst="rect">
            <a:avLst/>
          </a:prstGeom>
          <a:noFill/>
        </p:spPr>
        <p:txBody>
          <a:bodyPr wrap="square">
            <a:spAutoFit/>
          </a:bodyPr>
          <a:lstStyle/>
          <a:p>
            <a:pPr algn="l"/>
            <a:r>
              <a:rPr sz="750" b="0" i="0">
                <a:solidFill>
                  <a:srgbClr val="475569"/>
                </a:solidFill>
                <a:latin typeface="Calibri"/>
              </a:rPr>
              <a:t>Agent observability &amp; business KPI monitoring</a:t>
            </a:r>
          </a:p>
        </p:txBody>
      </p:sp>
      <p:sp>
        <p:nvSpPr>
          <p:cNvPr id="51" name="Rectangle 50"/>
          <p:cNvSpPr/>
          <p:nvPr/>
        </p:nvSpPr>
        <p:spPr>
          <a:xfrm>
            <a:off x="457200" y="596188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007608"/>
            <a:ext cx="1554480" cy="237744"/>
          </a:xfrm>
          <a:prstGeom prst="rect">
            <a:avLst/>
          </a:prstGeom>
          <a:noFill/>
        </p:spPr>
        <p:txBody>
          <a:bodyPr wrap="square">
            <a:spAutoFit/>
          </a:bodyPr>
          <a:lstStyle/>
          <a:p>
            <a:pPr algn="l"/>
            <a:r>
              <a:rPr sz="750" b="1" i="0">
                <a:solidFill>
                  <a:srgbClr val="1E293B"/>
                </a:solidFill>
                <a:latin typeface="Calibri"/>
              </a:rPr>
              <a:t>ENVOY Audit Framework</a:t>
            </a:r>
          </a:p>
        </p:txBody>
      </p:sp>
      <p:sp>
        <p:nvSpPr>
          <p:cNvPr id="53" name="TextBox 52"/>
          <p:cNvSpPr txBox="1"/>
          <p:nvPr/>
        </p:nvSpPr>
        <p:spPr>
          <a:xfrm>
            <a:off x="2103120" y="6007608"/>
            <a:ext cx="2057400" cy="237744"/>
          </a:xfrm>
          <a:prstGeom prst="rect">
            <a:avLst/>
          </a:prstGeom>
          <a:noFill/>
        </p:spPr>
        <p:txBody>
          <a:bodyPr wrap="square">
            <a:spAutoFit/>
          </a:bodyPr>
          <a:lstStyle/>
          <a:p>
            <a:pPr algn="l"/>
            <a:r>
              <a:rPr sz="750" b="0" i="0">
                <a:solidFill>
                  <a:srgbClr val="475569"/>
                </a:solidFill>
                <a:latin typeface="Calibri"/>
              </a:rPr>
              <a:t>Full decision lineage &amp; FCA audit trail</a:t>
            </a:r>
          </a:p>
        </p:txBody>
      </p:sp>
      <p:sp>
        <p:nvSpPr>
          <p:cNvPr id="54" name="TextBox 53"/>
          <p:cNvSpPr txBox="1"/>
          <p:nvPr/>
        </p:nvSpPr>
        <p:spPr>
          <a:xfrm>
            <a:off x="4114800" y="1051560"/>
            <a:ext cx="3749039" cy="256032"/>
          </a:xfrm>
          <a:prstGeom prst="rect">
            <a:avLst/>
          </a:prstGeom>
          <a:noFill/>
        </p:spPr>
        <p:txBody>
          <a:bodyPr wrap="square">
            <a:spAutoFit/>
          </a:bodyPr>
          <a:lstStyle/>
          <a:p>
            <a:pPr algn="l"/>
            <a:r>
              <a:rPr sz="1100" b="1" i="0">
                <a:solidFill>
                  <a:srgbClr val="0A1628"/>
                </a:solidFill>
                <a:latin typeface="Calibri"/>
              </a:rPr>
              <a:t>ENVOY Shared Services Used</a:t>
            </a:r>
          </a:p>
        </p:txBody>
      </p:sp>
      <p:sp>
        <p:nvSpPr>
          <p:cNvPr id="55" name="Rectangle 54"/>
          <p:cNvSpPr/>
          <p:nvPr/>
        </p:nvSpPr>
        <p:spPr>
          <a:xfrm>
            <a:off x="41148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60520" y="1399032"/>
            <a:ext cx="1463040" cy="237744"/>
          </a:xfrm>
          <a:prstGeom prst="rect">
            <a:avLst/>
          </a:prstGeom>
          <a:noFill/>
        </p:spPr>
        <p:txBody>
          <a:bodyPr wrap="square">
            <a:spAutoFit/>
          </a:bodyPr>
          <a:lstStyle/>
          <a:p>
            <a:pPr algn="l"/>
            <a:r>
              <a:rPr sz="750" b="1" i="0">
                <a:solidFill>
                  <a:srgbClr val="1E293B"/>
                </a:solidFill>
                <a:latin typeface="Calibri"/>
              </a:rPr>
              <a:t>Memory Store</a:t>
            </a:r>
          </a:p>
        </p:txBody>
      </p:sp>
      <p:sp>
        <p:nvSpPr>
          <p:cNvPr id="57" name="TextBox 56"/>
          <p:cNvSpPr txBox="1"/>
          <p:nvPr/>
        </p:nvSpPr>
        <p:spPr>
          <a:xfrm>
            <a:off x="5669280" y="1399032"/>
            <a:ext cx="2148840" cy="237744"/>
          </a:xfrm>
          <a:prstGeom prst="rect">
            <a:avLst/>
          </a:prstGeom>
          <a:noFill/>
        </p:spPr>
        <p:txBody>
          <a:bodyPr wrap="square">
            <a:spAutoFit/>
          </a:bodyPr>
          <a:lstStyle/>
          <a:p>
            <a:pPr algn="l"/>
            <a:r>
              <a:rPr sz="750" b="0" i="0">
                <a:solidFill>
                  <a:srgbClr val="475569"/>
                </a:solidFill>
                <a:latin typeface="Calibri"/>
              </a:rPr>
              <a:t>Agent context persistence across PCW sessions</a:t>
            </a:r>
          </a:p>
        </p:txBody>
      </p:sp>
      <p:sp>
        <p:nvSpPr>
          <p:cNvPr id="58" name="Rectangle 57"/>
          <p:cNvSpPr/>
          <p:nvPr/>
        </p:nvSpPr>
        <p:spPr>
          <a:xfrm>
            <a:off x="41148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60520" y="1728216"/>
            <a:ext cx="1463040" cy="237744"/>
          </a:xfrm>
          <a:prstGeom prst="rect">
            <a:avLst/>
          </a:prstGeom>
          <a:noFill/>
        </p:spPr>
        <p:txBody>
          <a:bodyPr wrap="square">
            <a:spAutoFit/>
          </a:bodyPr>
          <a:lstStyle/>
          <a:p>
            <a:pPr algn="l"/>
            <a:r>
              <a:rPr sz="750" b="1" i="0">
                <a:solidFill>
                  <a:srgbClr val="1E293B"/>
                </a:solidFill>
                <a:latin typeface="Calibri"/>
              </a:rPr>
              <a:t>Session Store</a:t>
            </a:r>
          </a:p>
        </p:txBody>
      </p:sp>
      <p:sp>
        <p:nvSpPr>
          <p:cNvPr id="60" name="TextBox 59"/>
          <p:cNvSpPr txBox="1"/>
          <p:nvPr/>
        </p:nvSpPr>
        <p:spPr>
          <a:xfrm>
            <a:off x="5669280" y="1728216"/>
            <a:ext cx="2148840" cy="237744"/>
          </a:xfrm>
          <a:prstGeom prst="rect">
            <a:avLst/>
          </a:prstGeom>
          <a:noFill/>
        </p:spPr>
        <p:txBody>
          <a:bodyPr wrap="square">
            <a:spAutoFit/>
          </a:bodyPr>
          <a:lstStyle/>
          <a:p>
            <a:pPr algn="l"/>
            <a:r>
              <a:rPr sz="750" b="0" i="0">
                <a:solidFill>
                  <a:srgbClr val="475569"/>
                </a:solidFill>
                <a:latin typeface="Calibri"/>
              </a:rPr>
              <a:t>Multi-agent workflow state management</a:t>
            </a:r>
          </a:p>
        </p:txBody>
      </p:sp>
      <p:sp>
        <p:nvSpPr>
          <p:cNvPr id="61" name="Rectangle 60"/>
          <p:cNvSpPr/>
          <p:nvPr/>
        </p:nvSpPr>
        <p:spPr>
          <a:xfrm>
            <a:off x="41148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60520" y="2057400"/>
            <a:ext cx="1463040" cy="237744"/>
          </a:xfrm>
          <a:prstGeom prst="rect">
            <a:avLst/>
          </a:prstGeom>
          <a:noFill/>
        </p:spPr>
        <p:txBody>
          <a:bodyPr wrap="square">
            <a:spAutoFit/>
          </a:bodyPr>
          <a:lstStyle/>
          <a:p>
            <a:pPr algn="l"/>
            <a:r>
              <a:rPr sz="750" b="1" i="0">
                <a:solidFill>
                  <a:srgbClr val="1E293B"/>
                </a:solidFill>
                <a:latin typeface="Calibri"/>
              </a:rPr>
              <a:t>Tool Registry</a:t>
            </a:r>
          </a:p>
        </p:txBody>
      </p:sp>
      <p:sp>
        <p:nvSpPr>
          <p:cNvPr id="63" name="TextBox 62"/>
          <p:cNvSpPr txBox="1"/>
          <p:nvPr/>
        </p:nvSpPr>
        <p:spPr>
          <a:xfrm>
            <a:off x="5669280" y="2057400"/>
            <a:ext cx="2148840" cy="237744"/>
          </a:xfrm>
          <a:prstGeom prst="rect">
            <a:avLst/>
          </a:prstGeom>
          <a:noFill/>
        </p:spPr>
        <p:txBody>
          <a:bodyPr wrap="square">
            <a:spAutoFit/>
          </a:bodyPr>
          <a:lstStyle/>
          <a:p>
            <a:pPr algn="l"/>
            <a:r>
              <a:rPr sz="750" b="0" i="0">
                <a:solidFill>
                  <a:srgbClr val="475569"/>
                </a:solidFill>
                <a:latin typeface="Calibri"/>
              </a:rPr>
              <a:t>PCW data collection and API tools registration</a:t>
            </a:r>
          </a:p>
        </p:txBody>
      </p:sp>
      <p:sp>
        <p:nvSpPr>
          <p:cNvPr id="64" name="Rectangle 63"/>
          <p:cNvSpPr/>
          <p:nvPr/>
        </p:nvSpPr>
        <p:spPr>
          <a:xfrm>
            <a:off x="41148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60520" y="2386584"/>
            <a:ext cx="1463040" cy="237744"/>
          </a:xfrm>
          <a:prstGeom prst="rect">
            <a:avLst/>
          </a:prstGeom>
          <a:noFill/>
        </p:spPr>
        <p:txBody>
          <a:bodyPr wrap="square">
            <a:spAutoFit/>
          </a:bodyPr>
          <a:lstStyle/>
          <a:p>
            <a:pPr algn="l"/>
            <a:r>
              <a:rPr sz="750" b="1" i="0">
                <a:solidFill>
                  <a:srgbClr val="1E293B"/>
                </a:solidFill>
                <a:latin typeface="Calibri"/>
              </a:rPr>
              <a:t>Agent Registry</a:t>
            </a:r>
          </a:p>
        </p:txBody>
      </p:sp>
      <p:sp>
        <p:nvSpPr>
          <p:cNvPr id="66" name="TextBox 65"/>
          <p:cNvSpPr txBox="1"/>
          <p:nvPr/>
        </p:nvSpPr>
        <p:spPr>
          <a:xfrm>
            <a:off x="5669280" y="2386584"/>
            <a:ext cx="2148840" cy="237744"/>
          </a:xfrm>
          <a:prstGeom prst="rect">
            <a:avLst/>
          </a:prstGeom>
          <a:noFill/>
        </p:spPr>
        <p:txBody>
          <a:bodyPr wrap="square">
            <a:spAutoFit/>
          </a:bodyPr>
          <a:lstStyle/>
          <a:p>
            <a:pPr algn="l"/>
            <a:r>
              <a:rPr sz="750" b="0" i="0">
                <a:solidFill>
                  <a:srgbClr val="475569"/>
                </a:solidFill>
                <a:latin typeface="Calibri"/>
              </a:rPr>
              <a:t>PCW CI agent catalogue and version management</a:t>
            </a:r>
          </a:p>
        </p:txBody>
      </p:sp>
      <p:sp>
        <p:nvSpPr>
          <p:cNvPr id="67" name="Rectangle 66"/>
          <p:cNvSpPr/>
          <p:nvPr/>
        </p:nvSpPr>
        <p:spPr>
          <a:xfrm>
            <a:off x="41148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60520" y="2715768"/>
            <a:ext cx="1463040" cy="237744"/>
          </a:xfrm>
          <a:prstGeom prst="rect">
            <a:avLst/>
          </a:prstGeom>
          <a:noFill/>
        </p:spPr>
        <p:txBody>
          <a:bodyPr wrap="square">
            <a:spAutoFit/>
          </a:bodyPr>
          <a:lstStyle/>
          <a:p>
            <a:pPr algn="l"/>
            <a:r>
              <a:rPr sz="750" b="1" i="0">
                <a:solidFill>
                  <a:srgbClr val="1E293B"/>
                </a:solidFill>
                <a:latin typeface="Calibri"/>
              </a:rPr>
              <a:t>Prompt Registry</a:t>
            </a:r>
          </a:p>
        </p:txBody>
      </p:sp>
      <p:sp>
        <p:nvSpPr>
          <p:cNvPr id="69" name="TextBox 68"/>
          <p:cNvSpPr txBox="1"/>
          <p:nvPr/>
        </p:nvSpPr>
        <p:spPr>
          <a:xfrm>
            <a:off x="5669280" y="2715768"/>
            <a:ext cx="2148840" cy="237744"/>
          </a:xfrm>
          <a:prstGeom prst="rect">
            <a:avLst/>
          </a:prstGeom>
          <a:noFill/>
        </p:spPr>
        <p:txBody>
          <a:bodyPr wrap="square">
            <a:spAutoFit/>
          </a:bodyPr>
          <a:lstStyle/>
          <a:p>
            <a:pPr algn="l"/>
            <a:r>
              <a:rPr sz="750" b="0" i="0">
                <a:solidFill>
                  <a:srgbClr val="475569"/>
                </a:solidFill>
                <a:latin typeface="Calibri"/>
              </a:rPr>
              <a:t>Gemini prompt versioning for PCW analysis</a:t>
            </a:r>
          </a:p>
        </p:txBody>
      </p:sp>
      <p:sp>
        <p:nvSpPr>
          <p:cNvPr id="70" name="Rectangle 69"/>
          <p:cNvSpPr/>
          <p:nvPr/>
        </p:nvSpPr>
        <p:spPr>
          <a:xfrm>
            <a:off x="41148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60520" y="3044952"/>
            <a:ext cx="1463040" cy="237744"/>
          </a:xfrm>
          <a:prstGeom prst="rect">
            <a:avLst/>
          </a:prstGeom>
          <a:noFill/>
        </p:spPr>
        <p:txBody>
          <a:bodyPr wrap="square">
            <a:spAutoFit/>
          </a:bodyPr>
          <a:lstStyle/>
          <a:p>
            <a:pPr algn="l"/>
            <a:r>
              <a:rPr sz="750" b="1" i="0">
                <a:solidFill>
                  <a:srgbClr val="1E293B"/>
                </a:solidFill>
                <a:latin typeface="Calibri"/>
              </a:rPr>
              <a:t>Policy Registry</a:t>
            </a:r>
          </a:p>
        </p:txBody>
      </p:sp>
      <p:sp>
        <p:nvSpPr>
          <p:cNvPr id="72" name="TextBox 71"/>
          <p:cNvSpPr txBox="1"/>
          <p:nvPr/>
        </p:nvSpPr>
        <p:spPr>
          <a:xfrm>
            <a:off x="5669280" y="3044952"/>
            <a:ext cx="2148840" cy="237744"/>
          </a:xfrm>
          <a:prstGeom prst="rect">
            <a:avLst/>
          </a:prstGeom>
          <a:noFill/>
        </p:spPr>
        <p:txBody>
          <a:bodyPr wrap="square">
            <a:spAutoFit/>
          </a:bodyPr>
          <a:lstStyle/>
          <a:p>
            <a:pPr algn="l"/>
            <a:r>
              <a:rPr sz="750" b="0" i="0">
                <a:solidFill>
                  <a:srgbClr val="475569"/>
                </a:solidFill>
                <a:latin typeface="Calibri"/>
              </a:rPr>
              <a:t>Recommendation governance rules storage</a:t>
            </a:r>
          </a:p>
        </p:txBody>
      </p:sp>
      <p:sp>
        <p:nvSpPr>
          <p:cNvPr id="73" name="Rectangle 72"/>
          <p:cNvSpPr/>
          <p:nvPr/>
        </p:nvSpPr>
        <p:spPr>
          <a:xfrm>
            <a:off x="41148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160520" y="3374136"/>
            <a:ext cx="1463040" cy="237744"/>
          </a:xfrm>
          <a:prstGeom prst="rect">
            <a:avLst/>
          </a:prstGeom>
          <a:noFill/>
        </p:spPr>
        <p:txBody>
          <a:bodyPr wrap="square">
            <a:spAutoFit/>
          </a:bodyPr>
          <a:lstStyle/>
          <a:p>
            <a:pPr algn="l"/>
            <a:r>
              <a:rPr sz="750" b="1" i="0">
                <a:solidFill>
                  <a:srgbClr val="1E293B"/>
                </a:solidFill>
                <a:latin typeface="Calibri"/>
              </a:rPr>
              <a:t>Evaluation Framework</a:t>
            </a:r>
          </a:p>
        </p:txBody>
      </p:sp>
      <p:sp>
        <p:nvSpPr>
          <p:cNvPr id="75" name="TextBox 74"/>
          <p:cNvSpPr txBox="1"/>
          <p:nvPr/>
        </p:nvSpPr>
        <p:spPr>
          <a:xfrm>
            <a:off x="5669280" y="3374136"/>
            <a:ext cx="2148840" cy="237744"/>
          </a:xfrm>
          <a:prstGeom prst="rect">
            <a:avLst/>
          </a:prstGeom>
          <a:noFill/>
        </p:spPr>
        <p:txBody>
          <a:bodyPr wrap="square">
            <a:spAutoFit/>
          </a:bodyPr>
          <a:lstStyle/>
          <a:p>
            <a:pPr algn="l"/>
            <a:r>
              <a:rPr sz="750" b="0" i="0">
                <a:solidFill>
                  <a:srgbClr val="475569"/>
                </a:solidFill>
                <a:latin typeface="Calibri"/>
              </a:rPr>
              <a:t>Automated quality gates for recommendations</a:t>
            </a:r>
          </a:p>
        </p:txBody>
      </p:sp>
      <p:sp>
        <p:nvSpPr>
          <p:cNvPr id="76" name="Rectangle 75"/>
          <p:cNvSpPr/>
          <p:nvPr/>
        </p:nvSpPr>
        <p:spPr>
          <a:xfrm>
            <a:off x="41148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60520" y="3703320"/>
            <a:ext cx="1463040" cy="237744"/>
          </a:xfrm>
          <a:prstGeom prst="rect">
            <a:avLst/>
          </a:prstGeom>
          <a:noFill/>
        </p:spPr>
        <p:txBody>
          <a:bodyPr wrap="square">
            <a:spAutoFit/>
          </a:bodyPr>
          <a:lstStyle/>
          <a:p>
            <a:pPr algn="l"/>
            <a:r>
              <a:rPr sz="750" b="1" i="0">
                <a:solidFill>
                  <a:srgbClr val="1E293B"/>
                </a:solidFill>
                <a:latin typeface="Calibri"/>
              </a:rPr>
              <a:t>MCP Registry</a:t>
            </a:r>
          </a:p>
        </p:txBody>
      </p:sp>
      <p:sp>
        <p:nvSpPr>
          <p:cNvPr id="78" name="TextBox 77"/>
          <p:cNvSpPr txBox="1"/>
          <p:nvPr/>
        </p:nvSpPr>
        <p:spPr>
          <a:xfrm>
            <a:off x="5669280" y="3703320"/>
            <a:ext cx="2148840" cy="237744"/>
          </a:xfrm>
          <a:prstGeom prst="rect">
            <a:avLst/>
          </a:prstGeom>
          <a:noFill/>
        </p:spPr>
        <p:txBody>
          <a:bodyPr wrap="square">
            <a:spAutoFit/>
          </a:bodyPr>
          <a:lstStyle/>
          <a:p>
            <a:pPr algn="l"/>
            <a:r>
              <a:rPr sz="750" b="0" i="0">
                <a:solidFill>
                  <a:srgbClr val="475569"/>
                </a:solidFill>
                <a:latin typeface="Calibri"/>
              </a:rPr>
              <a:t>PCW data source MCP server catalogue</a:t>
            </a:r>
          </a:p>
        </p:txBody>
      </p:sp>
      <p:sp>
        <p:nvSpPr>
          <p:cNvPr id="79" name="Rectangle 78"/>
          <p:cNvSpPr/>
          <p:nvPr/>
        </p:nvSpPr>
        <p:spPr>
          <a:xfrm>
            <a:off x="41148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60520" y="4032504"/>
            <a:ext cx="1463040" cy="237744"/>
          </a:xfrm>
          <a:prstGeom prst="rect">
            <a:avLst/>
          </a:prstGeom>
          <a:noFill/>
        </p:spPr>
        <p:txBody>
          <a:bodyPr wrap="square">
            <a:spAutoFit/>
          </a:bodyPr>
          <a:lstStyle/>
          <a:p>
            <a:pPr algn="l"/>
            <a:r>
              <a:rPr sz="750" b="1" i="0">
                <a:solidFill>
                  <a:srgbClr val="1E293B"/>
                </a:solidFill>
                <a:latin typeface="Calibri"/>
              </a:rPr>
              <a:t>A2A Registry</a:t>
            </a:r>
          </a:p>
        </p:txBody>
      </p:sp>
      <p:sp>
        <p:nvSpPr>
          <p:cNvPr id="81" name="TextBox 80"/>
          <p:cNvSpPr txBox="1"/>
          <p:nvPr/>
        </p:nvSpPr>
        <p:spPr>
          <a:xfrm>
            <a:off x="5669280" y="4032504"/>
            <a:ext cx="2148840" cy="237744"/>
          </a:xfrm>
          <a:prstGeom prst="rect">
            <a:avLst/>
          </a:prstGeom>
          <a:noFill/>
        </p:spPr>
        <p:txBody>
          <a:bodyPr wrap="square">
            <a:spAutoFit/>
          </a:bodyPr>
          <a:lstStyle/>
          <a:p>
            <a:pPr algn="l"/>
            <a:r>
              <a:rPr sz="750" b="0" i="0">
                <a:solidFill>
                  <a:srgbClr val="475569"/>
                </a:solidFill>
                <a:latin typeface="Calibri"/>
              </a:rPr>
              <a:t>Inter-agent communication protocol registry</a:t>
            </a:r>
          </a:p>
        </p:txBody>
      </p:sp>
      <p:sp>
        <p:nvSpPr>
          <p:cNvPr id="82" name="Rectangle 81"/>
          <p:cNvSpPr/>
          <p:nvPr/>
        </p:nvSpPr>
        <p:spPr>
          <a:xfrm>
            <a:off x="41148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60520" y="4361688"/>
            <a:ext cx="1463040" cy="237744"/>
          </a:xfrm>
          <a:prstGeom prst="rect">
            <a:avLst/>
          </a:prstGeom>
          <a:noFill/>
        </p:spPr>
        <p:txBody>
          <a:bodyPr wrap="square">
            <a:spAutoFit/>
          </a:bodyPr>
          <a:lstStyle/>
          <a:p>
            <a:pPr algn="l"/>
            <a:r>
              <a:rPr sz="750" b="1" i="0">
                <a:solidFill>
                  <a:srgbClr val="1E293B"/>
                </a:solidFill>
                <a:latin typeface="Calibri"/>
              </a:rPr>
              <a:t>Audit Framework</a:t>
            </a:r>
          </a:p>
        </p:txBody>
      </p:sp>
      <p:sp>
        <p:nvSpPr>
          <p:cNvPr id="84" name="TextBox 83"/>
          <p:cNvSpPr txBox="1"/>
          <p:nvPr/>
        </p:nvSpPr>
        <p:spPr>
          <a:xfrm>
            <a:off x="5669280" y="4361688"/>
            <a:ext cx="2148840" cy="237744"/>
          </a:xfrm>
          <a:prstGeom prst="rect">
            <a:avLst/>
          </a:prstGeom>
          <a:noFill/>
        </p:spPr>
        <p:txBody>
          <a:bodyPr wrap="square">
            <a:spAutoFit/>
          </a:bodyPr>
          <a:lstStyle/>
          <a:p>
            <a:pPr algn="l"/>
            <a:r>
              <a:rPr sz="750" b="0" i="0">
                <a:solidFill>
                  <a:srgbClr val="475569"/>
                </a:solidFill>
                <a:latin typeface="Calibri"/>
              </a:rPr>
              <a:t>Immutable recommendation and decision log</a:t>
            </a:r>
          </a:p>
        </p:txBody>
      </p:sp>
      <p:sp>
        <p:nvSpPr>
          <p:cNvPr id="85" name="TextBox 84"/>
          <p:cNvSpPr txBox="1"/>
          <p:nvPr/>
        </p:nvSpPr>
        <p:spPr>
          <a:xfrm>
            <a:off x="8229600" y="1051560"/>
            <a:ext cx="3566160" cy="256032"/>
          </a:xfrm>
          <a:prstGeom prst="rect">
            <a:avLst/>
          </a:prstGeom>
          <a:noFill/>
        </p:spPr>
        <p:txBody>
          <a:bodyPr wrap="square">
            <a:spAutoFit/>
          </a:bodyPr>
          <a:lstStyle/>
          <a:p>
            <a:pPr algn="l"/>
            <a:r>
              <a:rPr sz="1100" b="1" i="0">
                <a:solidFill>
                  <a:srgbClr val="0A1628"/>
                </a:solidFill>
                <a:latin typeface="Calibri"/>
              </a:rPr>
              <a:t>AI Capability Classification</a:t>
            </a:r>
          </a:p>
        </p:txBody>
      </p:sp>
      <p:sp>
        <p:nvSpPr>
          <p:cNvPr id="86" name="Rectangle 85"/>
          <p:cNvSpPr/>
          <p:nvPr/>
        </p:nvSpPr>
        <p:spPr>
          <a:xfrm>
            <a:off x="8229600" y="1353312"/>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229600" y="1353312"/>
            <a:ext cx="356616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02752" y="1426464"/>
            <a:ext cx="3429000" cy="219456"/>
          </a:xfrm>
          <a:prstGeom prst="rect">
            <a:avLst/>
          </a:prstGeom>
          <a:noFill/>
        </p:spPr>
        <p:txBody>
          <a:bodyPr wrap="square">
            <a:spAutoFit/>
          </a:bodyPr>
          <a:lstStyle/>
          <a:p>
            <a:pPr algn="l"/>
            <a:r>
              <a:rPr sz="850" b="1" i="0">
                <a:solidFill>
                  <a:srgbClr val="0A1628"/>
                </a:solidFill>
                <a:latin typeface="Calibri"/>
              </a:rPr>
              <a:t>Machine Learning (Vertex AI / Pegasus)</a:t>
            </a:r>
          </a:p>
        </p:txBody>
      </p:sp>
      <p:sp>
        <p:nvSpPr>
          <p:cNvPr id="89" name="TextBox 88"/>
          <p:cNvSpPr txBox="1"/>
          <p:nvPr/>
        </p:nvSpPr>
        <p:spPr>
          <a:xfrm>
            <a:off x="8302752" y="1645920"/>
            <a:ext cx="3429000" cy="457200"/>
          </a:xfrm>
          <a:prstGeom prst="rect">
            <a:avLst/>
          </a:prstGeom>
          <a:noFill/>
        </p:spPr>
        <p:txBody>
          <a:bodyPr wrap="square">
            <a:spAutoFit/>
          </a:bodyPr>
          <a:lstStyle/>
          <a:p>
            <a:pPr algn="l"/>
            <a:r>
              <a:rPr sz="800" b="0" i="0">
                <a:solidFill>
                  <a:srgbClr val="475569"/>
                </a:solidFill>
                <a:latin typeface="Calibri"/>
              </a:rPr>
              <a:t>Ranking prediction, anomaly detection, elasticity modelling, embedding generation, drift monitoring</a:t>
            </a:r>
          </a:p>
        </p:txBody>
      </p:sp>
      <p:sp>
        <p:nvSpPr>
          <p:cNvPr id="90" name="Rectangle 89"/>
          <p:cNvSpPr/>
          <p:nvPr/>
        </p:nvSpPr>
        <p:spPr>
          <a:xfrm>
            <a:off x="8229600" y="2194560"/>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29600" y="219456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02752" y="2267712"/>
            <a:ext cx="3429000" cy="219456"/>
          </a:xfrm>
          <a:prstGeom prst="rect">
            <a:avLst/>
          </a:prstGeom>
          <a:noFill/>
        </p:spPr>
        <p:txBody>
          <a:bodyPr wrap="square">
            <a:spAutoFit/>
          </a:bodyPr>
          <a:lstStyle/>
          <a:p>
            <a:pPr algn="l"/>
            <a:r>
              <a:rPr sz="850" b="1" i="0">
                <a:solidFill>
                  <a:srgbClr val="0A1628"/>
                </a:solidFill>
                <a:latin typeface="Calibri"/>
              </a:rPr>
              <a:t>Generative AI (Gemini)</a:t>
            </a:r>
          </a:p>
        </p:txBody>
      </p:sp>
      <p:sp>
        <p:nvSpPr>
          <p:cNvPr id="93" name="TextBox 92"/>
          <p:cNvSpPr txBox="1"/>
          <p:nvPr/>
        </p:nvSpPr>
        <p:spPr>
          <a:xfrm>
            <a:off x="8302752" y="2487168"/>
            <a:ext cx="3429000" cy="457200"/>
          </a:xfrm>
          <a:prstGeom prst="rect">
            <a:avLst/>
          </a:prstGeom>
          <a:noFill/>
        </p:spPr>
        <p:txBody>
          <a:bodyPr wrap="square">
            <a:spAutoFit/>
          </a:bodyPr>
          <a:lstStyle/>
          <a:p>
            <a:pPr algn="l"/>
            <a:r>
              <a:rPr sz="800" b="0" i="0">
                <a:solidFill>
                  <a:srgbClr val="475569"/>
                </a:solidFill>
                <a:latin typeface="Calibri"/>
              </a:rPr>
              <a:t>Competitor analysis synthesis, recommendation rationale, briefing generation, explanation outputs</a:t>
            </a:r>
          </a:p>
        </p:txBody>
      </p:sp>
      <p:sp>
        <p:nvSpPr>
          <p:cNvPr id="94" name="Rectangle 93"/>
          <p:cNvSpPr/>
          <p:nvPr/>
        </p:nvSpPr>
        <p:spPr>
          <a:xfrm>
            <a:off x="8229600" y="3035808"/>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229600" y="3035808"/>
            <a:ext cx="35661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302752" y="3108960"/>
            <a:ext cx="3429000" cy="219456"/>
          </a:xfrm>
          <a:prstGeom prst="rect">
            <a:avLst/>
          </a:prstGeom>
          <a:noFill/>
        </p:spPr>
        <p:txBody>
          <a:bodyPr wrap="square">
            <a:spAutoFit/>
          </a:bodyPr>
          <a:lstStyle/>
          <a:p>
            <a:pPr algn="l"/>
            <a:r>
              <a:rPr sz="850" b="1" i="0">
                <a:solidFill>
                  <a:srgbClr val="0A1628"/>
                </a:solidFill>
                <a:latin typeface="Calibri"/>
              </a:rPr>
              <a:t>Agentic (ENVOY ADK)</a:t>
            </a:r>
          </a:p>
        </p:txBody>
      </p:sp>
      <p:sp>
        <p:nvSpPr>
          <p:cNvPr id="97" name="TextBox 96"/>
          <p:cNvSpPr txBox="1"/>
          <p:nvPr/>
        </p:nvSpPr>
        <p:spPr>
          <a:xfrm>
            <a:off x="8302752" y="3328416"/>
            <a:ext cx="3429000" cy="457200"/>
          </a:xfrm>
          <a:prstGeom prst="rect">
            <a:avLst/>
          </a:prstGeom>
          <a:noFill/>
        </p:spPr>
        <p:txBody>
          <a:bodyPr wrap="square">
            <a:spAutoFit/>
          </a:bodyPr>
          <a:lstStyle/>
          <a:p>
            <a:pPr algn="l"/>
            <a:r>
              <a:rPr sz="800" b="0" i="0">
                <a:solidFill>
                  <a:srgbClr val="475569"/>
                </a:solidFill>
                <a:latin typeface="Calibri"/>
              </a:rPr>
              <a:t>Autonomous PCW collection, multi-agent orchestration, event-driven investigation, simulation workflows</a:t>
            </a:r>
          </a:p>
        </p:txBody>
      </p:sp>
      <p:sp>
        <p:nvSpPr>
          <p:cNvPr id="98" name="Rectangle 97"/>
          <p:cNvSpPr/>
          <p:nvPr/>
        </p:nvSpPr>
        <p:spPr>
          <a:xfrm>
            <a:off x="8229600" y="3877056"/>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229600" y="3877056"/>
            <a:ext cx="356616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302752" y="3950208"/>
            <a:ext cx="3429000" cy="219456"/>
          </a:xfrm>
          <a:prstGeom prst="rect">
            <a:avLst/>
          </a:prstGeom>
          <a:noFill/>
        </p:spPr>
        <p:txBody>
          <a:bodyPr wrap="square">
            <a:spAutoFit/>
          </a:bodyPr>
          <a:lstStyle/>
          <a:p>
            <a:pPr algn="l"/>
            <a:r>
              <a:rPr sz="850" b="1" i="0">
                <a:solidFill>
                  <a:srgbClr val="0A1628"/>
                </a:solidFill>
                <a:latin typeface="Calibri"/>
              </a:rPr>
              <a:t>Platform Services</a:t>
            </a:r>
          </a:p>
        </p:txBody>
      </p:sp>
      <p:sp>
        <p:nvSpPr>
          <p:cNvPr id="101" name="TextBox 100"/>
          <p:cNvSpPr txBox="1"/>
          <p:nvPr/>
        </p:nvSpPr>
        <p:spPr>
          <a:xfrm>
            <a:off x="8302752" y="4169664"/>
            <a:ext cx="3429000" cy="457200"/>
          </a:xfrm>
          <a:prstGeom prst="rect">
            <a:avLst/>
          </a:prstGeom>
          <a:noFill/>
        </p:spPr>
        <p:txBody>
          <a:bodyPr wrap="square">
            <a:spAutoFit/>
          </a:bodyPr>
          <a:lstStyle/>
          <a:p>
            <a:pPr algn="l"/>
            <a:r>
              <a:rPr sz="800" b="0" i="0">
                <a:solidFill>
                  <a:srgbClr val="475569"/>
                </a:solidFill>
                <a:latin typeface="Calibri"/>
              </a:rPr>
              <a:t>LangGraph, Pub/Sub, Cloud Workflows, Eventarc, BigQuery, Apigee, Pega, ObserveAll</a:t>
            </a:r>
          </a:p>
        </p:txBody>
      </p:sp>
      <p:sp>
        <p:nvSpPr>
          <p:cNvPr id="102" name="TextBox 101"/>
          <p:cNvSpPr txBox="1"/>
          <p:nvPr/>
        </p:nvSpPr>
        <p:spPr>
          <a:xfrm>
            <a:off x="8229600" y="4809744"/>
            <a:ext cx="3566160" cy="256032"/>
          </a:xfrm>
          <a:prstGeom prst="rect">
            <a:avLst/>
          </a:prstGeom>
          <a:noFill/>
        </p:spPr>
        <p:txBody>
          <a:bodyPr wrap="square">
            <a:spAutoFit/>
          </a:bodyPr>
          <a:lstStyle/>
          <a:p>
            <a:pPr algn="l"/>
            <a:r>
              <a:rPr sz="1100" b="1" i="0">
                <a:solidFill>
                  <a:srgbClr val="0A1628"/>
                </a:solidFill>
                <a:latin typeface="Calibri"/>
              </a:rPr>
              <a:t>Key Design Principles</a:t>
            </a:r>
          </a:p>
        </p:txBody>
      </p:sp>
      <p:sp>
        <p:nvSpPr>
          <p:cNvPr id="103" name="TextBox 102"/>
          <p:cNvSpPr txBox="1"/>
          <p:nvPr/>
        </p:nvSpPr>
        <p:spPr>
          <a:xfrm>
            <a:off x="8229600" y="5102352"/>
            <a:ext cx="3566160" cy="1371600"/>
          </a:xfrm>
          <a:prstGeom prst="rect">
            <a:avLst/>
          </a:prstGeom>
          <a:noFill/>
        </p:spPr>
        <p:txBody>
          <a:bodyPr wrap="square">
            <a:spAutoFit/>
          </a:bodyPr>
          <a:lstStyle/>
          <a:p>
            <a:pPr>
              <a:spcBef>
                <a:spcPts val="150"/>
              </a:spcBef>
            </a:pPr>
            <a:r>
              <a:rPr sz="950">
                <a:solidFill>
                  <a:srgbClr val="475569"/>
                </a:solidFill>
                <a:latin typeface="Calibri"/>
              </a:rPr>
              <a:t>- Human oversight maintained at all recommendation and execution decision points</a:t>
            </a:r>
          </a:p>
          <a:p>
            <a:pPr>
              <a:spcBef>
                <a:spcPts val="150"/>
              </a:spcBef>
            </a:pPr>
            <a:r>
              <a:rPr sz="950">
                <a:solidFill>
                  <a:srgbClr val="475569"/>
                </a:solidFill>
                <a:latin typeface="Calibri"/>
              </a:rPr>
              <a:t>- All AI calls governed and routed through Cortex — no ungoverned model access</a:t>
            </a:r>
          </a:p>
          <a:p>
            <a:pPr>
              <a:spcBef>
                <a:spcPts val="150"/>
              </a:spcBef>
            </a:pPr>
            <a:r>
              <a:rPr sz="950">
                <a:solidFill>
                  <a:srgbClr val="475569"/>
                </a:solidFill>
                <a:latin typeface="Calibri"/>
              </a:rPr>
              <a:t>- Full observability from data ingestion to executed change via ObserveAll and Audit Framework</a:t>
            </a:r>
          </a:p>
          <a:p>
            <a:pPr>
              <a:spcBef>
                <a:spcPts val="150"/>
              </a:spcBef>
            </a:pPr>
            <a:r>
              <a:rPr sz="950">
                <a:solidFill>
                  <a:srgbClr val="475569"/>
                </a:solidFill>
                <a:latin typeface="Calibri"/>
              </a:rPr>
              <a:t>- Platform designed for extensibility — reusable across LBG BCB General Insurance use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